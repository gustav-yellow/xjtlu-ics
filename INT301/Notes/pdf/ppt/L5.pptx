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46684" y="967749"/>
            <a:ext cx="2983229" cy="391159"/>
          </a:xfrm>
          <a:prstGeom prst="rect">
            <a:avLst/>
          </a:prstGeom>
        </p:spPr>
        <p:txBody>
          <a:bodyPr wrap="square" lIns="0" tIns="0" rIns="0" bIns="0">
            <a:spAutoFit/>
          </a:bodyPr>
          <a:lstStyle>
            <a:lvl1pPr>
              <a:defRPr sz="4000" b="1" i="0">
                <a:solidFill>
                  <a:srgbClr val="800000"/>
                </a:solidFill>
                <a:latin typeface="Tahoma"/>
                <a:cs typeface="Tahoma"/>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200" b="0" i="0">
                <a:solidFill>
                  <a:srgbClr val="898989"/>
                </a:solidFill>
                <a:latin typeface="Calibri"/>
                <a:cs typeface="Calibri"/>
              </a:defRPr>
            </a:lvl1pPr>
          </a:lstStyle>
          <a:p>
            <a:pPr marL="115570">
              <a:lnSpc>
                <a:spcPts val="1240"/>
              </a:lnSpc>
            </a:pPr>
            <a:fld id="{81D60167-4931-47E6-BA6A-407CBD079E47}" type="slidenum">
              <a:rPr dirty="0" spc="-50"/>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800000"/>
                </a:solidFill>
                <a:latin typeface="Tahoma"/>
                <a:cs typeface="Tahoma"/>
              </a:defRPr>
            </a:lvl1pPr>
          </a:lstStyle>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1200" b="0" i="0">
                <a:solidFill>
                  <a:srgbClr val="898989"/>
                </a:solidFill>
                <a:latin typeface="Calibri"/>
                <a:cs typeface="Calibri"/>
              </a:defRPr>
            </a:lvl1pPr>
          </a:lstStyle>
          <a:p>
            <a:pPr marL="115570">
              <a:lnSpc>
                <a:spcPts val="1240"/>
              </a:lnSpc>
            </a:pPr>
            <a:fld id="{81D60167-4931-47E6-BA6A-407CBD079E47}" type="slidenum">
              <a:rPr dirty="0" spc="-50"/>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showMasterSp="0">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3389782"/>
          </a:xfrm>
          <a:prstGeom prst="rect">
            <a:avLst/>
          </a:prstGeom>
        </p:spPr>
      </p:pic>
      <p:pic>
        <p:nvPicPr>
          <p:cNvPr id="17" name="bg object 17"/>
          <p:cNvPicPr/>
          <p:nvPr/>
        </p:nvPicPr>
        <p:blipFill>
          <a:blip r:embed="rId3" cstate="print"/>
          <a:stretch>
            <a:fillRect/>
          </a:stretch>
        </p:blipFill>
        <p:spPr>
          <a:xfrm>
            <a:off x="0" y="6647688"/>
            <a:ext cx="9144000" cy="24384"/>
          </a:xfrm>
          <a:prstGeom prst="rect">
            <a:avLst/>
          </a:prstGeom>
        </p:spPr>
      </p:pic>
      <p:pic>
        <p:nvPicPr>
          <p:cNvPr id="18" name="bg object 18"/>
          <p:cNvPicPr/>
          <p:nvPr/>
        </p:nvPicPr>
        <p:blipFill>
          <a:blip r:embed="rId4" cstate="print"/>
          <a:stretch>
            <a:fillRect/>
          </a:stretch>
        </p:blipFill>
        <p:spPr>
          <a:xfrm>
            <a:off x="0" y="6672072"/>
            <a:ext cx="9144000" cy="185928"/>
          </a:xfrm>
          <a:prstGeom prst="rect">
            <a:avLst/>
          </a:prstGeom>
        </p:spPr>
      </p:pic>
      <p:sp>
        <p:nvSpPr>
          <p:cNvPr id="19" name="bg object 19"/>
          <p:cNvSpPr/>
          <p:nvPr/>
        </p:nvSpPr>
        <p:spPr>
          <a:xfrm>
            <a:off x="0" y="6672071"/>
            <a:ext cx="9144000" cy="0"/>
          </a:xfrm>
          <a:custGeom>
            <a:avLst/>
            <a:gdLst/>
            <a:ahLst/>
            <a:cxnLst/>
            <a:rect l="l" t="t" r="r" b="b"/>
            <a:pathLst>
              <a:path w="9144000" h="0">
                <a:moveTo>
                  <a:pt x="9144000" y="0"/>
                </a:moveTo>
                <a:lnTo>
                  <a:pt x="0" y="0"/>
                </a:lnTo>
              </a:path>
            </a:pathLst>
          </a:custGeom>
          <a:ln w="9525">
            <a:solidFill>
              <a:srgbClr val="4A7EBB"/>
            </a:solidFill>
          </a:ln>
        </p:spPr>
        <p:txBody>
          <a:bodyPr wrap="square" lIns="0" tIns="0" rIns="0" bIns="0" rtlCol="0"/>
          <a:lstStyle/>
          <a:p/>
        </p:txBody>
      </p:sp>
      <p:sp>
        <p:nvSpPr>
          <p:cNvPr id="2" name="Holder 2"/>
          <p:cNvSpPr>
            <a:spLocks noGrp="1"/>
          </p:cNvSpPr>
          <p:nvPr>
            <p:ph type="title"/>
          </p:nvPr>
        </p:nvSpPr>
        <p:spPr/>
        <p:txBody>
          <a:bodyPr lIns="0" tIns="0" rIns="0" bIns="0"/>
          <a:lstStyle>
            <a:lvl1pPr>
              <a:defRPr sz="4000" b="1" i="0">
                <a:solidFill>
                  <a:srgbClr val="800000"/>
                </a:solidFill>
                <a:latin typeface="Tahoma"/>
                <a:cs typeface="Tahoma"/>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1200" b="0" i="0">
                <a:solidFill>
                  <a:srgbClr val="898989"/>
                </a:solidFill>
                <a:latin typeface="Calibri"/>
                <a:cs typeface="Calibri"/>
              </a:defRPr>
            </a:lvl1pPr>
          </a:lstStyle>
          <a:p>
            <a:pPr marL="115570">
              <a:lnSpc>
                <a:spcPts val="1240"/>
              </a:lnSpc>
            </a:pPr>
            <a:fld id="{81D60167-4931-47E6-BA6A-407CBD079E47}" type="slidenum">
              <a:rPr dirty="0" spc="-50"/>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800000"/>
                </a:solidFill>
                <a:latin typeface="Tahoma"/>
                <a:cs typeface="Tahoma"/>
              </a:defRPr>
            </a:lvl1pPr>
          </a:lstStyle>
          <a:p/>
        </p:txBody>
      </p:sp>
      <p:sp>
        <p:nvSpPr>
          <p:cNvPr id="3" name="Holder 3"/>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1200" b="0" i="0">
                <a:solidFill>
                  <a:srgbClr val="898989"/>
                </a:solidFill>
                <a:latin typeface="Calibri"/>
                <a:cs typeface="Calibri"/>
              </a:defRPr>
            </a:lvl1pPr>
          </a:lstStyle>
          <a:p>
            <a:pPr marL="115570">
              <a:lnSpc>
                <a:spcPts val="1240"/>
              </a:lnSpc>
            </a:pPr>
            <a:fld id="{81D60167-4931-47E6-BA6A-407CBD079E47}" type="slidenum">
              <a:rPr dirty="0" spc="-50"/>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1200" b="0" i="0">
                <a:solidFill>
                  <a:srgbClr val="898989"/>
                </a:solidFill>
                <a:latin typeface="Calibri"/>
                <a:cs typeface="Calibri"/>
              </a:defRPr>
            </a:lvl1pPr>
          </a:lstStyle>
          <a:p>
            <a:pPr marL="115570">
              <a:lnSpc>
                <a:spcPts val="1240"/>
              </a:lnSpc>
            </a:pPr>
            <a:fld id="{81D60167-4931-47E6-BA6A-407CBD079E47}" type="slidenum">
              <a:rPr dirty="0" spc="-50"/>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4051" y="109210"/>
            <a:ext cx="8835897" cy="1307899"/>
          </a:xfrm>
          <a:prstGeom prst="rect">
            <a:avLst/>
          </a:prstGeom>
        </p:spPr>
        <p:txBody>
          <a:bodyPr wrap="square" lIns="0" tIns="0" rIns="0" bIns="0">
            <a:spAutoFit/>
          </a:bodyPr>
          <a:lstStyle>
            <a:lvl1pPr>
              <a:defRPr sz="4000" b="1" i="0">
                <a:solidFill>
                  <a:srgbClr val="800000"/>
                </a:solidFill>
                <a:latin typeface="Tahoma"/>
                <a:cs typeface="Tahoma"/>
              </a:defRPr>
            </a:lvl1pPr>
          </a:lstStyle>
          <a:p/>
        </p:txBody>
      </p:sp>
      <p:sp>
        <p:nvSpPr>
          <p:cNvPr id="3" name="Holder 3"/>
          <p:cNvSpPr>
            <a:spLocks noGrp="1"/>
          </p:cNvSpPr>
          <p:nvPr>
            <p:ph type="body" idx="1"/>
          </p:nvPr>
        </p:nvSpPr>
        <p:spPr>
          <a:xfrm>
            <a:off x="378146" y="1333452"/>
            <a:ext cx="8387707" cy="4406265"/>
          </a:xfrm>
          <a:prstGeom prst="rect">
            <a:avLst/>
          </a:prstGeom>
        </p:spPr>
        <p:txBody>
          <a:bodyPr wrap="square" lIns="0" tIns="0" rIns="0" bIns="0">
            <a:spAutoFit/>
          </a:bodyPr>
          <a:lstStyle>
            <a:lvl1pPr>
              <a:defRPr sz="2800" b="0" i="0">
                <a:solidFill>
                  <a:schemeClr val="tx1"/>
                </a:solidFill>
                <a:latin typeface="Calibri"/>
                <a:cs typeface="Calibri"/>
              </a:defRPr>
            </a:lvl1pPr>
          </a:lstStyle>
          <a:p/>
        </p:txBody>
      </p:sp>
      <p:sp>
        <p:nvSpPr>
          <p:cNvPr id="4" name="Holder 4"/>
          <p:cNvSpPr>
            <a:spLocks noGrp="1"/>
          </p:cNvSpPr>
          <p:nvPr>
            <p:ph type="ftr" idx="5" sz="quarter"/>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idx="6" sz="half"/>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400288" y="6463728"/>
            <a:ext cx="244475" cy="177800"/>
          </a:xfrm>
          <a:prstGeom prst="rect">
            <a:avLst/>
          </a:prstGeom>
        </p:spPr>
        <p:txBody>
          <a:bodyPr wrap="square" lIns="0" tIns="0" rIns="0" bIns="0">
            <a:spAutoFit/>
          </a:bodyPr>
          <a:lstStyle>
            <a:lvl1pPr>
              <a:defRPr sz="1200" b="0" i="0">
                <a:solidFill>
                  <a:srgbClr val="898989"/>
                </a:solidFill>
                <a:latin typeface="Calibri"/>
                <a:cs typeface="Calibri"/>
              </a:defRPr>
            </a:lvl1pPr>
          </a:lstStyle>
          <a:p>
            <a:pPr marL="115570">
              <a:lnSpc>
                <a:spcPts val="1240"/>
              </a:lnSpc>
            </a:pPr>
            <a:fld id="{81D60167-4931-47E6-BA6A-407CBD079E47}" type="slidenum">
              <a:rPr dirty="0" spc="-50"/>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g"/><Relationship Id="rId8"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jp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jp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jpg"/><Relationship Id="rId3"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yann.lecun.com/exdb/publis/pdf/lecun-01a.pdf" TargetMode="Externa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jp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jp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jp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 Id="rId11" Type="http://schemas.openxmlformats.org/officeDocument/2006/relationships/image" Target="../media/image90.png"/><Relationship Id="rId12" Type="http://schemas.openxmlformats.org/officeDocument/2006/relationships/image" Target="../media/image91.png"/><Relationship Id="rId13" Type="http://schemas.openxmlformats.org/officeDocument/2006/relationships/image" Target="../media/image92.png"/><Relationship Id="rId14" Type="http://schemas.openxmlformats.org/officeDocument/2006/relationships/image" Target="../media/image93.png"/><Relationship Id="rId15" Type="http://schemas.openxmlformats.org/officeDocument/2006/relationships/image" Target="../media/image94.png"/><Relationship Id="rId16" Type="http://schemas.openxmlformats.org/officeDocument/2006/relationships/image" Target="../media/image95.png"/><Relationship Id="rId17" Type="http://schemas.openxmlformats.org/officeDocument/2006/relationships/image" Target="../media/image96.png"/><Relationship Id="rId18" Type="http://schemas.openxmlformats.org/officeDocument/2006/relationships/image" Target="../media/image97.png"/><Relationship Id="rId19" Type="http://schemas.openxmlformats.org/officeDocument/2006/relationships/image" Target="../media/image98.png"/><Relationship Id="rId20" Type="http://schemas.openxmlformats.org/officeDocument/2006/relationships/image" Target="../media/image9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0.jp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image" Target="../media/image106.png"/><Relationship Id="rId9" Type="http://schemas.openxmlformats.org/officeDocument/2006/relationships/image" Target="../media/image107.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 Id="rId13" Type="http://schemas.openxmlformats.org/officeDocument/2006/relationships/image" Target="../media/image1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jpg"/><Relationship Id="rId5" Type="http://schemas.openxmlformats.org/officeDocument/2006/relationships/image" Target="../media/image124.png"/><Relationship Id="rId6" Type="http://schemas.openxmlformats.org/officeDocument/2006/relationships/image" Target="../media/image1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6.pn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6.png"/><Relationship Id="rId3" Type="http://schemas.openxmlformats.org/officeDocument/2006/relationships/image" Target="../media/image13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9.jpg"/><Relationship Id="rId3" Type="http://schemas.openxmlformats.org/officeDocument/2006/relationships/image" Target="../media/image140.png"/><Relationship Id="rId4" Type="http://schemas.openxmlformats.org/officeDocument/2006/relationships/image" Target="../media/image141.png"/><Relationship Id="rId5" Type="http://schemas.openxmlformats.org/officeDocument/2006/relationships/image" Target="../media/image1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3.png"/><Relationship Id="rId3" Type="http://schemas.openxmlformats.org/officeDocument/2006/relationships/image" Target="../media/image144.png"/><Relationship Id="rId4" Type="http://schemas.openxmlformats.org/officeDocument/2006/relationships/image" Target="../media/image145.jpg"/><Relationship Id="rId5" Type="http://schemas.openxmlformats.org/officeDocument/2006/relationships/image" Target="../media/image146.png"/><Relationship Id="rId6" Type="http://schemas.openxmlformats.org/officeDocument/2006/relationships/image" Target="../media/image1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8.jpg"/><Relationship Id="rId3" Type="http://schemas.openxmlformats.org/officeDocument/2006/relationships/image" Target="../media/image1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2.png"/><Relationship Id="rId3" Type="http://schemas.openxmlformats.org/officeDocument/2006/relationships/image" Target="../media/image1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4.png"/><Relationship Id="rId3" Type="http://schemas.openxmlformats.org/officeDocument/2006/relationships/image" Target="../media/image1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6.png"/><Relationship Id="rId3" Type="http://schemas.openxmlformats.org/officeDocument/2006/relationships/image" Target="../media/image157.png"/><Relationship Id="rId4" Type="http://schemas.openxmlformats.org/officeDocument/2006/relationships/image" Target="../media/image158.jpg"/><Relationship Id="rId5" Type="http://schemas.openxmlformats.org/officeDocument/2006/relationships/image" Target="../media/image159.png"/><Relationship Id="rId6" Type="http://schemas.openxmlformats.org/officeDocument/2006/relationships/image" Target="../media/image16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1.png"/><Relationship Id="rId3" Type="http://schemas.openxmlformats.org/officeDocument/2006/relationships/image" Target="../media/image16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4.jpg"/><Relationship Id="rId3" Type="http://schemas.openxmlformats.org/officeDocument/2006/relationships/image" Target="../media/image1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7.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8.jpg"/><Relationship Id="rId3" Type="http://schemas.openxmlformats.org/officeDocument/2006/relationships/image" Target="../media/image169.png"/><Relationship Id="rId4" Type="http://schemas.openxmlformats.org/officeDocument/2006/relationships/image" Target="../media/image170.png"/><Relationship Id="rId5" Type="http://schemas.openxmlformats.org/officeDocument/2006/relationships/image" Target="../media/image171.png"/><Relationship Id="rId6" Type="http://schemas.openxmlformats.org/officeDocument/2006/relationships/image" Target="../media/image17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3.png"/><Relationship Id="rId3" Type="http://schemas.openxmlformats.org/officeDocument/2006/relationships/image" Target="../media/image174.png"/><Relationship Id="rId4" Type="http://schemas.openxmlformats.org/officeDocument/2006/relationships/image" Target="../media/image175.png"/><Relationship Id="rId5" Type="http://schemas.openxmlformats.org/officeDocument/2006/relationships/image" Target="../media/image176.png"/><Relationship Id="rId6" Type="http://schemas.openxmlformats.org/officeDocument/2006/relationships/image" Target="../media/image177.png"/><Relationship Id="rId7" Type="http://schemas.openxmlformats.org/officeDocument/2006/relationships/image" Target="../media/image178.png"/><Relationship Id="rId8" Type="http://schemas.openxmlformats.org/officeDocument/2006/relationships/image" Target="../media/image179.png"/><Relationship Id="rId9" Type="http://schemas.openxmlformats.org/officeDocument/2006/relationships/image" Target="../media/image180.png"/><Relationship Id="rId10" Type="http://schemas.openxmlformats.org/officeDocument/2006/relationships/image" Target="../media/image181.png"/><Relationship Id="rId11" Type="http://schemas.openxmlformats.org/officeDocument/2006/relationships/image" Target="../media/image18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3.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WWW.XJTLU.EDU.CN/" TargetMode="External"/><Relationship Id="rId3" Type="http://schemas.openxmlformats.org/officeDocument/2006/relationships/image" Target="../media/image184.png"/><Relationship Id="rId4" Type="http://schemas.openxmlformats.org/officeDocument/2006/relationships/image" Target="../media/image185.png"/><Relationship Id="rId5" Type="http://schemas.openxmlformats.org/officeDocument/2006/relationships/image" Target="../media/image186.png"/><Relationship Id="rId6" Type="http://schemas.openxmlformats.org/officeDocument/2006/relationships/image" Target="../media/image187.jpg"/><Relationship Id="rId7" Type="http://schemas.openxmlformats.org/officeDocument/2006/relationships/image" Target="../media/image188.jpg"/><Relationship Id="rId8" Type="http://schemas.openxmlformats.org/officeDocument/2006/relationships/image" Target="../media/image189.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330006" y="4969957"/>
            <a:ext cx="8422005" cy="452120"/>
          </a:xfrm>
          <a:prstGeom prst="rect">
            <a:avLst/>
          </a:prstGeom>
        </p:spPr>
        <p:txBody>
          <a:bodyPr wrap="square" lIns="0" tIns="12065" rIns="0" bIns="0" rtlCol="0" vert="horz">
            <a:spAutoFit/>
          </a:bodyPr>
          <a:lstStyle/>
          <a:p>
            <a:pPr marL="12700">
              <a:lnSpc>
                <a:spcPct val="100000"/>
              </a:lnSpc>
              <a:spcBef>
                <a:spcPts val="95"/>
              </a:spcBef>
            </a:pPr>
            <a:r>
              <a:rPr dirty="0" sz="2800" b="1">
                <a:solidFill>
                  <a:srgbClr val="000044"/>
                </a:solidFill>
                <a:latin typeface="Calibri"/>
                <a:cs typeface="Calibri"/>
              </a:rPr>
              <a:t>INTRODUCTION</a:t>
            </a:r>
            <a:r>
              <a:rPr dirty="0" sz="2800" spc="-105" b="1">
                <a:solidFill>
                  <a:srgbClr val="000044"/>
                </a:solidFill>
                <a:latin typeface="Calibri"/>
                <a:cs typeface="Calibri"/>
              </a:rPr>
              <a:t> </a:t>
            </a:r>
            <a:r>
              <a:rPr dirty="0" sz="2800" b="1">
                <a:solidFill>
                  <a:srgbClr val="000044"/>
                </a:solidFill>
                <a:latin typeface="Calibri"/>
                <a:cs typeface="Calibri"/>
              </a:rPr>
              <a:t>TO</a:t>
            </a:r>
            <a:r>
              <a:rPr dirty="0" sz="2800" spc="-140" b="1">
                <a:solidFill>
                  <a:srgbClr val="000044"/>
                </a:solidFill>
                <a:latin typeface="Calibri"/>
                <a:cs typeface="Calibri"/>
              </a:rPr>
              <a:t> </a:t>
            </a:r>
            <a:r>
              <a:rPr dirty="0" sz="2800" spc="-10" b="1">
                <a:solidFill>
                  <a:srgbClr val="000044"/>
                </a:solidFill>
                <a:latin typeface="Calibri"/>
                <a:cs typeface="Calibri"/>
              </a:rPr>
              <a:t>CONVOLUTIONAL</a:t>
            </a:r>
            <a:r>
              <a:rPr dirty="0" sz="2800" spc="-95" b="1">
                <a:solidFill>
                  <a:srgbClr val="000044"/>
                </a:solidFill>
                <a:latin typeface="Calibri"/>
                <a:cs typeface="Calibri"/>
              </a:rPr>
              <a:t> </a:t>
            </a:r>
            <a:r>
              <a:rPr dirty="0" sz="2800" b="1">
                <a:solidFill>
                  <a:srgbClr val="000044"/>
                </a:solidFill>
                <a:latin typeface="Calibri"/>
                <a:cs typeface="Calibri"/>
              </a:rPr>
              <a:t>NEURAL</a:t>
            </a:r>
            <a:r>
              <a:rPr dirty="0" sz="2800" spc="-114" b="1">
                <a:solidFill>
                  <a:srgbClr val="000044"/>
                </a:solidFill>
                <a:latin typeface="Calibri"/>
                <a:cs typeface="Calibri"/>
              </a:rPr>
              <a:t> </a:t>
            </a:r>
            <a:r>
              <a:rPr dirty="0" sz="2800" spc="-10" b="1">
                <a:solidFill>
                  <a:srgbClr val="000044"/>
                </a:solidFill>
                <a:latin typeface="Calibri"/>
                <a:cs typeface="Calibri"/>
              </a:rPr>
              <a:t>NETWORK</a:t>
            </a:r>
            <a:endParaRPr sz="2800">
              <a:latin typeface="Calibri"/>
              <a:cs typeface="Calibri"/>
            </a:endParaRPr>
          </a:p>
        </p:txBody>
      </p:sp>
      <p:sp>
        <p:nvSpPr>
          <p:cNvPr id="3" name="object 3" descr=""/>
          <p:cNvSpPr txBox="1"/>
          <p:nvPr/>
        </p:nvSpPr>
        <p:spPr>
          <a:xfrm>
            <a:off x="535940" y="5506148"/>
            <a:ext cx="2857500" cy="208279"/>
          </a:xfrm>
          <a:prstGeom prst="rect">
            <a:avLst/>
          </a:prstGeom>
        </p:spPr>
        <p:txBody>
          <a:bodyPr wrap="square" lIns="0" tIns="12700" rIns="0" bIns="0" rtlCol="0" vert="horz">
            <a:spAutoFit/>
          </a:bodyPr>
          <a:lstStyle/>
          <a:p>
            <a:pPr marL="12700">
              <a:lnSpc>
                <a:spcPct val="100000"/>
              </a:lnSpc>
              <a:spcBef>
                <a:spcPts val="100"/>
              </a:spcBef>
            </a:pPr>
            <a:r>
              <a:rPr dirty="0" sz="1200" b="1">
                <a:latin typeface="Arial"/>
                <a:cs typeface="Arial"/>
              </a:rPr>
              <a:t>INT301</a:t>
            </a:r>
            <a:r>
              <a:rPr dirty="0" sz="1200" spc="275" b="1">
                <a:latin typeface="Arial"/>
                <a:cs typeface="Arial"/>
              </a:rPr>
              <a:t> </a:t>
            </a:r>
            <a:r>
              <a:rPr dirty="0" sz="1200" spc="-10" b="1">
                <a:latin typeface="Arial"/>
                <a:cs typeface="Arial"/>
              </a:rPr>
              <a:t>Bio-</a:t>
            </a:r>
            <a:r>
              <a:rPr dirty="0" sz="1200" b="1">
                <a:latin typeface="Arial"/>
                <a:cs typeface="Arial"/>
              </a:rPr>
              <a:t>computation, Week</a:t>
            </a:r>
            <a:r>
              <a:rPr dirty="0" sz="1200" spc="-40" b="1">
                <a:latin typeface="Arial"/>
                <a:cs typeface="Arial"/>
              </a:rPr>
              <a:t> </a:t>
            </a:r>
            <a:r>
              <a:rPr dirty="0" sz="1200" b="1">
                <a:latin typeface="Arial"/>
                <a:cs typeface="Arial"/>
              </a:rPr>
              <a:t>5,</a:t>
            </a:r>
            <a:r>
              <a:rPr dirty="0" sz="1200" spc="-20" b="1">
                <a:latin typeface="Arial"/>
                <a:cs typeface="Arial"/>
              </a:rPr>
              <a:t> 2025</a:t>
            </a:r>
            <a:endParaRPr sz="1200">
              <a:latin typeface="Arial"/>
              <a:cs typeface="Arial"/>
            </a:endParaRPr>
          </a:p>
        </p:txBody>
      </p:sp>
      <p:grpSp>
        <p:nvGrpSpPr>
          <p:cNvPr id="4" name="object 4" descr=""/>
          <p:cNvGrpSpPr/>
          <p:nvPr/>
        </p:nvGrpSpPr>
        <p:grpSpPr>
          <a:xfrm>
            <a:off x="0" y="6647688"/>
            <a:ext cx="9144000" cy="210820"/>
            <a:chOff x="0" y="6647688"/>
            <a:chExt cx="9144000" cy="210820"/>
          </a:xfrm>
        </p:grpSpPr>
        <p:pic>
          <p:nvPicPr>
            <p:cNvPr id="5" name="object 5" descr=""/>
            <p:cNvPicPr/>
            <p:nvPr/>
          </p:nvPicPr>
          <p:blipFill>
            <a:blip r:embed="rId2" cstate="print"/>
            <a:stretch>
              <a:fillRect/>
            </a:stretch>
          </p:blipFill>
          <p:spPr>
            <a:xfrm>
              <a:off x="0" y="6647688"/>
              <a:ext cx="9144000" cy="24384"/>
            </a:xfrm>
            <a:prstGeom prst="rect">
              <a:avLst/>
            </a:prstGeom>
          </p:spPr>
        </p:pic>
        <p:pic>
          <p:nvPicPr>
            <p:cNvPr id="6" name="object 6" descr=""/>
            <p:cNvPicPr/>
            <p:nvPr/>
          </p:nvPicPr>
          <p:blipFill>
            <a:blip r:embed="rId3" cstate="print"/>
            <a:stretch>
              <a:fillRect/>
            </a:stretch>
          </p:blipFill>
          <p:spPr>
            <a:xfrm>
              <a:off x="0" y="6672072"/>
              <a:ext cx="9144000" cy="185928"/>
            </a:xfrm>
            <a:prstGeom prst="rect">
              <a:avLst/>
            </a:prstGeom>
          </p:spPr>
        </p:pic>
        <p:sp>
          <p:nvSpPr>
            <p:cNvPr id="7" name="object 7" descr=""/>
            <p:cNvSpPr/>
            <p:nvPr/>
          </p:nvSpPr>
          <p:spPr>
            <a:xfrm>
              <a:off x="0" y="6672071"/>
              <a:ext cx="9144000" cy="0"/>
            </a:xfrm>
            <a:custGeom>
              <a:avLst/>
              <a:gdLst/>
              <a:ahLst/>
              <a:cxnLst/>
              <a:rect l="l" t="t" r="r" b="b"/>
              <a:pathLst>
                <a:path w="9144000" h="0">
                  <a:moveTo>
                    <a:pt x="9144000" y="0"/>
                  </a:moveTo>
                  <a:lnTo>
                    <a:pt x="0" y="0"/>
                  </a:lnTo>
                </a:path>
              </a:pathLst>
            </a:custGeom>
            <a:ln w="9525">
              <a:solidFill>
                <a:srgbClr val="4A7EBB"/>
              </a:solidFill>
            </a:ln>
          </p:spPr>
          <p:txBody>
            <a:bodyPr wrap="square" lIns="0" tIns="0" rIns="0" bIns="0" rtlCol="0"/>
            <a:lstStyle/>
            <a:p/>
          </p:txBody>
        </p:sp>
      </p:grpSp>
      <p:pic>
        <p:nvPicPr>
          <p:cNvPr id="8" name="object 8" descr=""/>
          <p:cNvPicPr/>
          <p:nvPr/>
        </p:nvPicPr>
        <p:blipFill>
          <a:blip r:embed="rId4" cstate="print"/>
          <a:stretch>
            <a:fillRect/>
          </a:stretch>
        </p:blipFill>
        <p:spPr>
          <a:xfrm>
            <a:off x="0" y="0"/>
            <a:ext cx="9144000" cy="4768596"/>
          </a:xfrm>
          <a:prstGeom prst="rect">
            <a:avLst/>
          </a:prstGeom>
        </p:spPr>
      </p:pic>
      <p:pic>
        <p:nvPicPr>
          <p:cNvPr id="9" name="object 9" descr=""/>
          <p:cNvPicPr/>
          <p:nvPr/>
        </p:nvPicPr>
        <p:blipFill>
          <a:blip r:embed="rId5" cstate="print"/>
          <a:stretch>
            <a:fillRect/>
          </a:stretch>
        </p:blipFill>
        <p:spPr>
          <a:xfrm>
            <a:off x="8432292" y="5929884"/>
            <a:ext cx="356616" cy="443483"/>
          </a:xfrm>
          <a:prstGeom prst="rect">
            <a:avLst/>
          </a:prstGeom>
        </p:spPr>
      </p:pic>
      <p:sp>
        <p:nvSpPr>
          <p:cNvPr id="10" name="object 10"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fld id="{81D60167-4931-47E6-BA6A-407CBD079E47}" type="slidenum">
              <a:rPr dirty="0" spc="-50"/>
              <a:t>2</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584" y="621943"/>
            <a:ext cx="7901940" cy="574040"/>
          </a:xfrm>
          <a:prstGeom prst="rect"/>
        </p:spPr>
        <p:txBody>
          <a:bodyPr wrap="square" lIns="0" tIns="12700" rIns="0" bIns="0" rtlCol="0" vert="horz">
            <a:spAutoFit/>
          </a:bodyPr>
          <a:lstStyle/>
          <a:p>
            <a:pPr marL="12700">
              <a:lnSpc>
                <a:spcPct val="100000"/>
              </a:lnSpc>
              <a:spcBef>
                <a:spcPts val="100"/>
              </a:spcBef>
            </a:pPr>
            <a:r>
              <a:rPr dirty="0" sz="3600"/>
              <a:t>Classical</a:t>
            </a:r>
            <a:r>
              <a:rPr dirty="0" sz="3600" spc="-90"/>
              <a:t> </a:t>
            </a:r>
            <a:r>
              <a:rPr dirty="0" sz="3600"/>
              <a:t>Computer</a:t>
            </a:r>
            <a:r>
              <a:rPr dirty="0" sz="3600" spc="-55"/>
              <a:t> </a:t>
            </a:r>
            <a:r>
              <a:rPr dirty="0" sz="3600"/>
              <a:t>Vision</a:t>
            </a:r>
            <a:r>
              <a:rPr dirty="0" sz="3600" spc="-65"/>
              <a:t> </a:t>
            </a:r>
            <a:r>
              <a:rPr dirty="0" sz="3600" spc="-10"/>
              <a:t>Pipeline</a:t>
            </a:r>
            <a:endParaRPr sz="3600"/>
          </a:p>
        </p:txBody>
      </p:sp>
      <p:sp>
        <p:nvSpPr>
          <p:cNvPr id="3" name="object 3" descr=""/>
          <p:cNvSpPr txBox="1"/>
          <p:nvPr/>
        </p:nvSpPr>
        <p:spPr>
          <a:xfrm>
            <a:off x="270951" y="1566951"/>
            <a:ext cx="8301355" cy="1305560"/>
          </a:xfrm>
          <a:prstGeom prst="rect">
            <a:avLst/>
          </a:prstGeom>
        </p:spPr>
        <p:txBody>
          <a:bodyPr wrap="square" lIns="0" tIns="12065" rIns="0" bIns="0" rtlCol="0" vert="horz">
            <a:spAutoFit/>
          </a:bodyPr>
          <a:lstStyle/>
          <a:p>
            <a:pPr marL="281305" indent="-273050">
              <a:lnSpc>
                <a:spcPct val="100000"/>
              </a:lnSpc>
              <a:spcBef>
                <a:spcPts val="95"/>
              </a:spcBef>
              <a:buSzPct val="96428"/>
              <a:buAutoNum type="arabicPeriod"/>
              <a:tabLst>
                <a:tab pos="281305" algn="l"/>
              </a:tabLst>
            </a:pPr>
            <a:r>
              <a:rPr dirty="0" sz="2800">
                <a:latin typeface="Calibri"/>
                <a:cs typeface="Calibri"/>
              </a:rPr>
              <a:t>Select</a:t>
            </a:r>
            <a:r>
              <a:rPr dirty="0" sz="2800" spc="-45">
                <a:latin typeface="Calibri"/>
                <a:cs typeface="Calibri"/>
              </a:rPr>
              <a:t> </a:t>
            </a:r>
            <a:r>
              <a:rPr dirty="0" sz="2800">
                <a:latin typeface="Calibri"/>
                <a:cs typeface="Calibri"/>
              </a:rPr>
              <a:t>/</a:t>
            </a:r>
            <a:r>
              <a:rPr dirty="0" sz="2800" spc="-40">
                <a:latin typeface="Calibri"/>
                <a:cs typeface="Calibri"/>
              </a:rPr>
              <a:t> </a:t>
            </a:r>
            <a:r>
              <a:rPr dirty="0" sz="2800">
                <a:latin typeface="Calibri"/>
                <a:cs typeface="Calibri"/>
              </a:rPr>
              <a:t>develop</a:t>
            </a:r>
            <a:r>
              <a:rPr dirty="0" sz="2800" spc="-50">
                <a:latin typeface="Calibri"/>
                <a:cs typeface="Calibri"/>
              </a:rPr>
              <a:t> </a:t>
            </a:r>
            <a:r>
              <a:rPr dirty="0" sz="2800" spc="-10">
                <a:latin typeface="Calibri"/>
                <a:cs typeface="Calibri"/>
              </a:rPr>
              <a:t>features</a:t>
            </a:r>
            <a:r>
              <a:rPr dirty="0" sz="2800" spc="-55">
                <a:latin typeface="Calibri"/>
                <a:cs typeface="Calibri"/>
              </a:rPr>
              <a:t> </a:t>
            </a:r>
            <a:r>
              <a:rPr dirty="0" sz="2800">
                <a:latin typeface="Calibri"/>
                <a:cs typeface="Calibri"/>
              </a:rPr>
              <a:t>(</a:t>
            </a:r>
            <a:r>
              <a:rPr dirty="0" sz="2800" spc="-50">
                <a:latin typeface="Calibri"/>
                <a:cs typeface="Calibri"/>
              </a:rPr>
              <a:t> </a:t>
            </a:r>
            <a:r>
              <a:rPr dirty="0" sz="2800">
                <a:latin typeface="Calibri"/>
                <a:cs typeface="Calibri"/>
              </a:rPr>
              <a:t>e.g.,</a:t>
            </a:r>
            <a:r>
              <a:rPr dirty="0" sz="2800" spc="-35">
                <a:latin typeface="Calibri"/>
                <a:cs typeface="Calibri"/>
              </a:rPr>
              <a:t> </a:t>
            </a:r>
            <a:r>
              <a:rPr dirty="0" sz="2800">
                <a:latin typeface="Calibri"/>
                <a:cs typeface="Calibri"/>
              </a:rPr>
              <a:t>HoG,</a:t>
            </a:r>
            <a:r>
              <a:rPr dirty="0" sz="2800" spc="-45">
                <a:latin typeface="Calibri"/>
                <a:cs typeface="Calibri"/>
              </a:rPr>
              <a:t> </a:t>
            </a:r>
            <a:r>
              <a:rPr dirty="0" sz="2800" spc="-50">
                <a:latin typeface="Calibri"/>
                <a:cs typeface="Calibri"/>
              </a:rPr>
              <a:t>SIFT,</a:t>
            </a:r>
            <a:r>
              <a:rPr dirty="0" sz="2800" spc="-55">
                <a:latin typeface="Calibri"/>
                <a:cs typeface="Calibri"/>
              </a:rPr>
              <a:t> </a:t>
            </a:r>
            <a:r>
              <a:rPr dirty="0" sz="2800" spc="-25">
                <a:latin typeface="Calibri"/>
                <a:cs typeface="Calibri"/>
              </a:rPr>
              <a:t>…)</a:t>
            </a:r>
            <a:endParaRPr sz="2800">
              <a:latin typeface="Calibri"/>
              <a:cs typeface="Calibri"/>
            </a:endParaRPr>
          </a:p>
          <a:p>
            <a:pPr marL="12700" marR="5080" indent="-3175">
              <a:lnSpc>
                <a:spcPct val="100000"/>
              </a:lnSpc>
              <a:buSzPct val="96428"/>
              <a:buAutoNum type="arabicPeriod"/>
              <a:tabLst>
                <a:tab pos="282575" algn="l"/>
              </a:tabLst>
            </a:pPr>
            <a:r>
              <a:rPr dirty="0" sz="2800">
                <a:latin typeface="Calibri"/>
                <a:cs typeface="Calibri"/>
              </a:rPr>
              <a:t>	</a:t>
            </a:r>
            <a:r>
              <a:rPr dirty="0" sz="2800">
                <a:latin typeface="Calibri"/>
                <a:cs typeface="Calibri"/>
              </a:rPr>
              <a:t>Add</a:t>
            </a:r>
            <a:r>
              <a:rPr dirty="0" sz="2800" spc="-40">
                <a:latin typeface="Calibri"/>
                <a:cs typeface="Calibri"/>
              </a:rPr>
              <a:t> </a:t>
            </a:r>
            <a:r>
              <a:rPr dirty="0" sz="2800">
                <a:latin typeface="Calibri"/>
                <a:cs typeface="Calibri"/>
              </a:rPr>
              <a:t>machine</a:t>
            </a:r>
            <a:r>
              <a:rPr dirty="0" sz="2800" spc="-65">
                <a:latin typeface="Calibri"/>
                <a:cs typeface="Calibri"/>
              </a:rPr>
              <a:t> </a:t>
            </a:r>
            <a:r>
              <a:rPr dirty="0" sz="2800">
                <a:latin typeface="Calibri"/>
                <a:cs typeface="Calibri"/>
              </a:rPr>
              <a:t>learning</a:t>
            </a:r>
            <a:r>
              <a:rPr dirty="0" sz="2800" spc="-55">
                <a:latin typeface="Calibri"/>
                <a:cs typeface="Calibri"/>
              </a:rPr>
              <a:t> </a:t>
            </a:r>
            <a:r>
              <a:rPr dirty="0" sz="2800">
                <a:latin typeface="Calibri"/>
                <a:cs typeface="Calibri"/>
              </a:rPr>
              <a:t>on</a:t>
            </a:r>
            <a:r>
              <a:rPr dirty="0" sz="2800" spc="-65">
                <a:latin typeface="Calibri"/>
                <a:cs typeface="Calibri"/>
              </a:rPr>
              <a:t> </a:t>
            </a:r>
            <a:r>
              <a:rPr dirty="0" sz="2800">
                <a:latin typeface="Calibri"/>
                <a:cs typeface="Calibri"/>
              </a:rPr>
              <a:t>top</a:t>
            </a:r>
            <a:r>
              <a:rPr dirty="0" sz="2800" spc="-65">
                <a:latin typeface="Calibri"/>
                <a:cs typeface="Calibri"/>
              </a:rPr>
              <a:t> </a:t>
            </a:r>
            <a:r>
              <a:rPr dirty="0" sz="2800">
                <a:latin typeface="Calibri"/>
                <a:cs typeface="Calibri"/>
              </a:rPr>
              <a:t>of</a:t>
            </a:r>
            <a:r>
              <a:rPr dirty="0" sz="2800" spc="-75">
                <a:latin typeface="Calibri"/>
                <a:cs typeface="Calibri"/>
              </a:rPr>
              <a:t> </a:t>
            </a:r>
            <a:r>
              <a:rPr dirty="0" sz="2800">
                <a:latin typeface="Calibri"/>
                <a:cs typeface="Calibri"/>
              </a:rPr>
              <a:t>this</a:t>
            </a:r>
            <a:r>
              <a:rPr dirty="0" sz="2800" spc="-50">
                <a:latin typeface="Calibri"/>
                <a:cs typeface="Calibri"/>
              </a:rPr>
              <a:t> </a:t>
            </a:r>
            <a:r>
              <a:rPr dirty="0" sz="2800">
                <a:latin typeface="Calibri"/>
                <a:cs typeface="Calibri"/>
              </a:rPr>
              <a:t>for</a:t>
            </a:r>
            <a:r>
              <a:rPr dirty="0" sz="2800" spc="-80">
                <a:latin typeface="Calibri"/>
                <a:cs typeface="Calibri"/>
              </a:rPr>
              <a:t> </a:t>
            </a:r>
            <a:r>
              <a:rPr dirty="0" sz="2800">
                <a:latin typeface="Calibri"/>
                <a:cs typeface="Calibri"/>
              </a:rPr>
              <a:t>recognition</a:t>
            </a:r>
            <a:r>
              <a:rPr dirty="0" sz="2800" spc="-60">
                <a:latin typeface="Calibri"/>
                <a:cs typeface="Calibri"/>
              </a:rPr>
              <a:t> </a:t>
            </a:r>
            <a:r>
              <a:rPr dirty="0" sz="2800" spc="-25">
                <a:latin typeface="Calibri"/>
                <a:cs typeface="Calibri"/>
              </a:rPr>
              <a:t>and </a:t>
            </a:r>
            <a:r>
              <a:rPr dirty="0" sz="2800">
                <a:latin typeface="Calibri"/>
                <a:cs typeface="Calibri"/>
              </a:rPr>
              <a:t>train</a:t>
            </a:r>
            <a:r>
              <a:rPr dirty="0" sz="2800" spc="-95">
                <a:latin typeface="Calibri"/>
                <a:cs typeface="Calibri"/>
              </a:rPr>
              <a:t> </a:t>
            </a:r>
            <a:r>
              <a:rPr dirty="0" sz="2800" spc="-10">
                <a:latin typeface="Calibri"/>
                <a:cs typeface="Calibri"/>
              </a:rPr>
              <a:t>classifier</a:t>
            </a:r>
            <a:endParaRPr sz="2800">
              <a:latin typeface="Calibri"/>
              <a:cs typeface="Calibri"/>
            </a:endParaRPr>
          </a:p>
        </p:txBody>
      </p:sp>
      <p:grpSp>
        <p:nvGrpSpPr>
          <p:cNvPr id="4" name="object 4" descr=""/>
          <p:cNvGrpSpPr/>
          <p:nvPr/>
        </p:nvGrpSpPr>
        <p:grpSpPr>
          <a:xfrm>
            <a:off x="0" y="3043427"/>
            <a:ext cx="9109075" cy="2034539"/>
            <a:chOff x="0" y="3043427"/>
            <a:chExt cx="9109075" cy="2034539"/>
          </a:xfrm>
        </p:grpSpPr>
        <p:pic>
          <p:nvPicPr>
            <p:cNvPr id="5" name="object 5" descr=""/>
            <p:cNvPicPr/>
            <p:nvPr/>
          </p:nvPicPr>
          <p:blipFill>
            <a:blip r:embed="rId2" cstate="print"/>
            <a:stretch>
              <a:fillRect/>
            </a:stretch>
          </p:blipFill>
          <p:spPr>
            <a:xfrm>
              <a:off x="2255520" y="3701808"/>
              <a:ext cx="5858256" cy="1104887"/>
            </a:xfrm>
            <a:prstGeom prst="rect">
              <a:avLst/>
            </a:prstGeom>
          </p:spPr>
        </p:pic>
        <p:pic>
          <p:nvPicPr>
            <p:cNvPr id="6" name="object 6" descr=""/>
            <p:cNvPicPr/>
            <p:nvPr/>
          </p:nvPicPr>
          <p:blipFill>
            <a:blip r:embed="rId3" cstate="print"/>
            <a:stretch>
              <a:fillRect/>
            </a:stretch>
          </p:blipFill>
          <p:spPr>
            <a:xfrm>
              <a:off x="0" y="3288791"/>
              <a:ext cx="2449068" cy="1789175"/>
            </a:xfrm>
            <a:prstGeom prst="rect">
              <a:avLst/>
            </a:prstGeom>
          </p:spPr>
        </p:pic>
        <p:pic>
          <p:nvPicPr>
            <p:cNvPr id="7" name="object 7" descr=""/>
            <p:cNvPicPr/>
            <p:nvPr/>
          </p:nvPicPr>
          <p:blipFill>
            <a:blip r:embed="rId3" cstate="print"/>
            <a:stretch>
              <a:fillRect/>
            </a:stretch>
          </p:blipFill>
          <p:spPr>
            <a:xfrm>
              <a:off x="6589776" y="3043427"/>
              <a:ext cx="2519172" cy="1840979"/>
            </a:xfrm>
            <a:prstGeom prst="rect">
              <a:avLst/>
            </a:prstGeom>
          </p:spPr>
        </p:pic>
        <p:sp>
          <p:nvSpPr>
            <p:cNvPr id="8" name="object 8" descr=""/>
            <p:cNvSpPr/>
            <p:nvPr/>
          </p:nvSpPr>
          <p:spPr>
            <a:xfrm>
              <a:off x="6590538" y="3176778"/>
              <a:ext cx="2472055" cy="1450975"/>
            </a:xfrm>
            <a:custGeom>
              <a:avLst/>
              <a:gdLst/>
              <a:ahLst/>
              <a:cxnLst/>
              <a:rect l="l" t="t" r="r" b="b"/>
              <a:pathLst>
                <a:path w="2472054" h="1450975">
                  <a:moveTo>
                    <a:pt x="879347" y="1449323"/>
                  </a:moveTo>
                  <a:lnTo>
                    <a:pt x="1743455" y="1449323"/>
                  </a:lnTo>
                  <a:lnTo>
                    <a:pt x="1743455" y="1254251"/>
                  </a:lnTo>
                  <a:lnTo>
                    <a:pt x="879347" y="1254251"/>
                  </a:lnTo>
                  <a:lnTo>
                    <a:pt x="879347" y="1449323"/>
                  </a:lnTo>
                  <a:close/>
                </a:path>
                <a:path w="2472054" h="1450975">
                  <a:moveTo>
                    <a:pt x="1260347" y="356615"/>
                  </a:moveTo>
                  <a:lnTo>
                    <a:pt x="1539239" y="356615"/>
                  </a:lnTo>
                  <a:lnTo>
                    <a:pt x="1539239" y="13715"/>
                  </a:lnTo>
                  <a:lnTo>
                    <a:pt x="1260347" y="13715"/>
                  </a:lnTo>
                  <a:lnTo>
                    <a:pt x="1260347" y="356615"/>
                  </a:lnTo>
                  <a:close/>
                </a:path>
                <a:path w="2472054" h="1450975">
                  <a:moveTo>
                    <a:pt x="1048511" y="356615"/>
                  </a:moveTo>
                  <a:lnTo>
                    <a:pt x="1260347" y="356615"/>
                  </a:lnTo>
                  <a:lnTo>
                    <a:pt x="1260347" y="0"/>
                  </a:lnTo>
                  <a:lnTo>
                    <a:pt x="1048511" y="0"/>
                  </a:lnTo>
                  <a:lnTo>
                    <a:pt x="1048511" y="356615"/>
                  </a:lnTo>
                  <a:close/>
                </a:path>
                <a:path w="2472054" h="1450975">
                  <a:moveTo>
                    <a:pt x="2191511" y="1450847"/>
                  </a:moveTo>
                  <a:lnTo>
                    <a:pt x="2471928" y="1450847"/>
                  </a:lnTo>
                  <a:lnTo>
                    <a:pt x="2471928" y="950975"/>
                  </a:lnTo>
                  <a:lnTo>
                    <a:pt x="2191511" y="950975"/>
                  </a:lnTo>
                  <a:lnTo>
                    <a:pt x="2191511" y="1450847"/>
                  </a:lnTo>
                  <a:close/>
                </a:path>
                <a:path w="2472054" h="1450975">
                  <a:moveTo>
                    <a:pt x="184403" y="1437131"/>
                  </a:moveTo>
                  <a:lnTo>
                    <a:pt x="463296" y="1437131"/>
                  </a:lnTo>
                  <a:lnTo>
                    <a:pt x="463296" y="1078991"/>
                  </a:lnTo>
                  <a:lnTo>
                    <a:pt x="184403" y="1078991"/>
                  </a:lnTo>
                  <a:lnTo>
                    <a:pt x="184403" y="1437131"/>
                  </a:lnTo>
                  <a:close/>
                </a:path>
                <a:path w="2472054" h="1450975">
                  <a:moveTo>
                    <a:pt x="0" y="1277111"/>
                  </a:moveTo>
                  <a:lnTo>
                    <a:pt x="278892" y="1277111"/>
                  </a:lnTo>
                  <a:lnTo>
                    <a:pt x="278892" y="824483"/>
                  </a:lnTo>
                  <a:lnTo>
                    <a:pt x="0" y="824483"/>
                  </a:lnTo>
                  <a:lnTo>
                    <a:pt x="0" y="1277111"/>
                  </a:lnTo>
                  <a:close/>
                </a:path>
              </a:pathLst>
            </a:custGeom>
            <a:ln w="34925">
              <a:solidFill>
                <a:srgbClr val="FF0000"/>
              </a:solidFill>
            </a:ln>
          </p:spPr>
          <p:txBody>
            <a:bodyPr wrap="square" lIns="0" tIns="0" rIns="0" bIns="0" rtlCol="0"/>
            <a:lstStyle/>
            <a:p/>
          </p:txBody>
        </p:sp>
        <p:sp>
          <p:nvSpPr>
            <p:cNvPr id="9" name="object 9" descr=""/>
            <p:cNvSpPr/>
            <p:nvPr/>
          </p:nvSpPr>
          <p:spPr>
            <a:xfrm>
              <a:off x="6663690" y="3659886"/>
              <a:ext cx="2428240" cy="797560"/>
            </a:xfrm>
            <a:custGeom>
              <a:avLst/>
              <a:gdLst/>
              <a:ahLst/>
              <a:cxnLst/>
              <a:rect l="l" t="t" r="r" b="b"/>
              <a:pathLst>
                <a:path w="2428240" h="797560">
                  <a:moveTo>
                    <a:pt x="0" y="797052"/>
                  </a:moveTo>
                  <a:lnTo>
                    <a:pt x="2427731" y="797052"/>
                  </a:lnTo>
                  <a:lnTo>
                    <a:pt x="2427731" y="0"/>
                  </a:lnTo>
                  <a:lnTo>
                    <a:pt x="0" y="0"/>
                  </a:lnTo>
                  <a:lnTo>
                    <a:pt x="0" y="797052"/>
                  </a:lnTo>
                  <a:close/>
                </a:path>
              </a:pathLst>
            </a:custGeom>
            <a:ln w="34924">
              <a:solidFill>
                <a:srgbClr val="00B050"/>
              </a:solidFill>
            </a:ln>
          </p:spPr>
          <p:txBody>
            <a:bodyPr wrap="square" lIns="0" tIns="0" rIns="0" bIns="0" rtlCol="0"/>
            <a:lstStyle/>
            <a:p/>
          </p:txBody>
        </p:sp>
      </p:grpSp>
      <p:sp>
        <p:nvSpPr>
          <p:cNvPr id="10" name="object 10" descr=""/>
          <p:cNvSpPr txBox="1"/>
          <p:nvPr/>
        </p:nvSpPr>
        <p:spPr>
          <a:xfrm>
            <a:off x="850792" y="5585687"/>
            <a:ext cx="7223125" cy="878840"/>
          </a:xfrm>
          <a:prstGeom prst="rect">
            <a:avLst/>
          </a:prstGeom>
        </p:spPr>
        <p:txBody>
          <a:bodyPr wrap="square" lIns="0" tIns="12065" rIns="0" bIns="0" rtlCol="0" vert="horz">
            <a:spAutoFit/>
          </a:bodyPr>
          <a:lstStyle/>
          <a:p>
            <a:pPr marL="12700" marR="5080">
              <a:lnSpc>
                <a:spcPct val="100000"/>
              </a:lnSpc>
              <a:spcBef>
                <a:spcPts val="95"/>
              </a:spcBef>
              <a:tabLst>
                <a:tab pos="2763520" algn="l"/>
              </a:tabLst>
            </a:pPr>
            <a:r>
              <a:rPr dirty="0" sz="2800" b="1">
                <a:solidFill>
                  <a:srgbClr val="000099"/>
                </a:solidFill>
                <a:latin typeface="Calibri"/>
                <a:cs typeface="Calibri"/>
              </a:rPr>
              <a:t>Classical</a:t>
            </a:r>
            <a:r>
              <a:rPr dirty="0" sz="2800" spc="-50" b="1">
                <a:solidFill>
                  <a:srgbClr val="000099"/>
                </a:solidFill>
                <a:latin typeface="Calibri"/>
                <a:cs typeface="Calibri"/>
              </a:rPr>
              <a:t> </a:t>
            </a:r>
            <a:r>
              <a:rPr dirty="0" sz="2800" b="1">
                <a:solidFill>
                  <a:srgbClr val="000099"/>
                </a:solidFill>
                <a:latin typeface="Calibri"/>
                <a:cs typeface="Calibri"/>
              </a:rPr>
              <a:t>CV</a:t>
            </a:r>
            <a:r>
              <a:rPr dirty="0" sz="2800" spc="-60" b="1">
                <a:solidFill>
                  <a:srgbClr val="000099"/>
                </a:solidFill>
                <a:latin typeface="Calibri"/>
                <a:cs typeface="Calibri"/>
              </a:rPr>
              <a:t> </a:t>
            </a:r>
            <a:r>
              <a:rPr dirty="0" sz="2800" spc="-10" b="1">
                <a:solidFill>
                  <a:srgbClr val="000099"/>
                </a:solidFill>
                <a:latin typeface="Calibri"/>
                <a:cs typeface="Calibri"/>
              </a:rPr>
              <a:t>feature</a:t>
            </a:r>
            <a:r>
              <a:rPr dirty="0" sz="2800" spc="-45" b="1">
                <a:solidFill>
                  <a:srgbClr val="000099"/>
                </a:solidFill>
                <a:latin typeface="Calibri"/>
                <a:cs typeface="Calibri"/>
              </a:rPr>
              <a:t> </a:t>
            </a:r>
            <a:r>
              <a:rPr dirty="0" sz="2800" b="1">
                <a:solidFill>
                  <a:srgbClr val="000099"/>
                </a:solidFill>
                <a:latin typeface="Calibri"/>
                <a:cs typeface="Calibri"/>
              </a:rPr>
              <a:t>definition</a:t>
            </a:r>
            <a:r>
              <a:rPr dirty="0" sz="2800" spc="-45" b="1">
                <a:solidFill>
                  <a:srgbClr val="000099"/>
                </a:solidFill>
                <a:latin typeface="Calibri"/>
                <a:cs typeface="Calibri"/>
              </a:rPr>
              <a:t> </a:t>
            </a:r>
            <a:r>
              <a:rPr dirty="0" sz="2800" b="1">
                <a:solidFill>
                  <a:srgbClr val="000099"/>
                </a:solidFill>
                <a:latin typeface="Calibri"/>
                <a:cs typeface="Calibri"/>
              </a:rPr>
              <a:t>is</a:t>
            </a:r>
            <a:r>
              <a:rPr dirty="0" sz="2800" spc="-75" b="1">
                <a:solidFill>
                  <a:srgbClr val="000099"/>
                </a:solidFill>
                <a:latin typeface="Calibri"/>
                <a:cs typeface="Calibri"/>
              </a:rPr>
              <a:t> </a:t>
            </a:r>
            <a:r>
              <a:rPr dirty="0" sz="2800" spc="-20" b="1">
                <a:solidFill>
                  <a:srgbClr val="000099"/>
                </a:solidFill>
                <a:latin typeface="Calibri"/>
                <a:cs typeface="Calibri"/>
              </a:rPr>
              <a:t>domain-</a:t>
            </a:r>
            <a:r>
              <a:rPr dirty="0" sz="2800" spc="-10" b="1">
                <a:solidFill>
                  <a:srgbClr val="000099"/>
                </a:solidFill>
                <a:latin typeface="Calibri"/>
                <a:cs typeface="Calibri"/>
              </a:rPr>
              <a:t>specific, </a:t>
            </a:r>
            <a:r>
              <a:rPr dirty="0" sz="2800" b="1">
                <a:solidFill>
                  <a:srgbClr val="000099"/>
                </a:solidFill>
                <a:latin typeface="Calibri"/>
                <a:cs typeface="Calibri"/>
              </a:rPr>
              <a:t>hand</a:t>
            </a:r>
            <a:r>
              <a:rPr dirty="0" sz="2800" spc="-65" b="1">
                <a:solidFill>
                  <a:srgbClr val="000099"/>
                </a:solidFill>
                <a:latin typeface="Calibri"/>
                <a:cs typeface="Calibri"/>
              </a:rPr>
              <a:t> </a:t>
            </a:r>
            <a:r>
              <a:rPr dirty="0" sz="2800" spc="-10" b="1">
                <a:solidFill>
                  <a:srgbClr val="000099"/>
                </a:solidFill>
                <a:latin typeface="Calibri"/>
                <a:cs typeface="Calibri"/>
              </a:rPr>
              <a:t>engineered,</a:t>
            </a:r>
            <a:r>
              <a:rPr dirty="0" sz="2800" b="1">
                <a:solidFill>
                  <a:srgbClr val="000099"/>
                </a:solidFill>
                <a:latin typeface="Calibri"/>
                <a:cs typeface="Calibri"/>
              </a:rPr>
              <a:t>	and</a:t>
            </a:r>
            <a:r>
              <a:rPr dirty="0" sz="2800" spc="-30" b="1">
                <a:solidFill>
                  <a:srgbClr val="000099"/>
                </a:solidFill>
                <a:latin typeface="Calibri"/>
                <a:cs typeface="Calibri"/>
              </a:rPr>
              <a:t> </a:t>
            </a:r>
            <a:r>
              <a:rPr dirty="0" sz="2800" spc="-20" b="1">
                <a:solidFill>
                  <a:srgbClr val="000099"/>
                </a:solidFill>
                <a:latin typeface="Calibri"/>
                <a:cs typeface="Calibri"/>
              </a:rPr>
              <a:t>time-</a:t>
            </a:r>
            <a:r>
              <a:rPr dirty="0" sz="2800" spc="-10" b="1">
                <a:solidFill>
                  <a:srgbClr val="000099"/>
                </a:solidFill>
                <a:latin typeface="Calibri"/>
                <a:cs typeface="Calibri"/>
              </a:rPr>
              <a:t>consuming</a:t>
            </a:r>
            <a:endParaRPr sz="2800">
              <a:latin typeface="Calibri"/>
              <a:cs typeface="Calibri"/>
            </a:endParaRPr>
          </a:p>
        </p:txBody>
      </p:sp>
      <p:sp>
        <p:nvSpPr>
          <p:cNvPr id="11" name="object 11" descr=""/>
          <p:cNvSpPr txBox="1"/>
          <p:nvPr/>
        </p:nvSpPr>
        <p:spPr>
          <a:xfrm>
            <a:off x="550693" y="426172"/>
            <a:ext cx="1896110" cy="250190"/>
          </a:xfrm>
          <a:prstGeom prst="rect">
            <a:avLst/>
          </a:prstGeom>
        </p:spPr>
        <p:txBody>
          <a:bodyPr wrap="square" lIns="0" tIns="15240" rIns="0" bIns="0" rtlCol="0" vert="horz">
            <a:spAutoFit/>
          </a:bodyPr>
          <a:lstStyle/>
          <a:p>
            <a:pPr marL="12700">
              <a:lnSpc>
                <a:spcPct val="100000"/>
              </a:lnSpc>
              <a:spcBef>
                <a:spcPts val="120"/>
              </a:spcBef>
            </a:pPr>
            <a:r>
              <a:rPr dirty="0" sz="1450" spc="-5">
                <a:latin typeface="Microsoft YaHei UI"/>
                <a:cs typeface="Microsoft YaHei UI"/>
              </a:rPr>
              <a:t>传统的计算机视觉⽅法</a:t>
            </a:r>
            <a:endParaRPr sz="1450">
              <a:latin typeface="Microsoft YaHei UI"/>
              <a:cs typeface="Microsoft YaHei UI"/>
            </a:endParaRPr>
          </a:p>
        </p:txBody>
      </p:sp>
      <p:pic>
        <p:nvPicPr>
          <p:cNvPr id="12" name="object 12" descr=""/>
          <p:cNvPicPr/>
          <p:nvPr/>
        </p:nvPicPr>
        <p:blipFill>
          <a:blip r:embed="rId4" cstate="print"/>
          <a:stretch>
            <a:fillRect/>
          </a:stretch>
        </p:blipFill>
        <p:spPr>
          <a:xfrm>
            <a:off x="644037" y="1195724"/>
            <a:ext cx="3399472" cy="400090"/>
          </a:xfrm>
          <a:prstGeom prst="rect">
            <a:avLst/>
          </a:prstGeom>
        </p:spPr>
      </p:pic>
      <p:pic>
        <p:nvPicPr>
          <p:cNvPr id="13" name="object 13" descr=""/>
          <p:cNvPicPr/>
          <p:nvPr/>
        </p:nvPicPr>
        <p:blipFill>
          <a:blip r:embed="rId5" cstate="print"/>
          <a:stretch>
            <a:fillRect/>
          </a:stretch>
        </p:blipFill>
        <p:spPr>
          <a:xfrm>
            <a:off x="4186883" y="1151674"/>
            <a:ext cx="3007984" cy="387053"/>
          </a:xfrm>
          <a:prstGeom prst="rect">
            <a:avLst/>
          </a:prstGeom>
        </p:spPr>
      </p:pic>
      <p:pic>
        <p:nvPicPr>
          <p:cNvPr id="14" name="object 14" descr=""/>
          <p:cNvPicPr/>
          <p:nvPr/>
        </p:nvPicPr>
        <p:blipFill>
          <a:blip r:embed="rId6" cstate="print"/>
          <a:stretch>
            <a:fillRect/>
          </a:stretch>
        </p:blipFill>
        <p:spPr>
          <a:xfrm>
            <a:off x="7267650" y="1196531"/>
            <a:ext cx="978583" cy="288100"/>
          </a:xfrm>
          <a:prstGeom prst="rect">
            <a:avLst/>
          </a:prstGeom>
        </p:spPr>
      </p:pic>
      <p:pic>
        <p:nvPicPr>
          <p:cNvPr id="15" name="object 15" descr=""/>
          <p:cNvPicPr/>
          <p:nvPr/>
        </p:nvPicPr>
        <p:blipFill>
          <a:blip r:embed="rId7" cstate="print"/>
          <a:stretch>
            <a:fillRect/>
          </a:stretch>
        </p:blipFill>
        <p:spPr>
          <a:xfrm>
            <a:off x="434771" y="5822201"/>
            <a:ext cx="301336" cy="336550"/>
          </a:xfrm>
          <a:prstGeom prst="rect">
            <a:avLst/>
          </a:prstGeom>
        </p:spPr>
      </p:pic>
      <p:pic>
        <p:nvPicPr>
          <p:cNvPr id="16" name="object 16" descr=""/>
          <p:cNvPicPr/>
          <p:nvPr/>
        </p:nvPicPr>
        <p:blipFill>
          <a:blip r:embed="rId8" cstate="print"/>
          <a:stretch>
            <a:fillRect/>
          </a:stretch>
        </p:blipFill>
        <p:spPr>
          <a:xfrm>
            <a:off x="1495502" y="5281076"/>
            <a:ext cx="467568" cy="306983"/>
          </a:xfrm>
          <a:prstGeom prst="rect">
            <a:avLst/>
          </a:prstGeom>
        </p:spPr>
      </p:pic>
      <p:pic>
        <p:nvPicPr>
          <p:cNvPr id="17" name="object 17" descr=""/>
          <p:cNvPicPr/>
          <p:nvPr/>
        </p:nvPicPr>
        <p:blipFill>
          <a:blip r:embed="rId9" cstate="print"/>
          <a:stretch>
            <a:fillRect/>
          </a:stretch>
        </p:blipFill>
        <p:spPr>
          <a:xfrm>
            <a:off x="2028540" y="5170616"/>
            <a:ext cx="3849184" cy="411314"/>
          </a:xfrm>
          <a:prstGeom prst="rect">
            <a:avLst/>
          </a:prstGeom>
        </p:spPr>
      </p:pic>
      <p:sp>
        <p:nvSpPr>
          <p:cNvPr id="18" name="object 18"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fld id="{81D60167-4931-47E6-BA6A-407CBD079E47}" type="slidenum">
              <a:rPr dirty="0" spc="-50"/>
              <a:t>2</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71218" rIns="0" bIns="0" rtlCol="0" vert="horz">
            <a:spAutoFit/>
          </a:bodyPr>
          <a:lstStyle/>
          <a:p>
            <a:pPr marL="320040">
              <a:lnSpc>
                <a:spcPct val="100000"/>
              </a:lnSpc>
              <a:spcBef>
                <a:spcPts val="95"/>
              </a:spcBef>
            </a:pPr>
            <a:r>
              <a:rPr dirty="0"/>
              <a:t>Features</a:t>
            </a:r>
            <a:r>
              <a:rPr dirty="0" spc="-114"/>
              <a:t> </a:t>
            </a:r>
            <a:r>
              <a:rPr dirty="0"/>
              <a:t>for</a:t>
            </a:r>
            <a:r>
              <a:rPr dirty="0" spc="-140"/>
              <a:t> </a:t>
            </a:r>
            <a:r>
              <a:rPr dirty="0"/>
              <a:t>machine</a:t>
            </a:r>
            <a:r>
              <a:rPr dirty="0" spc="-110"/>
              <a:t> </a:t>
            </a:r>
            <a:r>
              <a:rPr dirty="0" spc="-10"/>
              <a:t>learning</a:t>
            </a:r>
          </a:p>
        </p:txBody>
      </p:sp>
      <p:pic>
        <p:nvPicPr>
          <p:cNvPr id="3" name="object 3" descr=""/>
          <p:cNvPicPr/>
          <p:nvPr/>
        </p:nvPicPr>
        <p:blipFill>
          <a:blip r:embed="rId2" cstate="print"/>
          <a:stretch>
            <a:fillRect/>
          </a:stretch>
        </p:blipFill>
        <p:spPr>
          <a:xfrm>
            <a:off x="998219" y="3238500"/>
            <a:ext cx="2017776" cy="1533144"/>
          </a:xfrm>
          <a:prstGeom prst="rect">
            <a:avLst/>
          </a:prstGeom>
        </p:spPr>
      </p:pic>
      <p:grpSp>
        <p:nvGrpSpPr>
          <p:cNvPr id="4" name="object 4" descr=""/>
          <p:cNvGrpSpPr/>
          <p:nvPr/>
        </p:nvGrpSpPr>
        <p:grpSpPr>
          <a:xfrm>
            <a:off x="3084829" y="2162810"/>
            <a:ext cx="3218180" cy="4343400"/>
            <a:chOff x="3084829" y="2162810"/>
            <a:chExt cx="3218180" cy="4343400"/>
          </a:xfrm>
        </p:grpSpPr>
        <p:pic>
          <p:nvPicPr>
            <p:cNvPr id="5" name="object 5" descr=""/>
            <p:cNvPicPr/>
            <p:nvPr/>
          </p:nvPicPr>
          <p:blipFill>
            <a:blip r:embed="rId3" cstate="print"/>
            <a:stretch>
              <a:fillRect/>
            </a:stretch>
          </p:blipFill>
          <p:spPr>
            <a:xfrm>
              <a:off x="3831335" y="3348227"/>
              <a:ext cx="1746504" cy="1312164"/>
            </a:xfrm>
            <a:prstGeom prst="rect">
              <a:avLst/>
            </a:prstGeom>
          </p:spPr>
        </p:pic>
        <p:pic>
          <p:nvPicPr>
            <p:cNvPr id="6" name="object 6" descr=""/>
            <p:cNvPicPr/>
            <p:nvPr/>
          </p:nvPicPr>
          <p:blipFill>
            <a:blip r:embed="rId4" cstate="print"/>
            <a:stretch>
              <a:fillRect/>
            </a:stretch>
          </p:blipFill>
          <p:spPr>
            <a:xfrm>
              <a:off x="3891005" y="4934840"/>
              <a:ext cx="1820790" cy="1570923"/>
            </a:xfrm>
            <a:prstGeom prst="rect">
              <a:avLst/>
            </a:prstGeom>
          </p:spPr>
        </p:pic>
        <p:sp>
          <p:nvSpPr>
            <p:cNvPr id="7" name="object 7" descr=""/>
            <p:cNvSpPr/>
            <p:nvPr/>
          </p:nvSpPr>
          <p:spPr>
            <a:xfrm>
              <a:off x="3138677" y="2376678"/>
              <a:ext cx="510540" cy="334010"/>
            </a:xfrm>
            <a:custGeom>
              <a:avLst/>
              <a:gdLst/>
              <a:ahLst/>
              <a:cxnLst/>
              <a:rect l="l" t="t" r="r" b="b"/>
              <a:pathLst>
                <a:path w="510539" h="334010">
                  <a:moveTo>
                    <a:pt x="343662" y="0"/>
                  </a:moveTo>
                  <a:lnTo>
                    <a:pt x="343662" y="83438"/>
                  </a:lnTo>
                  <a:lnTo>
                    <a:pt x="0" y="83438"/>
                  </a:lnTo>
                  <a:lnTo>
                    <a:pt x="0" y="250317"/>
                  </a:lnTo>
                  <a:lnTo>
                    <a:pt x="343662" y="250317"/>
                  </a:lnTo>
                  <a:lnTo>
                    <a:pt x="343662" y="333756"/>
                  </a:lnTo>
                  <a:lnTo>
                    <a:pt x="510539" y="166877"/>
                  </a:lnTo>
                  <a:lnTo>
                    <a:pt x="343662" y="0"/>
                  </a:lnTo>
                  <a:close/>
                </a:path>
              </a:pathLst>
            </a:custGeom>
            <a:solidFill>
              <a:srgbClr val="0000FF"/>
            </a:solidFill>
          </p:spPr>
          <p:txBody>
            <a:bodyPr wrap="square" lIns="0" tIns="0" rIns="0" bIns="0" rtlCol="0"/>
            <a:lstStyle/>
            <a:p/>
          </p:txBody>
        </p:sp>
        <p:sp>
          <p:nvSpPr>
            <p:cNvPr id="8" name="object 8" descr=""/>
            <p:cNvSpPr/>
            <p:nvPr/>
          </p:nvSpPr>
          <p:spPr>
            <a:xfrm>
              <a:off x="3138677" y="2376678"/>
              <a:ext cx="510540" cy="334010"/>
            </a:xfrm>
            <a:custGeom>
              <a:avLst/>
              <a:gdLst/>
              <a:ahLst/>
              <a:cxnLst/>
              <a:rect l="l" t="t" r="r" b="b"/>
              <a:pathLst>
                <a:path w="510539" h="334010">
                  <a:moveTo>
                    <a:pt x="0" y="83438"/>
                  </a:moveTo>
                  <a:lnTo>
                    <a:pt x="343662" y="83438"/>
                  </a:lnTo>
                  <a:lnTo>
                    <a:pt x="343662" y="0"/>
                  </a:lnTo>
                  <a:lnTo>
                    <a:pt x="510540" y="166877"/>
                  </a:lnTo>
                  <a:lnTo>
                    <a:pt x="343662" y="333755"/>
                  </a:lnTo>
                  <a:lnTo>
                    <a:pt x="343662" y="250316"/>
                  </a:lnTo>
                  <a:lnTo>
                    <a:pt x="0" y="250316"/>
                  </a:lnTo>
                  <a:lnTo>
                    <a:pt x="0" y="83438"/>
                  </a:lnTo>
                  <a:close/>
                </a:path>
              </a:pathLst>
            </a:custGeom>
            <a:ln w="25400">
              <a:solidFill>
                <a:srgbClr val="385D8A"/>
              </a:solidFill>
            </a:ln>
          </p:spPr>
          <p:txBody>
            <a:bodyPr wrap="square" lIns="0" tIns="0" rIns="0" bIns="0" rtlCol="0"/>
            <a:lstStyle/>
            <a:p/>
          </p:txBody>
        </p:sp>
        <p:sp>
          <p:nvSpPr>
            <p:cNvPr id="9" name="object 9" descr=""/>
            <p:cNvSpPr/>
            <p:nvPr/>
          </p:nvSpPr>
          <p:spPr>
            <a:xfrm>
              <a:off x="5740145" y="2175510"/>
              <a:ext cx="509270" cy="334010"/>
            </a:xfrm>
            <a:custGeom>
              <a:avLst/>
              <a:gdLst/>
              <a:ahLst/>
              <a:cxnLst/>
              <a:rect l="l" t="t" r="r" b="b"/>
              <a:pathLst>
                <a:path w="509270" h="334010">
                  <a:moveTo>
                    <a:pt x="342138" y="0"/>
                  </a:moveTo>
                  <a:lnTo>
                    <a:pt x="342138" y="83438"/>
                  </a:lnTo>
                  <a:lnTo>
                    <a:pt x="0" y="83438"/>
                  </a:lnTo>
                  <a:lnTo>
                    <a:pt x="0" y="250316"/>
                  </a:lnTo>
                  <a:lnTo>
                    <a:pt x="342138" y="250316"/>
                  </a:lnTo>
                  <a:lnTo>
                    <a:pt x="342138" y="333755"/>
                  </a:lnTo>
                  <a:lnTo>
                    <a:pt x="509015" y="166877"/>
                  </a:lnTo>
                  <a:lnTo>
                    <a:pt x="342138" y="0"/>
                  </a:lnTo>
                  <a:close/>
                </a:path>
              </a:pathLst>
            </a:custGeom>
            <a:solidFill>
              <a:srgbClr val="0000FF"/>
            </a:solidFill>
          </p:spPr>
          <p:txBody>
            <a:bodyPr wrap="square" lIns="0" tIns="0" rIns="0" bIns="0" rtlCol="0"/>
            <a:lstStyle/>
            <a:p/>
          </p:txBody>
        </p:sp>
        <p:sp>
          <p:nvSpPr>
            <p:cNvPr id="10" name="object 10" descr=""/>
            <p:cNvSpPr/>
            <p:nvPr/>
          </p:nvSpPr>
          <p:spPr>
            <a:xfrm>
              <a:off x="5740145" y="2175510"/>
              <a:ext cx="509270" cy="334010"/>
            </a:xfrm>
            <a:custGeom>
              <a:avLst/>
              <a:gdLst/>
              <a:ahLst/>
              <a:cxnLst/>
              <a:rect l="l" t="t" r="r" b="b"/>
              <a:pathLst>
                <a:path w="509270" h="334010">
                  <a:moveTo>
                    <a:pt x="0" y="83438"/>
                  </a:moveTo>
                  <a:lnTo>
                    <a:pt x="342138" y="83438"/>
                  </a:lnTo>
                  <a:lnTo>
                    <a:pt x="342138" y="0"/>
                  </a:lnTo>
                  <a:lnTo>
                    <a:pt x="509016" y="166877"/>
                  </a:lnTo>
                  <a:lnTo>
                    <a:pt x="342138" y="333755"/>
                  </a:lnTo>
                  <a:lnTo>
                    <a:pt x="342138" y="250316"/>
                  </a:lnTo>
                  <a:lnTo>
                    <a:pt x="0" y="250316"/>
                  </a:lnTo>
                  <a:lnTo>
                    <a:pt x="0" y="83438"/>
                  </a:lnTo>
                  <a:close/>
                </a:path>
              </a:pathLst>
            </a:custGeom>
            <a:ln w="25400">
              <a:solidFill>
                <a:srgbClr val="385D8A"/>
              </a:solidFill>
            </a:ln>
          </p:spPr>
          <p:txBody>
            <a:bodyPr wrap="square" lIns="0" tIns="0" rIns="0" bIns="0" rtlCol="0"/>
            <a:lstStyle/>
            <a:p/>
          </p:txBody>
        </p:sp>
        <p:sp>
          <p:nvSpPr>
            <p:cNvPr id="11" name="object 11" descr=""/>
            <p:cNvSpPr/>
            <p:nvPr/>
          </p:nvSpPr>
          <p:spPr>
            <a:xfrm>
              <a:off x="3141725" y="3838194"/>
              <a:ext cx="509270" cy="332740"/>
            </a:xfrm>
            <a:custGeom>
              <a:avLst/>
              <a:gdLst/>
              <a:ahLst/>
              <a:cxnLst/>
              <a:rect l="l" t="t" r="r" b="b"/>
              <a:pathLst>
                <a:path w="509270" h="332739">
                  <a:moveTo>
                    <a:pt x="342900" y="0"/>
                  </a:moveTo>
                  <a:lnTo>
                    <a:pt x="342900" y="83057"/>
                  </a:lnTo>
                  <a:lnTo>
                    <a:pt x="0" y="83057"/>
                  </a:lnTo>
                  <a:lnTo>
                    <a:pt x="0" y="249173"/>
                  </a:lnTo>
                  <a:lnTo>
                    <a:pt x="342900" y="249173"/>
                  </a:lnTo>
                  <a:lnTo>
                    <a:pt x="342900" y="332231"/>
                  </a:lnTo>
                  <a:lnTo>
                    <a:pt x="509015" y="166115"/>
                  </a:lnTo>
                  <a:lnTo>
                    <a:pt x="342900" y="0"/>
                  </a:lnTo>
                  <a:close/>
                </a:path>
              </a:pathLst>
            </a:custGeom>
            <a:solidFill>
              <a:srgbClr val="0000FF"/>
            </a:solidFill>
          </p:spPr>
          <p:txBody>
            <a:bodyPr wrap="square" lIns="0" tIns="0" rIns="0" bIns="0" rtlCol="0"/>
            <a:lstStyle/>
            <a:p/>
          </p:txBody>
        </p:sp>
        <p:sp>
          <p:nvSpPr>
            <p:cNvPr id="12" name="object 12" descr=""/>
            <p:cNvSpPr/>
            <p:nvPr/>
          </p:nvSpPr>
          <p:spPr>
            <a:xfrm>
              <a:off x="3141725" y="3838194"/>
              <a:ext cx="509270" cy="332740"/>
            </a:xfrm>
            <a:custGeom>
              <a:avLst/>
              <a:gdLst/>
              <a:ahLst/>
              <a:cxnLst/>
              <a:rect l="l" t="t" r="r" b="b"/>
              <a:pathLst>
                <a:path w="509270" h="332739">
                  <a:moveTo>
                    <a:pt x="0" y="83057"/>
                  </a:moveTo>
                  <a:lnTo>
                    <a:pt x="342900" y="83057"/>
                  </a:lnTo>
                  <a:lnTo>
                    <a:pt x="342900" y="0"/>
                  </a:lnTo>
                  <a:lnTo>
                    <a:pt x="509016" y="166115"/>
                  </a:lnTo>
                  <a:lnTo>
                    <a:pt x="342900" y="332231"/>
                  </a:lnTo>
                  <a:lnTo>
                    <a:pt x="342900" y="249173"/>
                  </a:lnTo>
                  <a:lnTo>
                    <a:pt x="0" y="249173"/>
                  </a:lnTo>
                  <a:lnTo>
                    <a:pt x="0" y="83057"/>
                  </a:lnTo>
                  <a:close/>
                </a:path>
              </a:pathLst>
            </a:custGeom>
            <a:ln w="25399">
              <a:solidFill>
                <a:srgbClr val="385D8A"/>
              </a:solidFill>
            </a:ln>
          </p:spPr>
          <p:txBody>
            <a:bodyPr wrap="square" lIns="0" tIns="0" rIns="0" bIns="0" rtlCol="0"/>
            <a:lstStyle/>
            <a:p/>
          </p:txBody>
        </p:sp>
        <p:sp>
          <p:nvSpPr>
            <p:cNvPr id="13" name="object 13" descr=""/>
            <p:cNvSpPr/>
            <p:nvPr/>
          </p:nvSpPr>
          <p:spPr>
            <a:xfrm>
              <a:off x="5779769" y="4005833"/>
              <a:ext cx="510540" cy="334010"/>
            </a:xfrm>
            <a:custGeom>
              <a:avLst/>
              <a:gdLst/>
              <a:ahLst/>
              <a:cxnLst/>
              <a:rect l="l" t="t" r="r" b="b"/>
              <a:pathLst>
                <a:path w="510539" h="334010">
                  <a:moveTo>
                    <a:pt x="343662" y="0"/>
                  </a:moveTo>
                  <a:lnTo>
                    <a:pt x="343662" y="83439"/>
                  </a:lnTo>
                  <a:lnTo>
                    <a:pt x="0" y="83439"/>
                  </a:lnTo>
                  <a:lnTo>
                    <a:pt x="0" y="250317"/>
                  </a:lnTo>
                  <a:lnTo>
                    <a:pt x="343662" y="250317"/>
                  </a:lnTo>
                  <a:lnTo>
                    <a:pt x="343662" y="333756"/>
                  </a:lnTo>
                  <a:lnTo>
                    <a:pt x="510539" y="166878"/>
                  </a:lnTo>
                  <a:lnTo>
                    <a:pt x="343662" y="0"/>
                  </a:lnTo>
                  <a:close/>
                </a:path>
              </a:pathLst>
            </a:custGeom>
            <a:solidFill>
              <a:srgbClr val="0000FF"/>
            </a:solidFill>
          </p:spPr>
          <p:txBody>
            <a:bodyPr wrap="square" lIns="0" tIns="0" rIns="0" bIns="0" rtlCol="0"/>
            <a:lstStyle/>
            <a:p/>
          </p:txBody>
        </p:sp>
        <p:sp>
          <p:nvSpPr>
            <p:cNvPr id="14" name="object 14" descr=""/>
            <p:cNvSpPr/>
            <p:nvPr/>
          </p:nvSpPr>
          <p:spPr>
            <a:xfrm>
              <a:off x="5779769" y="4005833"/>
              <a:ext cx="510540" cy="334010"/>
            </a:xfrm>
            <a:custGeom>
              <a:avLst/>
              <a:gdLst/>
              <a:ahLst/>
              <a:cxnLst/>
              <a:rect l="l" t="t" r="r" b="b"/>
              <a:pathLst>
                <a:path w="510539" h="334010">
                  <a:moveTo>
                    <a:pt x="0" y="83438"/>
                  </a:moveTo>
                  <a:lnTo>
                    <a:pt x="343662" y="83438"/>
                  </a:lnTo>
                  <a:lnTo>
                    <a:pt x="343662" y="0"/>
                  </a:lnTo>
                  <a:lnTo>
                    <a:pt x="510540" y="166877"/>
                  </a:lnTo>
                  <a:lnTo>
                    <a:pt x="343662" y="333755"/>
                  </a:lnTo>
                  <a:lnTo>
                    <a:pt x="343662" y="250316"/>
                  </a:lnTo>
                  <a:lnTo>
                    <a:pt x="0" y="250316"/>
                  </a:lnTo>
                  <a:lnTo>
                    <a:pt x="0" y="83438"/>
                  </a:lnTo>
                  <a:close/>
                </a:path>
              </a:pathLst>
            </a:custGeom>
            <a:ln w="25400">
              <a:solidFill>
                <a:srgbClr val="385D8A"/>
              </a:solidFill>
            </a:ln>
          </p:spPr>
          <p:txBody>
            <a:bodyPr wrap="square" lIns="0" tIns="0" rIns="0" bIns="0" rtlCol="0"/>
            <a:lstStyle/>
            <a:p/>
          </p:txBody>
        </p:sp>
        <p:sp>
          <p:nvSpPr>
            <p:cNvPr id="15" name="object 15" descr=""/>
            <p:cNvSpPr/>
            <p:nvPr/>
          </p:nvSpPr>
          <p:spPr>
            <a:xfrm>
              <a:off x="3097529" y="5561838"/>
              <a:ext cx="510540" cy="334010"/>
            </a:xfrm>
            <a:custGeom>
              <a:avLst/>
              <a:gdLst/>
              <a:ahLst/>
              <a:cxnLst/>
              <a:rect l="l" t="t" r="r" b="b"/>
              <a:pathLst>
                <a:path w="510539" h="334010">
                  <a:moveTo>
                    <a:pt x="343661" y="0"/>
                  </a:moveTo>
                  <a:lnTo>
                    <a:pt x="343661" y="83439"/>
                  </a:lnTo>
                  <a:lnTo>
                    <a:pt x="0" y="83439"/>
                  </a:lnTo>
                  <a:lnTo>
                    <a:pt x="0" y="250317"/>
                  </a:lnTo>
                  <a:lnTo>
                    <a:pt x="343661" y="250317"/>
                  </a:lnTo>
                  <a:lnTo>
                    <a:pt x="343661" y="333756"/>
                  </a:lnTo>
                  <a:lnTo>
                    <a:pt x="510540" y="166878"/>
                  </a:lnTo>
                  <a:lnTo>
                    <a:pt x="343661" y="0"/>
                  </a:lnTo>
                  <a:close/>
                </a:path>
              </a:pathLst>
            </a:custGeom>
            <a:solidFill>
              <a:srgbClr val="0000FF"/>
            </a:solidFill>
          </p:spPr>
          <p:txBody>
            <a:bodyPr wrap="square" lIns="0" tIns="0" rIns="0" bIns="0" rtlCol="0"/>
            <a:lstStyle/>
            <a:p/>
          </p:txBody>
        </p:sp>
        <p:sp>
          <p:nvSpPr>
            <p:cNvPr id="16" name="object 16" descr=""/>
            <p:cNvSpPr/>
            <p:nvPr/>
          </p:nvSpPr>
          <p:spPr>
            <a:xfrm>
              <a:off x="3097529" y="5561838"/>
              <a:ext cx="510540" cy="334010"/>
            </a:xfrm>
            <a:custGeom>
              <a:avLst/>
              <a:gdLst/>
              <a:ahLst/>
              <a:cxnLst/>
              <a:rect l="l" t="t" r="r" b="b"/>
              <a:pathLst>
                <a:path w="510539" h="334010">
                  <a:moveTo>
                    <a:pt x="0" y="83438"/>
                  </a:moveTo>
                  <a:lnTo>
                    <a:pt x="343662" y="83438"/>
                  </a:lnTo>
                  <a:lnTo>
                    <a:pt x="343662" y="0"/>
                  </a:lnTo>
                  <a:lnTo>
                    <a:pt x="510540" y="166877"/>
                  </a:lnTo>
                  <a:lnTo>
                    <a:pt x="343662" y="333755"/>
                  </a:lnTo>
                  <a:lnTo>
                    <a:pt x="343662" y="250316"/>
                  </a:lnTo>
                  <a:lnTo>
                    <a:pt x="0" y="250316"/>
                  </a:lnTo>
                  <a:lnTo>
                    <a:pt x="0" y="83438"/>
                  </a:lnTo>
                  <a:close/>
                </a:path>
              </a:pathLst>
            </a:custGeom>
            <a:ln w="25400">
              <a:solidFill>
                <a:srgbClr val="385D8A"/>
              </a:solidFill>
            </a:ln>
          </p:spPr>
          <p:txBody>
            <a:bodyPr wrap="square" lIns="0" tIns="0" rIns="0" bIns="0" rtlCol="0"/>
            <a:lstStyle/>
            <a:p/>
          </p:txBody>
        </p:sp>
        <p:sp>
          <p:nvSpPr>
            <p:cNvPr id="17" name="object 17" descr=""/>
            <p:cNvSpPr/>
            <p:nvPr/>
          </p:nvSpPr>
          <p:spPr>
            <a:xfrm>
              <a:off x="5779769" y="5560313"/>
              <a:ext cx="510540" cy="335280"/>
            </a:xfrm>
            <a:custGeom>
              <a:avLst/>
              <a:gdLst/>
              <a:ahLst/>
              <a:cxnLst/>
              <a:rect l="l" t="t" r="r" b="b"/>
              <a:pathLst>
                <a:path w="510539" h="335279">
                  <a:moveTo>
                    <a:pt x="342900" y="0"/>
                  </a:moveTo>
                  <a:lnTo>
                    <a:pt x="342900" y="83820"/>
                  </a:lnTo>
                  <a:lnTo>
                    <a:pt x="0" y="83820"/>
                  </a:lnTo>
                  <a:lnTo>
                    <a:pt x="0" y="251460"/>
                  </a:lnTo>
                  <a:lnTo>
                    <a:pt x="342900" y="251460"/>
                  </a:lnTo>
                  <a:lnTo>
                    <a:pt x="342900" y="335280"/>
                  </a:lnTo>
                  <a:lnTo>
                    <a:pt x="510539" y="167640"/>
                  </a:lnTo>
                  <a:lnTo>
                    <a:pt x="342900" y="0"/>
                  </a:lnTo>
                  <a:close/>
                </a:path>
              </a:pathLst>
            </a:custGeom>
            <a:solidFill>
              <a:srgbClr val="0000FF"/>
            </a:solidFill>
          </p:spPr>
          <p:txBody>
            <a:bodyPr wrap="square" lIns="0" tIns="0" rIns="0" bIns="0" rtlCol="0"/>
            <a:lstStyle/>
            <a:p/>
          </p:txBody>
        </p:sp>
        <p:sp>
          <p:nvSpPr>
            <p:cNvPr id="18" name="object 18" descr=""/>
            <p:cNvSpPr/>
            <p:nvPr/>
          </p:nvSpPr>
          <p:spPr>
            <a:xfrm>
              <a:off x="5779769" y="5560314"/>
              <a:ext cx="510540" cy="335280"/>
            </a:xfrm>
            <a:custGeom>
              <a:avLst/>
              <a:gdLst/>
              <a:ahLst/>
              <a:cxnLst/>
              <a:rect l="l" t="t" r="r" b="b"/>
              <a:pathLst>
                <a:path w="510539" h="335279">
                  <a:moveTo>
                    <a:pt x="0" y="83819"/>
                  </a:moveTo>
                  <a:lnTo>
                    <a:pt x="342900" y="83819"/>
                  </a:lnTo>
                  <a:lnTo>
                    <a:pt x="342900" y="0"/>
                  </a:lnTo>
                  <a:lnTo>
                    <a:pt x="510540" y="167639"/>
                  </a:lnTo>
                  <a:lnTo>
                    <a:pt x="342900" y="335279"/>
                  </a:lnTo>
                  <a:lnTo>
                    <a:pt x="342900" y="251459"/>
                  </a:lnTo>
                  <a:lnTo>
                    <a:pt x="0" y="251459"/>
                  </a:lnTo>
                  <a:lnTo>
                    <a:pt x="0" y="83819"/>
                  </a:lnTo>
                  <a:close/>
                </a:path>
              </a:pathLst>
            </a:custGeom>
            <a:ln w="25400">
              <a:solidFill>
                <a:srgbClr val="385D8A"/>
              </a:solidFill>
            </a:ln>
          </p:spPr>
          <p:txBody>
            <a:bodyPr wrap="square" lIns="0" tIns="0" rIns="0" bIns="0" rtlCol="0"/>
            <a:lstStyle/>
            <a:p/>
          </p:txBody>
        </p:sp>
      </p:grpSp>
      <p:sp>
        <p:nvSpPr>
          <p:cNvPr id="19" name="object 19" descr=""/>
          <p:cNvSpPr txBox="1"/>
          <p:nvPr/>
        </p:nvSpPr>
        <p:spPr>
          <a:xfrm>
            <a:off x="78739" y="2156324"/>
            <a:ext cx="794385" cy="39116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Calibri"/>
                <a:cs typeface="Calibri"/>
              </a:rPr>
              <a:t>image</a:t>
            </a:r>
            <a:endParaRPr sz="2400">
              <a:latin typeface="Calibri"/>
              <a:cs typeface="Calibri"/>
            </a:endParaRPr>
          </a:p>
        </p:txBody>
      </p:sp>
      <p:sp>
        <p:nvSpPr>
          <p:cNvPr id="20" name="object 20" descr=""/>
          <p:cNvSpPr txBox="1"/>
          <p:nvPr/>
        </p:nvSpPr>
        <p:spPr>
          <a:xfrm>
            <a:off x="221691" y="3870824"/>
            <a:ext cx="741045" cy="39116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Calibri"/>
                <a:cs typeface="Calibri"/>
              </a:rPr>
              <a:t>audio</a:t>
            </a:r>
            <a:endParaRPr sz="2400">
              <a:latin typeface="Calibri"/>
              <a:cs typeface="Calibri"/>
            </a:endParaRPr>
          </a:p>
        </p:txBody>
      </p:sp>
      <p:sp>
        <p:nvSpPr>
          <p:cNvPr id="21" name="object 21" descr=""/>
          <p:cNvSpPr txBox="1"/>
          <p:nvPr/>
        </p:nvSpPr>
        <p:spPr>
          <a:xfrm>
            <a:off x="269240" y="5510038"/>
            <a:ext cx="522605" cy="391160"/>
          </a:xfrm>
          <a:prstGeom prst="rect">
            <a:avLst/>
          </a:prstGeom>
        </p:spPr>
        <p:txBody>
          <a:bodyPr wrap="square" lIns="0" tIns="12700" rIns="0" bIns="0" rtlCol="0" vert="horz">
            <a:spAutoFit/>
          </a:bodyPr>
          <a:lstStyle/>
          <a:p>
            <a:pPr marL="12700">
              <a:lnSpc>
                <a:spcPct val="100000"/>
              </a:lnSpc>
              <a:spcBef>
                <a:spcPts val="100"/>
              </a:spcBef>
            </a:pPr>
            <a:r>
              <a:rPr dirty="0" sz="2400" spc="-20" b="1">
                <a:latin typeface="Calibri"/>
                <a:cs typeface="Calibri"/>
              </a:rPr>
              <a:t>text</a:t>
            </a:r>
            <a:endParaRPr sz="2400">
              <a:latin typeface="Calibri"/>
              <a:cs typeface="Calibri"/>
            </a:endParaRPr>
          </a:p>
        </p:txBody>
      </p:sp>
      <p:sp>
        <p:nvSpPr>
          <p:cNvPr id="22" name="object 22" descr=""/>
          <p:cNvSpPr txBox="1"/>
          <p:nvPr/>
        </p:nvSpPr>
        <p:spPr>
          <a:xfrm>
            <a:off x="6425565" y="5510075"/>
            <a:ext cx="1941830" cy="112268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Calibri"/>
                <a:cs typeface="Calibri"/>
              </a:rPr>
              <a:t>Translation/</a:t>
            </a:r>
            <a:endParaRPr sz="2400">
              <a:latin typeface="Calibri"/>
              <a:cs typeface="Calibri"/>
            </a:endParaRPr>
          </a:p>
          <a:p>
            <a:pPr marL="12700">
              <a:lnSpc>
                <a:spcPct val="100000"/>
              </a:lnSpc>
            </a:pPr>
            <a:r>
              <a:rPr dirty="0" sz="2400" spc="-10" b="1">
                <a:latin typeface="Calibri"/>
                <a:cs typeface="Calibri"/>
              </a:rPr>
              <a:t>/categorization</a:t>
            </a:r>
            <a:endParaRPr sz="2400">
              <a:latin typeface="Calibri"/>
              <a:cs typeface="Calibri"/>
            </a:endParaRPr>
          </a:p>
          <a:p>
            <a:pPr marL="12700">
              <a:lnSpc>
                <a:spcPct val="100000"/>
              </a:lnSpc>
            </a:pPr>
            <a:r>
              <a:rPr dirty="0" sz="2400" b="1">
                <a:latin typeface="Calibri"/>
                <a:cs typeface="Calibri"/>
              </a:rPr>
              <a:t>/Web</a:t>
            </a:r>
            <a:r>
              <a:rPr dirty="0" sz="2400" spc="-135" b="1">
                <a:latin typeface="Calibri"/>
                <a:cs typeface="Calibri"/>
              </a:rPr>
              <a:t> </a:t>
            </a:r>
            <a:r>
              <a:rPr dirty="0" sz="2400" spc="-10" b="1">
                <a:latin typeface="Calibri"/>
                <a:cs typeface="Calibri"/>
              </a:rPr>
              <a:t>search</a:t>
            </a:r>
            <a:endParaRPr sz="2400">
              <a:latin typeface="Calibri"/>
              <a:cs typeface="Calibri"/>
            </a:endParaRPr>
          </a:p>
        </p:txBody>
      </p:sp>
      <p:sp>
        <p:nvSpPr>
          <p:cNvPr id="23" name="object 23" descr=""/>
          <p:cNvSpPr txBox="1"/>
          <p:nvPr/>
        </p:nvSpPr>
        <p:spPr>
          <a:xfrm>
            <a:off x="6388289" y="4692514"/>
            <a:ext cx="115697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Calibri"/>
                <a:cs typeface="Calibri"/>
              </a:rPr>
              <a:t>Speaker</a:t>
            </a:r>
            <a:r>
              <a:rPr dirty="0" sz="2000" spc="-70" b="1">
                <a:latin typeface="Calibri"/>
                <a:cs typeface="Calibri"/>
              </a:rPr>
              <a:t> </a:t>
            </a:r>
            <a:r>
              <a:rPr dirty="0" sz="2000" spc="-25" b="1">
                <a:latin typeface="Calibri"/>
                <a:cs typeface="Calibri"/>
              </a:rPr>
              <a:t>ID</a:t>
            </a:r>
            <a:endParaRPr sz="2000">
              <a:latin typeface="Calibri"/>
              <a:cs typeface="Calibri"/>
            </a:endParaRPr>
          </a:p>
        </p:txBody>
      </p:sp>
      <p:sp>
        <p:nvSpPr>
          <p:cNvPr id="24" name="object 24" descr=""/>
          <p:cNvSpPr txBox="1"/>
          <p:nvPr/>
        </p:nvSpPr>
        <p:spPr>
          <a:xfrm>
            <a:off x="6455727" y="2924556"/>
            <a:ext cx="1786889" cy="636270"/>
          </a:xfrm>
          <a:prstGeom prst="rect">
            <a:avLst/>
          </a:prstGeom>
        </p:spPr>
        <p:txBody>
          <a:bodyPr wrap="square" lIns="0" tIns="13335" rIns="0" bIns="0" rtlCol="0" vert="horz">
            <a:spAutoFit/>
          </a:bodyPr>
          <a:lstStyle/>
          <a:p>
            <a:pPr marL="12700">
              <a:lnSpc>
                <a:spcPct val="100000"/>
              </a:lnSpc>
              <a:spcBef>
                <a:spcPts val="105"/>
              </a:spcBef>
            </a:pPr>
            <a:r>
              <a:rPr dirty="0" sz="2000" b="1">
                <a:latin typeface="Calibri"/>
                <a:cs typeface="Calibri"/>
              </a:rPr>
              <a:t>Object</a:t>
            </a:r>
            <a:r>
              <a:rPr dirty="0" sz="2000" spc="-45" b="1">
                <a:latin typeface="Calibri"/>
                <a:cs typeface="Calibri"/>
              </a:rPr>
              <a:t> </a:t>
            </a:r>
            <a:r>
              <a:rPr dirty="0" sz="2000" spc="-10" b="1">
                <a:latin typeface="Calibri"/>
                <a:cs typeface="Calibri"/>
              </a:rPr>
              <a:t>detection</a:t>
            </a:r>
            <a:endParaRPr sz="2000">
              <a:latin typeface="Calibri"/>
              <a:cs typeface="Calibri"/>
            </a:endParaRPr>
          </a:p>
          <a:p>
            <a:pPr marL="12700">
              <a:lnSpc>
                <a:spcPct val="100000"/>
              </a:lnSpc>
            </a:pPr>
            <a:r>
              <a:rPr dirty="0" sz="2000" spc="-10" b="1">
                <a:latin typeface="Calibri"/>
                <a:cs typeface="Calibri"/>
              </a:rPr>
              <a:t>/classification</a:t>
            </a:r>
            <a:endParaRPr sz="2000">
              <a:latin typeface="Calibri"/>
              <a:cs typeface="Calibri"/>
            </a:endParaRPr>
          </a:p>
        </p:txBody>
      </p:sp>
      <p:sp>
        <p:nvSpPr>
          <p:cNvPr id="25" name="object 25" descr=""/>
          <p:cNvSpPr txBox="1"/>
          <p:nvPr/>
        </p:nvSpPr>
        <p:spPr>
          <a:xfrm>
            <a:off x="3661917" y="2941955"/>
            <a:ext cx="2065655" cy="3893820"/>
          </a:xfrm>
          <a:prstGeom prst="rect">
            <a:avLst/>
          </a:prstGeom>
        </p:spPr>
        <p:txBody>
          <a:bodyPr wrap="square" lIns="0" tIns="12700" rIns="0" bIns="0" rtlCol="0" vert="horz">
            <a:spAutoFit/>
          </a:bodyPr>
          <a:lstStyle/>
          <a:p>
            <a:pPr marL="240665">
              <a:lnSpc>
                <a:spcPct val="100000"/>
              </a:lnSpc>
              <a:spcBef>
                <a:spcPts val="100"/>
              </a:spcBef>
            </a:pPr>
            <a:r>
              <a:rPr dirty="0" sz="1800" b="1">
                <a:latin typeface="Calibri"/>
                <a:cs typeface="Calibri"/>
              </a:rPr>
              <a:t>Image</a:t>
            </a:r>
            <a:r>
              <a:rPr dirty="0" sz="1800" spc="-40" b="1">
                <a:latin typeface="Calibri"/>
                <a:cs typeface="Calibri"/>
              </a:rPr>
              <a:t> </a:t>
            </a:r>
            <a:r>
              <a:rPr dirty="0" sz="1800" spc="-10" b="1">
                <a:latin typeface="Calibri"/>
                <a:cs typeface="Calibri"/>
              </a:rPr>
              <a:t>feature</a:t>
            </a:r>
            <a:endParaRPr sz="1800">
              <a:latin typeface="Calibri"/>
              <a:cs typeface="Calibri"/>
            </a:endParaRPr>
          </a:p>
          <a:p>
            <a:pPr>
              <a:lnSpc>
                <a:spcPct val="100000"/>
              </a:lnSpc>
            </a:pPr>
            <a:endParaRPr sz="1800">
              <a:latin typeface="Calibri"/>
              <a:cs typeface="Calibri"/>
            </a:endParaRPr>
          </a:p>
          <a:p>
            <a:pPr>
              <a:lnSpc>
                <a:spcPct val="100000"/>
              </a:lnSpc>
            </a:pPr>
            <a:endParaRPr sz="1800">
              <a:latin typeface="Calibri"/>
              <a:cs typeface="Calibri"/>
            </a:endParaRPr>
          </a:p>
          <a:p>
            <a:pPr>
              <a:lnSpc>
                <a:spcPct val="100000"/>
              </a:lnSpc>
            </a:pPr>
            <a:endParaRPr sz="1800">
              <a:latin typeface="Calibri"/>
              <a:cs typeface="Calibri"/>
            </a:endParaRPr>
          </a:p>
          <a:p>
            <a:pPr>
              <a:lnSpc>
                <a:spcPct val="100000"/>
              </a:lnSpc>
            </a:pPr>
            <a:endParaRPr sz="1800">
              <a:latin typeface="Calibri"/>
              <a:cs typeface="Calibri"/>
            </a:endParaRPr>
          </a:p>
          <a:p>
            <a:pPr>
              <a:lnSpc>
                <a:spcPct val="100000"/>
              </a:lnSpc>
              <a:spcBef>
                <a:spcPts val="590"/>
              </a:spcBef>
            </a:pPr>
            <a:endParaRPr sz="1800">
              <a:latin typeface="Calibri"/>
              <a:cs typeface="Calibri"/>
            </a:endParaRPr>
          </a:p>
          <a:p>
            <a:pPr marL="240665">
              <a:lnSpc>
                <a:spcPct val="100000"/>
              </a:lnSpc>
            </a:pPr>
            <a:r>
              <a:rPr dirty="0" sz="1800" b="1">
                <a:latin typeface="Calibri"/>
                <a:cs typeface="Calibri"/>
              </a:rPr>
              <a:t>Audio</a:t>
            </a:r>
            <a:r>
              <a:rPr dirty="0" sz="1800" spc="-25" b="1">
                <a:latin typeface="Calibri"/>
                <a:cs typeface="Calibri"/>
              </a:rPr>
              <a:t> </a:t>
            </a:r>
            <a:r>
              <a:rPr dirty="0" sz="1800" spc="-10" b="1">
                <a:latin typeface="Calibri"/>
                <a:cs typeface="Calibri"/>
              </a:rPr>
              <a:t>feature</a:t>
            </a:r>
            <a:endParaRPr sz="1800">
              <a:latin typeface="Calibri"/>
              <a:cs typeface="Calibri"/>
            </a:endParaRPr>
          </a:p>
          <a:p>
            <a:pPr>
              <a:lnSpc>
                <a:spcPct val="100000"/>
              </a:lnSpc>
            </a:pPr>
            <a:endParaRPr sz="1800">
              <a:latin typeface="Calibri"/>
              <a:cs typeface="Calibri"/>
            </a:endParaRPr>
          </a:p>
          <a:p>
            <a:pPr>
              <a:lnSpc>
                <a:spcPct val="100000"/>
              </a:lnSpc>
            </a:pPr>
            <a:endParaRPr sz="1800">
              <a:latin typeface="Calibri"/>
              <a:cs typeface="Calibri"/>
            </a:endParaRPr>
          </a:p>
          <a:p>
            <a:pPr>
              <a:lnSpc>
                <a:spcPct val="100000"/>
              </a:lnSpc>
            </a:pPr>
            <a:endParaRPr sz="1800">
              <a:latin typeface="Calibri"/>
              <a:cs typeface="Calibri"/>
            </a:endParaRPr>
          </a:p>
          <a:p>
            <a:pPr>
              <a:lnSpc>
                <a:spcPct val="100000"/>
              </a:lnSpc>
            </a:pPr>
            <a:endParaRPr sz="1800">
              <a:latin typeface="Calibri"/>
              <a:cs typeface="Calibri"/>
            </a:endParaRPr>
          </a:p>
          <a:p>
            <a:pPr>
              <a:lnSpc>
                <a:spcPct val="100000"/>
              </a:lnSpc>
              <a:spcBef>
                <a:spcPts val="1170"/>
              </a:spcBef>
            </a:pPr>
            <a:endParaRPr sz="1800">
              <a:latin typeface="Calibri"/>
              <a:cs typeface="Calibri"/>
            </a:endParaRPr>
          </a:p>
          <a:p>
            <a:pPr marL="466090">
              <a:lnSpc>
                <a:spcPct val="100000"/>
              </a:lnSpc>
            </a:pPr>
            <a:r>
              <a:rPr dirty="0" sz="2000" spc="-50" b="1">
                <a:latin typeface="Calibri"/>
                <a:cs typeface="Calibri"/>
              </a:rPr>
              <a:t>Text</a:t>
            </a:r>
            <a:r>
              <a:rPr dirty="0" sz="2000" spc="-40" b="1">
                <a:latin typeface="Calibri"/>
                <a:cs typeface="Calibri"/>
              </a:rPr>
              <a:t> </a:t>
            </a:r>
            <a:r>
              <a:rPr dirty="0" sz="2000" spc="-10" b="1">
                <a:latin typeface="Calibri"/>
                <a:cs typeface="Calibri"/>
              </a:rPr>
              <a:t>feature</a:t>
            </a:r>
            <a:endParaRPr sz="2000">
              <a:latin typeface="Calibri"/>
              <a:cs typeface="Calibri"/>
            </a:endParaRPr>
          </a:p>
        </p:txBody>
      </p:sp>
      <p:grpSp>
        <p:nvGrpSpPr>
          <p:cNvPr id="26" name="object 26" descr=""/>
          <p:cNvGrpSpPr/>
          <p:nvPr/>
        </p:nvGrpSpPr>
        <p:grpSpPr>
          <a:xfrm>
            <a:off x="999744" y="1257553"/>
            <a:ext cx="7458709" cy="5613400"/>
            <a:chOff x="999744" y="1257553"/>
            <a:chExt cx="7458709" cy="5613400"/>
          </a:xfrm>
        </p:grpSpPr>
        <p:pic>
          <p:nvPicPr>
            <p:cNvPr id="27" name="object 27" descr=""/>
            <p:cNvPicPr/>
            <p:nvPr/>
          </p:nvPicPr>
          <p:blipFill>
            <a:blip r:embed="rId5" cstate="print"/>
            <a:stretch>
              <a:fillRect/>
            </a:stretch>
          </p:blipFill>
          <p:spPr>
            <a:xfrm>
              <a:off x="3766411" y="1472183"/>
              <a:ext cx="1713892" cy="1511808"/>
            </a:xfrm>
            <a:prstGeom prst="rect">
              <a:avLst/>
            </a:prstGeom>
          </p:spPr>
        </p:pic>
        <p:sp>
          <p:nvSpPr>
            <p:cNvPr id="28" name="object 28" descr=""/>
            <p:cNvSpPr/>
            <p:nvPr/>
          </p:nvSpPr>
          <p:spPr>
            <a:xfrm>
              <a:off x="3649218" y="1270254"/>
              <a:ext cx="2091055" cy="5588000"/>
            </a:xfrm>
            <a:custGeom>
              <a:avLst/>
              <a:gdLst/>
              <a:ahLst/>
              <a:cxnLst/>
              <a:rect l="l" t="t" r="r" b="b"/>
              <a:pathLst>
                <a:path w="2091054" h="5588000">
                  <a:moveTo>
                    <a:pt x="2090927" y="0"/>
                  </a:moveTo>
                  <a:lnTo>
                    <a:pt x="0" y="0"/>
                  </a:lnTo>
                  <a:lnTo>
                    <a:pt x="0" y="5587746"/>
                  </a:lnTo>
                  <a:lnTo>
                    <a:pt x="2090927" y="5587746"/>
                  </a:lnTo>
                  <a:lnTo>
                    <a:pt x="2090927" y="0"/>
                  </a:lnTo>
                  <a:close/>
                </a:path>
              </a:pathLst>
            </a:custGeom>
            <a:solidFill>
              <a:srgbClr val="92D050">
                <a:alpha val="39999"/>
              </a:srgbClr>
            </a:solidFill>
          </p:spPr>
          <p:txBody>
            <a:bodyPr wrap="square" lIns="0" tIns="0" rIns="0" bIns="0" rtlCol="0"/>
            <a:lstStyle/>
            <a:p/>
          </p:txBody>
        </p:sp>
        <p:sp>
          <p:nvSpPr>
            <p:cNvPr id="29" name="object 29" descr=""/>
            <p:cNvSpPr/>
            <p:nvPr/>
          </p:nvSpPr>
          <p:spPr>
            <a:xfrm>
              <a:off x="3649218" y="1270253"/>
              <a:ext cx="2091055" cy="5588000"/>
            </a:xfrm>
            <a:custGeom>
              <a:avLst/>
              <a:gdLst/>
              <a:ahLst/>
              <a:cxnLst/>
              <a:rect l="l" t="t" r="r" b="b"/>
              <a:pathLst>
                <a:path w="2091054" h="5588000">
                  <a:moveTo>
                    <a:pt x="2090927" y="5587746"/>
                  </a:moveTo>
                  <a:lnTo>
                    <a:pt x="2090927" y="0"/>
                  </a:lnTo>
                  <a:lnTo>
                    <a:pt x="0" y="0"/>
                  </a:lnTo>
                  <a:lnTo>
                    <a:pt x="0" y="5587746"/>
                  </a:lnTo>
                </a:path>
              </a:pathLst>
            </a:custGeom>
            <a:ln w="25400">
              <a:solidFill>
                <a:srgbClr val="385D8A"/>
              </a:solidFill>
            </a:ln>
          </p:spPr>
          <p:txBody>
            <a:bodyPr wrap="square" lIns="0" tIns="0" rIns="0" bIns="0" rtlCol="0"/>
            <a:lstStyle/>
            <a:p/>
          </p:txBody>
        </p:sp>
        <p:pic>
          <p:nvPicPr>
            <p:cNvPr id="30" name="object 30" descr=""/>
            <p:cNvPicPr/>
            <p:nvPr/>
          </p:nvPicPr>
          <p:blipFill>
            <a:blip r:embed="rId6" cstate="print"/>
            <a:stretch>
              <a:fillRect/>
            </a:stretch>
          </p:blipFill>
          <p:spPr>
            <a:xfrm>
              <a:off x="1086611" y="4866132"/>
              <a:ext cx="2010155" cy="1933955"/>
            </a:xfrm>
            <a:prstGeom prst="rect">
              <a:avLst/>
            </a:prstGeom>
          </p:spPr>
        </p:pic>
        <p:pic>
          <p:nvPicPr>
            <p:cNvPr id="31" name="object 31" descr=""/>
            <p:cNvPicPr/>
            <p:nvPr/>
          </p:nvPicPr>
          <p:blipFill>
            <a:blip r:embed="rId7" cstate="print"/>
            <a:stretch>
              <a:fillRect/>
            </a:stretch>
          </p:blipFill>
          <p:spPr>
            <a:xfrm>
              <a:off x="999744" y="1857755"/>
              <a:ext cx="2171699" cy="1284732"/>
            </a:xfrm>
            <a:prstGeom prst="rect">
              <a:avLst/>
            </a:prstGeom>
          </p:spPr>
        </p:pic>
        <p:pic>
          <p:nvPicPr>
            <p:cNvPr id="32" name="object 32" descr=""/>
            <p:cNvPicPr/>
            <p:nvPr/>
          </p:nvPicPr>
          <p:blipFill>
            <a:blip r:embed="rId7" cstate="print"/>
            <a:stretch>
              <a:fillRect/>
            </a:stretch>
          </p:blipFill>
          <p:spPr>
            <a:xfrm>
              <a:off x="6286500" y="1642871"/>
              <a:ext cx="2171700" cy="1286255"/>
            </a:xfrm>
            <a:prstGeom prst="rect">
              <a:avLst/>
            </a:prstGeom>
          </p:spPr>
        </p:pic>
        <p:sp>
          <p:nvSpPr>
            <p:cNvPr id="33" name="object 33" descr=""/>
            <p:cNvSpPr/>
            <p:nvPr/>
          </p:nvSpPr>
          <p:spPr>
            <a:xfrm>
              <a:off x="7645146" y="1930145"/>
              <a:ext cx="713740" cy="1005840"/>
            </a:xfrm>
            <a:custGeom>
              <a:avLst/>
              <a:gdLst/>
              <a:ahLst/>
              <a:cxnLst/>
              <a:rect l="l" t="t" r="r" b="b"/>
              <a:pathLst>
                <a:path w="713740" h="1005839">
                  <a:moveTo>
                    <a:pt x="0" y="1005840"/>
                  </a:moveTo>
                  <a:lnTo>
                    <a:pt x="713231" y="1005840"/>
                  </a:lnTo>
                  <a:lnTo>
                    <a:pt x="713231" y="0"/>
                  </a:lnTo>
                  <a:lnTo>
                    <a:pt x="0" y="0"/>
                  </a:lnTo>
                  <a:lnTo>
                    <a:pt x="0" y="1005840"/>
                  </a:lnTo>
                  <a:close/>
                </a:path>
              </a:pathLst>
            </a:custGeom>
            <a:ln w="38100">
              <a:solidFill>
                <a:srgbClr val="FF0000"/>
              </a:solidFill>
            </a:ln>
          </p:spPr>
          <p:txBody>
            <a:bodyPr wrap="square" lIns="0" tIns="0" rIns="0" bIns="0" rtlCol="0"/>
            <a:lstStyle/>
            <a:p/>
          </p:txBody>
        </p:sp>
        <p:pic>
          <p:nvPicPr>
            <p:cNvPr id="34" name="object 34" descr=""/>
            <p:cNvPicPr/>
            <p:nvPr/>
          </p:nvPicPr>
          <p:blipFill>
            <a:blip r:embed="rId8" cstate="print"/>
            <a:stretch>
              <a:fillRect/>
            </a:stretch>
          </p:blipFill>
          <p:spPr>
            <a:xfrm>
              <a:off x="6387083" y="3735324"/>
              <a:ext cx="734567" cy="925068"/>
            </a:xfrm>
            <a:prstGeom prst="rect">
              <a:avLst/>
            </a:prstGeom>
          </p:spPr>
        </p:pic>
      </p:grpSp>
      <p:sp>
        <p:nvSpPr>
          <p:cNvPr id="35" name="object 35" descr=""/>
          <p:cNvSpPr txBox="1"/>
          <p:nvPr/>
        </p:nvSpPr>
        <p:spPr>
          <a:xfrm>
            <a:off x="8503411" y="6425628"/>
            <a:ext cx="102870" cy="208279"/>
          </a:xfrm>
          <a:prstGeom prst="rect">
            <a:avLst/>
          </a:prstGeom>
        </p:spPr>
        <p:txBody>
          <a:bodyPr wrap="square" lIns="0" tIns="12700" rIns="0" bIns="0" rtlCol="0" vert="horz">
            <a:spAutoFit/>
          </a:bodyPr>
          <a:lstStyle/>
          <a:p>
            <a:pPr marL="12700">
              <a:lnSpc>
                <a:spcPct val="100000"/>
              </a:lnSpc>
              <a:spcBef>
                <a:spcPts val="100"/>
              </a:spcBef>
            </a:pPr>
            <a:r>
              <a:rPr dirty="0" sz="1200" spc="-50">
                <a:solidFill>
                  <a:srgbClr val="898989"/>
                </a:solidFill>
                <a:latin typeface="Calibri"/>
                <a:cs typeface="Calibri"/>
              </a:rPr>
              <a:t>3</a:t>
            </a:r>
            <a:endParaRPr sz="12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fld id="{81D60167-4931-47E6-BA6A-407CBD079E47}" type="slidenum">
              <a:rPr dirty="0" spc="-50"/>
              <a:t>5</a:t>
            </a:fld>
          </a:p>
        </p:txBody>
      </p:sp>
      <p:sp>
        <p:nvSpPr>
          <p:cNvPr id="2" name="object 2"/>
          <p:cNvSpPr txBox="1">
            <a:spLocks noGrp="1"/>
          </p:cNvSpPr>
          <p:nvPr>
            <p:ph type="title"/>
          </p:nvPr>
        </p:nvSpPr>
        <p:spPr>
          <a:prstGeom prst="rect"/>
        </p:spPr>
        <p:txBody>
          <a:bodyPr wrap="square" lIns="0" tIns="624639" rIns="0" bIns="0" rtlCol="0" vert="horz">
            <a:spAutoFit/>
          </a:bodyPr>
          <a:lstStyle/>
          <a:p>
            <a:pPr marL="222885">
              <a:lnSpc>
                <a:spcPct val="100000"/>
              </a:lnSpc>
              <a:spcBef>
                <a:spcPts val="105"/>
              </a:spcBef>
            </a:pPr>
            <a:r>
              <a:rPr dirty="0" sz="4400"/>
              <a:t>Key</a:t>
            </a:r>
            <a:r>
              <a:rPr dirty="0" sz="4400" spc="-20"/>
              <a:t> </a:t>
            </a:r>
            <a:r>
              <a:rPr dirty="0" sz="4400"/>
              <a:t>Ideas</a:t>
            </a:r>
            <a:r>
              <a:rPr dirty="0" sz="4400" spc="-30"/>
              <a:t> </a:t>
            </a:r>
            <a:r>
              <a:rPr dirty="0" sz="4400"/>
              <a:t>of</a:t>
            </a:r>
            <a:r>
              <a:rPr dirty="0" sz="4400" spc="-15"/>
              <a:t> </a:t>
            </a:r>
            <a:r>
              <a:rPr dirty="0" sz="4400"/>
              <a:t>Deep</a:t>
            </a:r>
            <a:r>
              <a:rPr dirty="0" sz="4400" spc="-15"/>
              <a:t> </a:t>
            </a:r>
            <a:r>
              <a:rPr dirty="0" sz="4400" spc="-10"/>
              <a:t>Learning</a:t>
            </a:r>
            <a:endParaRPr sz="4400"/>
          </a:p>
        </p:txBody>
      </p:sp>
      <p:sp>
        <p:nvSpPr>
          <p:cNvPr id="3" name="object 3" descr=""/>
          <p:cNvSpPr txBox="1"/>
          <p:nvPr/>
        </p:nvSpPr>
        <p:spPr>
          <a:xfrm>
            <a:off x="364459" y="1931761"/>
            <a:ext cx="8328659" cy="2951480"/>
          </a:xfrm>
          <a:prstGeom prst="rect">
            <a:avLst/>
          </a:prstGeom>
        </p:spPr>
        <p:txBody>
          <a:bodyPr wrap="square" lIns="0" tIns="256540" rIns="0" bIns="0" rtlCol="0" vert="horz">
            <a:spAutoFit/>
          </a:bodyPr>
          <a:lstStyle/>
          <a:p>
            <a:pPr marL="246379" indent="-233679">
              <a:lnSpc>
                <a:spcPct val="100000"/>
              </a:lnSpc>
              <a:spcBef>
                <a:spcPts val="2020"/>
              </a:spcBef>
              <a:buFont typeface="Arial MT"/>
              <a:buChar char="•"/>
              <a:tabLst>
                <a:tab pos="246379" algn="l"/>
              </a:tabLst>
            </a:pPr>
            <a:r>
              <a:rPr dirty="0" sz="3200" b="1">
                <a:solidFill>
                  <a:srgbClr val="002060"/>
                </a:solidFill>
                <a:latin typeface="Calibri"/>
                <a:cs typeface="Calibri"/>
              </a:rPr>
              <a:t>Deal</a:t>
            </a:r>
            <a:r>
              <a:rPr dirty="0" sz="3200" spc="-5" b="1">
                <a:solidFill>
                  <a:srgbClr val="002060"/>
                </a:solidFill>
                <a:latin typeface="Calibri"/>
                <a:cs typeface="Calibri"/>
              </a:rPr>
              <a:t> </a:t>
            </a:r>
            <a:r>
              <a:rPr dirty="0" sz="3200" b="1">
                <a:solidFill>
                  <a:srgbClr val="002060"/>
                </a:solidFill>
                <a:latin typeface="Calibri"/>
                <a:cs typeface="Calibri"/>
              </a:rPr>
              <a:t>with</a:t>
            </a:r>
            <a:r>
              <a:rPr dirty="0" sz="3200" spc="-25" b="1">
                <a:solidFill>
                  <a:srgbClr val="002060"/>
                </a:solidFill>
                <a:latin typeface="Calibri"/>
                <a:cs typeface="Calibri"/>
              </a:rPr>
              <a:t> </a:t>
            </a:r>
            <a:r>
              <a:rPr dirty="0" sz="3200" spc="-10" b="1">
                <a:solidFill>
                  <a:srgbClr val="002060"/>
                </a:solidFill>
                <a:latin typeface="Calibri"/>
                <a:cs typeface="Calibri"/>
              </a:rPr>
              <a:t>non-</a:t>
            </a:r>
            <a:r>
              <a:rPr dirty="0" sz="3200" b="1">
                <a:solidFill>
                  <a:srgbClr val="002060"/>
                </a:solidFill>
                <a:latin typeface="Calibri"/>
                <a:cs typeface="Calibri"/>
              </a:rPr>
              <a:t>linear</a:t>
            </a:r>
            <a:r>
              <a:rPr dirty="0" sz="3200" spc="-45" b="1">
                <a:solidFill>
                  <a:srgbClr val="002060"/>
                </a:solidFill>
                <a:latin typeface="Calibri"/>
                <a:cs typeface="Calibri"/>
              </a:rPr>
              <a:t> </a:t>
            </a:r>
            <a:r>
              <a:rPr dirty="0" sz="3200" spc="-10" b="1">
                <a:solidFill>
                  <a:srgbClr val="002060"/>
                </a:solidFill>
                <a:latin typeface="Calibri"/>
                <a:cs typeface="Calibri"/>
              </a:rPr>
              <a:t>system</a:t>
            </a:r>
            <a:endParaRPr sz="3200">
              <a:latin typeface="Calibri"/>
              <a:cs typeface="Calibri"/>
            </a:endParaRPr>
          </a:p>
          <a:p>
            <a:pPr marL="246379" indent="-233679">
              <a:lnSpc>
                <a:spcPct val="100000"/>
              </a:lnSpc>
              <a:spcBef>
                <a:spcPts val="1920"/>
              </a:spcBef>
              <a:buFont typeface="Arial MT"/>
              <a:buChar char="•"/>
              <a:tabLst>
                <a:tab pos="246379" algn="l"/>
              </a:tabLst>
            </a:pPr>
            <a:r>
              <a:rPr dirty="0" sz="3200" b="1">
                <a:solidFill>
                  <a:srgbClr val="002060"/>
                </a:solidFill>
                <a:latin typeface="Calibri"/>
                <a:cs typeface="Calibri"/>
              </a:rPr>
              <a:t>Learn</a:t>
            </a:r>
            <a:r>
              <a:rPr dirty="0" sz="3200" spc="-80" b="1">
                <a:solidFill>
                  <a:srgbClr val="002060"/>
                </a:solidFill>
                <a:latin typeface="Calibri"/>
                <a:cs typeface="Calibri"/>
              </a:rPr>
              <a:t> </a:t>
            </a:r>
            <a:r>
              <a:rPr dirty="0" sz="3200" b="1">
                <a:solidFill>
                  <a:srgbClr val="002060"/>
                </a:solidFill>
                <a:latin typeface="Calibri"/>
                <a:cs typeface="Calibri"/>
              </a:rPr>
              <a:t>feature</a:t>
            </a:r>
            <a:r>
              <a:rPr dirty="0" sz="3200" spc="-65" b="1">
                <a:solidFill>
                  <a:srgbClr val="002060"/>
                </a:solidFill>
                <a:latin typeface="Calibri"/>
                <a:cs typeface="Calibri"/>
              </a:rPr>
              <a:t> </a:t>
            </a:r>
            <a:r>
              <a:rPr dirty="0" sz="3200" b="1">
                <a:solidFill>
                  <a:srgbClr val="002060"/>
                </a:solidFill>
                <a:latin typeface="Calibri"/>
                <a:cs typeface="Calibri"/>
              </a:rPr>
              <a:t>from</a:t>
            </a:r>
            <a:r>
              <a:rPr dirty="0" sz="3200" spc="-65" b="1">
                <a:solidFill>
                  <a:srgbClr val="002060"/>
                </a:solidFill>
                <a:latin typeface="Calibri"/>
                <a:cs typeface="Calibri"/>
              </a:rPr>
              <a:t> </a:t>
            </a:r>
            <a:r>
              <a:rPr dirty="0" sz="3200" b="1">
                <a:solidFill>
                  <a:srgbClr val="002060"/>
                </a:solidFill>
                <a:latin typeface="Calibri"/>
                <a:cs typeface="Calibri"/>
              </a:rPr>
              <a:t>data</a:t>
            </a:r>
            <a:r>
              <a:rPr dirty="0" sz="3200" spc="-85" b="1">
                <a:solidFill>
                  <a:srgbClr val="002060"/>
                </a:solidFill>
                <a:latin typeface="Calibri"/>
                <a:cs typeface="Calibri"/>
              </a:rPr>
              <a:t> </a:t>
            </a:r>
            <a:r>
              <a:rPr dirty="0" sz="3200" b="1">
                <a:solidFill>
                  <a:srgbClr val="002060"/>
                </a:solidFill>
                <a:latin typeface="Calibri"/>
                <a:cs typeface="Calibri"/>
              </a:rPr>
              <a:t>(or</a:t>
            </a:r>
            <a:r>
              <a:rPr dirty="0" sz="3200" spc="-45" b="1">
                <a:solidFill>
                  <a:srgbClr val="002060"/>
                </a:solidFill>
                <a:latin typeface="Calibri"/>
                <a:cs typeface="Calibri"/>
              </a:rPr>
              <a:t> </a:t>
            </a:r>
            <a:r>
              <a:rPr dirty="0" sz="3200" b="1">
                <a:solidFill>
                  <a:srgbClr val="002060"/>
                </a:solidFill>
                <a:latin typeface="Calibri"/>
                <a:cs typeface="Calibri"/>
              </a:rPr>
              <a:t>big</a:t>
            </a:r>
            <a:r>
              <a:rPr dirty="0" sz="3200" spc="-80" b="1">
                <a:solidFill>
                  <a:srgbClr val="002060"/>
                </a:solidFill>
                <a:latin typeface="Calibri"/>
                <a:cs typeface="Calibri"/>
              </a:rPr>
              <a:t> </a:t>
            </a:r>
            <a:r>
              <a:rPr dirty="0" sz="3200" spc="-10" b="1">
                <a:solidFill>
                  <a:srgbClr val="002060"/>
                </a:solidFill>
                <a:latin typeface="Calibri"/>
                <a:cs typeface="Calibri"/>
              </a:rPr>
              <a:t>data)</a:t>
            </a:r>
            <a:endParaRPr sz="3200">
              <a:latin typeface="Calibri"/>
              <a:cs typeface="Calibri"/>
            </a:endParaRPr>
          </a:p>
          <a:p>
            <a:pPr marL="246379" indent="-233679">
              <a:lnSpc>
                <a:spcPct val="100000"/>
              </a:lnSpc>
              <a:spcBef>
                <a:spcPts val="1920"/>
              </a:spcBef>
              <a:buFont typeface="Arial MT"/>
              <a:buChar char="•"/>
              <a:tabLst>
                <a:tab pos="246379" algn="l"/>
              </a:tabLst>
            </a:pPr>
            <a:r>
              <a:rPr dirty="0" sz="3200" b="1">
                <a:solidFill>
                  <a:srgbClr val="002060"/>
                </a:solidFill>
                <a:latin typeface="Calibri"/>
                <a:cs typeface="Calibri"/>
              </a:rPr>
              <a:t>Build</a:t>
            </a:r>
            <a:r>
              <a:rPr dirty="0" sz="3200" spc="-100" b="1">
                <a:solidFill>
                  <a:srgbClr val="002060"/>
                </a:solidFill>
                <a:latin typeface="Calibri"/>
                <a:cs typeface="Calibri"/>
              </a:rPr>
              <a:t> </a:t>
            </a:r>
            <a:r>
              <a:rPr dirty="0" sz="3200" b="1">
                <a:solidFill>
                  <a:srgbClr val="002060"/>
                </a:solidFill>
                <a:latin typeface="Calibri"/>
                <a:cs typeface="Calibri"/>
              </a:rPr>
              <a:t>feature</a:t>
            </a:r>
            <a:r>
              <a:rPr dirty="0" sz="3200" spc="-100" b="1">
                <a:solidFill>
                  <a:srgbClr val="002060"/>
                </a:solidFill>
                <a:latin typeface="Calibri"/>
                <a:cs typeface="Calibri"/>
              </a:rPr>
              <a:t> </a:t>
            </a:r>
            <a:r>
              <a:rPr dirty="0" sz="3200" spc="-10" b="1">
                <a:solidFill>
                  <a:srgbClr val="002060"/>
                </a:solidFill>
                <a:latin typeface="Calibri"/>
                <a:cs typeface="Calibri"/>
              </a:rPr>
              <a:t>hierarchies</a:t>
            </a:r>
            <a:r>
              <a:rPr dirty="0" sz="3200" spc="-85" b="1">
                <a:solidFill>
                  <a:srgbClr val="002060"/>
                </a:solidFill>
                <a:latin typeface="Calibri"/>
                <a:cs typeface="Calibri"/>
              </a:rPr>
              <a:t> </a:t>
            </a:r>
            <a:r>
              <a:rPr dirty="0" sz="3200" b="1">
                <a:solidFill>
                  <a:srgbClr val="002060"/>
                </a:solidFill>
                <a:latin typeface="Calibri"/>
                <a:cs typeface="Calibri"/>
              </a:rPr>
              <a:t>(function</a:t>
            </a:r>
            <a:r>
              <a:rPr dirty="0" sz="3200" spc="-110" b="1">
                <a:solidFill>
                  <a:srgbClr val="002060"/>
                </a:solidFill>
                <a:latin typeface="Calibri"/>
                <a:cs typeface="Calibri"/>
              </a:rPr>
              <a:t> </a:t>
            </a:r>
            <a:r>
              <a:rPr dirty="0" sz="3200" spc="-10" b="1">
                <a:solidFill>
                  <a:srgbClr val="002060"/>
                </a:solidFill>
                <a:latin typeface="Calibri"/>
                <a:cs typeface="Calibri"/>
              </a:rPr>
              <a:t>composition)</a:t>
            </a:r>
            <a:endParaRPr sz="3200">
              <a:latin typeface="Calibri"/>
              <a:cs typeface="Calibri"/>
            </a:endParaRPr>
          </a:p>
          <a:p>
            <a:pPr marL="246379" indent="-233679">
              <a:lnSpc>
                <a:spcPct val="100000"/>
              </a:lnSpc>
              <a:spcBef>
                <a:spcPts val="1920"/>
              </a:spcBef>
              <a:buFont typeface="Arial MT"/>
              <a:buChar char="•"/>
              <a:tabLst>
                <a:tab pos="246379" algn="l"/>
              </a:tabLst>
            </a:pPr>
            <a:r>
              <a:rPr dirty="0" sz="3200" spc="-10" b="1">
                <a:solidFill>
                  <a:srgbClr val="002060"/>
                </a:solidFill>
                <a:latin typeface="Calibri"/>
                <a:cs typeface="Calibri"/>
              </a:rPr>
              <a:t>End-</a:t>
            </a:r>
            <a:r>
              <a:rPr dirty="0" sz="3200" spc="-30" b="1">
                <a:solidFill>
                  <a:srgbClr val="002060"/>
                </a:solidFill>
                <a:latin typeface="Calibri"/>
                <a:cs typeface="Calibri"/>
              </a:rPr>
              <a:t>to-</a:t>
            </a:r>
            <a:r>
              <a:rPr dirty="0" sz="3200" b="1">
                <a:solidFill>
                  <a:srgbClr val="002060"/>
                </a:solidFill>
                <a:latin typeface="Calibri"/>
                <a:cs typeface="Calibri"/>
              </a:rPr>
              <a:t>end</a:t>
            </a:r>
            <a:r>
              <a:rPr dirty="0" sz="3200" spc="10" b="1">
                <a:solidFill>
                  <a:srgbClr val="002060"/>
                </a:solidFill>
                <a:latin typeface="Calibri"/>
                <a:cs typeface="Calibri"/>
              </a:rPr>
              <a:t> </a:t>
            </a:r>
            <a:r>
              <a:rPr dirty="0" sz="3200" spc="-10" b="1">
                <a:solidFill>
                  <a:srgbClr val="002060"/>
                </a:solidFill>
                <a:latin typeface="Calibri"/>
                <a:cs typeface="Calibri"/>
              </a:rPr>
              <a:t>learning</a:t>
            </a:r>
            <a:endParaRPr sz="32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485531" rIns="0" bIns="0" rtlCol="0" vert="horz">
            <a:spAutoFit/>
          </a:bodyPr>
          <a:lstStyle/>
          <a:p>
            <a:pPr marL="79375">
              <a:lnSpc>
                <a:spcPct val="100000"/>
              </a:lnSpc>
              <a:spcBef>
                <a:spcPts val="95"/>
              </a:spcBef>
            </a:pPr>
            <a:r>
              <a:rPr dirty="0"/>
              <a:t>Learning</a:t>
            </a:r>
            <a:r>
              <a:rPr dirty="0" spc="-140"/>
              <a:t> </a:t>
            </a:r>
            <a:r>
              <a:rPr dirty="0"/>
              <a:t>Feature</a:t>
            </a:r>
            <a:r>
              <a:rPr dirty="0" spc="-140"/>
              <a:t> </a:t>
            </a:r>
            <a:r>
              <a:rPr dirty="0" spc="-10"/>
              <a:t>Representations</a:t>
            </a:r>
          </a:p>
        </p:txBody>
      </p:sp>
      <p:sp>
        <p:nvSpPr>
          <p:cNvPr id="3" name="object 3" descr=""/>
          <p:cNvSpPr txBox="1"/>
          <p:nvPr/>
        </p:nvSpPr>
        <p:spPr>
          <a:xfrm>
            <a:off x="424815" y="1989772"/>
            <a:ext cx="4654550" cy="3236595"/>
          </a:xfrm>
          <a:prstGeom prst="rect">
            <a:avLst/>
          </a:prstGeom>
        </p:spPr>
        <p:txBody>
          <a:bodyPr wrap="square" lIns="0" tIns="12065" rIns="0" bIns="0" rtlCol="0" vert="horz">
            <a:spAutoFit/>
          </a:bodyPr>
          <a:lstStyle/>
          <a:p>
            <a:pPr marL="61594">
              <a:lnSpc>
                <a:spcPct val="100000"/>
              </a:lnSpc>
              <a:spcBef>
                <a:spcPts val="95"/>
              </a:spcBef>
            </a:pPr>
            <a:r>
              <a:rPr dirty="0" sz="2800" b="1">
                <a:latin typeface="Calibri"/>
                <a:cs typeface="Calibri"/>
              </a:rPr>
              <a:t>The</a:t>
            </a:r>
            <a:r>
              <a:rPr dirty="0" sz="2800" spc="-45" b="1">
                <a:latin typeface="Calibri"/>
                <a:cs typeface="Calibri"/>
              </a:rPr>
              <a:t> </a:t>
            </a:r>
            <a:r>
              <a:rPr dirty="0" sz="2800" spc="-10" b="1">
                <a:latin typeface="Calibri"/>
                <a:cs typeface="Calibri"/>
              </a:rPr>
              <a:t>idea:</a:t>
            </a:r>
            <a:endParaRPr sz="2800">
              <a:latin typeface="Calibri"/>
              <a:cs typeface="Calibri"/>
            </a:endParaRPr>
          </a:p>
          <a:p>
            <a:pPr marL="299085" marR="5080" indent="-287020">
              <a:lnSpc>
                <a:spcPct val="100000"/>
              </a:lnSpc>
              <a:spcBef>
                <a:spcPts val="1764"/>
              </a:spcBef>
              <a:buFont typeface="Arial MT"/>
              <a:buChar char="•"/>
              <a:tabLst>
                <a:tab pos="299085" algn="l"/>
              </a:tabLst>
            </a:pPr>
            <a:r>
              <a:rPr dirty="0" sz="2400">
                <a:latin typeface="Calibri"/>
                <a:cs typeface="Calibri"/>
              </a:rPr>
              <a:t>Most</a:t>
            </a:r>
            <a:r>
              <a:rPr dirty="0" sz="2400" spc="-50">
                <a:latin typeface="Calibri"/>
                <a:cs typeface="Calibri"/>
              </a:rPr>
              <a:t> </a:t>
            </a:r>
            <a:r>
              <a:rPr dirty="0" sz="2400" spc="-10">
                <a:latin typeface="Calibri"/>
                <a:cs typeface="Calibri"/>
              </a:rPr>
              <a:t>perception</a:t>
            </a:r>
            <a:r>
              <a:rPr dirty="0" sz="2400" spc="-45">
                <a:latin typeface="Calibri"/>
                <a:cs typeface="Calibri"/>
              </a:rPr>
              <a:t> </a:t>
            </a:r>
            <a:r>
              <a:rPr dirty="0" sz="2400">
                <a:latin typeface="Calibri"/>
                <a:cs typeface="Calibri"/>
              </a:rPr>
              <a:t>(input</a:t>
            </a:r>
            <a:r>
              <a:rPr dirty="0" sz="2400" spc="-60">
                <a:latin typeface="Calibri"/>
                <a:cs typeface="Calibri"/>
              </a:rPr>
              <a:t> </a:t>
            </a:r>
            <a:r>
              <a:rPr dirty="0" sz="2400" spc="-10">
                <a:latin typeface="Calibri"/>
                <a:cs typeface="Calibri"/>
              </a:rPr>
              <a:t>processing) </a:t>
            </a:r>
            <a:r>
              <a:rPr dirty="0" sz="2400">
                <a:latin typeface="Calibri"/>
                <a:cs typeface="Calibri"/>
              </a:rPr>
              <a:t>in</a:t>
            </a:r>
            <a:r>
              <a:rPr dirty="0" sz="2400" spc="-50">
                <a:latin typeface="Calibri"/>
                <a:cs typeface="Calibri"/>
              </a:rPr>
              <a:t> </a:t>
            </a:r>
            <a:r>
              <a:rPr dirty="0" sz="2400">
                <a:latin typeface="Calibri"/>
                <a:cs typeface="Calibri"/>
              </a:rPr>
              <a:t>the</a:t>
            </a:r>
            <a:r>
              <a:rPr dirty="0" sz="2400" spc="-50">
                <a:latin typeface="Calibri"/>
                <a:cs typeface="Calibri"/>
              </a:rPr>
              <a:t> </a:t>
            </a:r>
            <a:r>
              <a:rPr dirty="0" sz="2400">
                <a:latin typeface="Calibri"/>
                <a:cs typeface="Calibri"/>
              </a:rPr>
              <a:t>brain</a:t>
            </a:r>
            <a:r>
              <a:rPr dirty="0" sz="2400" spc="-50">
                <a:latin typeface="Calibri"/>
                <a:cs typeface="Calibri"/>
              </a:rPr>
              <a:t> </a:t>
            </a:r>
            <a:r>
              <a:rPr dirty="0" sz="2400">
                <a:latin typeface="Calibri"/>
                <a:cs typeface="Calibri"/>
              </a:rPr>
              <a:t>may</a:t>
            </a:r>
            <a:r>
              <a:rPr dirty="0" sz="2400" spc="-50">
                <a:latin typeface="Calibri"/>
                <a:cs typeface="Calibri"/>
              </a:rPr>
              <a:t> </a:t>
            </a:r>
            <a:r>
              <a:rPr dirty="0" sz="2400">
                <a:latin typeface="Calibri"/>
                <a:cs typeface="Calibri"/>
              </a:rPr>
              <a:t>be</a:t>
            </a:r>
            <a:r>
              <a:rPr dirty="0" sz="2400" spc="-45">
                <a:latin typeface="Calibri"/>
                <a:cs typeface="Calibri"/>
              </a:rPr>
              <a:t> </a:t>
            </a:r>
            <a:r>
              <a:rPr dirty="0" sz="2400">
                <a:latin typeface="Calibri"/>
                <a:cs typeface="Calibri"/>
              </a:rPr>
              <a:t>due</a:t>
            </a:r>
            <a:r>
              <a:rPr dirty="0" sz="2400" spc="-40">
                <a:latin typeface="Calibri"/>
                <a:cs typeface="Calibri"/>
              </a:rPr>
              <a:t> </a:t>
            </a:r>
            <a:r>
              <a:rPr dirty="0" sz="2400">
                <a:latin typeface="Calibri"/>
                <a:cs typeface="Calibri"/>
              </a:rPr>
              <a:t>to</a:t>
            </a:r>
            <a:r>
              <a:rPr dirty="0" sz="2400" spc="-60">
                <a:latin typeface="Calibri"/>
                <a:cs typeface="Calibri"/>
              </a:rPr>
              <a:t> </a:t>
            </a:r>
            <a:r>
              <a:rPr dirty="0" sz="2400" spc="-25" b="1">
                <a:solidFill>
                  <a:srgbClr val="FF0000"/>
                </a:solidFill>
                <a:latin typeface="Calibri"/>
                <a:cs typeface="Calibri"/>
              </a:rPr>
              <a:t>one </a:t>
            </a:r>
            <a:r>
              <a:rPr dirty="0" sz="2400" b="1">
                <a:solidFill>
                  <a:srgbClr val="FF0000"/>
                </a:solidFill>
                <a:latin typeface="Calibri"/>
                <a:cs typeface="Calibri"/>
              </a:rPr>
              <a:t>learning</a:t>
            </a:r>
            <a:r>
              <a:rPr dirty="0" sz="2400" spc="-50" b="1">
                <a:solidFill>
                  <a:srgbClr val="FF0000"/>
                </a:solidFill>
                <a:latin typeface="Calibri"/>
                <a:cs typeface="Calibri"/>
              </a:rPr>
              <a:t> </a:t>
            </a:r>
            <a:r>
              <a:rPr dirty="0" sz="2400" spc="-10" b="1">
                <a:solidFill>
                  <a:srgbClr val="FF0000"/>
                </a:solidFill>
                <a:latin typeface="Calibri"/>
                <a:cs typeface="Calibri"/>
              </a:rPr>
              <a:t>algorithm</a:t>
            </a:r>
            <a:r>
              <a:rPr dirty="0" sz="2400" spc="-10">
                <a:latin typeface="Calibri"/>
                <a:cs typeface="Calibri"/>
              </a:rPr>
              <a:t>.</a:t>
            </a:r>
            <a:endParaRPr sz="2400">
              <a:latin typeface="Calibri"/>
              <a:cs typeface="Calibri"/>
            </a:endParaRPr>
          </a:p>
          <a:p>
            <a:pPr marL="299085" marR="683260" indent="-287020">
              <a:lnSpc>
                <a:spcPct val="100000"/>
              </a:lnSpc>
              <a:buFont typeface="Arial MT"/>
              <a:buChar char="•"/>
              <a:tabLst>
                <a:tab pos="299085" algn="l"/>
              </a:tabLst>
            </a:pPr>
            <a:r>
              <a:rPr dirty="0" sz="2400">
                <a:latin typeface="Calibri"/>
                <a:cs typeface="Calibri"/>
              </a:rPr>
              <a:t>Build</a:t>
            </a:r>
            <a:r>
              <a:rPr dirty="0" sz="2400" spc="-70">
                <a:latin typeface="Calibri"/>
                <a:cs typeface="Calibri"/>
              </a:rPr>
              <a:t> </a:t>
            </a:r>
            <a:r>
              <a:rPr dirty="0" sz="2400">
                <a:latin typeface="Calibri"/>
                <a:cs typeface="Calibri"/>
              </a:rPr>
              <a:t>learning</a:t>
            </a:r>
            <a:r>
              <a:rPr dirty="0" sz="2400" spc="-65">
                <a:latin typeface="Calibri"/>
                <a:cs typeface="Calibri"/>
              </a:rPr>
              <a:t> </a:t>
            </a:r>
            <a:r>
              <a:rPr dirty="0" sz="2400">
                <a:latin typeface="Calibri"/>
                <a:cs typeface="Calibri"/>
              </a:rPr>
              <a:t>algorithms</a:t>
            </a:r>
            <a:r>
              <a:rPr dirty="0" sz="2400" spc="-70">
                <a:latin typeface="Calibri"/>
                <a:cs typeface="Calibri"/>
              </a:rPr>
              <a:t> </a:t>
            </a:r>
            <a:r>
              <a:rPr dirty="0" sz="2400" spc="-20">
                <a:latin typeface="Calibri"/>
                <a:cs typeface="Calibri"/>
              </a:rPr>
              <a:t>that </a:t>
            </a:r>
            <a:r>
              <a:rPr dirty="0" sz="2400">
                <a:latin typeface="Calibri"/>
                <a:cs typeface="Calibri"/>
              </a:rPr>
              <a:t>mimic</a:t>
            </a:r>
            <a:r>
              <a:rPr dirty="0" sz="2400" spc="-40">
                <a:latin typeface="Calibri"/>
                <a:cs typeface="Calibri"/>
              </a:rPr>
              <a:t> </a:t>
            </a:r>
            <a:r>
              <a:rPr dirty="0" sz="2400">
                <a:latin typeface="Calibri"/>
                <a:cs typeface="Calibri"/>
              </a:rPr>
              <a:t>the</a:t>
            </a:r>
            <a:r>
              <a:rPr dirty="0" sz="2400" spc="-25">
                <a:latin typeface="Calibri"/>
                <a:cs typeface="Calibri"/>
              </a:rPr>
              <a:t> </a:t>
            </a:r>
            <a:r>
              <a:rPr dirty="0" sz="2400" spc="-10">
                <a:latin typeface="Calibri"/>
                <a:cs typeface="Calibri"/>
              </a:rPr>
              <a:t>brain.</a:t>
            </a:r>
            <a:endParaRPr sz="2400">
              <a:latin typeface="Calibri"/>
              <a:cs typeface="Calibri"/>
            </a:endParaRPr>
          </a:p>
          <a:p>
            <a:pPr marL="299085" marR="138430" indent="-287020">
              <a:lnSpc>
                <a:spcPct val="100000"/>
              </a:lnSpc>
              <a:buFont typeface="Arial MT"/>
              <a:buChar char="•"/>
              <a:tabLst>
                <a:tab pos="299085" algn="l"/>
              </a:tabLst>
            </a:pPr>
            <a:r>
              <a:rPr dirty="0" sz="2400">
                <a:latin typeface="Calibri"/>
                <a:cs typeface="Calibri"/>
              </a:rPr>
              <a:t>Most</a:t>
            </a:r>
            <a:r>
              <a:rPr dirty="0" sz="2400" spc="-65">
                <a:latin typeface="Calibri"/>
                <a:cs typeface="Calibri"/>
              </a:rPr>
              <a:t> </a:t>
            </a:r>
            <a:r>
              <a:rPr dirty="0" sz="2400">
                <a:latin typeface="Calibri"/>
                <a:cs typeface="Calibri"/>
              </a:rPr>
              <a:t>of</a:t>
            </a:r>
            <a:r>
              <a:rPr dirty="0" sz="2400" spc="-50">
                <a:latin typeface="Calibri"/>
                <a:cs typeface="Calibri"/>
              </a:rPr>
              <a:t> </a:t>
            </a:r>
            <a:r>
              <a:rPr dirty="0" sz="2400">
                <a:latin typeface="Calibri"/>
                <a:cs typeface="Calibri"/>
              </a:rPr>
              <a:t>human</a:t>
            </a:r>
            <a:r>
              <a:rPr dirty="0" sz="2400" spc="-70">
                <a:latin typeface="Calibri"/>
                <a:cs typeface="Calibri"/>
              </a:rPr>
              <a:t> </a:t>
            </a:r>
            <a:r>
              <a:rPr dirty="0" sz="2400">
                <a:latin typeface="Calibri"/>
                <a:cs typeface="Calibri"/>
              </a:rPr>
              <a:t>intelligence</a:t>
            </a:r>
            <a:r>
              <a:rPr dirty="0" sz="2400" spc="-60">
                <a:latin typeface="Calibri"/>
                <a:cs typeface="Calibri"/>
              </a:rPr>
              <a:t> </a:t>
            </a:r>
            <a:r>
              <a:rPr dirty="0" sz="2400" spc="-25">
                <a:latin typeface="Calibri"/>
                <a:cs typeface="Calibri"/>
              </a:rPr>
              <a:t>may </a:t>
            </a:r>
            <a:r>
              <a:rPr dirty="0" sz="2400">
                <a:latin typeface="Calibri"/>
                <a:cs typeface="Calibri"/>
              </a:rPr>
              <a:t>be</a:t>
            </a:r>
            <a:r>
              <a:rPr dirty="0" sz="2400" spc="-30">
                <a:latin typeface="Calibri"/>
                <a:cs typeface="Calibri"/>
              </a:rPr>
              <a:t> </a:t>
            </a:r>
            <a:r>
              <a:rPr dirty="0" sz="2400">
                <a:latin typeface="Calibri"/>
                <a:cs typeface="Calibri"/>
              </a:rPr>
              <a:t>due</a:t>
            </a:r>
            <a:r>
              <a:rPr dirty="0" sz="2400" spc="-30">
                <a:latin typeface="Calibri"/>
                <a:cs typeface="Calibri"/>
              </a:rPr>
              <a:t> </a:t>
            </a:r>
            <a:r>
              <a:rPr dirty="0" sz="2400">
                <a:latin typeface="Calibri"/>
                <a:cs typeface="Calibri"/>
              </a:rPr>
              <a:t>to</a:t>
            </a:r>
            <a:r>
              <a:rPr dirty="0" sz="2400" spc="-45">
                <a:latin typeface="Calibri"/>
                <a:cs typeface="Calibri"/>
              </a:rPr>
              <a:t> </a:t>
            </a:r>
            <a:r>
              <a:rPr dirty="0" sz="2400" b="1">
                <a:solidFill>
                  <a:srgbClr val="FF0000"/>
                </a:solidFill>
                <a:latin typeface="Calibri"/>
                <a:cs typeface="Calibri"/>
              </a:rPr>
              <a:t>one</a:t>
            </a:r>
            <a:r>
              <a:rPr dirty="0" sz="2400" spc="-40" b="1">
                <a:solidFill>
                  <a:srgbClr val="FF0000"/>
                </a:solidFill>
                <a:latin typeface="Calibri"/>
                <a:cs typeface="Calibri"/>
              </a:rPr>
              <a:t> </a:t>
            </a:r>
            <a:r>
              <a:rPr dirty="0" sz="2400" b="1">
                <a:solidFill>
                  <a:srgbClr val="FF0000"/>
                </a:solidFill>
                <a:latin typeface="Calibri"/>
                <a:cs typeface="Calibri"/>
              </a:rPr>
              <a:t>learning</a:t>
            </a:r>
            <a:r>
              <a:rPr dirty="0" sz="2400" spc="-35" b="1">
                <a:solidFill>
                  <a:srgbClr val="FF0000"/>
                </a:solidFill>
                <a:latin typeface="Calibri"/>
                <a:cs typeface="Calibri"/>
              </a:rPr>
              <a:t> </a:t>
            </a:r>
            <a:r>
              <a:rPr dirty="0" sz="2400" spc="-10" b="1">
                <a:solidFill>
                  <a:srgbClr val="FF0000"/>
                </a:solidFill>
                <a:latin typeface="Calibri"/>
                <a:cs typeface="Calibri"/>
              </a:rPr>
              <a:t>algorithm</a:t>
            </a:r>
            <a:r>
              <a:rPr dirty="0" sz="2400" spc="-10">
                <a:latin typeface="Calibri"/>
                <a:cs typeface="Calibri"/>
              </a:rPr>
              <a:t>.</a:t>
            </a:r>
            <a:endParaRPr sz="2400">
              <a:latin typeface="Calibri"/>
              <a:cs typeface="Calibri"/>
            </a:endParaRPr>
          </a:p>
        </p:txBody>
      </p:sp>
      <p:pic>
        <p:nvPicPr>
          <p:cNvPr id="4" name="object 4" descr=""/>
          <p:cNvPicPr/>
          <p:nvPr/>
        </p:nvPicPr>
        <p:blipFill>
          <a:blip r:embed="rId2" cstate="print"/>
          <a:stretch>
            <a:fillRect/>
          </a:stretch>
        </p:blipFill>
        <p:spPr>
          <a:xfrm>
            <a:off x="5509259" y="2121407"/>
            <a:ext cx="3304032" cy="3294888"/>
          </a:xfrm>
          <a:prstGeom prst="rect">
            <a:avLst/>
          </a:prstGeom>
        </p:spPr>
      </p:pic>
      <p:sp>
        <p:nvSpPr>
          <p:cNvPr id="5" name="object 5" descr=""/>
          <p:cNvSpPr txBox="1"/>
          <p:nvPr/>
        </p:nvSpPr>
        <p:spPr>
          <a:xfrm>
            <a:off x="762952" y="6031547"/>
            <a:ext cx="3308985"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one</a:t>
            </a:r>
            <a:r>
              <a:rPr dirty="0" sz="2800" spc="-40">
                <a:latin typeface="Calibri"/>
                <a:cs typeface="Calibri"/>
              </a:rPr>
              <a:t> </a:t>
            </a:r>
            <a:r>
              <a:rPr dirty="0" sz="2800">
                <a:latin typeface="Calibri"/>
                <a:cs typeface="Calibri"/>
              </a:rPr>
              <a:t>learning</a:t>
            </a:r>
            <a:r>
              <a:rPr dirty="0" sz="2800" spc="-35">
                <a:latin typeface="Calibri"/>
                <a:cs typeface="Calibri"/>
              </a:rPr>
              <a:t> </a:t>
            </a:r>
            <a:r>
              <a:rPr dirty="0" sz="2800" spc="-10">
                <a:latin typeface="Calibri"/>
                <a:cs typeface="Calibri"/>
              </a:rPr>
              <a:t>algorithm</a:t>
            </a:r>
            <a:endParaRPr sz="2800">
              <a:latin typeface="Calibri"/>
              <a:cs typeface="Calibri"/>
            </a:endParaRPr>
          </a:p>
        </p:txBody>
      </p:sp>
      <p:sp>
        <p:nvSpPr>
          <p:cNvPr id="6" name="object 6" descr=""/>
          <p:cNvSpPr txBox="1"/>
          <p:nvPr/>
        </p:nvSpPr>
        <p:spPr>
          <a:xfrm>
            <a:off x="5335117" y="6031547"/>
            <a:ext cx="2846070" cy="452120"/>
          </a:xfrm>
          <a:prstGeom prst="rect">
            <a:avLst/>
          </a:prstGeom>
        </p:spPr>
        <p:txBody>
          <a:bodyPr wrap="square" lIns="0" tIns="12065" rIns="0" bIns="0" rtlCol="0" vert="horz">
            <a:spAutoFit/>
          </a:bodyPr>
          <a:lstStyle/>
          <a:p>
            <a:pPr marL="12700">
              <a:lnSpc>
                <a:spcPct val="100000"/>
              </a:lnSpc>
              <a:spcBef>
                <a:spcPts val="95"/>
              </a:spcBef>
            </a:pPr>
            <a:r>
              <a:rPr dirty="0" sz="2800" spc="-25">
                <a:latin typeface="Calibri"/>
                <a:cs typeface="Calibri"/>
              </a:rPr>
              <a:t>end-</a:t>
            </a:r>
            <a:r>
              <a:rPr dirty="0" sz="2800" spc="-30">
                <a:latin typeface="Calibri"/>
                <a:cs typeface="Calibri"/>
              </a:rPr>
              <a:t>to-</a:t>
            </a:r>
            <a:r>
              <a:rPr dirty="0" sz="2800">
                <a:latin typeface="Calibri"/>
                <a:cs typeface="Calibri"/>
              </a:rPr>
              <a:t>end</a:t>
            </a:r>
            <a:r>
              <a:rPr dirty="0" sz="2800" spc="50">
                <a:latin typeface="Calibri"/>
                <a:cs typeface="Calibri"/>
              </a:rPr>
              <a:t> </a:t>
            </a:r>
            <a:r>
              <a:rPr dirty="0" sz="2800" spc="-10">
                <a:latin typeface="Calibri"/>
                <a:cs typeface="Calibri"/>
              </a:rPr>
              <a:t>system!</a:t>
            </a:r>
            <a:endParaRPr sz="2800">
              <a:latin typeface="Calibri"/>
              <a:cs typeface="Calibri"/>
            </a:endParaRPr>
          </a:p>
        </p:txBody>
      </p:sp>
      <p:grpSp>
        <p:nvGrpSpPr>
          <p:cNvPr id="7" name="object 7" descr=""/>
          <p:cNvGrpSpPr/>
          <p:nvPr/>
        </p:nvGrpSpPr>
        <p:grpSpPr>
          <a:xfrm>
            <a:off x="4218685" y="6158738"/>
            <a:ext cx="726440" cy="267970"/>
            <a:chOff x="4218685" y="6158738"/>
            <a:chExt cx="726440" cy="267970"/>
          </a:xfrm>
        </p:grpSpPr>
        <p:sp>
          <p:nvSpPr>
            <p:cNvPr id="8" name="object 8" descr=""/>
            <p:cNvSpPr/>
            <p:nvPr/>
          </p:nvSpPr>
          <p:spPr>
            <a:xfrm>
              <a:off x="4231385" y="6171438"/>
              <a:ext cx="701040" cy="242570"/>
            </a:xfrm>
            <a:custGeom>
              <a:avLst/>
              <a:gdLst/>
              <a:ahLst/>
              <a:cxnLst/>
              <a:rect l="l" t="t" r="r" b="b"/>
              <a:pathLst>
                <a:path w="701039" h="242570">
                  <a:moveTo>
                    <a:pt x="579881" y="0"/>
                  </a:moveTo>
                  <a:lnTo>
                    <a:pt x="579881" y="60579"/>
                  </a:lnTo>
                  <a:lnTo>
                    <a:pt x="0" y="60579"/>
                  </a:lnTo>
                  <a:lnTo>
                    <a:pt x="0" y="181737"/>
                  </a:lnTo>
                  <a:lnTo>
                    <a:pt x="579881" y="181737"/>
                  </a:lnTo>
                  <a:lnTo>
                    <a:pt x="579881" y="242316"/>
                  </a:lnTo>
                  <a:lnTo>
                    <a:pt x="701039" y="121158"/>
                  </a:lnTo>
                  <a:lnTo>
                    <a:pt x="579881" y="0"/>
                  </a:lnTo>
                  <a:close/>
                </a:path>
              </a:pathLst>
            </a:custGeom>
            <a:solidFill>
              <a:srgbClr val="4F81BD"/>
            </a:solidFill>
          </p:spPr>
          <p:txBody>
            <a:bodyPr wrap="square" lIns="0" tIns="0" rIns="0" bIns="0" rtlCol="0"/>
            <a:lstStyle/>
            <a:p/>
          </p:txBody>
        </p:sp>
        <p:sp>
          <p:nvSpPr>
            <p:cNvPr id="9" name="object 9" descr=""/>
            <p:cNvSpPr/>
            <p:nvPr/>
          </p:nvSpPr>
          <p:spPr>
            <a:xfrm>
              <a:off x="4231385" y="6171438"/>
              <a:ext cx="701040" cy="242570"/>
            </a:xfrm>
            <a:custGeom>
              <a:avLst/>
              <a:gdLst/>
              <a:ahLst/>
              <a:cxnLst/>
              <a:rect l="l" t="t" r="r" b="b"/>
              <a:pathLst>
                <a:path w="701039" h="242570">
                  <a:moveTo>
                    <a:pt x="0" y="60579"/>
                  </a:moveTo>
                  <a:lnTo>
                    <a:pt x="579882" y="60579"/>
                  </a:lnTo>
                  <a:lnTo>
                    <a:pt x="579882" y="0"/>
                  </a:lnTo>
                  <a:lnTo>
                    <a:pt x="701040" y="121158"/>
                  </a:lnTo>
                  <a:lnTo>
                    <a:pt x="579882" y="242316"/>
                  </a:lnTo>
                  <a:lnTo>
                    <a:pt x="579882" y="181737"/>
                  </a:lnTo>
                  <a:lnTo>
                    <a:pt x="0" y="181737"/>
                  </a:lnTo>
                  <a:lnTo>
                    <a:pt x="0" y="60579"/>
                  </a:lnTo>
                  <a:close/>
                </a:path>
              </a:pathLst>
            </a:custGeom>
            <a:ln w="25400">
              <a:solidFill>
                <a:srgbClr val="385D8A"/>
              </a:solidFill>
            </a:ln>
          </p:spPr>
          <p:txBody>
            <a:bodyPr wrap="square" lIns="0" tIns="0" rIns="0" bIns="0" rtlCol="0"/>
            <a:lstStyle/>
            <a:p/>
          </p:txBody>
        </p:sp>
      </p:gr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fld id="{81D60167-4931-47E6-BA6A-407CBD079E47}" type="slidenum">
              <a:rPr dirty="0" spc="-50"/>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71218" rIns="0" bIns="0" rtlCol="0" vert="horz">
            <a:spAutoFit/>
          </a:bodyPr>
          <a:lstStyle/>
          <a:p>
            <a:pPr marL="222885">
              <a:lnSpc>
                <a:spcPct val="100000"/>
              </a:lnSpc>
              <a:spcBef>
                <a:spcPts val="95"/>
              </a:spcBef>
            </a:pPr>
            <a:r>
              <a:rPr dirty="0"/>
              <a:t>Learning</a:t>
            </a:r>
            <a:r>
              <a:rPr dirty="0" spc="-140"/>
              <a:t> </a:t>
            </a:r>
            <a:r>
              <a:rPr dirty="0"/>
              <a:t>Feature</a:t>
            </a:r>
            <a:r>
              <a:rPr dirty="0" spc="-140"/>
              <a:t> </a:t>
            </a:r>
            <a:r>
              <a:rPr dirty="0" spc="-10"/>
              <a:t>Hierarchy</a:t>
            </a:r>
          </a:p>
        </p:txBody>
      </p:sp>
      <p:sp>
        <p:nvSpPr>
          <p:cNvPr id="3" name="object 3" descr=""/>
          <p:cNvSpPr txBox="1"/>
          <p:nvPr/>
        </p:nvSpPr>
        <p:spPr>
          <a:xfrm>
            <a:off x="398035" y="2431048"/>
            <a:ext cx="4065270" cy="3866515"/>
          </a:xfrm>
          <a:prstGeom prst="rect">
            <a:avLst/>
          </a:prstGeom>
        </p:spPr>
        <p:txBody>
          <a:bodyPr wrap="square" lIns="0" tIns="12065" rIns="0" bIns="0" rtlCol="0" vert="horz">
            <a:spAutoFit/>
          </a:bodyPr>
          <a:lstStyle/>
          <a:p>
            <a:pPr marL="64135">
              <a:lnSpc>
                <a:spcPct val="100000"/>
              </a:lnSpc>
              <a:spcBef>
                <a:spcPts val="95"/>
              </a:spcBef>
            </a:pPr>
            <a:r>
              <a:rPr dirty="0" sz="2800" b="1">
                <a:latin typeface="Calibri"/>
                <a:cs typeface="Calibri"/>
              </a:rPr>
              <a:t>Deep</a:t>
            </a:r>
            <a:r>
              <a:rPr dirty="0" sz="2800" spc="-40" b="1">
                <a:latin typeface="Calibri"/>
                <a:cs typeface="Calibri"/>
              </a:rPr>
              <a:t> </a:t>
            </a:r>
            <a:r>
              <a:rPr dirty="0" sz="2800" spc="-10" b="1">
                <a:latin typeface="Calibri"/>
                <a:cs typeface="Calibri"/>
              </a:rPr>
              <a:t>Learning</a:t>
            </a:r>
            <a:endParaRPr sz="2800">
              <a:latin typeface="Calibri"/>
              <a:cs typeface="Calibri"/>
            </a:endParaRPr>
          </a:p>
          <a:p>
            <a:pPr marL="12700" marR="24130" indent="259715">
              <a:lnSpc>
                <a:spcPct val="100000"/>
              </a:lnSpc>
              <a:buChar char="–"/>
              <a:tabLst>
                <a:tab pos="272415" algn="l"/>
              </a:tabLst>
            </a:pPr>
            <a:r>
              <a:rPr dirty="0" sz="2800">
                <a:latin typeface="Calibri"/>
                <a:cs typeface="Calibri"/>
              </a:rPr>
              <a:t>Deep</a:t>
            </a:r>
            <a:r>
              <a:rPr dirty="0" sz="2800" spc="-60">
                <a:latin typeface="Calibri"/>
                <a:cs typeface="Calibri"/>
              </a:rPr>
              <a:t> </a:t>
            </a:r>
            <a:r>
              <a:rPr dirty="0" sz="2800" spc="-10">
                <a:latin typeface="Calibri"/>
                <a:cs typeface="Calibri"/>
              </a:rPr>
              <a:t>architectures</a:t>
            </a:r>
            <a:r>
              <a:rPr dirty="0" sz="2800" spc="-55">
                <a:latin typeface="Calibri"/>
                <a:cs typeface="Calibri"/>
              </a:rPr>
              <a:t> </a:t>
            </a:r>
            <a:r>
              <a:rPr dirty="0" sz="2800">
                <a:latin typeface="Calibri"/>
                <a:cs typeface="Calibri"/>
              </a:rPr>
              <a:t>can</a:t>
            </a:r>
            <a:r>
              <a:rPr dirty="0" sz="2800" spc="-60">
                <a:latin typeface="Calibri"/>
                <a:cs typeface="Calibri"/>
              </a:rPr>
              <a:t> </a:t>
            </a:r>
            <a:r>
              <a:rPr dirty="0" sz="2800" spc="-25">
                <a:latin typeface="Calibri"/>
                <a:cs typeface="Calibri"/>
              </a:rPr>
              <a:t>be </a:t>
            </a:r>
            <a:r>
              <a:rPr dirty="0" sz="2800" spc="-10">
                <a:latin typeface="Calibri"/>
                <a:cs typeface="Calibri"/>
              </a:rPr>
              <a:t>representationally</a:t>
            </a:r>
            <a:r>
              <a:rPr dirty="0" sz="2800" spc="-110">
                <a:latin typeface="Calibri"/>
                <a:cs typeface="Calibri"/>
              </a:rPr>
              <a:t> </a:t>
            </a:r>
            <a:r>
              <a:rPr dirty="0" sz="2800" spc="-10">
                <a:latin typeface="Calibri"/>
                <a:cs typeface="Calibri"/>
              </a:rPr>
              <a:t>efficient.</a:t>
            </a:r>
            <a:endParaRPr sz="2800">
              <a:latin typeface="Calibri"/>
              <a:cs typeface="Calibri"/>
            </a:endParaRPr>
          </a:p>
          <a:p>
            <a:pPr marL="12700" marR="166370" indent="259715">
              <a:lnSpc>
                <a:spcPct val="100000"/>
              </a:lnSpc>
              <a:buChar char="–"/>
              <a:tabLst>
                <a:tab pos="272415" algn="l"/>
              </a:tabLst>
            </a:pPr>
            <a:r>
              <a:rPr dirty="0" sz="2800">
                <a:latin typeface="Calibri"/>
                <a:cs typeface="Calibri"/>
              </a:rPr>
              <a:t>Natural</a:t>
            </a:r>
            <a:r>
              <a:rPr dirty="0" sz="2800" spc="-125">
                <a:latin typeface="Calibri"/>
                <a:cs typeface="Calibri"/>
              </a:rPr>
              <a:t> </a:t>
            </a:r>
            <a:r>
              <a:rPr dirty="0" sz="2800" spc="-10">
                <a:latin typeface="Calibri"/>
                <a:cs typeface="Calibri"/>
              </a:rPr>
              <a:t>progression</a:t>
            </a:r>
            <a:r>
              <a:rPr dirty="0" sz="2800" spc="-100">
                <a:latin typeface="Calibri"/>
                <a:cs typeface="Calibri"/>
              </a:rPr>
              <a:t> </a:t>
            </a:r>
            <a:r>
              <a:rPr dirty="0" sz="2800" spc="-20">
                <a:latin typeface="Calibri"/>
                <a:cs typeface="Calibri"/>
              </a:rPr>
              <a:t>from </a:t>
            </a:r>
            <a:r>
              <a:rPr dirty="0" sz="2800">
                <a:latin typeface="Calibri"/>
                <a:cs typeface="Calibri"/>
              </a:rPr>
              <a:t>low</a:t>
            </a:r>
            <a:r>
              <a:rPr dirty="0" sz="2800" spc="-40">
                <a:latin typeface="Calibri"/>
                <a:cs typeface="Calibri"/>
              </a:rPr>
              <a:t> </a:t>
            </a:r>
            <a:r>
              <a:rPr dirty="0" sz="2800">
                <a:latin typeface="Calibri"/>
                <a:cs typeface="Calibri"/>
              </a:rPr>
              <a:t>level</a:t>
            </a:r>
            <a:r>
              <a:rPr dirty="0" sz="2800" spc="-65">
                <a:latin typeface="Calibri"/>
                <a:cs typeface="Calibri"/>
              </a:rPr>
              <a:t> </a:t>
            </a:r>
            <a:r>
              <a:rPr dirty="0" sz="2800">
                <a:latin typeface="Calibri"/>
                <a:cs typeface="Calibri"/>
              </a:rPr>
              <a:t>to</a:t>
            </a:r>
            <a:r>
              <a:rPr dirty="0" sz="2800" spc="-45">
                <a:latin typeface="Calibri"/>
                <a:cs typeface="Calibri"/>
              </a:rPr>
              <a:t> </a:t>
            </a:r>
            <a:r>
              <a:rPr dirty="0" sz="2800">
                <a:latin typeface="Calibri"/>
                <a:cs typeface="Calibri"/>
              </a:rPr>
              <a:t>high</a:t>
            </a:r>
            <a:r>
              <a:rPr dirty="0" sz="2800" spc="-25">
                <a:latin typeface="Calibri"/>
                <a:cs typeface="Calibri"/>
              </a:rPr>
              <a:t> </a:t>
            </a:r>
            <a:r>
              <a:rPr dirty="0" sz="2800" spc="-20">
                <a:latin typeface="Calibri"/>
                <a:cs typeface="Calibri"/>
              </a:rPr>
              <a:t>level </a:t>
            </a:r>
            <a:r>
              <a:rPr dirty="0" sz="2800" spc="-10">
                <a:latin typeface="Calibri"/>
                <a:cs typeface="Calibri"/>
              </a:rPr>
              <a:t>structures.</a:t>
            </a:r>
            <a:endParaRPr sz="2800">
              <a:latin typeface="Calibri"/>
              <a:cs typeface="Calibri"/>
            </a:endParaRPr>
          </a:p>
          <a:p>
            <a:pPr marL="12700" marR="5080" indent="-635">
              <a:lnSpc>
                <a:spcPct val="100000"/>
              </a:lnSpc>
              <a:spcBef>
                <a:spcPts val="5"/>
              </a:spcBef>
              <a:buChar char="–"/>
              <a:tabLst>
                <a:tab pos="12700" algn="l"/>
                <a:tab pos="271780" algn="l"/>
              </a:tabLst>
            </a:pPr>
            <a:r>
              <a:rPr dirty="0" sz="2800">
                <a:latin typeface="Calibri"/>
                <a:cs typeface="Calibri"/>
              </a:rPr>
              <a:t>	</a:t>
            </a:r>
            <a:r>
              <a:rPr dirty="0" sz="2800">
                <a:latin typeface="Calibri"/>
                <a:cs typeface="Calibri"/>
              </a:rPr>
              <a:t>Can</a:t>
            </a:r>
            <a:r>
              <a:rPr dirty="0" sz="2800" spc="-40">
                <a:latin typeface="Calibri"/>
                <a:cs typeface="Calibri"/>
              </a:rPr>
              <a:t> </a:t>
            </a:r>
            <a:r>
              <a:rPr dirty="0" sz="2800">
                <a:latin typeface="Calibri"/>
                <a:cs typeface="Calibri"/>
              </a:rPr>
              <a:t>share</a:t>
            </a:r>
            <a:r>
              <a:rPr dirty="0" sz="2800" spc="-15">
                <a:latin typeface="Calibri"/>
                <a:cs typeface="Calibri"/>
              </a:rPr>
              <a:t> </a:t>
            </a:r>
            <a:r>
              <a:rPr dirty="0" sz="2800">
                <a:latin typeface="Calibri"/>
                <a:cs typeface="Calibri"/>
              </a:rPr>
              <a:t>the</a:t>
            </a:r>
            <a:r>
              <a:rPr dirty="0" sz="2800" spc="-20">
                <a:latin typeface="Calibri"/>
                <a:cs typeface="Calibri"/>
              </a:rPr>
              <a:t> </a:t>
            </a:r>
            <a:r>
              <a:rPr dirty="0" sz="2800" spc="-25">
                <a:latin typeface="Calibri"/>
                <a:cs typeface="Calibri"/>
              </a:rPr>
              <a:t>lower-</a:t>
            </a:r>
            <a:r>
              <a:rPr dirty="0" sz="2800" spc="-10">
                <a:latin typeface="Calibri"/>
                <a:cs typeface="Calibri"/>
              </a:rPr>
              <a:t>level representations</a:t>
            </a:r>
            <a:r>
              <a:rPr dirty="0" sz="2800" spc="-95">
                <a:latin typeface="Calibri"/>
                <a:cs typeface="Calibri"/>
              </a:rPr>
              <a:t> </a:t>
            </a:r>
            <a:r>
              <a:rPr dirty="0" sz="2800">
                <a:latin typeface="Calibri"/>
                <a:cs typeface="Calibri"/>
              </a:rPr>
              <a:t>for</a:t>
            </a:r>
            <a:r>
              <a:rPr dirty="0" sz="2800" spc="-120">
                <a:latin typeface="Calibri"/>
                <a:cs typeface="Calibri"/>
              </a:rPr>
              <a:t> </a:t>
            </a:r>
            <a:r>
              <a:rPr dirty="0" sz="2800" spc="-10">
                <a:latin typeface="Calibri"/>
                <a:cs typeface="Calibri"/>
              </a:rPr>
              <a:t>multiple tasks.</a:t>
            </a:r>
            <a:endParaRPr sz="2800">
              <a:latin typeface="Calibri"/>
              <a:cs typeface="Calibri"/>
            </a:endParaRPr>
          </a:p>
        </p:txBody>
      </p:sp>
      <p:pic>
        <p:nvPicPr>
          <p:cNvPr id="4" name="object 4" descr=""/>
          <p:cNvPicPr/>
          <p:nvPr/>
        </p:nvPicPr>
        <p:blipFill>
          <a:blip r:embed="rId2" cstate="print"/>
          <a:stretch>
            <a:fillRect/>
          </a:stretch>
        </p:blipFill>
        <p:spPr>
          <a:xfrm>
            <a:off x="2263771" y="142270"/>
            <a:ext cx="1485336" cy="325114"/>
          </a:xfrm>
          <a:prstGeom prst="rect">
            <a:avLst/>
          </a:prstGeom>
        </p:spPr>
      </p:pic>
      <p:pic>
        <p:nvPicPr>
          <p:cNvPr id="5" name="object 5" descr=""/>
          <p:cNvPicPr/>
          <p:nvPr/>
        </p:nvPicPr>
        <p:blipFill>
          <a:blip r:embed="rId3" cstate="print"/>
          <a:stretch>
            <a:fillRect/>
          </a:stretch>
        </p:blipFill>
        <p:spPr>
          <a:xfrm>
            <a:off x="602471" y="997385"/>
            <a:ext cx="1169670" cy="277056"/>
          </a:xfrm>
          <a:prstGeom prst="rect">
            <a:avLst/>
          </a:prstGeom>
        </p:spPr>
      </p:pic>
      <p:pic>
        <p:nvPicPr>
          <p:cNvPr id="6" name="object 6" descr=""/>
          <p:cNvPicPr/>
          <p:nvPr/>
        </p:nvPicPr>
        <p:blipFill>
          <a:blip r:embed="rId4" cstate="print"/>
          <a:stretch>
            <a:fillRect/>
          </a:stretch>
        </p:blipFill>
        <p:spPr>
          <a:xfrm>
            <a:off x="1879431" y="974699"/>
            <a:ext cx="913014" cy="265465"/>
          </a:xfrm>
          <a:prstGeom prst="rect">
            <a:avLst/>
          </a:prstGeom>
        </p:spPr>
      </p:pic>
      <p:pic>
        <p:nvPicPr>
          <p:cNvPr id="7" name="object 7" descr=""/>
          <p:cNvPicPr/>
          <p:nvPr/>
        </p:nvPicPr>
        <p:blipFill>
          <a:blip r:embed="rId5" cstate="print"/>
          <a:stretch>
            <a:fillRect/>
          </a:stretch>
        </p:blipFill>
        <p:spPr>
          <a:xfrm>
            <a:off x="2857540" y="956158"/>
            <a:ext cx="654191" cy="243655"/>
          </a:xfrm>
          <a:prstGeom prst="rect">
            <a:avLst/>
          </a:prstGeom>
        </p:spPr>
      </p:pic>
      <p:grpSp>
        <p:nvGrpSpPr>
          <p:cNvPr id="8" name="object 8" descr=""/>
          <p:cNvGrpSpPr/>
          <p:nvPr/>
        </p:nvGrpSpPr>
        <p:grpSpPr>
          <a:xfrm>
            <a:off x="3683989" y="919480"/>
            <a:ext cx="5448300" cy="5749925"/>
            <a:chOff x="3683989" y="919480"/>
            <a:chExt cx="5448300" cy="5749925"/>
          </a:xfrm>
        </p:grpSpPr>
        <p:pic>
          <p:nvPicPr>
            <p:cNvPr id="9" name="object 9" descr=""/>
            <p:cNvPicPr/>
            <p:nvPr/>
          </p:nvPicPr>
          <p:blipFill>
            <a:blip r:embed="rId6" cstate="print"/>
            <a:stretch>
              <a:fillRect/>
            </a:stretch>
          </p:blipFill>
          <p:spPr>
            <a:xfrm>
              <a:off x="4571999" y="1168908"/>
              <a:ext cx="4559808" cy="5500115"/>
            </a:xfrm>
            <a:prstGeom prst="rect">
              <a:avLst/>
            </a:prstGeom>
          </p:spPr>
        </p:pic>
        <p:pic>
          <p:nvPicPr>
            <p:cNvPr id="10" name="object 10" descr=""/>
            <p:cNvPicPr/>
            <p:nvPr/>
          </p:nvPicPr>
          <p:blipFill>
            <a:blip r:embed="rId7" cstate="print"/>
            <a:stretch>
              <a:fillRect/>
            </a:stretch>
          </p:blipFill>
          <p:spPr>
            <a:xfrm>
              <a:off x="3683989" y="921105"/>
              <a:ext cx="1270693" cy="314406"/>
            </a:xfrm>
            <a:prstGeom prst="rect">
              <a:avLst/>
            </a:prstGeom>
          </p:spPr>
        </p:pic>
        <p:pic>
          <p:nvPicPr>
            <p:cNvPr id="11" name="object 11" descr=""/>
            <p:cNvPicPr/>
            <p:nvPr/>
          </p:nvPicPr>
          <p:blipFill>
            <a:blip r:embed="rId8" cstate="print"/>
            <a:stretch>
              <a:fillRect/>
            </a:stretch>
          </p:blipFill>
          <p:spPr>
            <a:xfrm>
              <a:off x="5096870" y="919480"/>
              <a:ext cx="856267" cy="224176"/>
            </a:xfrm>
            <a:prstGeom prst="rect">
              <a:avLst/>
            </a:prstGeom>
          </p:spPr>
        </p:pic>
        <p:pic>
          <p:nvPicPr>
            <p:cNvPr id="12" name="object 12" descr=""/>
            <p:cNvPicPr/>
            <p:nvPr/>
          </p:nvPicPr>
          <p:blipFill>
            <a:blip r:embed="rId9" cstate="print"/>
            <a:stretch>
              <a:fillRect/>
            </a:stretch>
          </p:blipFill>
          <p:spPr>
            <a:xfrm>
              <a:off x="6167916" y="989907"/>
              <a:ext cx="642391" cy="236123"/>
            </a:xfrm>
            <a:prstGeom prst="rect">
              <a:avLst/>
            </a:prstGeom>
          </p:spPr>
        </p:pic>
      </p:grpSp>
      <p:sp>
        <p:nvSpPr>
          <p:cNvPr id="13" name="object 13"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fld id="{81D60167-4931-47E6-BA6A-407CBD079E47}" type="slidenum">
              <a:rPr dirty="0" spc="-50"/>
              <a:t>5</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191676" y="127271"/>
            <a:ext cx="8764270" cy="5416550"/>
          </a:xfrm>
          <a:prstGeom prst="rect">
            <a:avLst/>
          </a:prstGeom>
        </p:spPr>
        <p:txBody>
          <a:bodyPr wrap="square" lIns="0" tIns="12065" rIns="0" bIns="0" rtlCol="0" vert="horz">
            <a:spAutoFit/>
          </a:bodyPr>
          <a:lstStyle/>
          <a:p>
            <a:pPr marL="12700" marR="5554980" indent="146685">
              <a:lnSpc>
                <a:spcPct val="118300"/>
              </a:lnSpc>
              <a:spcBef>
                <a:spcPts val="95"/>
              </a:spcBef>
              <a:buAutoNum type="arabicPeriod"/>
              <a:tabLst>
                <a:tab pos="159385" algn="l"/>
              </a:tabLst>
            </a:pPr>
            <a:r>
              <a:rPr dirty="0" sz="1150">
                <a:latin typeface="Microsoft YaHei UI"/>
                <a:cs typeface="Microsoft YaHei UI"/>
              </a:rPr>
              <a:t>卷积层 </a:t>
            </a:r>
            <a:r>
              <a:rPr dirty="0" sz="1150" spc="-20">
                <a:latin typeface="Microsoft YaHei UI"/>
                <a:cs typeface="Microsoft YaHei UI"/>
              </a:rPr>
              <a:t>(Convolutional </a:t>
            </a:r>
            <a:r>
              <a:rPr dirty="0" sz="1150">
                <a:latin typeface="Microsoft YaHei UI"/>
                <a:cs typeface="Microsoft YaHei UI"/>
              </a:rPr>
              <a:t>Layer)</a:t>
            </a:r>
            <a:r>
              <a:rPr dirty="0" sz="1150" spc="45">
                <a:latin typeface="Microsoft YaHei UI"/>
                <a:cs typeface="Microsoft YaHei UI"/>
              </a:rPr>
              <a:t> - “细节侦察员”</a:t>
            </a:r>
            <a:r>
              <a:rPr dirty="0" sz="1150">
                <a:latin typeface="Microsoft YaHei UI"/>
                <a:cs typeface="Microsoft YaHei UI"/>
              </a:rPr>
              <a:t>任务: 识别局部特征。</a:t>
            </a:r>
            <a:endParaRPr sz="1150">
              <a:latin typeface="Microsoft YaHei UI"/>
              <a:cs typeface="Microsoft YaHei UI"/>
            </a:endParaRPr>
          </a:p>
          <a:p>
            <a:pPr marL="12700">
              <a:lnSpc>
                <a:spcPct val="100000"/>
              </a:lnSpc>
              <a:spcBef>
                <a:spcPts val="254"/>
              </a:spcBef>
            </a:pPr>
            <a:r>
              <a:rPr dirty="0" sz="1150" spc="-10">
                <a:latin typeface="Microsoft YaHei UI"/>
                <a:cs typeface="Microsoft YaHei UI"/>
              </a:rPr>
              <a:t>⼯作流程:</a:t>
            </a:r>
            <a:endParaRPr sz="1150">
              <a:latin typeface="Microsoft YaHei UI"/>
              <a:cs typeface="Microsoft YaHei UI"/>
            </a:endParaRPr>
          </a:p>
          <a:p>
            <a:pPr marL="12700">
              <a:lnSpc>
                <a:spcPct val="100000"/>
              </a:lnSpc>
              <a:spcBef>
                <a:spcPts val="250"/>
              </a:spcBef>
            </a:pPr>
            <a:r>
              <a:rPr dirty="0" sz="1150" spc="-10">
                <a:latin typeface="Microsoft YaHei UI"/>
                <a:cs typeface="Microsoft YaHei UI"/>
              </a:rPr>
              <a:t>CNN</a:t>
            </a:r>
            <a:r>
              <a:rPr dirty="0" sz="1150">
                <a:latin typeface="Microsoft YaHei UI"/>
                <a:cs typeface="Microsoft YaHei UI"/>
              </a:rPr>
              <a:t>  的第⼀层卷积层直接作⽤于输⼊的原始图像。它使⽤多个滤波器（卷积核）</a:t>
            </a:r>
            <a:r>
              <a:rPr dirty="0" sz="1150" spc="-5">
                <a:latin typeface="Microsoft YaHei UI"/>
                <a:cs typeface="Microsoft YaHei UI"/>
              </a:rPr>
              <a:t>来扫描图像。每个滤波器都经过训练，专⻔⽤来寻找</a:t>
            </a:r>
            <a:endParaRPr sz="1150">
              <a:latin typeface="Microsoft YaHei UI"/>
              <a:cs typeface="Microsoft YaHei UI"/>
            </a:endParaRPr>
          </a:p>
          <a:p>
            <a:pPr marL="12700" marR="5080">
              <a:lnSpc>
                <a:spcPct val="118300"/>
              </a:lnSpc>
            </a:pPr>
            <a:r>
              <a:rPr dirty="0" sz="1150" spc="10">
                <a:latin typeface="Microsoft YaHei UI"/>
                <a:cs typeface="Microsoft YaHei UI"/>
              </a:rPr>
              <a:t>⼀种⾮常基础的视觉模式，例如：⽔平边缘、垂直边缘、特定颜⾊的斑块、⻆点等。当⼀个滤波器在图像的某个区域上找到了它要找的模式时，它就会在输出的特征图 </a:t>
            </a:r>
            <a:r>
              <a:rPr dirty="0" sz="1150" spc="-10">
                <a:latin typeface="Microsoft YaHei UI"/>
                <a:cs typeface="Microsoft YaHei UI"/>
              </a:rPr>
              <a:t>(Feature</a:t>
            </a:r>
            <a:r>
              <a:rPr dirty="0" sz="1150" spc="45">
                <a:latin typeface="Microsoft YaHei UI"/>
                <a:cs typeface="Microsoft YaHei UI"/>
              </a:rPr>
              <a:t> </a:t>
            </a:r>
            <a:r>
              <a:rPr dirty="0" sz="1150" spc="-40">
                <a:latin typeface="Microsoft YaHei UI"/>
                <a:cs typeface="Microsoft YaHei UI"/>
              </a:rPr>
              <a:t>Map)</a:t>
            </a:r>
            <a:r>
              <a:rPr dirty="0" sz="1150" spc="10">
                <a:latin typeface="Microsoft YaHei UI"/>
                <a:cs typeface="Microsoft YaHei UI"/>
              </a:rPr>
              <a:t> 上的相应位置产⽣⼀个⾼激活值。因此，经过第⼀层卷积层后，我们得到了⼀组特征图，每⼀张图都描绘了原始图像中某⼀种基础特征的分布情况。它保留了特征的空间位置信息。</a:t>
            </a:r>
            <a:endParaRPr sz="1150">
              <a:latin typeface="Microsoft YaHei UI"/>
              <a:cs typeface="Microsoft YaHei UI"/>
            </a:endParaRPr>
          </a:p>
          <a:p>
            <a:pPr marL="189230" indent="-176530">
              <a:lnSpc>
                <a:spcPct val="100000"/>
              </a:lnSpc>
              <a:spcBef>
                <a:spcPts val="1885"/>
              </a:spcBef>
              <a:buAutoNum type="arabicPeriod" startAt="2"/>
              <a:tabLst>
                <a:tab pos="189230" algn="l"/>
              </a:tabLst>
            </a:pPr>
            <a:r>
              <a:rPr dirty="0" sz="1150" spc="10">
                <a:latin typeface="Microsoft YaHei UI"/>
                <a:cs typeface="Microsoft YaHei UI"/>
              </a:rPr>
              <a:t>池化层 </a:t>
            </a:r>
            <a:r>
              <a:rPr dirty="0" sz="1150" spc="-10">
                <a:latin typeface="Microsoft YaHei UI"/>
                <a:cs typeface="Microsoft YaHei UI"/>
              </a:rPr>
              <a:t>(Pooling</a:t>
            </a:r>
            <a:r>
              <a:rPr dirty="0" sz="1150" spc="50">
                <a:latin typeface="Microsoft YaHei UI"/>
                <a:cs typeface="Microsoft YaHei UI"/>
              </a:rPr>
              <a:t> </a:t>
            </a:r>
            <a:r>
              <a:rPr dirty="0" sz="1150">
                <a:latin typeface="Microsoft YaHei UI"/>
                <a:cs typeface="Microsoft YaHei UI"/>
              </a:rPr>
              <a:t>Layer)</a:t>
            </a:r>
            <a:r>
              <a:rPr dirty="0" sz="1150" spc="50">
                <a:latin typeface="Microsoft YaHei UI"/>
                <a:cs typeface="Microsoft YaHei UI"/>
              </a:rPr>
              <a:t> - “区域总结员”</a:t>
            </a:r>
            <a:endParaRPr sz="1150">
              <a:latin typeface="Microsoft YaHei UI"/>
              <a:cs typeface="Microsoft YaHei UI"/>
            </a:endParaRPr>
          </a:p>
          <a:p>
            <a:pPr marL="12700">
              <a:lnSpc>
                <a:spcPct val="100000"/>
              </a:lnSpc>
              <a:spcBef>
                <a:spcPts val="254"/>
              </a:spcBef>
            </a:pPr>
            <a:r>
              <a:rPr dirty="0" sz="1150" spc="-5">
                <a:latin typeface="Microsoft YaHei UI"/>
                <a:cs typeface="Microsoft YaHei UI"/>
              </a:rPr>
              <a:t>任务: 降低特征图的复杂度，并使其对位置变化不那么敏感。</a:t>
            </a:r>
            <a:endParaRPr sz="1150">
              <a:latin typeface="Microsoft YaHei UI"/>
              <a:cs typeface="Microsoft YaHei UI"/>
            </a:endParaRPr>
          </a:p>
          <a:p>
            <a:pPr marL="12700" marR="11430">
              <a:lnSpc>
                <a:spcPct val="118300"/>
              </a:lnSpc>
            </a:pPr>
            <a:r>
              <a:rPr dirty="0" sz="1150">
                <a:latin typeface="Microsoft YaHei UI"/>
                <a:cs typeface="Microsoft YaHei UI"/>
              </a:rPr>
              <a:t>⼯作流程:池化层紧跟在卷积层之后，对卷积层输出的特征图进⾏处理。通过降采样 </a:t>
            </a:r>
            <a:r>
              <a:rPr dirty="0" sz="1150" spc="-20">
                <a:latin typeface="Microsoft YaHei UI"/>
                <a:cs typeface="Microsoft YaHei UI"/>
              </a:rPr>
              <a:t>(Down-</a:t>
            </a:r>
            <a:r>
              <a:rPr dirty="0" sz="1150">
                <a:latin typeface="Microsoft YaHei UI"/>
                <a:cs typeface="Microsoft YaHei UI"/>
              </a:rPr>
              <a:t>sampling) 的⽅式，将特征图的尺⼨（</a:t>
            </a:r>
            <a:r>
              <a:rPr dirty="0" sz="1150" spc="-25">
                <a:latin typeface="Microsoft YaHei UI"/>
                <a:cs typeface="Microsoft YaHei UI"/>
              </a:rPr>
              <a:t>⾼度</a:t>
            </a:r>
            <a:r>
              <a:rPr dirty="0" sz="1150">
                <a:latin typeface="Microsoft YaHei UI"/>
                <a:cs typeface="Microsoft YaHei UI"/>
              </a:rPr>
              <a:t>和宽度）</a:t>
            </a:r>
            <a:r>
              <a:rPr dirty="0" sz="1150" spc="5">
                <a:latin typeface="Microsoft YaHei UI"/>
                <a:cs typeface="Microsoft YaHei UI"/>
              </a:rPr>
              <a:t>缩⼩。最常⽤的⽅法是最⼤池化 </a:t>
            </a:r>
            <a:r>
              <a:rPr dirty="0" sz="1150">
                <a:latin typeface="Microsoft YaHei UI"/>
                <a:cs typeface="Microsoft YaHei UI"/>
              </a:rPr>
              <a:t>(Max</a:t>
            </a:r>
            <a:r>
              <a:rPr dirty="0" sz="1150" spc="105">
                <a:latin typeface="Microsoft YaHei UI"/>
                <a:cs typeface="Microsoft YaHei UI"/>
              </a:rPr>
              <a:t> </a:t>
            </a:r>
            <a:r>
              <a:rPr dirty="0" sz="1150">
                <a:latin typeface="Microsoft YaHei UI"/>
                <a:cs typeface="Microsoft YaHei UI"/>
              </a:rPr>
              <a:t>Pooling)，</a:t>
            </a:r>
            <a:r>
              <a:rPr dirty="0" sz="1150" spc="-5">
                <a:latin typeface="Microsoft YaHei UI"/>
                <a:cs typeface="Microsoft YaHei UI"/>
              </a:rPr>
              <a:t>它只保留每个⼩区域内最强的特征信号。</a:t>
            </a:r>
            <a:endParaRPr sz="1150">
              <a:latin typeface="Microsoft YaHei UI"/>
              <a:cs typeface="Microsoft YaHei UI"/>
            </a:endParaRPr>
          </a:p>
          <a:p>
            <a:pPr marL="12700" marR="5080">
              <a:lnSpc>
                <a:spcPct val="118300"/>
              </a:lnSpc>
            </a:pPr>
            <a:r>
              <a:rPr dirty="0" sz="1150" spc="-5">
                <a:latin typeface="Microsoft YaHei UI"/>
                <a:cs typeface="Microsoft YaHei UI"/>
              </a:rPr>
              <a:t>这样做的好处是：减少了数据量，使得后续的计算更加⾼效；提取了最显著的特征，忽略了不重要的细节；提供了平移不变性，即使图像中的物体有轻微的移动，池化后的结果依然稳定。</a:t>
            </a:r>
            <a:endParaRPr sz="1150">
              <a:latin typeface="Microsoft YaHei UI"/>
              <a:cs typeface="Microsoft YaHei UI"/>
            </a:endParaRPr>
          </a:p>
          <a:p>
            <a:pPr marL="12700">
              <a:lnSpc>
                <a:spcPct val="100000"/>
              </a:lnSpc>
              <a:spcBef>
                <a:spcPts val="1885"/>
              </a:spcBef>
            </a:pPr>
            <a:r>
              <a:rPr dirty="0" sz="1150" spc="15">
                <a:latin typeface="Microsoft YaHei UI"/>
                <a:cs typeface="Microsoft YaHei UI"/>
              </a:rPr>
              <a:t>阶段⼆：分类决策 </a:t>
            </a:r>
            <a:r>
              <a:rPr dirty="0" sz="1150" spc="-10">
                <a:latin typeface="Microsoft YaHei UI"/>
                <a:cs typeface="Microsoft YaHei UI"/>
              </a:rPr>
              <a:t>(Classiﬁcation)</a:t>
            </a:r>
            <a:endParaRPr sz="1150">
              <a:latin typeface="Microsoft YaHei UI"/>
              <a:cs typeface="Microsoft YaHei UI"/>
            </a:endParaRPr>
          </a:p>
          <a:p>
            <a:pPr marL="12700">
              <a:lnSpc>
                <a:spcPct val="100000"/>
              </a:lnSpc>
              <a:spcBef>
                <a:spcPts val="250"/>
              </a:spcBef>
            </a:pPr>
            <a:r>
              <a:rPr dirty="0" sz="1150" spc="-5">
                <a:latin typeface="Microsoft YaHei UI"/>
                <a:cs typeface="Microsoft YaHei UI"/>
              </a:rPr>
              <a:t>这个阶段的⽬标是利⽤前⾯提取到的⾼级特征，最终判断这张图⽚属于哪个类别。</a:t>
            </a:r>
            <a:endParaRPr sz="1150">
              <a:latin typeface="Microsoft YaHei UI"/>
              <a:cs typeface="Microsoft YaHei UI"/>
            </a:endParaRPr>
          </a:p>
          <a:p>
            <a:pPr marL="12700" marR="5203190" indent="176530">
              <a:lnSpc>
                <a:spcPct val="118300"/>
              </a:lnSpc>
              <a:spcBef>
                <a:spcPts val="5"/>
              </a:spcBef>
              <a:buAutoNum type="arabicPeriod" startAt="3"/>
              <a:tabLst>
                <a:tab pos="189230" algn="l"/>
              </a:tabLst>
            </a:pPr>
            <a:r>
              <a:rPr dirty="0" sz="1150">
                <a:latin typeface="Microsoft YaHei UI"/>
                <a:cs typeface="Microsoft YaHei UI"/>
              </a:rPr>
              <a:t>全连接层 (Fully Connected Layer)</a:t>
            </a:r>
            <a:r>
              <a:rPr dirty="0" sz="1150" spc="40">
                <a:latin typeface="Microsoft YaHei UI"/>
                <a:cs typeface="Microsoft YaHei UI"/>
              </a:rPr>
              <a:t> - “⾸席决策官”</a:t>
            </a:r>
            <a:r>
              <a:rPr dirty="0" sz="1150" spc="-5">
                <a:latin typeface="Microsoft YaHei UI"/>
                <a:cs typeface="Microsoft YaHei UI"/>
              </a:rPr>
              <a:t>任务: 根据提取到的特征进⾏综合判断和分类。</a:t>
            </a:r>
            <a:endParaRPr sz="1150">
              <a:latin typeface="Microsoft YaHei UI"/>
              <a:cs typeface="Microsoft YaHei UI"/>
            </a:endParaRPr>
          </a:p>
          <a:p>
            <a:pPr algn="just" marL="12700" marR="5080">
              <a:lnSpc>
                <a:spcPct val="118300"/>
              </a:lnSpc>
            </a:pPr>
            <a:r>
              <a:rPr dirty="0" sz="1150" spc="45">
                <a:latin typeface="Microsoft YaHei UI"/>
                <a:cs typeface="Microsoft YaHei UI"/>
              </a:rPr>
              <a:t>⼯作流程:展平 </a:t>
            </a:r>
            <a:r>
              <a:rPr dirty="0" sz="1150">
                <a:latin typeface="Microsoft YaHei UI"/>
                <a:cs typeface="Microsoft YaHei UI"/>
              </a:rPr>
              <a:t>(Flatten): ⾸先，我们需要将特征提取阶段输出的最后⼀个三维特征图（</a:t>
            </a:r>
            <a:r>
              <a:rPr dirty="0" sz="1150" spc="120">
                <a:latin typeface="Microsoft YaHei UI"/>
                <a:cs typeface="Microsoft YaHei UI"/>
              </a:rPr>
              <a:t>例如 </a:t>
            </a:r>
            <a:r>
              <a:rPr dirty="0" sz="1150">
                <a:latin typeface="Microsoft YaHei UI"/>
                <a:cs typeface="Microsoft YaHei UI"/>
              </a:rPr>
              <a:t>5x5x64）“</a:t>
            </a:r>
            <a:r>
              <a:rPr dirty="0" sz="1150" spc="-5">
                <a:latin typeface="Microsoft YaHei UI"/>
                <a:cs typeface="Microsoft YaHei UI"/>
              </a:rPr>
              <a:t>压扁”，变成⼀个⻓⻓的⼀维向量。这个向量可以看作是整张图⽚所有⾼级特征的“总结报告”。加权求和:  这个⼀维向量被输⼊到全连接层。全连接层的⼯作⽅式与传统的神经⽹络完全相同：每个输⼊节点都连接到下⼀层的每个节点。它通过学习权重，来判断哪些⾼级特征的组合对于区分不同的类别</a:t>
            </a:r>
            <a:r>
              <a:rPr dirty="0" sz="1150" spc="-15">
                <a:latin typeface="Microsoft YaHei UI"/>
                <a:cs typeface="Microsoft YaHei UI"/>
              </a:rPr>
              <a:t>最重要。</a:t>
            </a:r>
            <a:endParaRPr sz="1150">
              <a:latin typeface="Microsoft YaHei UI"/>
              <a:cs typeface="Microsoft YaHei UI"/>
            </a:endParaRPr>
          </a:p>
          <a:p>
            <a:pPr marL="12700">
              <a:lnSpc>
                <a:spcPct val="100000"/>
              </a:lnSpc>
              <a:spcBef>
                <a:spcPts val="250"/>
              </a:spcBef>
            </a:pPr>
            <a:r>
              <a:rPr dirty="0" sz="1150" spc="-5">
                <a:latin typeface="Microsoft YaHei UI"/>
                <a:cs typeface="Microsoft YaHei UI"/>
              </a:rPr>
              <a:t>例如，如果“猫⽿”特征和“胡须”特征同时被激活，那么这张图⽚是“猫”的权重就会⾮常⾼。</a:t>
            </a:r>
            <a:endParaRPr sz="1150">
              <a:latin typeface="Microsoft YaHei UI"/>
              <a:cs typeface="Microsoft YaHei UI"/>
            </a:endParaRPr>
          </a:p>
          <a:p>
            <a:pPr marL="12700" marR="133350">
              <a:lnSpc>
                <a:spcPct val="118300"/>
              </a:lnSpc>
            </a:pPr>
            <a:r>
              <a:rPr dirty="0" sz="1150">
                <a:latin typeface="Microsoft YaHei UI"/>
                <a:cs typeface="Microsoft YaHei UI"/>
              </a:rPr>
              <a:t>最终输出: ⽹络的最后⼀层是⼀个特殊的全连接层（</a:t>
            </a:r>
            <a:r>
              <a:rPr dirty="0" sz="1150" spc="50">
                <a:latin typeface="Microsoft YaHei UI"/>
                <a:cs typeface="Microsoft YaHei UI"/>
              </a:rPr>
              <a:t>通常带有 </a:t>
            </a:r>
            <a:r>
              <a:rPr dirty="0" sz="1150">
                <a:latin typeface="Microsoft YaHei UI"/>
                <a:cs typeface="Microsoft YaHei UI"/>
              </a:rPr>
              <a:t>Softmax</a:t>
            </a:r>
            <a:r>
              <a:rPr dirty="0" sz="1150" spc="45">
                <a:latin typeface="Microsoft YaHei UI"/>
                <a:cs typeface="Microsoft YaHei UI"/>
              </a:rPr>
              <a:t> 激活函数</a:t>
            </a:r>
            <a:r>
              <a:rPr dirty="0" sz="1150">
                <a:latin typeface="Microsoft YaHei UI"/>
                <a:cs typeface="Microsoft YaHei UI"/>
              </a:rPr>
              <a:t>），</a:t>
            </a:r>
            <a:r>
              <a:rPr dirty="0" sz="1150" spc="-5">
                <a:latin typeface="Microsoft YaHei UI"/>
                <a:cs typeface="Microsoft YaHei UI"/>
              </a:rPr>
              <a:t>它的神经元数量等于我们要分类的类别总数。它</a:t>
            </a:r>
            <a:r>
              <a:rPr dirty="0" sz="1150" spc="5">
                <a:latin typeface="Microsoft YaHei UI"/>
                <a:cs typeface="Microsoft YaHei UI"/>
              </a:rPr>
              <a:t>会输出⼀个概率列表，例如：[猫的概率: </a:t>
            </a:r>
            <a:r>
              <a:rPr dirty="0" sz="1150">
                <a:latin typeface="Microsoft YaHei UI"/>
                <a:cs typeface="Microsoft YaHei UI"/>
              </a:rPr>
              <a:t>95%,</a:t>
            </a:r>
            <a:r>
              <a:rPr dirty="0" sz="1150" spc="40">
                <a:latin typeface="Microsoft YaHei UI"/>
                <a:cs typeface="Microsoft YaHei UI"/>
              </a:rPr>
              <a:t> 狗的概率: </a:t>
            </a:r>
            <a:r>
              <a:rPr dirty="0" sz="1150" spc="50">
                <a:latin typeface="Microsoft YaHei UI"/>
                <a:cs typeface="Microsoft YaHei UI"/>
              </a:rPr>
              <a:t>4%,</a:t>
            </a:r>
            <a:r>
              <a:rPr dirty="0" sz="1150" spc="40">
                <a:latin typeface="Microsoft YaHei UI"/>
                <a:cs typeface="Microsoft YaHei UI"/>
              </a:rPr>
              <a:t> ⻦的概率: </a:t>
            </a:r>
            <a:r>
              <a:rPr dirty="0" sz="1150">
                <a:latin typeface="Microsoft YaHei UI"/>
                <a:cs typeface="Microsoft YaHei UI"/>
              </a:rPr>
              <a:t>1%]</a:t>
            </a:r>
            <a:r>
              <a:rPr dirty="0" sz="1150" spc="-5">
                <a:latin typeface="Microsoft YaHei UI"/>
                <a:cs typeface="Microsoft YaHei UI"/>
              </a:rPr>
              <a:t>。我们选择概率最⾼的那个作为最终的识别结果。</a:t>
            </a:r>
            <a:endParaRPr sz="1150">
              <a:latin typeface="Microsoft YaHei UI"/>
              <a:cs typeface="Microsoft YaHei UI"/>
            </a:endParaRPr>
          </a:p>
        </p:txBody>
      </p:sp>
      <p:pic>
        <p:nvPicPr>
          <p:cNvPr id="3" name="object 3" descr=""/>
          <p:cNvPicPr/>
          <p:nvPr/>
        </p:nvPicPr>
        <p:blipFill>
          <a:blip r:embed="rId2" cstate="print"/>
          <a:stretch>
            <a:fillRect/>
          </a:stretch>
        </p:blipFill>
        <p:spPr>
          <a:xfrm>
            <a:off x="4406972" y="495921"/>
            <a:ext cx="497467" cy="276576"/>
          </a:xfrm>
          <a:prstGeom prst="rect">
            <a:avLst/>
          </a:prstGeom>
        </p:spPr>
      </p:pic>
      <p:pic>
        <p:nvPicPr>
          <p:cNvPr id="4" name="object 4" descr=""/>
          <p:cNvPicPr/>
          <p:nvPr/>
        </p:nvPicPr>
        <p:blipFill>
          <a:blip r:embed="rId3" cstate="print"/>
          <a:stretch>
            <a:fillRect/>
          </a:stretch>
        </p:blipFill>
        <p:spPr>
          <a:xfrm>
            <a:off x="3529367" y="6923"/>
            <a:ext cx="4226299" cy="303399"/>
          </a:xfrm>
          <a:prstGeom prst="rect">
            <a:avLst/>
          </a:prstGeom>
        </p:spPr>
      </p:pic>
      <p:pic>
        <p:nvPicPr>
          <p:cNvPr id="5" name="object 5" descr=""/>
          <p:cNvPicPr/>
          <p:nvPr/>
        </p:nvPicPr>
        <p:blipFill>
          <a:blip r:embed="rId4" cstate="print"/>
          <a:stretch>
            <a:fillRect/>
          </a:stretch>
        </p:blipFill>
        <p:spPr>
          <a:xfrm>
            <a:off x="6496517" y="1390507"/>
            <a:ext cx="2299738" cy="860872"/>
          </a:xfrm>
          <a:prstGeom prst="rect">
            <a:avLst/>
          </a:prstGeom>
        </p:spPr>
      </p:pic>
      <p:sp>
        <p:nvSpPr>
          <p:cNvPr id="6" name="object 6" descr=""/>
          <p:cNvSpPr/>
          <p:nvPr/>
        </p:nvSpPr>
        <p:spPr>
          <a:xfrm>
            <a:off x="4072601" y="5885396"/>
            <a:ext cx="14604" cy="24130"/>
          </a:xfrm>
          <a:custGeom>
            <a:avLst/>
            <a:gdLst/>
            <a:ahLst/>
            <a:cxnLst/>
            <a:rect l="l" t="t" r="r" b="b"/>
            <a:pathLst>
              <a:path w="14604" h="24129">
                <a:moveTo>
                  <a:pt x="9284" y="0"/>
                </a:moveTo>
                <a:lnTo>
                  <a:pt x="7444" y="954"/>
                </a:lnTo>
                <a:lnTo>
                  <a:pt x="0" y="18872"/>
                </a:lnTo>
                <a:lnTo>
                  <a:pt x="1234" y="21863"/>
                </a:lnTo>
                <a:lnTo>
                  <a:pt x="6449" y="24030"/>
                </a:lnTo>
                <a:lnTo>
                  <a:pt x="9440" y="22794"/>
                </a:lnTo>
                <a:lnTo>
                  <a:pt x="10638" y="19913"/>
                </a:lnTo>
                <a:lnTo>
                  <a:pt x="10792" y="19338"/>
                </a:lnTo>
                <a:lnTo>
                  <a:pt x="14455" y="2906"/>
                </a:lnTo>
                <a:lnTo>
                  <a:pt x="13157" y="863"/>
                </a:lnTo>
                <a:lnTo>
                  <a:pt x="9284" y="0"/>
                </a:lnTo>
                <a:close/>
              </a:path>
            </a:pathLst>
          </a:custGeom>
          <a:solidFill>
            <a:srgbClr val="000000"/>
          </a:solidFill>
        </p:spPr>
        <p:txBody>
          <a:bodyPr wrap="square" lIns="0" tIns="0" rIns="0" bIns="0" rtlCol="0"/>
          <a:lstStyle/>
          <a:p/>
        </p:txBody>
      </p:sp>
      <p:pic>
        <p:nvPicPr>
          <p:cNvPr id="7" name="object 7" descr=""/>
          <p:cNvPicPr/>
          <p:nvPr/>
        </p:nvPicPr>
        <p:blipFill>
          <a:blip r:embed="rId5" cstate="print"/>
          <a:stretch>
            <a:fillRect/>
          </a:stretch>
        </p:blipFill>
        <p:spPr>
          <a:xfrm>
            <a:off x="4217244" y="5536491"/>
            <a:ext cx="2158522" cy="326188"/>
          </a:xfrm>
          <a:prstGeom prst="rect">
            <a:avLst/>
          </a:prstGeom>
        </p:spPr>
      </p:pic>
      <p:grpSp>
        <p:nvGrpSpPr>
          <p:cNvPr id="8" name="object 8" descr=""/>
          <p:cNvGrpSpPr/>
          <p:nvPr/>
        </p:nvGrpSpPr>
        <p:grpSpPr>
          <a:xfrm>
            <a:off x="238634" y="5610009"/>
            <a:ext cx="3766185" cy="684530"/>
            <a:chOff x="238634" y="5610009"/>
            <a:chExt cx="3766185" cy="684530"/>
          </a:xfrm>
        </p:grpSpPr>
        <p:pic>
          <p:nvPicPr>
            <p:cNvPr id="9" name="object 9" descr=""/>
            <p:cNvPicPr/>
            <p:nvPr/>
          </p:nvPicPr>
          <p:blipFill>
            <a:blip r:embed="rId6" cstate="print"/>
            <a:stretch>
              <a:fillRect/>
            </a:stretch>
          </p:blipFill>
          <p:spPr>
            <a:xfrm>
              <a:off x="238634" y="5610009"/>
              <a:ext cx="3766183" cy="684124"/>
            </a:xfrm>
            <a:prstGeom prst="rect">
              <a:avLst/>
            </a:prstGeom>
          </p:spPr>
        </p:pic>
        <p:pic>
          <p:nvPicPr>
            <p:cNvPr id="10" name="object 10" descr=""/>
            <p:cNvPicPr/>
            <p:nvPr/>
          </p:nvPicPr>
          <p:blipFill>
            <a:blip r:embed="rId7" cstate="print"/>
            <a:stretch>
              <a:fillRect/>
            </a:stretch>
          </p:blipFill>
          <p:spPr>
            <a:xfrm>
              <a:off x="262451" y="6028998"/>
              <a:ext cx="1055278" cy="240446"/>
            </a:xfrm>
            <a:prstGeom prst="rect">
              <a:avLst/>
            </a:prstGeom>
          </p:spPr>
        </p:pic>
      </p:grpSp>
      <p:pic>
        <p:nvPicPr>
          <p:cNvPr id="11" name="object 11" descr=""/>
          <p:cNvPicPr/>
          <p:nvPr/>
        </p:nvPicPr>
        <p:blipFill>
          <a:blip r:embed="rId8" cstate="print"/>
          <a:stretch>
            <a:fillRect/>
          </a:stretch>
        </p:blipFill>
        <p:spPr>
          <a:xfrm>
            <a:off x="6452835" y="5759305"/>
            <a:ext cx="60218" cy="52593"/>
          </a:xfrm>
          <a:prstGeom prst="rect">
            <a:avLst/>
          </a:prstGeom>
        </p:spPr>
      </p:pic>
      <p:pic>
        <p:nvPicPr>
          <p:cNvPr id="12" name="object 12" descr=""/>
          <p:cNvPicPr/>
          <p:nvPr/>
        </p:nvPicPr>
        <p:blipFill>
          <a:blip r:embed="rId9" cstate="print"/>
          <a:stretch>
            <a:fillRect/>
          </a:stretch>
        </p:blipFill>
        <p:spPr>
          <a:xfrm>
            <a:off x="6580895" y="5549914"/>
            <a:ext cx="2091673" cy="2728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027" y="470344"/>
            <a:ext cx="7129780" cy="574040"/>
          </a:xfrm>
          <a:prstGeom prst="rect"/>
        </p:spPr>
        <p:txBody>
          <a:bodyPr wrap="square" lIns="0" tIns="12700" rIns="0" bIns="0" rtlCol="0" vert="horz">
            <a:spAutoFit/>
          </a:bodyPr>
          <a:lstStyle/>
          <a:p>
            <a:pPr marL="12700">
              <a:lnSpc>
                <a:spcPct val="100000"/>
              </a:lnSpc>
              <a:spcBef>
                <a:spcPts val="100"/>
              </a:spcBef>
            </a:pPr>
            <a:r>
              <a:rPr dirty="0" sz="3600" spc="-10"/>
              <a:t>End-</a:t>
            </a:r>
            <a:r>
              <a:rPr dirty="0" sz="3600" spc="-25"/>
              <a:t>to-</a:t>
            </a:r>
            <a:r>
              <a:rPr dirty="0" sz="3600"/>
              <a:t>end</a:t>
            </a:r>
            <a:r>
              <a:rPr dirty="0" sz="3600" spc="-40"/>
              <a:t> </a:t>
            </a:r>
            <a:r>
              <a:rPr dirty="0" sz="3600"/>
              <a:t>Object</a:t>
            </a:r>
            <a:r>
              <a:rPr dirty="0" sz="3600" spc="-25"/>
              <a:t> </a:t>
            </a:r>
            <a:r>
              <a:rPr dirty="0" sz="3600" spc="-10"/>
              <a:t>Recognition</a:t>
            </a:r>
            <a:endParaRPr sz="3600"/>
          </a:p>
        </p:txBody>
      </p:sp>
      <p:sp>
        <p:nvSpPr>
          <p:cNvPr id="3" name="object 3" descr=""/>
          <p:cNvSpPr txBox="1"/>
          <p:nvPr/>
        </p:nvSpPr>
        <p:spPr>
          <a:xfrm>
            <a:off x="474027" y="4295483"/>
            <a:ext cx="8390255" cy="2060575"/>
          </a:xfrm>
          <a:prstGeom prst="rect">
            <a:avLst/>
          </a:prstGeom>
        </p:spPr>
        <p:txBody>
          <a:bodyPr wrap="square" lIns="0" tIns="176530" rIns="0" bIns="0" rtlCol="0" vert="horz">
            <a:spAutoFit/>
          </a:bodyPr>
          <a:lstStyle/>
          <a:p>
            <a:pPr marL="12700">
              <a:lnSpc>
                <a:spcPct val="100000"/>
              </a:lnSpc>
              <a:spcBef>
                <a:spcPts val="1390"/>
              </a:spcBef>
            </a:pPr>
            <a:r>
              <a:rPr dirty="0" sz="2800" b="1">
                <a:solidFill>
                  <a:srgbClr val="0000FF"/>
                </a:solidFill>
                <a:latin typeface="Calibri"/>
                <a:cs typeface="Calibri"/>
              </a:rPr>
              <a:t>How</a:t>
            </a:r>
            <a:r>
              <a:rPr dirty="0" sz="2800" spc="-70" b="1">
                <a:solidFill>
                  <a:srgbClr val="0000FF"/>
                </a:solidFill>
                <a:latin typeface="Calibri"/>
                <a:cs typeface="Calibri"/>
              </a:rPr>
              <a:t> </a:t>
            </a:r>
            <a:r>
              <a:rPr dirty="0" sz="2800" b="1">
                <a:solidFill>
                  <a:srgbClr val="0000FF"/>
                </a:solidFill>
                <a:latin typeface="Calibri"/>
                <a:cs typeface="Calibri"/>
              </a:rPr>
              <a:t>to</a:t>
            </a:r>
            <a:r>
              <a:rPr dirty="0" sz="2800" spc="-55" b="1">
                <a:solidFill>
                  <a:srgbClr val="0000FF"/>
                </a:solidFill>
                <a:latin typeface="Calibri"/>
                <a:cs typeface="Calibri"/>
              </a:rPr>
              <a:t> </a:t>
            </a:r>
            <a:r>
              <a:rPr dirty="0" sz="2800" b="1">
                <a:solidFill>
                  <a:srgbClr val="0000FF"/>
                </a:solidFill>
                <a:latin typeface="Calibri"/>
                <a:cs typeface="Calibri"/>
              </a:rPr>
              <a:t>use</a:t>
            </a:r>
            <a:r>
              <a:rPr dirty="0" sz="2800" spc="-70" b="1">
                <a:solidFill>
                  <a:srgbClr val="0000FF"/>
                </a:solidFill>
                <a:latin typeface="Calibri"/>
                <a:cs typeface="Calibri"/>
              </a:rPr>
              <a:t> </a:t>
            </a:r>
            <a:r>
              <a:rPr dirty="0" sz="2800" b="1">
                <a:solidFill>
                  <a:srgbClr val="0000FF"/>
                </a:solidFill>
                <a:latin typeface="Calibri"/>
                <a:cs typeface="Calibri"/>
              </a:rPr>
              <a:t>data</a:t>
            </a:r>
            <a:r>
              <a:rPr dirty="0" sz="2800" spc="-50" b="1">
                <a:solidFill>
                  <a:srgbClr val="0000FF"/>
                </a:solidFill>
                <a:latin typeface="Calibri"/>
                <a:cs typeface="Calibri"/>
              </a:rPr>
              <a:t> </a:t>
            </a:r>
            <a:r>
              <a:rPr dirty="0" sz="2800" b="1">
                <a:solidFill>
                  <a:srgbClr val="0000FF"/>
                </a:solidFill>
                <a:latin typeface="Calibri"/>
                <a:cs typeface="Calibri"/>
              </a:rPr>
              <a:t>to</a:t>
            </a:r>
            <a:r>
              <a:rPr dirty="0" sz="2800" spc="-70" b="1">
                <a:solidFill>
                  <a:srgbClr val="0000FF"/>
                </a:solidFill>
                <a:latin typeface="Calibri"/>
                <a:cs typeface="Calibri"/>
              </a:rPr>
              <a:t> </a:t>
            </a:r>
            <a:r>
              <a:rPr dirty="0" sz="2800" b="1">
                <a:solidFill>
                  <a:srgbClr val="C00000"/>
                </a:solidFill>
                <a:latin typeface="Calibri"/>
                <a:cs typeface="Calibri"/>
              </a:rPr>
              <a:t>optimize</a:t>
            </a:r>
            <a:r>
              <a:rPr dirty="0" sz="2800" spc="-55" b="1">
                <a:solidFill>
                  <a:srgbClr val="C00000"/>
                </a:solidFill>
                <a:latin typeface="Calibri"/>
                <a:cs typeface="Calibri"/>
              </a:rPr>
              <a:t> </a:t>
            </a:r>
            <a:r>
              <a:rPr dirty="0" sz="2800" spc="-10" b="1">
                <a:solidFill>
                  <a:srgbClr val="C00000"/>
                </a:solidFill>
                <a:latin typeface="Calibri"/>
                <a:cs typeface="Calibri"/>
              </a:rPr>
              <a:t>features</a:t>
            </a:r>
            <a:r>
              <a:rPr dirty="0" sz="2800" spc="-35" b="1">
                <a:solidFill>
                  <a:srgbClr val="C00000"/>
                </a:solidFill>
                <a:latin typeface="Calibri"/>
                <a:cs typeface="Calibri"/>
              </a:rPr>
              <a:t> </a:t>
            </a:r>
            <a:r>
              <a:rPr dirty="0" sz="2800" b="1">
                <a:solidFill>
                  <a:srgbClr val="0000FF"/>
                </a:solidFill>
                <a:latin typeface="Calibri"/>
                <a:cs typeface="Calibri"/>
              </a:rPr>
              <a:t>for</a:t>
            </a:r>
            <a:r>
              <a:rPr dirty="0" sz="2800" spc="-50" b="1">
                <a:solidFill>
                  <a:srgbClr val="0000FF"/>
                </a:solidFill>
                <a:latin typeface="Calibri"/>
                <a:cs typeface="Calibri"/>
              </a:rPr>
              <a:t> </a:t>
            </a:r>
            <a:r>
              <a:rPr dirty="0" sz="2800" b="1">
                <a:solidFill>
                  <a:srgbClr val="0000FF"/>
                </a:solidFill>
                <a:latin typeface="Calibri"/>
                <a:cs typeface="Calibri"/>
              </a:rPr>
              <a:t>the</a:t>
            </a:r>
            <a:r>
              <a:rPr dirty="0" sz="2800" spc="-55" b="1">
                <a:solidFill>
                  <a:srgbClr val="0000FF"/>
                </a:solidFill>
                <a:latin typeface="Calibri"/>
                <a:cs typeface="Calibri"/>
              </a:rPr>
              <a:t> </a:t>
            </a:r>
            <a:r>
              <a:rPr dirty="0" sz="2800" b="1">
                <a:solidFill>
                  <a:srgbClr val="0000FF"/>
                </a:solidFill>
                <a:latin typeface="Calibri"/>
                <a:cs typeface="Calibri"/>
              </a:rPr>
              <a:t>given</a:t>
            </a:r>
            <a:r>
              <a:rPr dirty="0" sz="2800" spc="-50" b="1">
                <a:solidFill>
                  <a:srgbClr val="0000FF"/>
                </a:solidFill>
                <a:latin typeface="Calibri"/>
                <a:cs typeface="Calibri"/>
              </a:rPr>
              <a:t> </a:t>
            </a:r>
            <a:r>
              <a:rPr dirty="0" sz="2800" spc="-10" b="1">
                <a:solidFill>
                  <a:srgbClr val="0000FF"/>
                </a:solidFill>
                <a:latin typeface="Calibri"/>
                <a:cs typeface="Calibri"/>
              </a:rPr>
              <a:t>task?</a:t>
            </a:r>
            <a:endParaRPr sz="2800">
              <a:latin typeface="Calibri"/>
              <a:cs typeface="Calibri"/>
            </a:endParaRPr>
          </a:p>
          <a:p>
            <a:pPr marL="481330" indent="-457200">
              <a:lnSpc>
                <a:spcPct val="100000"/>
              </a:lnSpc>
              <a:spcBef>
                <a:spcPts val="1290"/>
              </a:spcBef>
              <a:buFont typeface="Arial MT"/>
              <a:buChar char="•"/>
              <a:tabLst>
                <a:tab pos="481330" algn="l"/>
              </a:tabLst>
            </a:pPr>
            <a:r>
              <a:rPr dirty="0" sz="2800">
                <a:latin typeface="Calibri"/>
                <a:cs typeface="Calibri"/>
              </a:rPr>
              <a:t>Everything</a:t>
            </a:r>
            <a:r>
              <a:rPr dirty="0" sz="2800" spc="-130">
                <a:latin typeface="Calibri"/>
                <a:cs typeface="Calibri"/>
              </a:rPr>
              <a:t> </a:t>
            </a:r>
            <a:r>
              <a:rPr dirty="0" sz="2800">
                <a:latin typeface="Calibri"/>
                <a:cs typeface="Calibri"/>
              </a:rPr>
              <a:t>becomes</a:t>
            </a:r>
            <a:r>
              <a:rPr dirty="0" sz="2800" spc="-125">
                <a:latin typeface="Calibri"/>
                <a:cs typeface="Calibri"/>
              </a:rPr>
              <a:t> </a:t>
            </a:r>
            <a:r>
              <a:rPr dirty="0" sz="2800" spc="-10">
                <a:latin typeface="Calibri"/>
                <a:cs typeface="Calibri"/>
              </a:rPr>
              <a:t>adaptive.</a:t>
            </a:r>
            <a:endParaRPr sz="2800">
              <a:latin typeface="Calibri"/>
              <a:cs typeface="Calibri"/>
            </a:endParaRPr>
          </a:p>
          <a:p>
            <a:pPr marL="481330" indent="-457200">
              <a:lnSpc>
                <a:spcPct val="100000"/>
              </a:lnSpc>
              <a:buFont typeface="Arial MT"/>
              <a:buChar char="•"/>
              <a:tabLst>
                <a:tab pos="481330" algn="l"/>
              </a:tabLst>
            </a:pPr>
            <a:r>
              <a:rPr dirty="0" sz="2800">
                <a:latin typeface="Calibri"/>
                <a:cs typeface="Calibri"/>
              </a:rPr>
              <a:t>No</a:t>
            </a:r>
            <a:r>
              <a:rPr dirty="0" sz="2800" spc="-80">
                <a:latin typeface="Calibri"/>
                <a:cs typeface="Calibri"/>
              </a:rPr>
              <a:t> </a:t>
            </a:r>
            <a:r>
              <a:rPr dirty="0" sz="2800">
                <a:latin typeface="Calibri"/>
                <a:cs typeface="Calibri"/>
              </a:rPr>
              <a:t>distinction</a:t>
            </a:r>
            <a:r>
              <a:rPr dirty="0" sz="2800" spc="-45">
                <a:latin typeface="Calibri"/>
                <a:cs typeface="Calibri"/>
              </a:rPr>
              <a:t> </a:t>
            </a:r>
            <a:r>
              <a:rPr dirty="0" sz="2800">
                <a:latin typeface="Calibri"/>
                <a:cs typeface="Calibri"/>
              </a:rPr>
              <a:t>between</a:t>
            </a:r>
            <a:r>
              <a:rPr dirty="0" sz="2800" spc="-95">
                <a:latin typeface="Calibri"/>
                <a:cs typeface="Calibri"/>
              </a:rPr>
              <a:t> </a:t>
            </a:r>
            <a:r>
              <a:rPr dirty="0" sz="2800" spc="-10">
                <a:latin typeface="Calibri"/>
                <a:cs typeface="Calibri"/>
              </a:rPr>
              <a:t>feature</a:t>
            </a:r>
            <a:r>
              <a:rPr dirty="0" sz="2800" spc="-90">
                <a:latin typeface="Calibri"/>
                <a:cs typeface="Calibri"/>
              </a:rPr>
              <a:t> </a:t>
            </a:r>
            <a:r>
              <a:rPr dirty="0" sz="2800" spc="-10">
                <a:latin typeface="Calibri"/>
                <a:cs typeface="Calibri"/>
              </a:rPr>
              <a:t>extractor</a:t>
            </a:r>
            <a:r>
              <a:rPr dirty="0" sz="2800" spc="-95">
                <a:latin typeface="Calibri"/>
                <a:cs typeface="Calibri"/>
              </a:rPr>
              <a:t> </a:t>
            </a:r>
            <a:r>
              <a:rPr dirty="0" sz="2800">
                <a:latin typeface="Calibri"/>
                <a:cs typeface="Calibri"/>
              </a:rPr>
              <a:t>and</a:t>
            </a:r>
            <a:r>
              <a:rPr dirty="0" sz="2800" spc="-85">
                <a:latin typeface="Calibri"/>
                <a:cs typeface="Calibri"/>
              </a:rPr>
              <a:t> </a:t>
            </a:r>
            <a:r>
              <a:rPr dirty="0" sz="2800" spc="-10">
                <a:latin typeface="Calibri"/>
                <a:cs typeface="Calibri"/>
              </a:rPr>
              <a:t>classifier.</a:t>
            </a:r>
            <a:endParaRPr sz="2800">
              <a:latin typeface="Calibri"/>
              <a:cs typeface="Calibri"/>
            </a:endParaRPr>
          </a:p>
          <a:p>
            <a:pPr marL="481330" indent="-457200">
              <a:lnSpc>
                <a:spcPct val="100000"/>
              </a:lnSpc>
              <a:buFont typeface="Arial MT"/>
              <a:buChar char="•"/>
              <a:tabLst>
                <a:tab pos="481330" algn="l"/>
              </a:tabLst>
            </a:pPr>
            <a:r>
              <a:rPr dirty="0" sz="2800">
                <a:latin typeface="Calibri"/>
                <a:cs typeface="Calibri"/>
              </a:rPr>
              <a:t>Big</a:t>
            </a:r>
            <a:r>
              <a:rPr dirty="0" sz="2800" spc="-85">
                <a:latin typeface="Calibri"/>
                <a:cs typeface="Calibri"/>
              </a:rPr>
              <a:t> </a:t>
            </a:r>
            <a:r>
              <a:rPr dirty="0" sz="2800" spc="-25">
                <a:latin typeface="Calibri"/>
                <a:cs typeface="Calibri"/>
              </a:rPr>
              <a:t>non-</a:t>
            </a:r>
            <a:r>
              <a:rPr dirty="0" sz="2800">
                <a:latin typeface="Calibri"/>
                <a:cs typeface="Calibri"/>
              </a:rPr>
              <a:t>linear</a:t>
            </a:r>
            <a:r>
              <a:rPr dirty="0" sz="2800" spc="-55">
                <a:latin typeface="Calibri"/>
                <a:cs typeface="Calibri"/>
              </a:rPr>
              <a:t> </a:t>
            </a:r>
            <a:r>
              <a:rPr dirty="0" sz="2800" spc="-10">
                <a:latin typeface="Calibri"/>
                <a:cs typeface="Calibri"/>
              </a:rPr>
              <a:t>system</a:t>
            </a:r>
            <a:r>
              <a:rPr dirty="0" sz="2800" spc="-75">
                <a:latin typeface="Calibri"/>
                <a:cs typeface="Calibri"/>
              </a:rPr>
              <a:t> </a:t>
            </a:r>
            <a:r>
              <a:rPr dirty="0" sz="2800">
                <a:latin typeface="Calibri"/>
                <a:cs typeface="Calibri"/>
              </a:rPr>
              <a:t>trained</a:t>
            </a:r>
            <a:r>
              <a:rPr dirty="0" sz="2800" spc="-65">
                <a:latin typeface="Calibri"/>
                <a:cs typeface="Calibri"/>
              </a:rPr>
              <a:t> </a:t>
            </a:r>
            <a:r>
              <a:rPr dirty="0" sz="2800">
                <a:latin typeface="Calibri"/>
                <a:cs typeface="Calibri"/>
              </a:rPr>
              <a:t>from</a:t>
            </a:r>
            <a:r>
              <a:rPr dirty="0" sz="2800" spc="-80">
                <a:latin typeface="Calibri"/>
                <a:cs typeface="Calibri"/>
              </a:rPr>
              <a:t> </a:t>
            </a:r>
            <a:r>
              <a:rPr dirty="0" sz="2800">
                <a:latin typeface="Calibri"/>
                <a:cs typeface="Calibri"/>
              </a:rPr>
              <a:t>raw</a:t>
            </a:r>
            <a:r>
              <a:rPr dirty="0" sz="2800" spc="-75">
                <a:latin typeface="Calibri"/>
                <a:cs typeface="Calibri"/>
              </a:rPr>
              <a:t> </a:t>
            </a:r>
            <a:r>
              <a:rPr dirty="0" sz="2800">
                <a:latin typeface="Calibri"/>
                <a:cs typeface="Calibri"/>
              </a:rPr>
              <a:t>pixels</a:t>
            </a:r>
            <a:r>
              <a:rPr dirty="0" sz="2800" spc="-65">
                <a:latin typeface="Calibri"/>
                <a:cs typeface="Calibri"/>
              </a:rPr>
              <a:t> </a:t>
            </a:r>
            <a:r>
              <a:rPr dirty="0" sz="2800">
                <a:latin typeface="Calibri"/>
                <a:cs typeface="Calibri"/>
              </a:rPr>
              <a:t>to</a:t>
            </a:r>
            <a:r>
              <a:rPr dirty="0" sz="2800" spc="-90">
                <a:latin typeface="Calibri"/>
                <a:cs typeface="Calibri"/>
              </a:rPr>
              <a:t> </a:t>
            </a:r>
            <a:r>
              <a:rPr dirty="0" sz="2800" spc="-10">
                <a:latin typeface="Calibri"/>
                <a:cs typeface="Calibri"/>
              </a:rPr>
              <a:t>labels</a:t>
            </a:r>
            <a:endParaRPr sz="2800">
              <a:latin typeface="Calibri"/>
              <a:cs typeface="Calibri"/>
            </a:endParaRPr>
          </a:p>
        </p:txBody>
      </p:sp>
      <p:pic>
        <p:nvPicPr>
          <p:cNvPr id="4" name="object 4" descr=""/>
          <p:cNvPicPr/>
          <p:nvPr/>
        </p:nvPicPr>
        <p:blipFill>
          <a:blip r:embed="rId2" cstate="print"/>
          <a:stretch>
            <a:fillRect/>
          </a:stretch>
        </p:blipFill>
        <p:spPr>
          <a:xfrm>
            <a:off x="1141488" y="2442972"/>
            <a:ext cx="1275575" cy="1257300"/>
          </a:xfrm>
          <a:prstGeom prst="rect">
            <a:avLst/>
          </a:prstGeom>
        </p:spPr>
      </p:pic>
      <p:sp>
        <p:nvSpPr>
          <p:cNvPr id="5" name="object 5" descr=""/>
          <p:cNvSpPr txBox="1"/>
          <p:nvPr/>
        </p:nvSpPr>
        <p:spPr>
          <a:xfrm>
            <a:off x="3195066" y="2615945"/>
            <a:ext cx="1655445" cy="914400"/>
          </a:xfrm>
          <a:prstGeom prst="rect">
            <a:avLst/>
          </a:prstGeom>
          <a:solidFill>
            <a:srgbClr val="FFFF00">
              <a:alpha val="25099"/>
            </a:srgbClr>
          </a:solidFill>
          <a:ln w="25400">
            <a:solidFill>
              <a:srgbClr val="385D8A"/>
            </a:solidFill>
          </a:ln>
        </p:spPr>
        <p:txBody>
          <a:bodyPr wrap="square" lIns="0" tIns="69850" rIns="0" bIns="0" rtlCol="0" vert="horz">
            <a:spAutoFit/>
          </a:bodyPr>
          <a:lstStyle/>
          <a:p>
            <a:pPr marL="250825" marR="245110" indent="92710">
              <a:lnSpc>
                <a:spcPct val="100000"/>
              </a:lnSpc>
              <a:spcBef>
                <a:spcPts val="550"/>
              </a:spcBef>
            </a:pPr>
            <a:r>
              <a:rPr dirty="0" sz="2400" spc="-10" b="1">
                <a:solidFill>
                  <a:srgbClr val="FF0000"/>
                </a:solidFill>
                <a:latin typeface="Calibri"/>
                <a:cs typeface="Calibri"/>
              </a:rPr>
              <a:t>Feature </a:t>
            </a:r>
            <a:r>
              <a:rPr dirty="0" sz="2400" spc="-20" b="1">
                <a:solidFill>
                  <a:srgbClr val="FF0000"/>
                </a:solidFill>
                <a:latin typeface="Calibri"/>
                <a:cs typeface="Calibri"/>
              </a:rPr>
              <a:t>extractor</a:t>
            </a:r>
            <a:endParaRPr sz="2400">
              <a:latin typeface="Calibri"/>
              <a:cs typeface="Calibri"/>
            </a:endParaRPr>
          </a:p>
        </p:txBody>
      </p:sp>
      <p:sp>
        <p:nvSpPr>
          <p:cNvPr id="6" name="object 6" descr=""/>
          <p:cNvSpPr txBox="1"/>
          <p:nvPr/>
        </p:nvSpPr>
        <p:spPr>
          <a:xfrm>
            <a:off x="5653278" y="2615945"/>
            <a:ext cx="1689100" cy="914400"/>
          </a:xfrm>
          <a:prstGeom prst="rect">
            <a:avLst/>
          </a:prstGeom>
          <a:solidFill>
            <a:srgbClr val="FFFF00">
              <a:alpha val="25099"/>
            </a:srgbClr>
          </a:solidFill>
          <a:ln w="25400">
            <a:solidFill>
              <a:srgbClr val="385D8A"/>
            </a:solidFill>
          </a:ln>
        </p:spPr>
        <p:txBody>
          <a:bodyPr wrap="square" lIns="0" tIns="219075" rIns="0" bIns="0" rtlCol="0" vert="horz">
            <a:spAutoFit/>
          </a:bodyPr>
          <a:lstStyle/>
          <a:p>
            <a:pPr marL="200025">
              <a:lnSpc>
                <a:spcPct val="100000"/>
              </a:lnSpc>
              <a:spcBef>
                <a:spcPts val="1725"/>
              </a:spcBef>
            </a:pPr>
            <a:r>
              <a:rPr dirty="0" sz="2800" spc="-10" b="1">
                <a:solidFill>
                  <a:srgbClr val="FFFFFF"/>
                </a:solidFill>
                <a:latin typeface="Calibri"/>
                <a:cs typeface="Calibri"/>
              </a:rPr>
              <a:t>classifier</a:t>
            </a:r>
            <a:endParaRPr sz="2800">
              <a:latin typeface="Calibri"/>
              <a:cs typeface="Calibri"/>
            </a:endParaRPr>
          </a:p>
        </p:txBody>
      </p:sp>
      <p:grpSp>
        <p:nvGrpSpPr>
          <p:cNvPr id="7" name="object 7" descr=""/>
          <p:cNvGrpSpPr/>
          <p:nvPr/>
        </p:nvGrpSpPr>
        <p:grpSpPr>
          <a:xfrm>
            <a:off x="6420523" y="1757235"/>
            <a:ext cx="157480" cy="842010"/>
            <a:chOff x="6420523" y="1757235"/>
            <a:chExt cx="157480" cy="842010"/>
          </a:xfrm>
        </p:grpSpPr>
        <p:sp>
          <p:nvSpPr>
            <p:cNvPr id="8" name="object 8" descr=""/>
            <p:cNvSpPr/>
            <p:nvPr/>
          </p:nvSpPr>
          <p:spPr>
            <a:xfrm>
              <a:off x="6499098" y="1774698"/>
              <a:ext cx="0" cy="807085"/>
            </a:xfrm>
            <a:custGeom>
              <a:avLst/>
              <a:gdLst/>
              <a:ahLst/>
              <a:cxnLst/>
              <a:rect l="l" t="t" r="r" b="b"/>
              <a:pathLst>
                <a:path w="0" h="807085">
                  <a:moveTo>
                    <a:pt x="0" y="0"/>
                  </a:moveTo>
                  <a:lnTo>
                    <a:pt x="0" y="806792"/>
                  </a:lnTo>
                </a:path>
              </a:pathLst>
            </a:custGeom>
            <a:ln w="34925">
              <a:solidFill>
                <a:srgbClr val="4A7EBB"/>
              </a:solidFill>
            </a:ln>
          </p:spPr>
          <p:txBody>
            <a:bodyPr wrap="square" lIns="0" tIns="0" rIns="0" bIns="0" rtlCol="0"/>
            <a:lstStyle/>
            <a:p/>
          </p:txBody>
        </p:sp>
        <p:sp>
          <p:nvSpPr>
            <p:cNvPr id="9" name="object 9" descr=""/>
            <p:cNvSpPr/>
            <p:nvPr/>
          </p:nvSpPr>
          <p:spPr>
            <a:xfrm>
              <a:off x="6437985" y="2476724"/>
              <a:ext cx="122555" cy="104775"/>
            </a:xfrm>
            <a:custGeom>
              <a:avLst/>
              <a:gdLst/>
              <a:ahLst/>
              <a:cxnLst/>
              <a:rect l="l" t="t" r="r" b="b"/>
              <a:pathLst>
                <a:path w="122554" h="104775">
                  <a:moveTo>
                    <a:pt x="122237" y="0"/>
                  </a:moveTo>
                  <a:lnTo>
                    <a:pt x="61112" y="104775"/>
                  </a:lnTo>
                  <a:lnTo>
                    <a:pt x="0" y="0"/>
                  </a:lnTo>
                </a:path>
              </a:pathLst>
            </a:custGeom>
            <a:ln w="34925">
              <a:solidFill>
                <a:srgbClr val="4A7EBB"/>
              </a:solidFill>
            </a:ln>
          </p:spPr>
          <p:txBody>
            <a:bodyPr wrap="square" lIns="0" tIns="0" rIns="0" bIns="0" rtlCol="0"/>
            <a:lstStyle/>
            <a:p/>
          </p:txBody>
        </p:sp>
      </p:grpSp>
      <p:sp>
        <p:nvSpPr>
          <p:cNvPr id="10" name="object 10" descr=""/>
          <p:cNvSpPr txBox="1"/>
          <p:nvPr/>
        </p:nvSpPr>
        <p:spPr>
          <a:xfrm>
            <a:off x="6109975" y="1298078"/>
            <a:ext cx="872490" cy="513715"/>
          </a:xfrm>
          <a:prstGeom prst="rect">
            <a:avLst/>
          </a:prstGeom>
        </p:spPr>
        <p:txBody>
          <a:bodyPr wrap="square" lIns="0" tIns="13335" rIns="0" bIns="0" rtlCol="0" vert="horz">
            <a:spAutoFit/>
          </a:bodyPr>
          <a:lstStyle/>
          <a:p>
            <a:pPr marL="12700">
              <a:lnSpc>
                <a:spcPct val="100000"/>
              </a:lnSpc>
              <a:spcBef>
                <a:spcPts val="105"/>
              </a:spcBef>
            </a:pPr>
            <a:r>
              <a:rPr dirty="0" sz="3200" spc="-10">
                <a:latin typeface="Calibri"/>
                <a:cs typeface="Calibri"/>
              </a:rPr>
              <a:t>“car”</a:t>
            </a:r>
            <a:endParaRPr sz="3200">
              <a:latin typeface="Calibri"/>
              <a:cs typeface="Calibri"/>
            </a:endParaRPr>
          </a:p>
        </p:txBody>
      </p:sp>
      <p:grpSp>
        <p:nvGrpSpPr>
          <p:cNvPr id="11" name="object 11" descr=""/>
          <p:cNvGrpSpPr/>
          <p:nvPr/>
        </p:nvGrpSpPr>
        <p:grpSpPr>
          <a:xfrm>
            <a:off x="2417826" y="2014982"/>
            <a:ext cx="5523865" cy="2075180"/>
            <a:chOff x="2417826" y="2014982"/>
            <a:chExt cx="5523865" cy="2075180"/>
          </a:xfrm>
        </p:grpSpPr>
        <p:sp>
          <p:nvSpPr>
            <p:cNvPr id="12" name="object 12" descr=""/>
            <p:cNvSpPr/>
            <p:nvPr/>
          </p:nvSpPr>
          <p:spPr>
            <a:xfrm>
              <a:off x="2417826" y="3073146"/>
              <a:ext cx="744855" cy="0"/>
            </a:xfrm>
            <a:custGeom>
              <a:avLst/>
              <a:gdLst/>
              <a:ahLst/>
              <a:cxnLst/>
              <a:rect l="l" t="t" r="r" b="b"/>
              <a:pathLst>
                <a:path w="744855" h="0">
                  <a:moveTo>
                    <a:pt x="0" y="0"/>
                  </a:moveTo>
                  <a:lnTo>
                    <a:pt x="744855" y="0"/>
                  </a:lnTo>
                </a:path>
              </a:pathLst>
            </a:custGeom>
            <a:ln w="31750">
              <a:solidFill>
                <a:srgbClr val="4A7EBB"/>
              </a:solidFill>
            </a:ln>
          </p:spPr>
          <p:txBody>
            <a:bodyPr wrap="square" lIns="0" tIns="0" rIns="0" bIns="0" rtlCol="0"/>
            <a:lstStyle/>
            <a:p/>
          </p:txBody>
        </p:sp>
        <p:sp>
          <p:nvSpPr>
            <p:cNvPr id="13" name="object 13" descr=""/>
            <p:cNvSpPr/>
            <p:nvPr/>
          </p:nvSpPr>
          <p:spPr>
            <a:xfrm>
              <a:off x="3067433" y="3017578"/>
              <a:ext cx="95250" cy="111125"/>
            </a:xfrm>
            <a:custGeom>
              <a:avLst/>
              <a:gdLst/>
              <a:ahLst/>
              <a:cxnLst/>
              <a:rect l="l" t="t" r="r" b="b"/>
              <a:pathLst>
                <a:path w="95250" h="111125">
                  <a:moveTo>
                    <a:pt x="0" y="0"/>
                  </a:moveTo>
                  <a:lnTo>
                    <a:pt x="95250" y="55562"/>
                  </a:lnTo>
                  <a:lnTo>
                    <a:pt x="0" y="111125"/>
                  </a:lnTo>
                </a:path>
              </a:pathLst>
            </a:custGeom>
            <a:ln w="31750">
              <a:solidFill>
                <a:srgbClr val="4A7EBB"/>
              </a:solidFill>
            </a:ln>
          </p:spPr>
          <p:txBody>
            <a:bodyPr wrap="square" lIns="0" tIns="0" rIns="0" bIns="0" rtlCol="0"/>
            <a:lstStyle/>
            <a:p/>
          </p:txBody>
        </p:sp>
        <p:sp>
          <p:nvSpPr>
            <p:cNvPr id="14" name="object 14" descr=""/>
            <p:cNvSpPr/>
            <p:nvPr/>
          </p:nvSpPr>
          <p:spPr>
            <a:xfrm>
              <a:off x="4850130" y="3073146"/>
              <a:ext cx="744855" cy="0"/>
            </a:xfrm>
            <a:custGeom>
              <a:avLst/>
              <a:gdLst/>
              <a:ahLst/>
              <a:cxnLst/>
              <a:rect l="l" t="t" r="r" b="b"/>
              <a:pathLst>
                <a:path w="744854" h="0">
                  <a:moveTo>
                    <a:pt x="0" y="0"/>
                  </a:moveTo>
                  <a:lnTo>
                    <a:pt x="744855" y="0"/>
                  </a:lnTo>
                </a:path>
              </a:pathLst>
            </a:custGeom>
            <a:ln w="31750">
              <a:solidFill>
                <a:srgbClr val="4A7EBB"/>
              </a:solidFill>
            </a:ln>
          </p:spPr>
          <p:txBody>
            <a:bodyPr wrap="square" lIns="0" tIns="0" rIns="0" bIns="0" rtlCol="0"/>
            <a:lstStyle/>
            <a:p/>
          </p:txBody>
        </p:sp>
        <p:sp>
          <p:nvSpPr>
            <p:cNvPr id="15" name="object 15" descr=""/>
            <p:cNvSpPr/>
            <p:nvPr/>
          </p:nvSpPr>
          <p:spPr>
            <a:xfrm>
              <a:off x="5499737" y="3017578"/>
              <a:ext cx="95250" cy="111125"/>
            </a:xfrm>
            <a:custGeom>
              <a:avLst/>
              <a:gdLst/>
              <a:ahLst/>
              <a:cxnLst/>
              <a:rect l="l" t="t" r="r" b="b"/>
              <a:pathLst>
                <a:path w="95250" h="111125">
                  <a:moveTo>
                    <a:pt x="0" y="0"/>
                  </a:moveTo>
                  <a:lnTo>
                    <a:pt x="95250" y="55562"/>
                  </a:lnTo>
                  <a:lnTo>
                    <a:pt x="0" y="111125"/>
                  </a:lnTo>
                </a:path>
              </a:pathLst>
            </a:custGeom>
            <a:ln w="31750">
              <a:solidFill>
                <a:srgbClr val="4A7EBB"/>
              </a:solidFill>
            </a:ln>
          </p:spPr>
          <p:txBody>
            <a:bodyPr wrap="square" lIns="0" tIns="0" rIns="0" bIns="0" rtlCol="0"/>
            <a:lstStyle/>
            <a:p/>
          </p:txBody>
        </p:sp>
        <p:sp>
          <p:nvSpPr>
            <p:cNvPr id="16" name="object 16" descr=""/>
            <p:cNvSpPr/>
            <p:nvPr/>
          </p:nvSpPr>
          <p:spPr>
            <a:xfrm>
              <a:off x="2817114" y="2027682"/>
              <a:ext cx="5111750" cy="2049780"/>
            </a:xfrm>
            <a:custGeom>
              <a:avLst/>
              <a:gdLst/>
              <a:ahLst/>
              <a:cxnLst/>
              <a:rect l="l" t="t" r="r" b="b"/>
              <a:pathLst>
                <a:path w="5111750" h="2049779">
                  <a:moveTo>
                    <a:pt x="5111495" y="0"/>
                  </a:moveTo>
                  <a:lnTo>
                    <a:pt x="0" y="0"/>
                  </a:lnTo>
                  <a:lnTo>
                    <a:pt x="0" y="2049780"/>
                  </a:lnTo>
                  <a:lnTo>
                    <a:pt x="5111495" y="2049780"/>
                  </a:lnTo>
                  <a:lnTo>
                    <a:pt x="5111495" y="0"/>
                  </a:lnTo>
                  <a:close/>
                </a:path>
              </a:pathLst>
            </a:custGeom>
            <a:solidFill>
              <a:srgbClr val="FFFF00">
                <a:alpha val="25099"/>
              </a:srgbClr>
            </a:solidFill>
          </p:spPr>
          <p:txBody>
            <a:bodyPr wrap="square" lIns="0" tIns="0" rIns="0" bIns="0" rtlCol="0"/>
            <a:lstStyle/>
            <a:p/>
          </p:txBody>
        </p:sp>
        <p:sp>
          <p:nvSpPr>
            <p:cNvPr id="17" name="object 17" descr=""/>
            <p:cNvSpPr/>
            <p:nvPr/>
          </p:nvSpPr>
          <p:spPr>
            <a:xfrm>
              <a:off x="2817114" y="2027682"/>
              <a:ext cx="5111750" cy="2049780"/>
            </a:xfrm>
            <a:custGeom>
              <a:avLst/>
              <a:gdLst/>
              <a:ahLst/>
              <a:cxnLst/>
              <a:rect l="l" t="t" r="r" b="b"/>
              <a:pathLst>
                <a:path w="5111750" h="2049779">
                  <a:moveTo>
                    <a:pt x="0" y="2049780"/>
                  </a:moveTo>
                  <a:lnTo>
                    <a:pt x="5111495" y="2049780"/>
                  </a:lnTo>
                  <a:lnTo>
                    <a:pt x="5111495" y="0"/>
                  </a:lnTo>
                  <a:lnTo>
                    <a:pt x="0" y="0"/>
                  </a:lnTo>
                  <a:lnTo>
                    <a:pt x="0" y="2049780"/>
                  </a:lnTo>
                  <a:close/>
                </a:path>
              </a:pathLst>
            </a:custGeom>
            <a:ln w="25399">
              <a:solidFill>
                <a:srgbClr val="385D8A"/>
              </a:solidFill>
            </a:ln>
          </p:spPr>
          <p:txBody>
            <a:bodyPr wrap="square" lIns="0" tIns="0" rIns="0" bIns="0" rtlCol="0"/>
            <a:lstStyle/>
            <a:p/>
          </p:txBody>
        </p:sp>
      </p:grpSp>
      <p:pic>
        <p:nvPicPr>
          <p:cNvPr id="18" name="object 18" descr=""/>
          <p:cNvPicPr/>
          <p:nvPr/>
        </p:nvPicPr>
        <p:blipFill>
          <a:blip r:embed="rId3" cstate="print"/>
          <a:stretch>
            <a:fillRect/>
          </a:stretch>
        </p:blipFill>
        <p:spPr>
          <a:xfrm>
            <a:off x="1847899" y="4258548"/>
            <a:ext cx="3679979" cy="342399"/>
          </a:xfrm>
          <a:prstGeom prst="rect">
            <a:avLst/>
          </a:prstGeom>
        </p:spPr>
      </p:pic>
      <p:pic>
        <p:nvPicPr>
          <p:cNvPr id="19" name="object 19" descr=""/>
          <p:cNvPicPr/>
          <p:nvPr/>
        </p:nvPicPr>
        <p:blipFill>
          <a:blip r:embed="rId4" cstate="print"/>
          <a:stretch>
            <a:fillRect/>
          </a:stretch>
        </p:blipFill>
        <p:spPr>
          <a:xfrm>
            <a:off x="5465342" y="5109895"/>
            <a:ext cx="1770459" cy="354888"/>
          </a:xfrm>
          <a:prstGeom prst="rect">
            <a:avLst/>
          </a:prstGeom>
        </p:spPr>
      </p:pic>
      <p:pic>
        <p:nvPicPr>
          <p:cNvPr id="20" name="object 20" descr=""/>
          <p:cNvPicPr/>
          <p:nvPr/>
        </p:nvPicPr>
        <p:blipFill>
          <a:blip r:embed="rId5" cstate="print"/>
          <a:stretch>
            <a:fillRect/>
          </a:stretch>
        </p:blipFill>
        <p:spPr>
          <a:xfrm>
            <a:off x="7704195" y="4878660"/>
            <a:ext cx="1257649" cy="582597"/>
          </a:xfrm>
          <a:prstGeom prst="rect">
            <a:avLst/>
          </a:prstGeom>
        </p:spPr>
      </p:pic>
      <p:pic>
        <p:nvPicPr>
          <p:cNvPr id="21" name="object 21" descr=""/>
          <p:cNvPicPr/>
          <p:nvPr/>
        </p:nvPicPr>
        <p:blipFill>
          <a:blip r:embed="rId6" cstate="print"/>
          <a:stretch>
            <a:fillRect/>
          </a:stretch>
        </p:blipFill>
        <p:spPr>
          <a:xfrm>
            <a:off x="2702918" y="6284005"/>
            <a:ext cx="3957782" cy="372830"/>
          </a:xfrm>
          <a:prstGeom prst="rect">
            <a:avLst/>
          </a:prstGeom>
        </p:spPr>
      </p:pic>
      <p:sp>
        <p:nvSpPr>
          <p:cNvPr id="22" name="object 22"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r>
              <a:rPr dirty="0" spc="-50"/>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999744" y="1814702"/>
            <a:ext cx="6601204" cy="2105025"/>
          </a:xfrm>
          <a:prstGeom prst="rect">
            <a:avLst/>
          </a:prstGeom>
        </p:spPr>
      </p:pic>
      <p:sp>
        <p:nvSpPr>
          <p:cNvPr id="3" name="object 3" descr=""/>
          <p:cNvSpPr txBox="1"/>
          <p:nvPr/>
        </p:nvSpPr>
        <p:spPr>
          <a:xfrm>
            <a:off x="474276" y="4418774"/>
            <a:ext cx="7775575" cy="1976755"/>
          </a:xfrm>
          <a:prstGeom prst="rect">
            <a:avLst/>
          </a:prstGeom>
        </p:spPr>
        <p:txBody>
          <a:bodyPr wrap="square" lIns="0" tIns="12700" rIns="0" bIns="0" rtlCol="0" vert="horz">
            <a:spAutoFit/>
          </a:bodyPr>
          <a:lstStyle/>
          <a:p>
            <a:pPr marL="12700" marR="320040">
              <a:lnSpc>
                <a:spcPct val="100000"/>
              </a:lnSpc>
              <a:spcBef>
                <a:spcPts val="100"/>
              </a:spcBef>
            </a:pPr>
            <a:r>
              <a:rPr dirty="0" sz="3200" b="1">
                <a:solidFill>
                  <a:srgbClr val="FF0000"/>
                </a:solidFill>
                <a:latin typeface="Calibri"/>
                <a:cs typeface="Calibri"/>
              </a:rPr>
              <a:t>Q:</a:t>
            </a:r>
            <a:r>
              <a:rPr dirty="0" sz="3200" spc="-40" b="1">
                <a:solidFill>
                  <a:srgbClr val="FF0000"/>
                </a:solidFill>
                <a:latin typeface="Calibri"/>
                <a:cs typeface="Calibri"/>
              </a:rPr>
              <a:t> </a:t>
            </a:r>
            <a:r>
              <a:rPr dirty="0" sz="3200">
                <a:latin typeface="Calibri"/>
                <a:cs typeface="Calibri"/>
              </a:rPr>
              <a:t>How</a:t>
            </a:r>
            <a:r>
              <a:rPr dirty="0" sz="3200" spc="-50">
                <a:latin typeface="Calibri"/>
                <a:cs typeface="Calibri"/>
              </a:rPr>
              <a:t> </a:t>
            </a:r>
            <a:r>
              <a:rPr dirty="0" sz="3200">
                <a:latin typeface="Calibri"/>
                <a:cs typeface="Calibri"/>
              </a:rPr>
              <a:t>can</a:t>
            </a:r>
            <a:r>
              <a:rPr dirty="0" sz="3200" spc="-60">
                <a:latin typeface="Calibri"/>
                <a:cs typeface="Calibri"/>
              </a:rPr>
              <a:t> </a:t>
            </a:r>
            <a:r>
              <a:rPr dirty="0" sz="3200">
                <a:latin typeface="Calibri"/>
                <a:cs typeface="Calibri"/>
              </a:rPr>
              <a:t>we</a:t>
            </a:r>
            <a:r>
              <a:rPr dirty="0" sz="3200" spc="-60">
                <a:latin typeface="Calibri"/>
                <a:cs typeface="Calibri"/>
              </a:rPr>
              <a:t> </a:t>
            </a:r>
            <a:r>
              <a:rPr dirty="0" sz="3200">
                <a:latin typeface="Calibri"/>
                <a:cs typeface="Calibri"/>
              </a:rPr>
              <a:t>build</a:t>
            </a:r>
            <a:r>
              <a:rPr dirty="0" sz="3200" spc="-10">
                <a:latin typeface="Calibri"/>
                <a:cs typeface="Calibri"/>
              </a:rPr>
              <a:t> </a:t>
            </a:r>
            <a:r>
              <a:rPr dirty="0" sz="3200">
                <a:latin typeface="Calibri"/>
                <a:cs typeface="Calibri"/>
              </a:rPr>
              <a:t>such</a:t>
            </a:r>
            <a:r>
              <a:rPr dirty="0" sz="3200" spc="-40">
                <a:latin typeface="Calibri"/>
                <a:cs typeface="Calibri"/>
              </a:rPr>
              <a:t> </a:t>
            </a:r>
            <a:r>
              <a:rPr dirty="0" sz="3200">
                <a:latin typeface="Calibri"/>
                <a:cs typeface="Calibri"/>
              </a:rPr>
              <a:t>a</a:t>
            </a:r>
            <a:r>
              <a:rPr dirty="0" sz="3200" spc="-40">
                <a:latin typeface="Calibri"/>
                <a:cs typeface="Calibri"/>
              </a:rPr>
              <a:t> </a:t>
            </a:r>
            <a:r>
              <a:rPr dirty="0" sz="3200">
                <a:latin typeface="Calibri"/>
                <a:cs typeface="Calibri"/>
              </a:rPr>
              <a:t>highly</a:t>
            </a:r>
            <a:r>
              <a:rPr dirty="0" sz="3200" spc="-30">
                <a:latin typeface="Calibri"/>
                <a:cs typeface="Calibri"/>
              </a:rPr>
              <a:t> </a:t>
            </a:r>
            <a:r>
              <a:rPr dirty="0" sz="3200" spc="-20">
                <a:latin typeface="Calibri"/>
                <a:cs typeface="Calibri"/>
              </a:rPr>
              <a:t>non-</a:t>
            </a:r>
            <a:r>
              <a:rPr dirty="0" sz="3200" spc="-10">
                <a:latin typeface="Calibri"/>
                <a:cs typeface="Calibri"/>
              </a:rPr>
              <a:t>linear system?</a:t>
            </a:r>
            <a:endParaRPr sz="3200">
              <a:latin typeface="Calibri"/>
              <a:cs typeface="Calibri"/>
            </a:endParaRPr>
          </a:p>
          <a:p>
            <a:pPr marL="12700" marR="5080">
              <a:lnSpc>
                <a:spcPts val="3840"/>
              </a:lnSpc>
              <a:spcBef>
                <a:spcPts val="100"/>
              </a:spcBef>
            </a:pPr>
            <a:r>
              <a:rPr dirty="0" sz="3200" b="1">
                <a:solidFill>
                  <a:srgbClr val="FF0000"/>
                </a:solidFill>
                <a:latin typeface="Calibri"/>
                <a:cs typeface="Calibri"/>
              </a:rPr>
              <a:t>A:</a:t>
            </a:r>
            <a:r>
              <a:rPr dirty="0" sz="3200" spc="-80" b="1">
                <a:solidFill>
                  <a:srgbClr val="FF0000"/>
                </a:solidFill>
                <a:latin typeface="Calibri"/>
                <a:cs typeface="Calibri"/>
              </a:rPr>
              <a:t> </a:t>
            </a:r>
            <a:r>
              <a:rPr dirty="0" sz="3200">
                <a:latin typeface="Calibri"/>
                <a:cs typeface="Calibri"/>
              </a:rPr>
              <a:t>By</a:t>
            </a:r>
            <a:r>
              <a:rPr dirty="0" sz="3200" spc="-85">
                <a:latin typeface="Calibri"/>
                <a:cs typeface="Calibri"/>
              </a:rPr>
              <a:t> </a:t>
            </a:r>
            <a:r>
              <a:rPr dirty="0" sz="3200">
                <a:latin typeface="Calibri"/>
                <a:cs typeface="Calibri"/>
              </a:rPr>
              <a:t>combining</a:t>
            </a:r>
            <a:r>
              <a:rPr dirty="0" sz="3200" spc="-50">
                <a:latin typeface="Calibri"/>
                <a:cs typeface="Calibri"/>
              </a:rPr>
              <a:t> </a:t>
            </a:r>
            <a:r>
              <a:rPr dirty="0" sz="3200">
                <a:latin typeface="Calibri"/>
                <a:cs typeface="Calibri"/>
              </a:rPr>
              <a:t>simple</a:t>
            </a:r>
            <a:r>
              <a:rPr dirty="0" sz="3200" spc="-60">
                <a:latin typeface="Calibri"/>
                <a:cs typeface="Calibri"/>
              </a:rPr>
              <a:t> </a:t>
            </a:r>
            <a:r>
              <a:rPr dirty="0" sz="3200">
                <a:latin typeface="Calibri"/>
                <a:cs typeface="Calibri"/>
              </a:rPr>
              <a:t>building</a:t>
            </a:r>
            <a:r>
              <a:rPr dirty="0" sz="3200" spc="-40">
                <a:latin typeface="Calibri"/>
                <a:cs typeface="Calibri"/>
              </a:rPr>
              <a:t> </a:t>
            </a:r>
            <a:r>
              <a:rPr dirty="0" sz="3200">
                <a:latin typeface="Calibri"/>
                <a:cs typeface="Calibri"/>
              </a:rPr>
              <a:t>blocks,</a:t>
            </a:r>
            <a:r>
              <a:rPr dirty="0" sz="3200" spc="-80">
                <a:latin typeface="Calibri"/>
                <a:cs typeface="Calibri"/>
              </a:rPr>
              <a:t> </a:t>
            </a:r>
            <a:r>
              <a:rPr dirty="0" sz="3200">
                <a:latin typeface="Calibri"/>
                <a:cs typeface="Calibri"/>
              </a:rPr>
              <a:t>we</a:t>
            </a:r>
            <a:r>
              <a:rPr dirty="0" sz="3200" spc="-95">
                <a:latin typeface="Calibri"/>
                <a:cs typeface="Calibri"/>
              </a:rPr>
              <a:t> </a:t>
            </a:r>
            <a:r>
              <a:rPr dirty="0" sz="3200" spc="-25">
                <a:latin typeface="Calibri"/>
                <a:cs typeface="Calibri"/>
              </a:rPr>
              <a:t>can </a:t>
            </a:r>
            <a:r>
              <a:rPr dirty="0" sz="3200">
                <a:latin typeface="Calibri"/>
                <a:cs typeface="Calibri"/>
              </a:rPr>
              <a:t>make</a:t>
            </a:r>
            <a:r>
              <a:rPr dirty="0" sz="3200" spc="-110">
                <a:latin typeface="Calibri"/>
                <a:cs typeface="Calibri"/>
              </a:rPr>
              <a:t> </a:t>
            </a:r>
            <a:r>
              <a:rPr dirty="0" sz="3200">
                <a:latin typeface="Calibri"/>
                <a:cs typeface="Calibri"/>
              </a:rPr>
              <a:t>more</a:t>
            </a:r>
            <a:r>
              <a:rPr dirty="0" sz="3200" spc="-120">
                <a:latin typeface="Calibri"/>
                <a:cs typeface="Calibri"/>
              </a:rPr>
              <a:t> </a:t>
            </a:r>
            <a:r>
              <a:rPr dirty="0" sz="3200">
                <a:latin typeface="Calibri"/>
                <a:cs typeface="Calibri"/>
              </a:rPr>
              <a:t>and</a:t>
            </a:r>
            <a:r>
              <a:rPr dirty="0" sz="3200" spc="-100">
                <a:latin typeface="Calibri"/>
                <a:cs typeface="Calibri"/>
              </a:rPr>
              <a:t> </a:t>
            </a:r>
            <a:r>
              <a:rPr dirty="0" sz="3200">
                <a:latin typeface="Calibri"/>
                <a:cs typeface="Calibri"/>
              </a:rPr>
              <a:t>more</a:t>
            </a:r>
            <a:r>
              <a:rPr dirty="0" sz="3200" spc="-120">
                <a:latin typeface="Calibri"/>
                <a:cs typeface="Calibri"/>
              </a:rPr>
              <a:t> </a:t>
            </a:r>
            <a:r>
              <a:rPr dirty="0" sz="3200">
                <a:latin typeface="Calibri"/>
                <a:cs typeface="Calibri"/>
              </a:rPr>
              <a:t>complex</a:t>
            </a:r>
            <a:r>
              <a:rPr dirty="0" sz="3200" spc="-125">
                <a:latin typeface="Calibri"/>
                <a:cs typeface="Calibri"/>
              </a:rPr>
              <a:t> </a:t>
            </a:r>
            <a:r>
              <a:rPr dirty="0" sz="3200" spc="-10">
                <a:latin typeface="Calibri"/>
                <a:cs typeface="Calibri"/>
              </a:rPr>
              <a:t>systems.</a:t>
            </a:r>
            <a:endParaRPr sz="3200">
              <a:latin typeface="Calibri"/>
              <a:cs typeface="Calibri"/>
            </a:endParaRPr>
          </a:p>
        </p:txBody>
      </p:sp>
      <p:sp>
        <p:nvSpPr>
          <p:cNvPr id="4" name="object 4"/>
          <p:cNvSpPr txBox="1">
            <a:spLocks noGrp="1"/>
          </p:cNvSpPr>
          <p:nvPr>
            <p:ph type="title"/>
          </p:nvPr>
        </p:nvSpPr>
        <p:spPr>
          <a:prstGeom prst="rect"/>
        </p:spPr>
        <p:txBody>
          <a:bodyPr wrap="square" lIns="0" tIns="373834" rIns="0" bIns="0" rtlCol="0" vert="horz">
            <a:spAutoFit/>
          </a:bodyPr>
          <a:lstStyle/>
          <a:p>
            <a:pPr marL="332105">
              <a:lnSpc>
                <a:spcPct val="100000"/>
              </a:lnSpc>
              <a:spcBef>
                <a:spcPts val="100"/>
              </a:spcBef>
            </a:pPr>
            <a:r>
              <a:rPr dirty="0" sz="3600" spc="-10"/>
              <a:t>End-</a:t>
            </a:r>
            <a:r>
              <a:rPr dirty="0" sz="3600" spc="-25"/>
              <a:t>to-</a:t>
            </a:r>
            <a:r>
              <a:rPr dirty="0" sz="3600"/>
              <a:t>end</a:t>
            </a:r>
            <a:r>
              <a:rPr dirty="0" sz="3600" spc="-40"/>
              <a:t> </a:t>
            </a:r>
            <a:r>
              <a:rPr dirty="0" sz="3600"/>
              <a:t>Object</a:t>
            </a:r>
            <a:r>
              <a:rPr dirty="0" sz="3600" spc="-25"/>
              <a:t> </a:t>
            </a:r>
            <a:r>
              <a:rPr dirty="0" sz="3600" spc="-10"/>
              <a:t>Recognition</a:t>
            </a:r>
            <a:endParaRPr sz="3600"/>
          </a:p>
        </p:txBody>
      </p:sp>
      <p:pic>
        <p:nvPicPr>
          <p:cNvPr id="5" name="object 5" descr=""/>
          <p:cNvPicPr/>
          <p:nvPr/>
        </p:nvPicPr>
        <p:blipFill>
          <a:blip r:embed="rId3" cstate="print"/>
          <a:stretch>
            <a:fillRect/>
          </a:stretch>
        </p:blipFill>
        <p:spPr>
          <a:xfrm>
            <a:off x="2577666" y="5074690"/>
            <a:ext cx="5390675" cy="336659"/>
          </a:xfrm>
          <a:prstGeom prst="rect">
            <a:avLst/>
          </a:prstGeom>
        </p:spPr>
      </p:pic>
      <p:sp>
        <p:nvSpPr>
          <p:cNvPr id="6" name="object 6" descr=""/>
          <p:cNvSpPr txBox="1">
            <a:spLocks noGrp="1"/>
          </p:cNvSpPr>
          <p:nvPr>
            <p:ph type="sldNum" idx="7" sz="quarter"/>
          </p:nvPr>
        </p:nvSpPr>
        <p:spPr>
          <a:prstGeom prst="rect"/>
        </p:spPr>
        <p:txBody>
          <a:bodyPr wrap="square" lIns="0" tIns="0" rIns="0" bIns="0" rtlCol="0" vert="horz">
            <a:spAutoFit/>
          </a:bodyPr>
          <a:lstStyle/>
          <a:p>
            <a:pPr marL="115570">
              <a:lnSpc>
                <a:spcPts val="1240"/>
              </a:lnSpc>
            </a:pPr>
            <a:r>
              <a:rPr dirty="0" spc="-50"/>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3204" y="397319"/>
            <a:ext cx="7474584" cy="574040"/>
          </a:xfrm>
          <a:prstGeom prst="rect"/>
        </p:spPr>
        <p:txBody>
          <a:bodyPr wrap="square" lIns="0" tIns="12700" rIns="0" bIns="0" rtlCol="0" vert="horz">
            <a:spAutoFit/>
          </a:bodyPr>
          <a:lstStyle/>
          <a:p>
            <a:pPr marL="12700">
              <a:lnSpc>
                <a:spcPct val="100000"/>
              </a:lnSpc>
              <a:spcBef>
                <a:spcPts val="100"/>
              </a:spcBef>
            </a:pPr>
            <a:r>
              <a:rPr dirty="0" sz="3600"/>
              <a:t>Building</a:t>
            </a:r>
            <a:r>
              <a:rPr dirty="0" sz="3600" spc="-90"/>
              <a:t> </a:t>
            </a:r>
            <a:r>
              <a:rPr dirty="0" sz="3600"/>
              <a:t>A</a:t>
            </a:r>
            <a:r>
              <a:rPr dirty="0" sz="3600" spc="-55"/>
              <a:t> </a:t>
            </a:r>
            <a:r>
              <a:rPr dirty="0" sz="3600"/>
              <a:t>Complicated</a:t>
            </a:r>
            <a:r>
              <a:rPr dirty="0" sz="3600" spc="-75"/>
              <a:t> </a:t>
            </a:r>
            <a:r>
              <a:rPr dirty="0" sz="3600" spc="-10"/>
              <a:t>Function</a:t>
            </a:r>
            <a:endParaRPr sz="3600"/>
          </a:p>
        </p:txBody>
      </p:sp>
      <p:sp>
        <p:nvSpPr>
          <p:cNvPr id="3" name="object 3" descr=""/>
          <p:cNvSpPr txBox="1"/>
          <p:nvPr/>
        </p:nvSpPr>
        <p:spPr>
          <a:xfrm>
            <a:off x="690299" y="1271083"/>
            <a:ext cx="2477135"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Simple</a:t>
            </a:r>
            <a:r>
              <a:rPr dirty="0" sz="2800" spc="-55">
                <a:latin typeface="Calibri"/>
                <a:cs typeface="Calibri"/>
              </a:rPr>
              <a:t> </a:t>
            </a:r>
            <a:r>
              <a:rPr dirty="0" sz="2800" spc="-10">
                <a:latin typeface="Calibri"/>
                <a:cs typeface="Calibri"/>
              </a:rPr>
              <a:t>Functions</a:t>
            </a:r>
            <a:endParaRPr sz="2800">
              <a:latin typeface="Calibri"/>
              <a:cs typeface="Calibri"/>
            </a:endParaRPr>
          </a:p>
        </p:txBody>
      </p:sp>
      <p:pic>
        <p:nvPicPr>
          <p:cNvPr id="4" name="object 4" descr=""/>
          <p:cNvPicPr/>
          <p:nvPr/>
        </p:nvPicPr>
        <p:blipFill>
          <a:blip r:embed="rId2" cstate="print"/>
          <a:stretch>
            <a:fillRect/>
          </a:stretch>
        </p:blipFill>
        <p:spPr>
          <a:xfrm>
            <a:off x="454515" y="1821179"/>
            <a:ext cx="8378212" cy="3346435"/>
          </a:xfrm>
          <a:prstGeom prst="rect">
            <a:avLst/>
          </a:prstGeom>
        </p:spPr>
      </p:pic>
      <p:sp>
        <p:nvSpPr>
          <p:cNvPr id="5" name="object 5" descr=""/>
          <p:cNvSpPr txBox="1"/>
          <p:nvPr/>
        </p:nvSpPr>
        <p:spPr>
          <a:xfrm>
            <a:off x="330259" y="5058519"/>
            <a:ext cx="7995284" cy="452120"/>
          </a:xfrm>
          <a:prstGeom prst="rect">
            <a:avLst/>
          </a:prstGeom>
        </p:spPr>
        <p:txBody>
          <a:bodyPr wrap="square" lIns="0" tIns="12065" rIns="0" bIns="0" rtlCol="0" vert="horz">
            <a:spAutoFit/>
          </a:bodyPr>
          <a:lstStyle/>
          <a:p>
            <a:pPr marL="469265" indent="-456565">
              <a:lnSpc>
                <a:spcPct val="100000"/>
              </a:lnSpc>
              <a:spcBef>
                <a:spcPts val="95"/>
              </a:spcBef>
              <a:buFont typeface="Arial MT"/>
              <a:buChar char="•"/>
              <a:tabLst>
                <a:tab pos="469265" algn="l"/>
              </a:tabLst>
            </a:pPr>
            <a:r>
              <a:rPr dirty="0" sz="2800">
                <a:latin typeface="Calibri"/>
                <a:cs typeface="Calibri"/>
              </a:rPr>
              <a:t>Function</a:t>
            </a:r>
            <a:r>
              <a:rPr dirty="0" sz="2800" spc="-40">
                <a:latin typeface="Calibri"/>
                <a:cs typeface="Calibri"/>
              </a:rPr>
              <a:t> </a:t>
            </a:r>
            <a:r>
              <a:rPr dirty="0" sz="2800">
                <a:latin typeface="Calibri"/>
                <a:cs typeface="Calibri"/>
              </a:rPr>
              <a:t>composition</a:t>
            </a:r>
            <a:r>
              <a:rPr dirty="0" sz="2800" spc="-30">
                <a:latin typeface="Calibri"/>
                <a:cs typeface="Calibri"/>
              </a:rPr>
              <a:t> </a:t>
            </a:r>
            <a:r>
              <a:rPr dirty="0" sz="2800">
                <a:latin typeface="Calibri"/>
                <a:cs typeface="Calibri"/>
              </a:rPr>
              <a:t>is</a:t>
            </a:r>
            <a:r>
              <a:rPr dirty="0" sz="2800" spc="-75">
                <a:latin typeface="Calibri"/>
                <a:cs typeface="Calibri"/>
              </a:rPr>
              <a:t> </a:t>
            </a:r>
            <a:r>
              <a:rPr dirty="0" sz="2800">
                <a:latin typeface="Calibri"/>
                <a:cs typeface="Calibri"/>
              </a:rPr>
              <a:t>at</a:t>
            </a:r>
            <a:r>
              <a:rPr dirty="0" sz="2800" spc="-65">
                <a:latin typeface="Calibri"/>
                <a:cs typeface="Calibri"/>
              </a:rPr>
              <a:t> </a:t>
            </a:r>
            <a:r>
              <a:rPr dirty="0" sz="2800">
                <a:latin typeface="Calibri"/>
                <a:cs typeface="Calibri"/>
              </a:rPr>
              <a:t>the</a:t>
            </a:r>
            <a:r>
              <a:rPr dirty="0" sz="2800" spc="-50">
                <a:latin typeface="Calibri"/>
                <a:cs typeface="Calibri"/>
              </a:rPr>
              <a:t> </a:t>
            </a:r>
            <a:r>
              <a:rPr dirty="0" sz="2800">
                <a:latin typeface="Calibri"/>
                <a:cs typeface="Calibri"/>
              </a:rPr>
              <a:t>core</a:t>
            </a:r>
            <a:r>
              <a:rPr dirty="0" sz="2800" spc="-70">
                <a:latin typeface="Calibri"/>
                <a:cs typeface="Calibri"/>
              </a:rPr>
              <a:t> </a:t>
            </a:r>
            <a:r>
              <a:rPr dirty="0" sz="2800">
                <a:latin typeface="Calibri"/>
                <a:cs typeface="Calibri"/>
              </a:rPr>
              <a:t>of</a:t>
            </a:r>
            <a:r>
              <a:rPr dirty="0" sz="2800" spc="-70">
                <a:latin typeface="Calibri"/>
                <a:cs typeface="Calibri"/>
              </a:rPr>
              <a:t> </a:t>
            </a:r>
            <a:r>
              <a:rPr dirty="0" sz="2800">
                <a:latin typeface="Calibri"/>
                <a:cs typeface="Calibri"/>
              </a:rPr>
              <a:t>deep</a:t>
            </a:r>
            <a:r>
              <a:rPr dirty="0" sz="2800" spc="-55">
                <a:latin typeface="Calibri"/>
                <a:cs typeface="Calibri"/>
              </a:rPr>
              <a:t> </a:t>
            </a:r>
            <a:r>
              <a:rPr dirty="0" sz="2800" spc="-10">
                <a:latin typeface="Calibri"/>
                <a:cs typeface="Calibri"/>
              </a:rPr>
              <a:t>learning</a:t>
            </a:r>
            <a:endParaRPr sz="2800">
              <a:latin typeface="Calibri"/>
              <a:cs typeface="Calibri"/>
            </a:endParaRPr>
          </a:p>
        </p:txBody>
      </p:sp>
      <p:sp>
        <p:nvSpPr>
          <p:cNvPr id="6" name="object 6" descr=""/>
          <p:cNvSpPr txBox="1"/>
          <p:nvPr/>
        </p:nvSpPr>
        <p:spPr>
          <a:xfrm>
            <a:off x="787459" y="5485339"/>
            <a:ext cx="1390015" cy="452120"/>
          </a:xfrm>
          <a:prstGeom prst="rect">
            <a:avLst/>
          </a:prstGeom>
        </p:spPr>
        <p:txBody>
          <a:bodyPr wrap="square" lIns="0" tIns="12065" rIns="0" bIns="0" rtlCol="0" vert="horz">
            <a:spAutoFit/>
          </a:bodyPr>
          <a:lstStyle/>
          <a:p>
            <a:pPr marL="12700">
              <a:lnSpc>
                <a:spcPct val="100000"/>
              </a:lnSpc>
              <a:spcBef>
                <a:spcPts val="95"/>
              </a:spcBef>
            </a:pPr>
            <a:r>
              <a:rPr dirty="0" sz="2800" spc="-10">
                <a:latin typeface="Calibri"/>
                <a:cs typeface="Calibri"/>
              </a:rPr>
              <a:t>methods.</a:t>
            </a:r>
            <a:endParaRPr sz="2800">
              <a:latin typeface="Calibri"/>
              <a:cs typeface="Calibri"/>
            </a:endParaRPr>
          </a:p>
        </p:txBody>
      </p:sp>
      <p:sp>
        <p:nvSpPr>
          <p:cNvPr id="7" name="object 7" descr=""/>
          <p:cNvSpPr txBox="1"/>
          <p:nvPr/>
        </p:nvSpPr>
        <p:spPr>
          <a:xfrm>
            <a:off x="330259" y="5911958"/>
            <a:ext cx="8355965" cy="452120"/>
          </a:xfrm>
          <a:prstGeom prst="rect">
            <a:avLst/>
          </a:prstGeom>
        </p:spPr>
        <p:txBody>
          <a:bodyPr wrap="square" lIns="0" tIns="12065" rIns="0" bIns="0" rtlCol="0" vert="horz">
            <a:spAutoFit/>
          </a:bodyPr>
          <a:lstStyle/>
          <a:p>
            <a:pPr marL="469265" indent="-456565">
              <a:lnSpc>
                <a:spcPct val="100000"/>
              </a:lnSpc>
              <a:spcBef>
                <a:spcPts val="95"/>
              </a:spcBef>
              <a:buFont typeface="Arial MT"/>
              <a:buChar char="•"/>
              <a:tabLst>
                <a:tab pos="469265" algn="l"/>
              </a:tabLst>
            </a:pPr>
            <a:r>
              <a:rPr dirty="0" sz="2800">
                <a:latin typeface="Calibri"/>
                <a:cs typeface="Calibri"/>
              </a:rPr>
              <a:t>Each</a:t>
            </a:r>
            <a:r>
              <a:rPr dirty="0" sz="2800" spc="-100">
                <a:latin typeface="Calibri"/>
                <a:cs typeface="Calibri"/>
              </a:rPr>
              <a:t> </a:t>
            </a:r>
            <a:r>
              <a:rPr dirty="0" sz="2800">
                <a:latin typeface="Calibri"/>
                <a:cs typeface="Calibri"/>
              </a:rPr>
              <a:t>“simple</a:t>
            </a:r>
            <a:r>
              <a:rPr dirty="0" sz="2800" spc="-75">
                <a:latin typeface="Calibri"/>
                <a:cs typeface="Calibri"/>
              </a:rPr>
              <a:t> </a:t>
            </a:r>
            <a:r>
              <a:rPr dirty="0" sz="2800">
                <a:latin typeface="Calibri"/>
                <a:cs typeface="Calibri"/>
              </a:rPr>
              <a:t>function”</a:t>
            </a:r>
            <a:r>
              <a:rPr dirty="0" sz="2800" spc="-70">
                <a:latin typeface="Calibri"/>
                <a:cs typeface="Calibri"/>
              </a:rPr>
              <a:t> </a:t>
            </a:r>
            <a:r>
              <a:rPr dirty="0" sz="2800">
                <a:latin typeface="Calibri"/>
                <a:cs typeface="Calibri"/>
              </a:rPr>
              <a:t>will</a:t>
            </a:r>
            <a:r>
              <a:rPr dirty="0" sz="2800" spc="-90">
                <a:latin typeface="Calibri"/>
                <a:cs typeface="Calibri"/>
              </a:rPr>
              <a:t> </a:t>
            </a:r>
            <a:r>
              <a:rPr dirty="0" sz="2800">
                <a:latin typeface="Calibri"/>
                <a:cs typeface="Calibri"/>
              </a:rPr>
              <a:t>have</a:t>
            </a:r>
            <a:r>
              <a:rPr dirty="0" sz="2800" spc="-90">
                <a:latin typeface="Calibri"/>
                <a:cs typeface="Calibri"/>
              </a:rPr>
              <a:t> </a:t>
            </a:r>
            <a:r>
              <a:rPr dirty="0" sz="2800" spc="-10">
                <a:latin typeface="Calibri"/>
                <a:cs typeface="Calibri"/>
              </a:rPr>
              <a:t>parameters</a:t>
            </a:r>
            <a:r>
              <a:rPr dirty="0" sz="2800" spc="-95">
                <a:latin typeface="Calibri"/>
                <a:cs typeface="Calibri"/>
              </a:rPr>
              <a:t> </a:t>
            </a:r>
            <a:r>
              <a:rPr dirty="0" sz="2800">
                <a:latin typeface="Calibri"/>
                <a:cs typeface="Calibri"/>
              </a:rPr>
              <a:t>subject</a:t>
            </a:r>
            <a:r>
              <a:rPr dirty="0" sz="2800" spc="-65">
                <a:latin typeface="Calibri"/>
                <a:cs typeface="Calibri"/>
              </a:rPr>
              <a:t> </a:t>
            </a:r>
            <a:r>
              <a:rPr dirty="0" sz="2800" spc="-25">
                <a:latin typeface="Calibri"/>
                <a:cs typeface="Calibri"/>
              </a:rPr>
              <a:t>to</a:t>
            </a:r>
            <a:endParaRPr sz="2800">
              <a:latin typeface="Calibri"/>
              <a:cs typeface="Calibri"/>
            </a:endParaRPr>
          </a:p>
        </p:txBody>
      </p:sp>
      <p:sp>
        <p:nvSpPr>
          <p:cNvPr id="8" name="object 8" descr=""/>
          <p:cNvSpPr txBox="1"/>
          <p:nvPr/>
        </p:nvSpPr>
        <p:spPr>
          <a:xfrm>
            <a:off x="787459" y="6338778"/>
            <a:ext cx="1221105" cy="452120"/>
          </a:xfrm>
          <a:prstGeom prst="rect">
            <a:avLst/>
          </a:prstGeom>
        </p:spPr>
        <p:txBody>
          <a:bodyPr wrap="square" lIns="0" tIns="12065" rIns="0" bIns="0" rtlCol="0" vert="horz">
            <a:spAutoFit/>
          </a:bodyPr>
          <a:lstStyle/>
          <a:p>
            <a:pPr marL="12700">
              <a:lnSpc>
                <a:spcPct val="100000"/>
              </a:lnSpc>
              <a:spcBef>
                <a:spcPts val="95"/>
              </a:spcBef>
            </a:pPr>
            <a:r>
              <a:rPr dirty="0" sz="2800" spc="-10">
                <a:latin typeface="Calibri"/>
                <a:cs typeface="Calibri"/>
              </a:rPr>
              <a:t>training.</a:t>
            </a:r>
            <a:endParaRPr sz="2800">
              <a:latin typeface="Calibri"/>
              <a:cs typeface="Calibri"/>
            </a:endParaRPr>
          </a:p>
        </p:txBody>
      </p:sp>
      <p:sp>
        <p:nvSpPr>
          <p:cNvPr id="9" name="object 9" descr=""/>
          <p:cNvSpPr txBox="1"/>
          <p:nvPr/>
        </p:nvSpPr>
        <p:spPr>
          <a:xfrm>
            <a:off x="8503411" y="6425628"/>
            <a:ext cx="102870" cy="208279"/>
          </a:xfrm>
          <a:prstGeom prst="rect">
            <a:avLst/>
          </a:prstGeom>
        </p:spPr>
        <p:txBody>
          <a:bodyPr wrap="square" lIns="0" tIns="12700" rIns="0" bIns="0" rtlCol="0" vert="horz">
            <a:spAutoFit/>
          </a:bodyPr>
          <a:lstStyle/>
          <a:p>
            <a:pPr marL="12700">
              <a:lnSpc>
                <a:spcPct val="100000"/>
              </a:lnSpc>
              <a:spcBef>
                <a:spcPts val="100"/>
              </a:spcBef>
            </a:pPr>
            <a:r>
              <a:rPr dirty="0" sz="1200" spc="-50">
                <a:solidFill>
                  <a:srgbClr val="898989"/>
                </a:solidFill>
                <a:latin typeface="Calibri"/>
                <a:cs typeface="Calibri"/>
              </a:rPr>
              <a:t>9</a:t>
            </a:r>
            <a:endParaRPr sz="1200">
              <a:latin typeface="Calibri"/>
              <a:cs typeface="Calibri"/>
            </a:endParaRPr>
          </a:p>
        </p:txBody>
      </p:sp>
      <p:sp>
        <p:nvSpPr>
          <p:cNvPr id="10" name="object 10" descr=""/>
          <p:cNvSpPr txBox="1"/>
          <p:nvPr/>
        </p:nvSpPr>
        <p:spPr>
          <a:xfrm>
            <a:off x="3920364" y="5634197"/>
            <a:ext cx="3857625" cy="266700"/>
          </a:xfrm>
          <a:prstGeom prst="rect">
            <a:avLst/>
          </a:prstGeom>
        </p:spPr>
        <p:txBody>
          <a:bodyPr wrap="square" lIns="0" tIns="16510" rIns="0" bIns="0" rtlCol="0" vert="horz">
            <a:spAutoFit/>
          </a:bodyPr>
          <a:lstStyle/>
          <a:p>
            <a:pPr marL="12700">
              <a:lnSpc>
                <a:spcPct val="100000"/>
              </a:lnSpc>
              <a:spcBef>
                <a:spcPts val="130"/>
              </a:spcBef>
            </a:pPr>
            <a:r>
              <a:rPr dirty="0" sz="1550" spc="-5">
                <a:latin typeface="Microsoft YaHei UI"/>
                <a:cs typeface="Microsoft YaHei UI"/>
              </a:rPr>
              <a:t>每个“简单函数”都将包含需要训练的参数。</a:t>
            </a:r>
            <a:endParaRPr sz="1550">
              <a:latin typeface="Microsoft YaHei UI"/>
              <a:cs typeface="Microsoft YaHei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2721927" y="1296035"/>
            <a:ext cx="3168650" cy="452120"/>
          </a:xfrm>
          <a:prstGeom prst="rect">
            <a:avLst/>
          </a:prstGeom>
        </p:spPr>
        <p:txBody>
          <a:bodyPr wrap="square" lIns="0" tIns="12065" rIns="0" bIns="0" rtlCol="0" vert="horz">
            <a:spAutoFit/>
          </a:bodyPr>
          <a:lstStyle/>
          <a:p>
            <a:pPr marL="12700">
              <a:lnSpc>
                <a:spcPct val="100000"/>
              </a:lnSpc>
              <a:spcBef>
                <a:spcPts val="95"/>
              </a:spcBef>
            </a:pPr>
            <a:r>
              <a:rPr dirty="0" sz="2800" spc="-10">
                <a:latin typeface="Calibri"/>
                <a:cs typeface="Calibri"/>
              </a:rPr>
              <a:t>Complicated</a:t>
            </a:r>
            <a:r>
              <a:rPr dirty="0" sz="2800" spc="-60">
                <a:latin typeface="Calibri"/>
                <a:cs typeface="Calibri"/>
              </a:rPr>
              <a:t> </a:t>
            </a:r>
            <a:r>
              <a:rPr dirty="0" sz="2800" spc="-10">
                <a:latin typeface="Calibri"/>
                <a:cs typeface="Calibri"/>
              </a:rPr>
              <a:t>Function</a:t>
            </a:r>
            <a:endParaRPr sz="2800">
              <a:latin typeface="Calibri"/>
              <a:cs typeface="Calibri"/>
            </a:endParaRPr>
          </a:p>
        </p:txBody>
      </p:sp>
      <p:pic>
        <p:nvPicPr>
          <p:cNvPr id="3" name="object 3" descr=""/>
          <p:cNvPicPr/>
          <p:nvPr/>
        </p:nvPicPr>
        <p:blipFill>
          <a:blip r:embed="rId2" cstate="print"/>
          <a:stretch>
            <a:fillRect/>
          </a:stretch>
        </p:blipFill>
        <p:spPr>
          <a:xfrm>
            <a:off x="590085" y="1880871"/>
            <a:ext cx="8276403" cy="4276214"/>
          </a:xfrm>
          <a:prstGeom prst="rect">
            <a:avLst/>
          </a:prstGeom>
        </p:spPr>
      </p:pic>
      <p:sp>
        <p:nvSpPr>
          <p:cNvPr id="4" name="object 4"/>
          <p:cNvSpPr txBox="1"/>
          <p:nvPr/>
        </p:nvSpPr>
        <p:spPr>
          <a:xfrm>
            <a:off x="743204" y="397319"/>
            <a:ext cx="7474584" cy="574040"/>
          </a:xfrm>
          <a:prstGeom prst="rect">
            <a:avLst/>
          </a:prstGeom>
        </p:spPr>
        <p:txBody>
          <a:bodyPr wrap="square" lIns="0" tIns="12700" rIns="0" bIns="0" rtlCol="0" vert="horz">
            <a:spAutoFit/>
          </a:bodyPr>
          <a:lstStyle/>
          <a:p>
            <a:pPr marL="12700">
              <a:lnSpc>
                <a:spcPct val="100000"/>
              </a:lnSpc>
              <a:spcBef>
                <a:spcPts val="100"/>
              </a:spcBef>
            </a:pPr>
            <a:r>
              <a:rPr dirty="0" sz="3600" b="1">
                <a:solidFill>
                  <a:srgbClr val="800000"/>
                </a:solidFill>
                <a:latin typeface="Tahoma"/>
                <a:cs typeface="Tahoma"/>
              </a:rPr>
              <a:t>Building</a:t>
            </a:r>
            <a:r>
              <a:rPr dirty="0" sz="3600" spc="-90" b="1">
                <a:solidFill>
                  <a:srgbClr val="800000"/>
                </a:solidFill>
                <a:latin typeface="Tahoma"/>
                <a:cs typeface="Tahoma"/>
              </a:rPr>
              <a:t> </a:t>
            </a:r>
            <a:r>
              <a:rPr dirty="0" sz="3600" b="1">
                <a:solidFill>
                  <a:srgbClr val="800000"/>
                </a:solidFill>
                <a:latin typeface="Tahoma"/>
                <a:cs typeface="Tahoma"/>
              </a:rPr>
              <a:t>A</a:t>
            </a:r>
            <a:r>
              <a:rPr dirty="0" sz="3600" spc="-55" b="1">
                <a:solidFill>
                  <a:srgbClr val="800000"/>
                </a:solidFill>
                <a:latin typeface="Tahoma"/>
                <a:cs typeface="Tahoma"/>
              </a:rPr>
              <a:t> </a:t>
            </a:r>
            <a:r>
              <a:rPr dirty="0" sz="3600" b="1">
                <a:solidFill>
                  <a:srgbClr val="800000"/>
                </a:solidFill>
                <a:latin typeface="Tahoma"/>
                <a:cs typeface="Tahoma"/>
              </a:rPr>
              <a:t>Complicated</a:t>
            </a:r>
            <a:r>
              <a:rPr dirty="0" sz="3600" spc="-75" b="1">
                <a:solidFill>
                  <a:srgbClr val="800000"/>
                </a:solidFill>
                <a:latin typeface="Tahoma"/>
                <a:cs typeface="Tahoma"/>
              </a:rPr>
              <a:t> </a:t>
            </a:r>
            <a:r>
              <a:rPr dirty="0" sz="3600" spc="-10" b="1">
                <a:solidFill>
                  <a:srgbClr val="800000"/>
                </a:solidFill>
                <a:latin typeface="Tahoma"/>
                <a:cs typeface="Tahoma"/>
              </a:rPr>
              <a:t>Function</a:t>
            </a:r>
            <a:endParaRPr sz="3600">
              <a:latin typeface="Tahoma"/>
              <a:cs typeface="Tahoma"/>
            </a:endParaRP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71218" rIns="0" bIns="0" rtlCol="0" vert="horz">
            <a:spAutoFit/>
          </a:bodyPr>
          <a:lstStyle/>
          <a:p>
            <a:pPr marL="12700">
              <a:lnSpc>
                <a:spcPct val="100000"/>
              </a:lnSpc>
              <a:spcBef>
                <a:spcPts val="95"/>
              </a:spcBef>
            </a:pPr>
            <a:r>
              <a:rPr dirty="0"/>
              <a:t>Intuition</a:t>
            </a:r>
            <a:r>
              <a:rPr dirty="0" spc="-95"/>
              <a:t> </a:t>
            </a:r>
            <a:r>
              <a:rPr dirty="0"/>
              <a:t>Behind</a:t>
            </a:r>
            <a:r>
              <a:rPr dirty="0" spc="-95"/>
              <a:t> </a:t>
            </a:r>
            <a:r>
              <a:rPr dirty="0"/>
              <a:t>Deep</a:t>
            </a:r>
            <a:r>
              <a:rPr dirty="0" spc="-140"/>
              <a:t> </a:t>
            </a:r>
            <a:r>
              <a:rPr dirty="0"/>
              <a:t>Neural</a:t>
            </a:r>
            <a:r>
              <a:rPr dirty="0" spc="-95"/>
              <a:t> </a:t>
            </a:r>
            <a:r>
              <a:rPr dirty="0" spc="-20"/>
              <a:t>Nets</a:t>
            </a:r>
          </a:p>
        </p:txBody>
      </p:sp>
      <p:pic>
        <p:nvPicPr>
          <p:cNvPr id="3" name="object 3" descr=""/>
          <p:cNvPicPr/>
          <p:nvPr/>
        </p:nvPicPr>
        <p:blipFill>
          <a:blip r:embed="rId2" cstate="print"/>
          <a:stretch>
            <a:fillRect/>
          </a:stretch>
        </p:blipFill>
        <p:spPr>
          <a:xfrm>
            <a:off x="499403" y="1714035"/>
            <a:ext cx="8183293" cy="2619871"/>
          </a:xfrm>
          <a:prstGeom prst="rect">
            <a:avLst/>
          </a:prstGeom>
        </p:spPr>
      </p:pic>
      <p:sp>
        <p:nvSpPr>
          <p:cNvPr id="4" name="object 4" descr=""/>
          <p:cNvSpPr txBox="1"/>
          <p:nvPr/>
        </p:nvSpPr>
        <p:spPr>
          <a:xfrm>
            <a:off x="507365" y="5010785"/>
            <a:ext cx="7576820" cy="1305560"/>
          </a:xfrm>
          <a:prstGeom prst="rect">
            <a:avLst/>
          </a:prstGeom>
        </p:spPr>
        <p:txBody>
          <a:bodyPr wrap="square" lIns="0" tIns="12065" rIns="0" bIns="0" rtlCol="0" vert="horz">
            <a:spAutoFit/>
          </a:bodyPr>
          <a:lstStyle/>
          <a:p>
            <a:pPr marL="12700">
              <a:lnSpc>
                <a:spcPct val="100000"/>
              </a:lnSpc>
              <a:spcBef>
                <a:spcPts val="95"/>
              </a:spcBef>
            </a:pPr>
            <a:r>
              <a:rPr dirty="0" sz="2800" spc="-10" b="1">
                <a:latin typeface="Calibri"/>
                <a:cs typeface="Calibri"/>
              </a:rPr>
              <a:t>NOTE:</a:t>
            </a:r>
            <a:endParaRPr sz="2800">
              <a:latin typeface="Calibri"/>
              <a:cs typeface="Calibri"/>
            </a:endParaRPr>
          </a:p>
          <a:p>
            <a:pPr marL="12700">
              <a:lnSpc>
                <a:spcPct val="100000"/>
              </a:lnSpc>
            </a:pPr>
            <a:r>
              <a:rPr dirty="0" sz="2800" b="1">
                <a:latin typeface="Calibri"/>
                <a:cs typeface="Calibri"/>
              </a:rPr>
              <a:t>Each</a:t>
            </a:r>
            <a:r>
              <a:rPr dirty="0" sz="2800" spc="-90" b="1">
                <a:latin typeface="Calibri"/>
                <a:cs typeface="Calibri"/>
              </a:rPr>
              <a:t> </a:t>
            </a:r>
            <a:r>
              <a:rPr dirty="0" sz="2800" b="1">
                <a:latin typeface="Calibri"/>
                <a:cs typeface="Calibri"/>
              </a:rPr>
              <a:t>black</a:t>
            </a:r>
            <a:r>
              <a:rPr dirty="0" sz="2800" spc="-65" b="1">
                <a:latin typeface="Calibri"/>
                <a:cs typeface="Calibri"/>
              </a:rPr>
              <a:t> </a:t>
            </a:r>
            <a:r>
              <a:rPr dirty="0" sz="2800" b="1">
                <a:latin typeface="Calibri"/>
                <a:cs typeface="Calibri"/>
              </a:rPr>
              <a:t>box</a:t>
            </a:r>
            <a:r>
              <a:rPr dirty="0" sz="2800" spc="-85" b="1">
                <a:latin typeface="Calibri"/>
                <a:cs typeface="Calibri"/>
              </a:rPr>
              <a:t> </a:t>
            </a:r>
            <a:r>
              <a:rPr dirty="0" sz="2800" b="1">
                <a:latin typeface="Calibri"/>
                <a:cs typeface="Calibri"/>
              </a:rPr>
              <a:t>can</a:t>
            </a:r>
            <a:r>
              <a:rPr dirty="0" sz="2800" spc="-75" b="1">
                <a:latin typeface="Calibri"/>
                <a:cs typeface="Calibri"/>
              </a:rPr>
              <a:t> </a:t>
            </a:r>
            <a:r>
              <a:rPr dirty="0" sz="2800" b="1">
                <a:latin typeface="Calibri"/>
                <a:cs typeface="Calibri"/>
              </a:rPr>
              <a:t>have</a:t>
            </a:r>
            <a:r>
              <a:rPr dirty="0" sz="2800" spc="-80" b="1">
                <a:latin typeface="Calibri"/>
                <a:cs typeface="Calibri"/>
              </a:rPr>
              <a:t> </a:t>
            </a:r>
            <a:r>
              <a:rPr dirty="0" sz="2800" b="1">
                <a:latin typeface="Calibri"/>
                <a:cs typeface="Calibri"/>
              </a:rPr>
              <a:t>trainable</a:t>
            </a:r>
            <a:r>
              <a:rPr dirty="0" sz="2800" spc="-55" b="1">
                <a:latin typeface="Calibri"/>
                <a:cs typeface="Calibri"/>
              </a:rPr>
              <a:t> </a:t>
            </a:r>
            <a:r>
              <a:rPr dirty="0" sz="2800" spc="-10" b="1">
                <a:latin typeface="Calibri"/>
                <a:cs typeface="Calibri"/>
              </a:rPr>
              <a:t>parameters.</a:t>
            </a:r>
            <a:endParaRPr sz="2800">
              <a:latin typeface="Calibri"/>
              <a:cs typeface="Calibri"/>
            </a:endParaRPr>
          </a:p>
          <a:p>
            <a:pPr marL="12700">
              <a:lnSpc>
                <a:spcPct val="100000"/>
              </a:lnSpc>
            </a:pPr>
            <a:r>
              <a:rPr dirty="0" sz="2800">
                <a:latin typeface="Calibri"/>
                <a:cs typeface="Calibri"/>
              </a:rPr>
              <a:t>Their</a:t>
            </a:r>
            <a:r>
              <a:rPr dirty="0" sz="2800" spc="-50">
                <a:latin typeface="Calibri"/>
                <a:cs typeface="Calibri"/>
              </a:rPr>
              <a:t> </a:t>
            </a:r>
            <a:r>
              <a:rPr dirty="0" sz="2800" spc="-10">
                <a:latin typeface="Calibri"/>
                <a:cs typeface="Calibri"/>
              </a:rPr>
              <a:t>composition</a:t>
            </a:r>
            <a:r>
              <a:rPr dirty="0" sz="2800" spc="-30">
                <a:latin typeface="Calibri"/>
                <a:cs typeface="Calibri"/>
              </a:rPr>
              <a:t> </a:t>
            </a:r>
            <a:r>
              <a:rPr dirty="0" sz="2800">
                <a:latin typeface="Calibri"/>
                <a:cs typeface="Calibri"/>
              </a:rPr>
              <a:t>makes</a:t>
            </a:r>
            <a:r>
              <a:rPr dirty="0" sz="2800" spc="-55">
                <a:latin typeface="Calibri"/>
                <a:cs typeface="Calibri"/>
              </a:rPr>
              <a:t> </a:t>
            </a:r>
            <a:r>
              <a:rPr dirty="0" sz="2800">
                <a:latin typeface="Calibri"/>
                <a:cs typeface="Calibri"/>
              </a:rPr>
              <a:t>a</a:t>
            </a:r>
            <a:r>
              <a:rPr dirty="0" sz="2800" spc="-55">
                <a:latin typeface="Calibri"/>
                <a:cs typeface="Calibri"/>
              </a:rPr>
              <a:t> </a:t>
            </a:r>
            <a:r>
              <a:rPr dirty="0" sz="2800">
                <a:latin typeface="Calibri"/>
                <a:cs typeface="Calibri"/>
              </a:rPr>
              <a:t>highly</a:t>
            </a:r>
            <a:r>
              <a:rPr dirty="0" sz="2800" spc="-45">
                <a:latin typeface="Calibri"/>
                <a:cs typeface="Calibri"/>
              </a:rPr>
              <a:t> </a:t>
            </a:r>
            <a:r>
              <a:rPr dirty="0" sz="2800" spc="-25">
                <a:latin typeface="Calibri"/>
                <a:cs typeface="Calibri"/>
              </a:rPr>
              <a:t>non-</a:t>
            </a:r>
            <a:r>
              <a:rPr dirty="0" sz="2800">
                <a:latin typeface="Calibri"/>
                <a:cs typeface="Calibri"/>
              </a:rPr>
              <a:t>linear</a:t>
            </a:r>
            <a:r>
              <a:rPr dirty="0" sz="2800" spc="-10">
                <a:latin typeface="Calibri"/>
                <a:cs typeface="Calibri"/>
              </a:rPr>
              <a:t> system.</a:t>
            </a:r>
            <a:endParaRPr sz="2800">
              <a:latin typeface="Calibri"/>
              <a:cs typeface="Calibri"/>
            </a:endParaRP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652346" y="1701496"/>
            <a:ext cx="8092874" cy="3505730"/>
          </a:xfrm>
          <a:prstGeom prst="rect">
            <a:avLst/>
          </a:prstGeom>
        </p:spPr>
      </p:pic>
      <p:sp>
        <p:nvSpPr>
          <p:cNvPr id="3" name="object 3" descr=""/>
          <p:cNvSpPr txBox="1"/>
          <p:nvPr/>
        </p:nvSpPr>
        <p:spPr>
          <a:xfrm>
            <a:off x="650240" y="5725160"/>
            <a:ext cx="6903084" cy="452120"/>
          </a:xfrm>
          <a:prstGeom prst="rect">
            <a:avLst/>
          </a:prstGeom>
        </p:spPr>
        <p:txBody>
          <a:bodyPr wrap="square" lIns="0" tIns="12065" rIns="0" bIns="0" rtlCol="0" vert="horz">
            <a:spAutoFit/>
          </a:bodyPr>
          <a:lstStyle/>
          <a:p>
            <a:pPr marL="12700">
              <a:lnSpc>
                <a:spcPct val="100000"/>
              </a:lnSpc>
              <a:spcBef>
                <a:spcPts val="95"/>
              </a:spcBef>
            </a:pPr>
            <a:r>
              <a:rPr dirty="0" sz="2800" b="1">
                <a:latin typeface="Calibri"/>
                <a:cs typeface="Calibri"/>
              </a:rPr>
              <a:t>NOTE:</a:t>
            </a:r>
            <a:r>
              <a:rPr dirty="0" sz="2800" spc="-80" b="1">
                <a:latin typeface="Calibri"/>
                <a:cs typeface="Calibri"/>
              </a:rPr>
              <a:t> </a:t>
            </a:r>
            <a:r>
              <a:rPr dirty="0" sz="2800" spc="-10" b="1">
                <a:latin typeface="Calibri"/>
                <a:cs typeface="Calibri"/>
              </a:rPr>
              <a:t>System</a:t>
            </a:r>
            <a:r>
              <a:rPr dirty="0" sz="2800" spc="-70" b="1">
                <a:latin typeface="Calibri"/>
                <a:cs typeface="Calibri"/>
              </a:rPr>
              <a:t> </a:t>
            </a:r>
            <a:r>
              <a:rPr dirty="0" sz="2800" b="1">
                <a:latin typeface="Calibri"/>
                <a:cs typeface="Calibri"/>
              </a:rPr>
              <a:t>produces</a:t>
            </a:r>
            <a:r>
              <a:rPr dirty="0" sz="2800" spc="-75" b="1">
                <a:latin typeface="Calibri"/>
                <a:cs typeface="Calibri"/>
              </a:rPr>
              <a:t> </a:t>
            </a:r>
            <a:r>
              <a:rPr dirty="0" sz="2800" b="1">
                <a:latin typeface="Calibri"/>
                <a:cs typeface="Calibri"/>
              </a:rPr>
              <a:t>a</a:t>
            </a:r>
            <a:r>
              <a:rPr dirty="0" sz="2800" spc="-75" b="1">
                <a:latin typeface="Calibri"/>
                <a:cs typeface="Calibri"/>
              </a:rPr>
              <a:t> </a:t>
            </a:r>
            <a:r>
              <a:rPr dirty="0" sz="2800" spc="-10" b="1">
                <a:solidFill>
                  <a:srgbClr val="FF0000"/>
                </a:solidFill>
                <a:latin typeface="Calibri"/>
                <a:cs typeface="Calibri"/>
              </a:rPr>
              <a:t>hierarchy</a:t>
            </a:r>
            <a:r>
              <a:rPr dirty="0" sz="2800" spc="-70" b="1">
                <a:solidFill>
                  <a:srgbClr val="FF0000"/>
                </a:solidFill>
                <a:latin typeface="Calibri"/>
                <a:cs typeface="Calibri"/>
              </a:rPr>
              <a:t> </a:t>
            </a:r>
            <a:r>
              <a:rPr dirty="0" sz="2800" b="1">
                <a:latin typeface="Calibri"/>
                <a:cs typeface="Calibri"/>
              </a:rPr>
              <a:t>of</a:t>
            </a:r>
            <a:r>
              <a:rPr dirty="0" sz="2800" spc="-85" b="1">
                <a:latin typeface="Calibri"/>
                <a:cs typeface="Calibri"/>
              </a:rPr>
              <a:t> </a:t>
            </a:r>
            <a:r>
              <a:rPr dirty="0" sz="2800" spc="-10" b="1">
                <a:latin typeface="Calibri"/>
                <a:cs typeface="Calibri"/>
              </a:rPr>
              <a:t>features</a:t>
            </a:r>
            <a:endParaRPr sz="2800">
              <a:latin typeface="Calibri"/>
              <a:cs typeface="Calibri"/>
            </a:endParaRP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12</a:t>
            </a:r>
          </a:p>
        </p:txBody>
      </p:sp>
      <p:sp>
        <p:nvSpPr>
          <p:cNvPr id="4" name="object 4"/>
          <p:cNvSpPr txBox="1">
            <a:spLocks noGrp="1"/>
          </p:cNvSpPr>
          <p:nvPr>
            <p:ph type="title"/>
          </p:nvPr>
        </p:nvSpPr>
        <p:spPr>
          <a:prstGeom prst="rect"/>
        </p:spPr>
        <p:txBody>
          <a:bodyPr wrap="square" lIns="0" tIns="271218" rIns="0" bIns="0" rtlCol="0" vert="horz">
            <a:spAutoFit/>
          </a:bodyPr>
          <a:lstStyle/>
          <a:p>
            <a:pPr marL="12700">
              <a:lnSpc>
                <a:spcPct val="100000"/>
              </a:lnSpc>
              <a:spcBef>
                <a:spcPts val="95"/>
              </a:spcBef>
            </a:pPr>
            <a:r>
              <a:rPr dirty="0"/>
              <a:t>Intuition</a:t>
            </a:r>
            <a:r>
              <a:rPr dirty="0" spc="-95"/>
              <a:t> </a:t>
            </a:r>
            <a:r>
              <a:rPr dirty="0"/>
              <a:t>Behind</a:t>
            </a:r>
            <a:r>
              <a:rPr dirty="0" spc="-95"/>
              <a:t> </a:t>
            </a:r>
            <a:r>
              <a:rPr dirty="0"/>
              <a:t>Deep</a:t>
            </a:r>
            <a:r>
              <a:rPr dirty="0" spc="-140"/>
              <a:t> </a:t>
            </a:r>
            <a:r>
              <a:rPr dirty="0"/>
              <a:t>Neural</a:t>
            </a:r>
            <a:r>
              <a:rPr dirty="0" spc="-95"/>
              <a:t> </a:t>
            </a:r>
            <a:r>
              <a:rPr dirty="0" spc="-20"/>
              <a:t>Nets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643140" y="2089890"/>
            <a:ext cx="7846426" cy="4019196"/>
          </a:xfrm>
          <a:prstGeom prst="rect">
            <a:avLst/>
          </a:prstGeom>
        </p:spPr>
      </p:pic>
      <p:sp>
        <p:nvSpPr>
          <p:cNvPr id="3" name="object 3"/>
          <p:cNvSpPr txBox="1">
            <a:spLocks noGrp="1"/>
          </p:cNvSpPr>
          <p:nvPr>
            <p:ph type="title"/>
          </p:nvPr>
        </p:nvSpPr>
        <p:spPr>
          <a:prstGeom prst="rect"/>
        </p:spPr>
        <p:txBody>
          <a:bodyPr wrap="square" lIns="0" tIns="271218" rIns="0" bIns="0" rtlCol="0" vert="horz">
            <a:spAutoFit/>
          </a:bodyPr>
          <a:lstStyle/>
          <a:p>
            <a:pPr marL="12700">
              <a:lnSpc>
                <a:spcPct val="100000"/>
              </a:lnSpc>
              <a:spcBef>
                <a:spcPts val="95"/>
              </a:spcBef>
            </a:pPr>
            <a:r>
              <a:rPr dirty="0"/>
              <a:t>Intuition</a:t>
            </a:r>
            <a:r>
              <a:rPr dirty="0" spc="-95"/>
              <a:t> </a:t>
            </a:r>
            <a:r>
              <a:rPr dirty="0"/>
              <a:t>Behind</a:t>
            </a:r>
            <a:r>
              <a:rPr dirty="0" spc="-95"/>
              <a:t> </a:t>
            </a:r>
            <a:r>
              <a:rPr dirty="0"/>
              <a:t>Deep</a:t>
            </a:r>
            <a:r>
              <a:rPr dirty="0" spc="-140"/>
              <a:t> </a:t>
            </a:r>
            <a:r>
              <a:rPr dirty="0"/>
              <a:t>Neural</a:t>
            </a:r>
            <a:r>
              <a:rPr dirty="0" spc="-95"/>
              <a:t> </a:t>
            </a:r>
            <a:r>
              <a:rPr dirty="0" spc="-20"/>
              <a:t>Nets</a:t>
            </a:r>
          </a:p>
        </p:txBody>
      </p:sp>
      <p:sp>
        <p:nvSpPr>
          <p:cNvPr id="4" name="object 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378323" y="1667327"/>
            <a:ext cx="7451141" cy="4328730"/>
          </a:xfrm>
          <a:prstGeom prst="rect">
            <a:avLst/>
          </a:prstGeom>
        </p:spPr>
      </p:pic>
      <p:sp>
        <p:nvSpPr>
          <p:cNvPr id="3" name="object 3"/>
          <p:cNvSpPr txBox="1">
            <a:spLocks noGrp="1"/>
          </p:cNvSpPr>
          <p:nvPr>
            <p:ph type="title"/>
          </p:nvPr>
        </p:nvSpPr>
        <p:spPr>
          <a:prstGeom prst="rect"/>
        </p:spPr>
        <p:txBody>
          <a:bodyPr wrap="square" lIns="0" tIns="271218" rIns="0" bIns="0" rtlCol="0" vert="horz">
            <a:spAutoFit/>
          </a:bodyPr>
          <a:lstStyle/>
          <a:p>
            <a:pPr marL="12700">
              <a:lnSpc>
                <a:spcPct val="100000"/>
              </a:lnSpc>
              <a:spcBef>
                <a:spcPts val="95"/>
              </a:spcBef>
            </a:pPr>
            <a:r>
              <a:rPr dirty="0"/>
              <a:t>Intuition</a:t>
            </a:r>
            <a:r>
              <a:rPr dirty="0" spc="-95"/>
              <a:t> </a:t>
            </a:r>
            <a:r>
              <a:rPr dirty="0"/>
              <a:t>Behind</a:t>
            </a:r>
            <a:r>
              <a:rPr dirty="0" spc="-95"/>
              <a:t> </a:t>
            </a:r>
            <a:r>
              <a:rPr dirty="0"/>
              <a:t>Deep</a:t>
            </a:r>
            <a:r>
              <a:rPr dirty="0" spc="-140"/>
              <a:t> </a:t>
            </a:r>
            <a:r>
              <a:rPr dirty="0"/>
              <a:t>Neural</a:t>
            </a:r>
            <a:r>
              <a:rPr dirty="0" spc="-95"/>
              <a:t> </a:t>
            </a:r>
            <a:r>
              <a:rPr dirty="0" spc="-20"/>
              <a:t>Nets</a:t>
            </a:r>
          </a:p>
        </p:txBody>
      </p:sp>
      <p:sp>
        <p:nvSpPr>
          <p:cNvPr id="4" name="object 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564070" y="1812011"/>
            <a:ext cx="7446073" cy="4128201"/>
          </a:xfrm>
          <a:prstGeom prst="rect">
            <a:avLst/>
          </a:prstGeom>
        </p:spPr>
      </p:pic>
      <p:sp>
        <p:nvSpPr>
          <p:cNvPr id="3" name="object 3"/>
          <p:cNvSpPr txBox="1">
            <a:spLocks noGrp="1"/>
          </p:cNvSpPr>
          <p:nvPr>
            <p:ph type="title"/>
          </p:nvPr>
        </p:nvSpPr>
        <p:spPr>
          <a:prstGeom prst="rect"/>
        </p:spPr>
        <p:txBody>
          <a:bodyPr wrap="square" lIns="0" tIns="271218" rIns="0" bIns="0" rtlCol="0" vert="horz">
            <a:spAutoFit/>
          </a:bodyPr>
          <a:lstStyle/>
          <a:p>
            <a:pPr marL="12700">
              <a:lnSpc>
                <a:spcPct val="100000"/>
              </a:lnSpc>
              <a:spcBef>
                <a:spcPts val="95"/>
              </a:spcBef>
            </a:pPr>
            <a:r>
              <a:rPr dirty="0"/>
              <a:t>Intuition</a:t>
            </a:r>
            <a:r>
              <a:rPr dirty="0" spc="-95"/>
              <a:t> </a:t>
            </a:r>
            <a:r>
              <a:rPr dirty="0"/>
              <a:t>Behind</a:t>
            </a:r>
            <a:r>
              <a:rPr dirty="0" spc="-95"/>
              <a:t> </a:t>
            </a:r>
            <a:r>
              <a:rPr dirty="0"/>
              <a:t>Deep</a:t>
            </a:r>
            <a:r>
              <a:rPr dirty="0" spc="-140"/>
              <a:t> </a:t>
            </a:r>
            <a:r>
              <a:rPr dirty="0"/>
              <a:t>Neural</a:t>
            </a:r>
            <a:r>
              <a:rPr dirty="0" spc="-95"/>
              <a:t> </a:t>
            </a:r>
            <a:r>
              <a:rPr dirty="0" spc="-20"/>
              <a:t>Nets</a:t>
            </a:r>
          </a:p>
        </p:txBody>
      </p:sp>
      <p:sp>
        <p:nvSpPr>
          <p:cNvPr id="4" name="object 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205107" y="229497"/>
            <a:ext cx="8769985" cy="5308600"/>
          </a:xfrm>
          <a:prstGeom prst="rect">
            <a:avLst/>
          </a:prstGeom>
        </p:spPr>
        <p:txBody>
          <a:bodyPr wrap="square" lIns="0" tIns="15240" rIns="0" bIns="0" rtlCol="0" vert="horz">
            <a:spAutoFit/>
          </a:bodyPr>
          <a:lstStyle/>
          <a:p>
            <a:pPr marL="52705">
              <a:lnSpc>
                <a:spcPct val="100000"/>
              </a:lnSpc>
              <a:spcBef>
                <a:spcPts val="120"/>
              </a:spcBef>
            </a:pPr>
            <a:r>
              <a:rPr dirty="0" sz="1100">
                <a:latin typeface="Microsoft YaHei UI"/>
                <a:cs typeface="Microsoft YaHei UI"/>
              </a:rPr>
              <a:t>输⼊→特征提取（卷积层+池化层）→转换→分类决策（全连接层）→</a:t>
            </a:r>
            <a:r>
              <a:rPr dirty="0" sz="1100" spc="-25">
                <a:latin typeface="Microsoft YaHei UI"/>
                <a:cs typeface="Microsoft YaHei UI"/>
              </a:rPr>
              <a:t>输出</a:t>
            </a:r>
            <a:endParaRPr sz="1100">
              <a:latin typeface="Microsoft YaHei UI"/>
              <a:cs typeface="Microsoft YaHei UI"/>
            </a:endParaRPr>
          </a:p>
          <a:p>
            <a:pPr algn="just" marL="45085" marR="108585">
              <a:lnSpc>
                <a:spcPct val="117600"/>
              </a:lnSpc>
              <a:spcBef>
                <a:spcPts val="1225"/>
              </a:spcBef>
            </a:pPr>
            <a:r>
              <a:rPr dirty="0" sz="1250">
                <a:latin typeface="Microsoft YaHei UI"/>
                <a:cs typeface="Microsoft YaHei UI"/>
              </a:rPr>
              <a:t>我们把你提供的这⼏张图按顺序串起来看，正好就是我刚才描述的“层次化的特征学习” </a:t>
            </a:r>
            <a:r>
              <a:rPr dirty="0" sz="1250" spc="-10">
                <a:latin typeface="Microsoft YaHei UI"/>
                <a:cs typeface="Microsoft YaHei UI"/>
              </a:rPr>
              <a:t>(Hierarchical </a:t>
            </a:r>
            <a:r>
              <a:rPr dirty="0" sz="1250">
                <a:latin typeface="Microsoft YaHei UI"/>
                <a:cs typeface="Microsoft YaHei UI"/>
              </a:rPr>
              <a:t>Feature </a:t>
            </a:r>
            <a:r>
              <a:rPr dirty="0" sz="1250" spc="-20">
                <a:latin typeface="Microsoft YaHei UI"/>
                <a:cs typeface="Microsoft YaHei UI"/>
              </a:rPr>
              <a:t>Learning)</a:t>
            </a:r>
            <a:r>
              <a:rPr dirty="0" sz="1250" spc="-50">
                <a:latin typeface="Microsoft YaHei UI"/>
                <a:cs typeface="Microsoft YaHei UI"/>
              </a:rPr>
              <a:t>过</a:t>
            </a:r>
            <a:r>
              <a:rPr dirty="0" sz="1250" spc="-25">
                <a:latin typeface="Microsoft YaHei UI"/>
                <a:cs typeface="Microsoft YaHei UI"/>
              </a:rPr>
              <a:t>程：</a:t>
            </a:r>
            <a:endParaRPr sz="1250">
              <a:latin typeface="Microsoft YaHei UI"/>
              <a:cs typeface="Microsoft YaHei UI"/>
            </a:endParaRPr>
          </a:p>
          <a:p>
            <a:pPr algn="just" marL="45085" marR="132080">
              <a:lnSpc>
                <a:spcPct val="117600"/>
              </a:lnSpc>
              <a:spcBef>
                <a:spcPts val="1765"/>
              </a:spcBef>
            </a:pPr>
            <a:r>
              <a:rPr dirty="0" sz="1250" spc="-25">
                <a:latin typeface="Microsoft YaHei UI"/>
                <a:cs typeface="Microsoft YaHei UI"/>
              </a:rPr>
              <a:t>第⼀阶段 (对应幻灯⽚</a:t>
            </a:r>
            <a:r>
              <a:rPr dirty="0" sz="1250">
                <a:latin typeface="Microsoft YaHei UI"/>
                <a:cs typeface="Microsoft YaHei UI"/>
              </a:rPr>
              <a:t>13): 这是紧跟在输⼊图像后的第⼀个“⿊盒⼦”（第⼀个卷积层）</a:t>
            </a:r>
            <a:r>
              <a:rPr dirty="0" sz="1250" spc="-5">
                <a:latin typeface="Microsoft YaHei UI"/>
                <a:cs typeface="Microsoft YaHei UI"/>
              </a:rPr>
              <a:t>。它学习到的特征，都是⾮常基础的边缘、线条和⻆点。这正是我们说的，浅层⽹络负责识别最简单的局部模式。</a:t>
            </a:r>
            <a:endParaRPr sz="1250">
              <a:latin typeface="Microsoft YaHei UI"/>
              <a:cs typeface="Microsoft YaHei UI"/>
            </a:endParaRPr>
          </a:p>
          <a:p>
            <a:pPr algn="just" marL="45085" marR="188595">
              <a:lnSpc>
                <a:spcPct val="117600"/>
              </a:lnSpc>
              <a:spcBef>
                <a:spcPts val="1760"/>
              </a:spcBef>
            </a:pPr>
            <a:r>
              <a:rPr dirty="0" sz="1250" spc="5">
                <a:latin typeface="Microsoft YaHei UI"/>
                <a:cs typeface="Microsoft YaHei UI"/>
              </a:rPr>
              <a:t>第⼆阶段 (对应幻灯⽚</a:t>
            </a:r>
            <a:r>
              <a:rPr dirty="0" sz="1250">
                <a:latin typeface="Microsoft YaHei UI"/>
                <a:cs typeface="Microsoft YaHei UI"/>
              </a:rPr>
              <a:t>14):</a:t>
            </a:r>
            <a:r>
              <a:rPr dirty="0" sz="1250" spc="15">
                <a:latin typeface="Microsoft YaHei UI"/>
                <a:cs typeface="Microsoft YaHei UI"/>
              </a:rPr>
              <a:t> 这是中间的“⿊盒⼦</a:t>
            </a:r>
            <a:r>
              <a:rPr dirty="0" sz="1250">
                <a:latin typeface="Microsoft YaHei UI"/>
                <a:cs typeface="Microsoft YaHei UI"/>
              </a:rPr>
              <a:t>”（某个中间卷积层）</a:t>
            </a:r>
            <a:r>
              <a:rPr dirty="0" sz="1250" spc="-5">
                <a:latin typeface="Microsoft YaHei UI"/>
                <a:cs typeface="Microsoft YaHei UI"/>
              </a:rPr>
              <a:t>。它不再直接看原始图⽚，⽽是看第⼀阶段输出的“边</a:t>
            </a:r>
            <a:r>
              <a:rPr dirty="0" sz="1250">
                <a:latin typeface="Microsoft YaHei UI"/>
                <a:cs typeface="Microsoft YaHei UI"/>
              </a:rPr>
              <a:t>缘和线条图”。然后，它把这些简单的线条组合起来，形成了更复杂的物体部件 (Object parts)，</a:t>
            </a:r>
            <a:r>
              <a:rPr dirty="0" sz="1250" spc="-5">
                <a:latin typeface="Microsoft YaHei UI"/>
                <a:cs typeface="Microsoft YaHei UI"/>
              </a:rPr>
              <a:t>⽐如⻋轮的弧度、⻋灯的</a:t>
            </a:r>
            <a:r>
              <a:rPr dirty="0" sz="1250" spc="-10">
                <a:latin typeface="Microsoft YaHei UI"/>
                <a:cs typeface="Microsoft YaHei UI"/>
              </a:rPr>
              <a:t>轮廓、格栅的形状。</a:t>
            </a:r>
            <a:endParaRPr sz="1250">
              <a:latin typeface="Microsoft YaHei UI"/>
              <a:cs typeface="Microsoft YaHei UI"/>
            </a:endParaRPr>
          </a:p>
          <a:p>
            <a:pPr algn="just" marL="45085" marR="120014">
              <a:lnSpc>
                <a:spcPct val="117600"/>
              </a:lnSpc>
              <a:spcBef>
                <a:spcPts val="1765"/>
              </a:spcBef>
            </a:pPr>
            <a:r>
              <a:rPr dirty="0" sz="1250" spc="25">
                <a:latin typeface="Microsoft YaHei UI"/>
                <a:cs typeface="Microsoft YaHei UI"/>
              </a:rPr>
              <a:t>第三阶段 (对应幻灯⽚</a:t>
            </a:r>
            <a:r>
              <a:rPr dirty="0" sz="1250">
                <a:latin typeface="Microsoft YaHei UI"/>
                <a:cs typeface="Microsoft YaHei UI"/>
              </a:rPr>
              <a:t>15):</a:t>
            </a:r>
            <a:r>
              <a:rPr dirty="0" sz="1250" spc="-5">
                <a:latin typeface="Microsoft YaHei UI"/>
                <a:cs typeface="Microsoft YaHei UI"/>
              </a:rPr>
              <a:t> 这是更深层的“⿊盒⼦”。它⼜把第⼆阶段的“物体部件”进⾏组合，最终学习到了能够代表整个物体的、更加抽象和完整的特征，⽐如不同⻆度下的⻋头。</a:t>
            </a:r>
            <a:endParaRPr sz="1250">
              <a:latin typeface="Microsoft YaHei UI"/>
              <a:cs typeface="Microsoft YaHei UI"/>
            </a:endParaRPr>
          </a:p>
          <a:p>
            <a:pPr>
              <a:lnSpc>
                <a:spcPct val="100000"/>
              </a:lnSpc>
              <a:spcBef>
                <a:spcPts val="35"/>
              </a:spcBef>
            </a:pPr>
            <a:endParaRPr sz="1250">
              <a:latin typeface="Microsoft YaHei UI"/>
              <a:cs typeface="Microsoft YaHei UI"/>
            </a:endParaRPr>
          </a:p>
          <a:p>
            <a:pPr algn="just" marL="12700">
              <a:lnSpc>
                <a:spcPct val="100000"/>
              </a:lnSpc>
            </a:pPr>
            <a:r>
              <a:rPr dirty="0" sz="1250" spc="-5">
                <a:latin typeface="Microsoft YaHei UI"/>
                <a:cs typeface="Microsoft YaHei UI"/>
              </a:rPr>
              <a:t>层次化的特征学习 </a:t>
            </a:r>
            <a:r>
              <a:rPr dirty="0" sz="1250" spc="-30">
                <a:latin typeface="Trebuchet MS"/>
                <a:cs typeface="Trebuchet MS"/>
              </a:rPr>
              <a:t>(Hierarchical</a:t>
            </a:r>
            <a:r>
              <a:rPr dirty="0" sz="1250" spc="-25">
                <a:latin typeface="Trebuchet MS"/>
                <a:cs typeface="Trebuchet MS"/>
              </a:rPr>
              <a:t> </a:t>
            </a:r>
            <a:r>
              <a:rPr dirty="0" sz="1250" spc="-20">
                <a:latin typeface="Trebuchet MS"/>
                <a:cs typeface="Trebuchet MS"/>
              </a:rPr>
              <a:t>Feature</a:t>
            </a:r>
            <a:r>
              <a:rPr dirty="0" sz="1250" spc="-25">
                <a:latin typeface="Trebuchet MS"/>
                <a:cs typeface="Trebuchet MS"/>
              </a:rPr>
              <a:t> </a:t>
            </a:r>
            <a:r>
              <a:rPr dirty="0" sz="1250" spc="-10">
                <a:latin typeface="Trebuchet MS"/>
                <a:cs typeface="Trebuchet MS"/>
              </a:rPr>
              <a:t>Learning)</a:t>
            </a:r>
            <a:endParaRPr sz="1250">
              <a:latin typeface="Trebuchet MS"/>
              <a:cs typeface="Trebuchet MS"/>
            </a:endParaRPr>
          </a:p>
          <a:p>
            <a:pPr marL="12700">
              <a:lnSpc>
                <a:spcPct val="100000"/>
              </a:lnSpc>
              <a:spcBef>
                <a:spcPts val="265"/>
              </a:spcBef>
            </a:pPr>
            <a:r>
              <a:rPr dirty="0" sz="1250" spc="125">
                <a:latin typeface="Trebuchet MS"/>
                <a:cs typeface="Trebuchet MS"/>
              </a:rPr>
              <a:t>CNN</a:t>
            </a:r>
            <a:r>
              <a:rPr dirty="0" sz="1250" spc="-30">
                <a:latin typeface="Trebuchet MS"/>
                <a:cs typeface="Trebuchet MS"/>
              </a:rPr>
              <a:t> </a:t>
            </a:r>
            <a:r>
              <a:rPr dirty="0" sz="1250" spc="-5">
                <a:latin typeface="Microsoft YaHei UI"/>
                <a:cs typeface="Microsoft YaHei UI"/>
              </a:rPr>
              <a:t>的强⼤之处在于，卷积层 </a:t>
            </a:r>
            <a:r>
              <a:rPr dirty="0" sz="1250" spc="30">
                <a:latin typeface="Trebuchet MS"/>
                <a:cs typeface="Trebuchet MS"/>
              </a:rPr>
              <a:t>-&gt; </a:t>
            </a:r>
            <a:r>
              <a:rPr dirty="0" sz="1250" spc="-10">
                <a:latin typeface="Microsoft YaHei UI"/>
                <a:cs typeface="Microsoft YaHei UI"/>
              </a:rPr>
              <a:t>池化层 这个组合可以被堆叠多次。</a:t>
            </a:r>
            <a:endParaRPr sz="1250">
              <a:latin typeface="Microsoft YaHei UI"/>
              <a:cs typeface="Microsoft YaHei UI"/>
            </a:endParaRPr>
          </a:p>
          <a:p>
            <a:pPr marL="189865" indent="-177165">
              <a:lnSpc>
                <a:spcPct val="100000"/>
              </a:lnSpc>
              <a:spcBef>
                <a:spcPts val="265"/>
              </a:spcBef>
              <a:buFont typeface="Trebuchet MS"/>
              <a:buAutoNum type="arabicPeriod"/>
              <a:tabLst>
                <a:tab pos="189865" algn="l"/>
              </a:tabLst>
            </a:pPr>
            <a:r>
              <a:rPr dirty="0" sz="1250" spc="-5">
                <a:latin typeface="Microsoft YaHei UI"/>
                <a:cs typeface="Microsoft YaHei UI"/>
              </a:rPr>
              <a:t>浅层⽹络 </a:t>
            </a:r>
            <a:r>
              <a:rPr dirty="0" sz="1250" spc="-145">
                <a:latin typeface="Trebuchet MS"/>
                <a:cs typeface="Trebuchet MS"/>
              </a:rPr>
              <a:t>(</a:t>
            </a:r>
            <a:r>
              <a:rPr dirty="0" sz="1250">
                <a:latin typeface="Microsoft YaHei UI"/>
                <a:cs typeface="Microsoft YaHei UI"/>
              </a:rPr>
              <a:t>靠近输⼊</a:t>
            </a:r>
            <a:r>
              <a:rPr dirty="0" sz="1250" spc="-95">
                <a:latin typeface="Trebuchet MS"/>
                <a:cs typeface="Trebuchet MS"/>
              </a:rPr>
              <a:t>): </a:t>
            </a:r>
            <a:r>
              <a:rPr dirty="0" sz="1250">
                <a:latin typeface="Microsoft YaHei UI"/>
                <a:cs typeface="Microsoft YaHei UI"/>
              </a:rPr>
              <a:t>卷积层学习到的是⾮常简单、基础的特征（边缘、颜⾊、纹理）</a:t>
            </a:r>
            <a:r>
              <a:rPr dirty="0" sz="1250" spc="-50">
                <a:latin typeface="Microsoft YaHei UI"/>
                <a:cs typeface="Microsoft YaHei UI"/>
              </a:rPr>
              <a:t>。</a:t>
            </a:r>
            <a:endParaRPr sz="1250">
              <a:latin typeface="Microsoft YaHei UI"/>
              <a:cs typeface="Microsoft YaHei UI"/>
            </a:endParaRPr>
          </a:p>
          <a:p>
            <a:pPr marL="12700" marR="5080" indent="177165">
              <a:lnSpc>
                <a:spcPct val="117600"/>
              </a:lnSpc>
              <a:buFont typeface="Trebuchet MS"/>
              <a:buAutoNum type="arabicPeriod"/>
              <a:tabLst>
                <a:tab pos="189865" algn="l"/>
              </a:tabLst>
            </a:pPr>
            <a:r>
              <a:rPr dirty="0" sz="1250">
                <a:latin typeface="Microsoft YaHei UI"/>
                <a:cs typeface="Microsoft YaHei UI"/>
              </a:rPr>
              <a:t>中层⽹络</a:t>
            </a:r>
            <a:r>
              <a:rPr dirty="0" sz="1250" spc="-75">
                <a:latin typeface="Trebuchet MS"/>
                <a:cs typeface="Trebuchet MS"/>
              </a:rPr>
              <a:t>: </a:t>
            </a:r>
            <a:r>
              <a:rPr dirty="0" sz="1250" spc="-5">
                <a:latin typeface="Microsoft YaHei UI"/>
                <a:cs typeface="Microsoft YaHei UI"/>
              </a:rPr>
              <a:t>后续的卷积层会以前⼀层输出的特征图作为输⼊。它们不再看原始像素，⽽是看由基础特征组成的模式。因此，</a:t>
            </a:r>
            <a:r>
              <a:rPr dirty="0" sz="1250">
                <a:latin typeface="Microsoft YaHei UI"/>
                <a:cs typeface="Microsoft YaHei UI"/>
              </a:rPr>
              <a:t>它们能学习到更复杂的特征，⽐如眼睛的轮廓、⿐⼦的形状（通过组合边缘和弧线得到）</a:t>
            </a:r>
            <a:r>
              <a:rPr dirty="0" sz="1250" spc="-50">
                <a:latin typeface="Microsoft YaHei UI"/>
                <a:cs typeface="Microsoft YaHei UI"/>
              </a:rPr>
              <a:t>。</a:t>
            </a:r>
            <a:endParaRPr sz="1250">
              <a:latin typeface="Microsoft YaHei UI"/>
              <a:cs typeface="Microsoft YaHei UI"/>
            </a:endParaRPr>
          </a:p>
          <a:p>
            <a:pPr marL="12700" marR="37465" indent="177165">
              <a:lnSpc>
                <a:spcPct val="117600"/>
              </a:lnSpc>
              <a:buFont typeface="Trebuchet MS"/>
              <a:buAutoNum type="arabicPeriod"/>
              <a:tabLst>
                <a:tab pos="189865" algn="l"/>
              </a:tabLst>
            </a:pPr>
            <a:r>
              <a:rPr dirty="0" sz="1250" spc="-5">
                <a:latin typeface="Microsoft YaHei UI"/>
                <a:cs typeface="Microsoft YaHei UI"/>
              </a:rPr>
              <a:t>深层⽹络 </a:t>
            </a:r>
            <a:r>
              <a:rPr dirty="0" sz="1250" spc="-145">
                <a:latin typeface="Trebuchet MS"/>
                <a:cs typeface="Trebuchet MS"/>
              </a:rPr>
              <a:t>(</a:t>
            </a:r>
            <a:r>
              <a:rPr dirty="0" sz="1250">
                <a:latin typeface="Microsoft YaHei UI"/>
                <a:cs typeface="Microsoft YaHei UI"/>
              </a:rPr>
              <a:t>靠近输出</a:t>
            </a:r>
            <a:r>
              <a:rPr dirty="0" sz="1250" spc="-95">
                <a:latin typeface="Trebuchet MS"/>
                <a:cs typeface="Trebuchet MS"/>
              </a:rPr>
              <a:t>): </a:t>
            </a:r>
            <a:r>
              <a:rPr dirty="0" sz="1250">
                <a:latin typeface="Microsoft YaHei UI"/>
                <a:cs typeface="Microsoft YaHei UI"/>
              </a:rPr>
              <a:t>更深层的卷积层则能将中层特征组合起来，识别出物体的特定部分，甚⾄是整个物体（</a:t>
            </a:r>
            <a:r>
              <a:rPr dirty="0" sz="1250" spc="-10">
                <a:latin typeface="Microsoft YaHei UI"/>
                <a:cs typeface="Microsoft YaHei UI"/>
              </a:rPr>
              <a:t>例如，通过组</a:t>
            </a:r>
            <a:r>
              <a:rPr dirty="0" sz="1250">
                <a:latin typeface="Microsoft YaHei UI"/>
                <a:cs typeface="Microsoft YaHei UI"/>
              </a:rPr>
              <a:t>合眼睛、⿐⼦、嘴巴的特征来识别⼈脸）</a:t>
            </a:r>
            <a:r>
              <a:rPr dirty="0" sz="1250" spc="-50">
                <a:latin typeface="Microsoft YaHei UI"/>
                <a:cs typeface="Microsoft YaHei UI"/>
              </a:rPr>
              <a:t>。</a:t>
            </a:r>
            <a:endParaRPr sz="1250">
              <a:latin typeface="Microsoft YaHei UI"/>
              <a:cs typeface="Microsoft YaHei UI"/>
            </a:endParaRPr>
          </a:p>
          <a:p>
            <a:pPr marL="12700" marR="271780">
              <a:lnSpc>
                <a:spcPct val="117600"/>
              </a:lnSpc>
            </a:pPr>
            <a:r>
              <a:rPr dirty="0" sz="1250" spc="-5">
                <a:latin typeface="Microsoft YaHei UI"/>
                <a:cs typeface="Microsoft YaHei UI"/>
              </a:rPr>
              <a:t>到此为⽌，特征提取阶段结束。我们得到的是⼀组⾼度抽象化的、尺⼨较⼩的特征图，它们包含了识别物体所需的关键信</a:t>
            </a:r>
            <a:r>
              <a:rPr dirty="0" sz="1250" spc="-25">
                <a:latin typeface="Microsoft YaHei UI"/>
                <a:cs typeface="Microsoft YaHei UI"/>
              </a:rPr>
              <a:t>息。</a:t>
            </a:r>
            <a:endParaRPr sz="1250">
              <a:latin typeface="Microsoft YaHei UI"/>
              <a:cs typeface="Microsoft YaHei U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60739" rIns="0" bIns="0" rtlCol="0" vert="horz">
            <a:spAutoFit/>
          </a:bodyPr>
          <a:lstStyle/>
          <a:p>
            <a:pPr marL="1835785">
              <a:lnSpc>
                <a:spcPct val="100000"/>
              </a:lnSpc>
              <a:spcBef>
                <a:spcPts val="95"/>
              </a:spcBef>
            </a:pPr>
            <a:r>
              <a:rPr dirty="0"/>
              <a:t>Convolutional</a:t>
            </a:r>
            <a:r>
              <a:rPr dirty="0" spc="-204"/>
              <a:t> </a:t>
            </a:r>
            <a:r>
              <a:rPr dirty="0" spc="-25"/>
              <a:t>NN</a:t>
            </a:r>
          </a:p>
        </p:txBody>
      </p:sp>
      <p:sp>
        <p:nvSpPr>
          <p:cNvPr id="3" name="object 3" descr=""/>
          <p:cNvSpPr txBox="1"/>
          <p:nvPr/>
        </p:nvSpPr>
        <p:spPr>
          <a:xfrm>
            <a:off x="622311" y="4724656"/>
            <a:ext cx="2632075" cy="903605"/>
          </a:xfrm>
          <a:prstGeom prst="rect">
            <a:avLst/>
          </a:prstGeom>
        </p:spPr>
        <p:txBody>
          <a:bodyPr wrap="square" lIns="0" tIns="85725" rIns="0" bIns="0" rtlCol="0" vert="horz">
            <a:spAutoFit/>
          </a:bodyPr>
          <a:lstStyle/>
          <a:p>
            <a:pPr marL="247015" indent="-238125">
              <a:lnSpc>
                <a:spcPct val="100000"/>
              </a:lnSpc>
              <a:spcBef>
                <a:spcPts val="675"/>
              </a:spcBef>
              <a:buSzPct val="95833"/>
              <a:buAutoNum type="arabicPeriod"/>
              <a:tabLst>
                <a:tab pos="247015" algn="l"/>
              </a:tabLst>
            </a:pPr>
            <a:r>
              <a:rPr dirty="0" sz="2400" b="1">
                <a:latin typeface="Calibri"/>
                <a:cs typeface="Calibri"/>
              </a:rPr>
              <a:t>Local</a:t>
            </a:r>
            <a:r>
              <a:rPr dirty="0" sz="2400" spc="-90" b="1">
                <a:latin typeface="Calibri"/>
                <a:cs typeface="Calibri"/>
              </a:rPr>
              <a:t> </a:t>
            </a:r>
            <a:r>
              <a:rPr dirty="0" sz="2400" b="1">
                <a:latin typeface="Calibri"/>
                <a:cs typeface="Calibri"/>
              </a:rPr>
              <a:t>receive</a:t>
            </a:r>
            <a:r>
              <a:rPr dirty="0" sz="2400" spc="-80" b="1">
                <a:latin typeface="Calibri"/>
                <a:cs typeface="Calibri"/>
              </a:rPr>
              <a:t> </a:t>
            </a:r>
            <a:r>
              <a:rPr dirty="0" sz="2400" spc="-10" b="1">
                <a:latin typeface="Calibri"/>
                <a:cs typeface="Calibri"/>
              </a:rPr>
              <a:t>fields</a:t>
            </a:r>
            <a:endParaRPr sz="2400">
              <a:latin typeface="Calibri"/>
              <a:cs typeface="Calibri"/>
            </a:endParaRPr>
          </a:p>
          <a:p>
            <a:pPr marL="247015" indent="-238125">
              <a:lnSpc>
                <a:spcPct val="100000"/>
              </a:lnSpc>
              <a:spcBef>
                <a:spcPts val="575"/>
              </a:spcBef>
              <a:buSzPct val="95833"/>
              <a:buAutoNum type="arabicPeriod"/>
              <a:tabLst>
                <a:tab pos="247015" algn="l"/>
              </a:tabLst>
            </a:pPr>
            <a:r>
              <a:rPr dirty="0" sz="2400" b="1">
                <a:latin typeface="Calibri"/>
                <a:cs typeface="Calibri"/>
              </a:rPr>
              <a:t>Shared</a:t>
            </a:r>
            <a:r>
              <a:rPr dirty="0" sz="2400" spc="-90" b="1">
                <a:latin typeface="Calibri"/>
                <a:cs typeface="Calibri"/>
              </a:rPr>
              <a:t> </a:t>
            </a:r>
            <a:r>
              <a:rPr dirty="0" sz="2400" spc="-10" b="1">
                <a:latin typeface="Calibri"/>
                <a:cs typeface="Calibri"/>
              </a:rPr>
              <a:t>weights</a:t>
            </a:r>
            <a:endParaRPr sz="2400">
              <a:latin typeface="Calibri"/>
              <a:cs typeface="Calibri"/>
            </a:endParaRPr>
          </a:p>
        </p:txBody>
      </p:sp>
      <p:sp>
        <p:nvSpPr>
          <p:cNvPr id="4" name="object 4" descr=""/>
          <p:cNvSpPr txBox="1"/>
          <p:nvPr/>
        </p:nvSpPr>
        <p:spPr>
          <a:xfrm>
            <a:off x="165111" y="3264176"/>
            <a:ext cx="8844915" cy="1619250"/>
          </a:xfrm>
          <a:prstGeom prst="rect">
            <a:avLst/>
          </a:prstGeom>
        </p:spPr>
        <p:txBody>
          <a:bodyPr wrap="square" lIns="0" tIns="37465" rIns="0" bIns="0" rtlCol="0" vert="horz">
            <a:spAutoFit/>
          </a:bodyPr>
          <a:lstStyle/>
          <a:p>
            <a:pPr marL="27940">
              <a:lnSpc>
                <a:spcPct val="100000"/>
              </a:lnSpc>
              <a:spcBef>
                <a:spcPts val="295"/>
              </a:spcBef>
            </a:pPr>
            <a:r>
              <a:rPr dirty="0" sz="850" spc="10">
                <a:latin typeface="Microsoft YaHei UI"/>
                <a:cs typeface="Microsoft YaHei UI"/>
              </a:rPr>
              <a:t>局部感受野 </a:t>
            </a:r>
            <a:r>
              <a:rPr dirty="0" sz="850">
                <a:latin typeface="Microsoft YaHei UI"/>
                <a:cs typeface="Microsoft YaHei UI"/>
              </a:rPr>
              <a:t>(Local</a:t>
            </a:r>
            <a:r>
              <a:rPr dirty="0" sz="850" spc="85">
                <a:latin typeface="Microsoft YaHei UI"/>
                <a:cs typeface="Microsoft YaHei UI"/>
              </a:rPr>
              <a:t> </a:t>
            </a:r>
            <a:r>
              <a:rPr dirty="0" sz="850">
                <a:latin typeface="Microsoft YaHei UI"/>
                <a:cs typeface="Microsoft YaHei UI"/>
              </a:rPr>
              <a:t>receptive</a:t>
            </a:r>
            <a:r>
              <a:rPr dirty="0" sz="850" spc="80">
                <a:latin typeface="Microsoft YaHei UI"/>
                <a:cs typeface="Microsoft YaHei UI"/>
              </a:rPr>
              <a:t> </a:t>
            </a:r>
            <a:r>
              <a:rPr dirty="0" sz="850" spc="-10">
                <a:latin typeface="Microsoft YaHei UI"/>
                <a:cs typeface="Microsoft YaHei UI"/>
              </a:rPr>
              <a:t>ﬁelds):</a:t>
            </a:r>
            <a:endParaRPr sz="850">
              <a:latin typeface="Microsoft YaHei UI"/>
              <a:cs typeface="Microsoft YaHei UI"/>
            </a:endParaRPr>
          </a:p>
          <a:p>
            <a:pPr marL="27940">
              <a:lnSpc>
                <a:spcPct val="100000"/>
              </a:lnSpc>
              <a:spcBef>
                <a:spcPts val="204"/>
              </a:spcBef>
            </a:pPr>
            <a:r>
              <a:rPr dirty="0" sz="850" spc="5">
                <a:latin typeface="Microsoft YaHei UI"/>
                <a:cs typeface="Microsoft YaHei UI"/>
              </a:rPr>
              <a:t>对应概念: 这就是卷积层中滤波器 </a:t>
            </a:r>
            <a:r>
              <a:rPr dirty="0" sz="850">
                <a:latin typeface="Microsoft YaHei UI"/>
                <a:cs typeface="Microsoft YaHei UI"/>
              </a:rPr>
              <a:t>(Filter)</a:t>
            </a:r>
            <a:r>
              <a:rPr dirty="0" sz="850" spc="50">
                <a:latin typeface="Microsoft YaHei UI"/>
                <a:cs typeface="Microsoft YaHei UI"/>
              </a:rPr>
              <a:t> / 卷积核 </a:t>
            </a:r>
            <a:r>
              <a:rPr dirty="0" sz="850">
                <a:latin typeface="Microsoft YaHei UI"/>
                <a:cs typeface="Microsoft YaHei UI"/>
              </a:rPr>
              <a:t>(Kernel)</a:t>
            </a:r>
            <a:r>
              <a:rPr dirty="0" sz="850" spc="5">
                <a:latin typeface="Microsoft YaHei UI"/>
                <a:cs typeface="Microsoft YaHei UI"/>
              </a:rPr>
              <a:t> 的⼯作⽅式。</a:t>
            </a:r>
            <a:endParaRPr sz="850">
              <a:latin typeface="Microsoft YaHei UI"/>
              <a:cs typeface="Microsoft YaHei UI"/>
            </a:endParaRPr>
          </a:p>
          <a:p>
            <a:pPr marL="27940">
              <a:lnSpc>
                <a:spcPct val="100000"/>
              </a:lnSpc>
              <a:spcBef>
                <a:spcPts val="200"/>
              </a:spcBef>
            </a:pPr>
            <a:r>
              <a:rPr dirty="0" sz="850" spc="20">
                <a:latin typeface="Microsoft YaHei UI"/>
                <a:cs typeface="Microsoft YaHei UI"/>
              </a:rPr>
              <a:t>解释: 在传统的神经⽹络⾥</a:t>
            </a:r>
            <a:r>
              <a:rPr dirty="0" sz="850">
                <a:latin typeface="Microsoft YaHei UI"/>
                <a:cs typeface="Microsoft YaHei UI"/>
              </a:rPr>
              <a:t>（图左侧），</a:t>
            </a:r>
            <a:r>
              <a:rPr dirty="0" sz="850" spc="5">
                <a:latin typeface="Microsoft YaHei UI"/>
                <a:cs typeface="Microsoft YaHei UI"/>
              </a:rPr>
              <a:t>输⼊层的每个神经元都要和隐藏层的所有神经元连接。如果输⼊是⼀张⼤图⽚，那连接数简直是天⽂数字！⽽ </a:t>
            </a:r>
            <a:r>
              <a:rPr dirty="0" sz="850">
                <a:latin typeface="Microsoft YaHei UI"/>
                <a:cs typeface="Microsoft YaHei UI"/>
              </a:rPr>
              <a:t>CNN</a:t>
            </a:r>
            <a:r>
              <a:rPr dirty="0" sz="850" spc="20">
                <a:latin typeface="Microsoft YaHei UI"/>
                <a:cs typeface="Microsoft YaHei UI"/>
              </a:rPr>
              <a:t> 的卷积层不同，每个神经</a:t>
            </a:r>
            <a:endParaRPr sz="850">
              <a:latin typeface="Microsoft YaHei UI"/>
              <a:cs typeface="Microsoft YaHei UI"/>
            </a:endParaRPr>
          </a:p>
          <a:p>
            <a:pPr marL="27940">
              <a:lnSpc>
                <a:spcPts val="1220"/>
              </a:lnSpc>
              <a:spcBef>
                <a:spcPts val="215"/>
              </a:spcBef>
            </a:pPr>
            <a:r>
              <a:rPr dirty="0" sz="850">
                <a:latin typeface="Microsoft YaHei UI"/>
                <a:cs typeface="Microsoft YaHei UI"/>
              </a:rPr>
              <a:t>元只关注输⼊图像中的⼀⼩块局部区域（</a:t>
            </a:r>
            <a:r>
              <a:rPr dirty="0" sz="850" spc="85">
                <a:latin typeface="Microsoft YaHei UI"/>
                <a:cs typeface="Microsoft YaHei UI"/>
              </a:rPr>
              <a:t>⽐如  </a:t>
            </a:r>
            <a:r>
              <a:rPr dirty="0" sz="850">
                <a:latin typeface="Microsoft YaHei UI"/>
                <a:cs typeface="Microsoft YaHei UI"/>
              </a:rPr>
              <a:t>3x3</a:t>
            </a:r>
            <a:r>
              <a:rPr dirty="0" sz="850" spc="140">
                <a:latin typeface="Microsoft YaHei UI"/>
                <a:cs typeface="Microsoft YaHei UI"/>
              </a:rPr>
              <a:t>  或  </a:t>
            </a:r>
            <a:r>
              <a:rPr dirty="0" sz="850">
                <a:latin typeface="Microsoft YaHei UI"/>
                <a:cs typeface="Microsoft YaHei UI"/>
              </a:rPr>
              <a:t>5x5），这就是它的“局部感受野”。它只处理⾃⼰“视野”内的信息，就像拼图⼀样，每个⼈只负责⼀⼩块，最后再整合</a:t>
            </a:r>
            <a:r>
              <a:rPr dirty="0" sz="1300" spc="-50">
                <a:latin typeface="Microsoft YaHei UI"/>
                <a:cs typeface="Microsoft YaHei UI"/>
              </a:rPr>
              <a:t>。</a:t>
            </a:r>
            <a:endParaRPr sz="1300">
              <a:latin typeface="Microsoft YaHei UI"/>
              <a:cs typeface="Microsoft YaHei UI"/>
            </a:endParaRPr>
          </a:p>
          <a:p>
            <a:pPr marL="354965" indent="-342265">
              <a:lnSpc>
                <a:spcPts val="3020"/>
              </a:lnSpc>
              <a:buFont typeface="Arial MT"/>
              <a:buChar char="•"/>
              <a:tabLst>
                <a:tab pos="354965" algn="l"/>
              </a:tabLst>
            </a:pPr>
            <a:r>
              <a:rPr dirty="0" sz="2800" spc="-10">
                <a:latin typeface="Calibri"/>
                <a:cs typeface="Calibri"/>
              </a:rPr>
              <a:t>Convolutional</a:t>
            </a:r>
            <a:r>
              <a:rPr dirty="0" sz="2800" spc="-70">
                <a:latin typeface="Calibri"/>
                <a:cs typeface="Calibri"/>
              </a:rPr>
              <a:t> </a:t>
            </a:r>
            <a:r>
              <a:rPr dirty="0" sz="2800">
                <a:latin typeface="Calibri"/>
                <a:cs typeface="Calibri"/>
              </a:rPr>
              <a:t>Neural</a:t>
            </a:r>
            <a:r>
              <a:rPr dirty="0" sz="2800" spc="-90">
                <a:latin typeface="Calibri"/>
                <a:cs typeface="Calibri"/>
              </a:rPr>
              <a:t> </a:t>
            </a:r>
            <a:r>
              <a:rPr dirty="0" sz="2800">
                <a:latin typeface="Calibri"/>
                <a:cs typeface="Calibri"/>
              </a:rPr>
              <a:t>Networks</a:t>
            </a:r>
            <a:r>
              <a:rPr dirty="0" sz="2800" spc="-70">
                <a:latin typeface="Calibri"/>
                <a:cs typeface="Calibri"/>
              </a:rPr>
              <a:t> </a:t>
            </a:r>
            <a:r>
              <a:rPr dirty="0" sz="2800">
                <a:latin typeface="Calibri"/>
                <a:cs typeface="Calibri"/>
              </a:rPr>
              <a:t>is</a:t>
            </a:r>
            <a:r>
              <a:rPr dirty="0" sz="2800" spc="-95">
                <a:latin typeface="Calibri"/>
                <a:cs typeface="Calibri"/>
              </a:rPr>
              <a:t> </a:t>
            </a:r>
            <a:r>
              <a:rPr dirty="0" sz="2800">
                <a:latin typeface="Calibri"/>
                <a:cs typeface="Calibri"/>
              </a:rPr>
              <a:t>extension</a:t>
            </a:r>
            <a:r>
              <a:rPr dirty="0" sz="2800" spc="-75">
                <a:latin typeface="Calibri"/>
                <a:cs typeface="Calibri"/>
              </a:rPr>
              <a:t> </a:t>
            </a:r>
            <a:r>
              <a:rPr dirty="0" sz="2800">
                <a:latin typeface="Calibri"/>
                <a:cs typeface="Calibri"/>
              </a:rPr>
              <a:t>of</a:t>
            </a:r>
            <a:r>
              <a:rPr dirty="0" sz="2800" spc="-95">
                <a:latin typeface="Calibri"/>
                <a:cs typeface="Calibri"/>
              </a:rPr>
              <a:t> </a:t>
            </a:r>
            <a:r>
              <a:rPr dirty="0" sz="2800" spc="-10">
                <a:latin typeface="Calibri"/>
                <a:cs typeface="Calibri"/>
              </a:rPr>
              <a:t>traditional</a:t>
            </a:r>
            <a:endParaRPr sz="2800">
              <a:latin typeface="Calibri"/>
              <a:cs typeface="Calibri"/>
            </a:endParaRPr>
          </a:p>
          <a:p>
            <a:pPr marL="355600">
              <a:lnSpc>
                <a:spcPct val="100000"/>
              </a:lnSpc>
            </a:pPr>
            <a:r>
              <a:rPr dirty="0" sz="2800" spc="-25">
                <a:latin typeface="Calibri"/>
                <a:cs typeface="Calibri"/>
              </a:rPr>
              <a:t>Multi-</a:t>
            </a:r>
            <a:r>
              <a:rPr dirty="0" sz="2800">
                <a:latin typeface="Calibri"/>
                <a:cs typeface="Calibri"/>
              </a:rPr>
              <a:t>layer</a:t>
            </a:r>
            <a:r>
              <a:rPr dirty="0" sz="2800" spc="-15">
                <a:latin typeface="Calibri"/>
                <a:cs typeface="Calibri"/>
              </a:rPr>
              <a:t> </a:t>
            </a:r>
            <a:r>
              <a:rPr dirty="0" sz="2800" spc="-20">
                <a:latin typeface="Calibri"/>
                <a:cs typeface="Calibri"/>
              </a:rPr>
              <a:t>Perceptron,</a:t>
            </a:r>
            <a:r>
              <a:rPr dirty="0" sz="2800" spc="-15">
                <a:latin typeface="Calibri"/>
                <a:cs typeface="Calibri"/>
              </a:rPr>
              <a:t> </a:t>
            </a:r>
            <a:r>
              <a:rPr dirty="0" sz="2800">
                <a:latin typeface="Calibri"/>
                <a:cs typeface="Calibri"/>
              </a:rPr>
              <a:t>based</a:t>
            </a:r>
            <a:r>
              <a:rPr dirty="0" sz="2800" spc="-30">
                <a:latin typeface="Calibri"/>
                <a:cs typeface="Calibri"/>
              </a:rPr>
              <a:t> </a:t>
            </a:r>
            <a:r>
              <a:rPr dirty="0" sz="2800">
                <a:latin typeface="Calibri"/>
                <a:cs typeface="Calibri"/>
              </a:rPr>
              <a:t>on</a:t>
            </a:r>
            <a:r>
              <a:rPr dirty="0" sz="2800" spc="-50">
                <a:latin typeface="Calibri"/>
                <a:cs typeface="Calibri"/>
              </a:rPr>
              <a:t> </a:t>
            </a:r>
            <a:r>
              <a:rPr dirty="0" sz="2800">
                <a:latin typeface="Calibri"/>
                <a:cs typeface="Calibri"/>
              </a:rPr>
              <a:t>3</a:t>
            </a:r>
            <a:r>
              <a:rPr dirty="0" sz="2800" spc="-35">
                <a:latin typeface="Calibri"/>
                <a:cs typeface="Calibri"/>
              </a:rPr>
              <a:t> </a:t>
            </a:r>
            <a:r>
              <a:rPr dirty="0" sz="2800" spc="-10">
                <a:latin typeface="Calibri"/>
                <a:cs typeface="Calibri"/>
              </a:rPr>
              <a:t>ideas:</a:t>
            </a:r>
            <a:endParaRPr sz="2800">
              <a:latin typeface="Calibri"/>
              <a:cs typeface="Calibri"/>
            </a:endParaRPr>
          </a:p>
          <a:p>
            <a:pPr algn="ctr" marR="578485">
              <a:lnSpc>
                <a:spcPct val="100000"/>
              </a:lnSpc>
              <a:spcBef>
                <a:spcPts val="170"/>
              </a:spcBef>
            </a:pPr>
            <a:r>
              <a:rPr dirty="0" sz="750" spc="5">
                <a:latin typeface="Microsoft YaHei UI"/>
                <a:cs typeface="Microsoft YaHei UI"/>
              </a:rPr>
              <a:t>权值共享 </a:t>
            </a:r>
            <a:r>
              <a:rPr dirty="0" sz="750">
                <a:latin typeface="Microsoft YaHei UI"/>
                <a:cs typeface="Microsoft YaHei UI"/>
              </a:rPr>
              <a:t>(Shared</a:t>
            </a:r>
            <a:r>
              <a:rPr dirty="0" sz="750" spc="30">
                <a:latin typeface="Microsoft YaHei UI"/>
                <a:cs typeface="Microsoft YaHei UI"/>
              </a:rPr>
              <a:t> </a:t>
            </a:r>
            <a:r>
              <a:rPr dirty="0" sz="750" spc="-10">
                <a:latin typeface="Microsoft YaHei UI"/>
                <a:cs typeface="Microsoft YaHei UI"/>
              </a:rPr>
              <a:t>weights):</a:t>
            </a:r>
            <a:endParaRPr sz="750">
              <a:latin typeface="Microsoft YaHei UI"/>
              <a:cs typeface="Microsoft YaHei UI"/>
            </a:endParaRPr>
          </a:p>
        </p:txBody>
      </p:sp>
      <p:pic>
        <p:nvPicPr>
          <p:cNvPr id="5" name="object 5" descr=""/>
          <p:cNvPicPr/>
          <p:nvPr/>
        </p:nvPicPr>
        <p:blipFill>
          <a:blip r:embed="rId2" cstate="print"/>
          <a:stretch>
            <a:fillRect/>
          </a:stretch>
        </p:blipFill>
        <p:spPr>
          <a:xfrm>
            <a:off x="193872" y="1377845"/>
            <a:ext cx="2710789" cy="1817930"/>
          </a:xfrm>
          <a:prstGeom prst="rect">
            <a:avLst/>
          </a:prstGeom>
        </p:spPr>
      </p:pic>
      <p:grpSp>
        <p:nvGrpSpPr>
          <p:cNvPr id="6" name="object 6" descr=""/>
          <p:cNvGrpSpPr/>
          <p:nvPr/>
        </p:nvGrpSpPr>
        <p:grpSpPr>
          <a:xfrm>
            <a:off x="3984878" y="1624202"/>
            <a:ext cx="5130800" cy="1299210"/>
            <a:chOff x="3984878" y="1624202"/>
            <a:chExt cx="5130800" cy="1299210"/>
          </a:xfrm>
        </p:grpSpPr>
        <p:pic>
          <p:nvPicPr>
            <p:cNvPr id="7" name="object 7" descr=""/>
            <p:cNvPicPr/>
            <p:nvPr/>
          </p:nvPicPr>
          <p:blipFill>
            <a:blip r:embed="rId3" cstate="print"/>
            <a:stretch>
              <a:fillRect/>
            </a:stretch>
          </p:blipFill>
          <p:spPr>
            <a:xfrm>
              <a:off x="4062392" y="1658465"/>
              <a:ext cx="4969338" cy="1224500"/>
            </a:xfrm>
            <a:prstGeom prst="rect">
              <a:avLst/>
            </a:prstGeom>
          </p:spPr>
        </p:pic>
        <p:sp>
          <p:nvSpPr>
            <p:cNvPr id="8" name="object 8" descr=""/>
            <p:cNvSpPr/>
            <p:nvPr/>
          </p:nvSpPr>
          <p:spPr>
            <a:xfrm>
              <a:off x="3989641" y="1628965"/>
              <a:ext cx="5121275" cy="1289685"/>
            </a:xfrm>
            <a:custGeom>
              <a:avLst/>
              <a:gdLst/>
              <a:ahLst/>
              <a:cxnLst/>
              <a:rect l="l" t="t" r="r" b="b"/>
              <a:pathLst>
                <a:path w="5121275" h="1289685">
                  <a:moveTo>
                    <a:pt x="0" y="1289685"/>
                  </a:moveTo>
                  <a:lnTo>
                    <a:pt x="5121021" y="1289685"/>
                  </a:lnTo>
                  <a:lnTo>
                    <a:pt x="5121021" y="0"/>
                  </a:lnTo>
                  <a:lnTo>
                    <a:pt x="0" y="0"/>
                  </a:lnTo>
                  <a:lnTo>
                    <a:pt x="0" y="1289685"/>
                  </a:lnTo>
                  <a:close/>
                </a:path>
              </a:pathLst>
            </a:custGeom>
            <a:ln w="9525">
              <a:solidFill>
                <a:srgbClr val="FFFF00"/>
              </a:solidFill>
            </a:ln>
          </p:spPr>
          <p:txBody>
            <a:bodyPr wrap="square" lIns="0" tIns="0" rIns="0" bIns="0" rtlCol="0"/>
            <a:lstStyle/>
            <a:p/>
          </p:txBody>
        </p:sp>
      </p:grpSp>
      <p:grpSp>
        <p:nvGrpSpPr>
          <p:cNvPr id="9" name="object 9" descr=""/>
          <p:cNvGrpSpPr/>
          <p:nvPr/>
        </p:nvGrpSpPr>
        <p:grpSpPr>
          <a:xfrm>
            <a:off x="2976626" y="2001266"/>
            <a:ext cx="827405" cy="548640"/>
            <a:chOff x="2976626" y="2001266"/>
            <a:chExt cx="827405" cy="548640"/>
          </a:xfrm>
        </p:grpSpPr>
        <p:sp>
          <p:nvSpPr>
            <p:cNvPr id="10" name="object 10" descr=""/>
            <p:cNvSpPr/>
            <p:nvPr/>
          </p:nvSpPr>
          <p:spPr>
            <a:xfrm>
              <a:off x="2989326" y="2013966"/>
              <a:ext cx="802005" cy="523240"/>
            </a:xfrm>
            <a:custGeom>
              <a:avLst/>
              <a:gdLst/>
              <a:ahLst/>
              <a:cxnLst/>
              <a:rect l="l" t="t" r="r" b="b"/>
              <a:pathLst>
                <a:path w="802004" h="523239">
                  <a:moveTo>
                    <a:pt x="540258" y="0"/>
                  </a:moveTo>
                  <a:lnTo>
                    <a:pt x="540258" y="130683"/>
                  </a:lnTo>
                  <a:lnTo>
                    <a:pt x="0" y="130683"/>
                  </a:lnTo>
                  <a:lnTo>
                    <a:pt x="0" y="392049"/>
                  </a:lnTo>
                  <a:lnTo>
                    <a:pt x="540258" y="392049"/>
                  </a:lnTo>
                  <a:lnTo>
                    <a:pt x="540258" y="522732"/>
                  </a:lnTo>
                  <a:lnTo>
                    <a:pt x="801624" y="261366"/>
                  </a:lnTo>
                  <a:lnTo>
                    <a:pt x="540258" y="0"/>
                  </a:lnTo>
                  <a:close/>
                </a:path>
              </a:pathLst>
            </a:custGeom>
            <a:solidFill>
              <a:srgbClr val="4F81BD"/>
            </a:solidFill>
          </p:spPr>
          <p:txBody>
            <a:bodyPr wrap="square" lIns="0" tIns="0" rIns="0" bIns="0" rtlCol="0"/>
            <a:lstStyle/>
            <a:p/>
          </p:txBody>
        </p:sp>
        <p:sp>
          <p:nvSpPr>
            <p:cNvPr id="11" name="object 11" descr=""/>
            <p:cNvSpPr/>
            <p:nvPr/>
          </p:nvSpPr>
          <p:spPr>
            <a:xfrm>
              <a:off x="2989326" y="2013966"/>
              <a:ext cx="802005" cy="523240"/>
            </a:xfrm>
            <a:custGeom>
              <a:avLst/>
              <a:gdLst/>
              <a:ahLst/>
              <a:cxnLst/>
              <a:rect l="l" t="t" r="r" b="b"/>
              <a:pathLst>
                <a:path w="802004" h="523239">
                  <a:moveTo>
                    <a:pt x="0" y="130683"/>
                  </a:moveTo>
                  <a:lnTo>
                    <a:pt x="540258" y="130683"/>
                  </a:lnTo>
                  <a:lnTo>
                    <a:pt x="540258" y="0"/>
                  </a:lnTo>
                  <a:lnTo>
                    <a:pt x="801624" y="261366"/>
                  </a:lnTo>
                  <a:lnTo>
                    <a:pt x="540258" y="522732"/>
                  </a:lnTo>
                  <a:lnTo>
                    <a:pt x="540258" y="392049"/>
                  </a:lnTo>
                  <a:lnTo>
                    <a:pt x="0" y="392049"/>
                  </a:lnTo>
                  <a:lnTo>
                    <a:pt x="0" y="130683"/>
                  </a:lnTo>
                  <a:close/>
                </a:path>
              </a:pathLst>
            </a:custGeom>
            <a:ln w="25400">
              <a:solidFill>
                <a:srgbClr val="385D8A"/>
              </a:solidFill>
            </a:ln>
          </p:spPr>
          <p:txBody>
            <a:bodyPr wrap="square" lIns="0" tIns="0" rIns="0" bIns="0" rtlCol="0"/>
            <a:lstStyle/>
            <a:p/>
          </p:txBody>
        </p:sp>
      </p:grpSp>
      <p:sp>
        <p:nvSpPr>
          <p:cNvPr id="12" name="object 12" descr=""/>
          <p:cNvSpPr txBox="1"/>
          <p:nvPr/>
        </p:nvSpPr>
        <p:spPr>
          <a:xfrm>
            <a:off x="8425688" y="6425628"/>
            <a:ext cx="18097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898989"/>
                </a:solidFill>
                <a:latin typeface="Calibri"/>
                <a:cs typeface="Calibri"/>
              </a:rPr>
              <a:t>16</a:t>
            </a:r>
            <a:endParaRPr sz="1200">
              <a:latin typeface="Calibri"/>
              <a:cs typeface="Calibri"/>
            </a:endParaRPr>
          </a:p>
        </p:txBody>
      </p:sp>
      <p:sp>
        <p:nvSpPr>
          <p:cNvPr id="13" name="object 13" descr=""/>
          <p:cNvSpPr txBox="1"/>
          <p:nvPr/>
        </p:nvSpPr>
        <p:spPr>
          <a:xfrm>
            <a:off x="3679087" y="4857519"/>
            <a:ext cx="4164329" cy="840105"/>
          </a:xfrm>
          <a:prstGeom prst="rect">
            <a:avLst/>
          </a:prstGeom>
        </p:spPr>
        <p:txBody>
          <a:bodyPr wrap="square" lIns="0" tIns="33655" rIns="0" bIns="0" rtlCol="0" vert="horz">
            <a:spAutoFit/>
          </a:bodyPr>
          <a:lstStyle/>
          <a:p>
            <a:pPr marL="12700">
              <a:lnSpc>
                <a:spcPct val="100000"/>
              </a:lnSpc>
              <a:spcBef>
                <a:spcPts val="265"/>
              </a:spcBef>
            </a:pPr>
            <a:r>
              <a:rPr dirty="0" sz="750" spc="-5">
                <a:latin typeface="Microsoft YaHei UI"/>
                <a:cs typeface="Microsoft YaHei UI"/>
              </a:rPr>
              <a:t>对应概念: 这也是卷积层的核⼼思想。</a:t>
            </a:r>
            <a:endParaRPr sz="750">
              <a:latin typeface="Microsoft YaHei UI"/>
              <a:cs typeface="Microsoft YaHei UI"/>
            </a:endParaRPr>
          </a:p>
          <a:p>
            <a:pPr marL="12700" marR="5080">
              <a:lnSpc>
                <a:spcPct val="118800"/>
              </a:lnSpc>
            </a:pPr>
            <a:r>
              <a:rPr dirty="0" sz="750" spc="15">
                <a:latin typeface="Microsoft YaHei UI"/>
                <a:cs typeface="Microsoft YaHei UI"/>
              </a:rPr>
              <a:t>解释: 这个概念和上⾯是紧密相连的。⼀个滤波器（</a:t>
            </a:r>
            <a:r>
              <a:rPr dirty="0" sz="750" spc="10">
                <a:latin typeface="Microsoft YaHei UI"/>
                <a:cs typeface="Microsoft YaHei UI"/>
              </a:rPr>
              <a:t>⽐如“竖线探测器”）</a:t>
            </a:r>
            <a:r>
              <a:rPr dirty="0" sz="750" spc="15">
                <a:latin typeface="Microsoft YaHei UI"/>
                <a:cs typeface="Microsoft YaHei UI"/>
              </a:rPr>
              <a:t>在扫描整个图⽚时，它⾃身的参数（权重）</a:t>
            </a:r>
            <a:r>
              <a:rPr dirty="0" sz="750">
                <a:latin typeface="Microsoft YaHei UI"/>
                <a:cs typeface="Microsoft YaHei UI"/>
              </a:rPr>
              <a:t>是不变的。也就是说，我们⽤同⼀个“探测器”去检查图⽚的所有位置。这就是 “</a:t>
            </a:r>
            <a:r>
              <a:rPr dirty="0" sz="750" spc="15">
                <a:latin typeface="Microsoft YaHei UI"/>
                <a:cs typeface="Microsoft YaHei UI"/>
              </a:rPr>
              <a:t>权值共享”。这样做的好处是巨⼤的：</a:t>
            </a:r>
            <a:endParaRPr sz="750">
              <a:latin typeface="Microsoft YaHei UI"/>
              <a:cs typeface="Microsoft YaHei UI"/>
            </a:endParaRPr>
          </a:p>
          <a:p>
            <a:pPr marL="109220" indent="-96520">
              <a:lnSpc>
                <a:spcPct val="100000"/>
              </a:lnSpc>
              <a:spcBef>
                <a:spcPts val="170"/>
              </a:spcBef>
              <a:buAutoNum type="arabicPeriod"/>
              <a:tabLst>
                <a:tab pos="109220" algn="l"/>
              </a:tabLst>
            </a:pPr>
            <a:r>
              <a:rPr dirty="0" sz="750" spc="-5">
                <a:latin typeface="Microsoft YaHei UI"/>
                <a:cs typeface="Microsoft YaHei UI"/>
              </a:rPr>
              <a:t>参数量⼤⼤减少：我们不需要为图⽚上每个位置都单独训练⼀个探测器。</a:t>
            </a:r>
            <a:endParaRPr sz="750">
              <a:latin typeface="Microsoft YaHei UI"/>
              <a:cs typeface="Microsoft YaHei UI"/>
            </a:endParaRPr>
          </a:p>
          <a:p>
            <a:pPr marL="128270" indent="-115570">
              <a:lnSpc>
                <a:spcPct val="100000"/>
              </a:lnSpc>
              <a:spcBef>
                <a:spcPts val="170"/>
              </a:spcBef>
              <a:buAutoNum type="arabicPeriod"/>
              <a:tabLst>
                <a:tab pos="128270" algn="l"/>
              </a:tabLst>
            </a:pPr>
            <a:r>
              <a:rPr dirty="0" sz="750" spc="-5">
                <a:latin typeface="Microsoft YaHei UI"/>
                <a:cs typeface="Microsoft YaHei UI"/>
              </a:rPr>
              <a:t>平移不变性：⽆论“竖线”出现在图⽚的左上⻆还是右下⻆，都能被同⼀个滤波器识别出来。</a:t>
            </a:r>
            <a:endParaRPr sz="750">
              <a:latin typeface="Microsoft YaHei UI"/>
              <a:cs typeface="Microsoft YaHei UI"/>
            </a:endParaRPr>
          </a:p>
        </p:txBody>
      </p:sp>
      <p:sp>
        <p:nvSpPr>
          <p:cNvPr id="14" name="object 14" descr=""/>
          <p:cNvSpPr txBox="1"/>
          <p:nvPr/>
        </p:nvSpPr>
        <p:spPr>
          <a:xfrm>
            <a:off x="622311" y="5675633"/>
            <a:ext cx="5934075" cy="1010285"/>
          </a:xfrm>
          <a:prstGeom prst="rect">
            <a:avLst/>
          </a:prstGeom>
        </p:spPr>
        <p:txBody>
          <a:bodyPr wrap="square" lIns="0" tIns="12700" rIns="0" bIns="0" rtlCol="0" vert="horz">
            <a:spAutoFit/>
          </a:bodyPr>
          <a:lstStyle/>
          <a:p>
            <a:pPr marL="12700">
              <a:lnSpc>
                <a:spcPct val="100000"/>
              </a:lnSpc>
              <a:spcBef>
                <a:spcPts val="100"/>
              </a:spcBef>
            </a:pPr>
            <a:r>
              <a:rPr dirty="0" sz="2400" b="1">
                <a:latin typeface="Calibri"/>
                <a:cs typeface="Calibri"/>
              </a:rPr>
              <a:t>3.Spatial</a:t>
            </a:r>
            <a:r>
              <a:rPr dirty="0" sz="2400" spc="-65" b="1">
                <a:latin typeface="Calibri"/>
                <a:cs typeface="Calibri"/>
              </a:rPr>
              <a:t> </a:t>
            </a:r>
            <a:r>
              <a:rPr dirty="0" sz="2400" b="1">
                <a:latin typeface="Calibri"/>
                <a:cs typeface="Calibri"/>
              </a:rPr>
              <a:t>/</a:t>
            </a:r>
            <a:r>
              <a:rPr dirty="0" sz="2400" spc="-75" b="1">
                <a:latin typeface="Calibri"/>
                <a:cs typeface="Calibri"/>
              </a:rPr>
              <a:t> </a:t>
            </a:r>
            <a:r>
              <a:rPr dirty="0" sz="2400" b="1">
                <a:latin typeface="Calibri"/>
                <a:cs typeface="Calibri"/>
              </a:rPr>
              <a:t>temporal</a:t>
            </a:r>
            <a:r>
              <a:rPr dirty="0" sz="2400" spc="-85" b="1">
                <a:latin typeface="Calibri"/>
                <a:cs typeface="Calibri"/>
              </a:rPr>
              <a:t> </a:t>
            </a:r>
            <a:r>
              <a:rPr dirty="0" sz="2400" spc="-10" b="1">
                <a:latin typeface="Calibri"/>
                <a:cs typeface="Calibri"/>
              </a:rPr>
              <a:t>sub-sampling</a:t>
            </a:r>
            <a:endParaRPr sz="2400">
              <a:latin typeface="Calibri"/>
              <a:cs typeface="Calibri"/>
            </a:endParaRPr>
          </a:p>
          <a:p>
            <a:pPr marL="62230">
              <a:lnSpc>
                <a:spcPct val="100000"/>
              </a:lnSpc>
              <a:spcBef>
                <a:spcPts val="765"/>
              </a:spcBef>
            </a:pPr>
            <a:r>
              <a:rPr dirty="0" sz="750" spc="5">
                <a:latin typeface="Microsoft YaHei UI"/>
                <a:cs typeface="Microsoft YaHei UI"/>
              </a:rPr>
              <a:t>空间/时间⼦采样 </a:t>
            </a:r>
            <a:r>
              <a:rPr dirty="0" sz="750">
                <a:latin typeface="Microsoft YaHei UI"/>
                <a:cs typeface="Microsoft YaHei UI"/>
              </a:rPr>
              <a:t>(Spatial</a:t>
            </a:r>
            <a:r>
              <a:rPr dirty="0" sz="750" spc="45">
                <a:latin typeface="Microsoft YaHei UI"/>
                <a:cs typeface="Microsoft YaHei UI"/>
              </a:rPr>
              <a:t> / </a:t>
            </a:r>
            <a:r>
              <a:rPr dirty="0" sz="750" spc="-10">
                <a:latin typeface="Microsoft YaHei UI"/>
                <a:cs typeface="Microsoft YaHei UI"/>
              </a:rPr>
              <a:t>temporal</a:t>
            </a:r>
            <a:r>
              <a:rPr dirty="0" sz="750" spc="45">
                <a:latin typeface="Microsoft YaHei UI"/>
                <a:cs typeface="Microsoft YaHei UI"/>
              </a:rPr>
              <a:t> </a:t>
            </a:r>
            <a:r>
              <a:rPr dirty="0" sz="750">
                <a:latin typeface="Microsoft YaHei UI"/>
                <a:cs typeface="Microsoft YaHei UI"/>
              </a:rPr>
              <a:t>sub-</a:t>
            </a:r>
            <a:r>
              <a:rPr dirty="0" sz="750" spc="-10">
                <a:latin typeface="Microsoft YaHei UI"/>
                <a:cs typeface="Microsoft YaHei UI"/>
              </a:rPr>
              <a:t>sampling):</a:t>
            </a:r>
            <a:endParaRPr sz="750">
              <a:latin typeface="Microsoft YaHei UI"/>
              <a:cs typeface="Microsoft YaHei UI"/>
            </a:endParaRPr>
          </a:p>
          <a:p>
            <a:pPr marL="62230">
              <a:lnSpc>
                <a:spcPct val="100000"/>
              </a:lnSpc>
              <a:spcBef>
                <a:spcPts val="170"/>
              </a:spcBef>
            </a:pPr>
            <a:r>
              <a:rPr dirty="0" sz="750">
                <a:latin typeface="Microsoft YaHei UI"/>
                <a:cs typeface="Microsoft YaHei UI"/>
              </a:rPr>
              <a:t>对应概念: 这指的就是池化层 </a:t>
            </a:r>
            <a:r>
              <a:rPr dirty="0" sz="750" spc="-10">
                <a:latin typeface="Microsoft YaHei UI"/>
                <a:cs typeface="Microsoft YaHei UI"/>
              </a:rPr>
              <a:t>(Pooling</a:t>
            </a:r>
            <a:r>
              <a:rPr dirty="0" sz="750" spc="75">
                <a:latin typeface="Microsoft YaHei UI"/>
                <a:cs typeface="Microsoft YaHei UI"/>
              </a:rPr>
              <a:t> </a:t>
            </a:r>
            <a:r>
              <a:rPr dirty="0" sz="750">
                <a:latin typeface="Microsoft YaHei UI"/>
                <a:cs typeface="Microsoft YaHei UI"/>
              </a:rPr>
              <a:t>Layer)</a:t>
            </a:r>
            <a:r>
              <a:rPr dirty="0" sz="750" spc="-50">
                <a:latin typeface="Microsoft YaHei UI"/>
                <a:cs typeface="Microsoft YaHei UI"/>
              </a:rPr>
              <a:t>。</a:t>
            </a:r>
            <a:endParaRPr sz="750">
              <a:latin typeface="Microsoft YaHei UI"/>
              <a:cs typeface="Microsoft YaHei UI"/>
            </a:endParaRPr>
          </a:p>
          <a:p>
            <a:pPr marL="62230" marR="5080">
              <a:lnSpc>
                <a:spcPct val="118800"/>
              </a:lnSpc>
            </a:pPr>
            <a:r>
              <a:rPr dirty="0" sz="750">
                <a:latin typeface="Microsoft YaHei UI"/>
                <a:cs typeface="Microsoft YaHei UI"/>
              </a:rPr>
              <a:t>解释: “空间⼦采样”这个词听起来很专业，但它描述的正是我们说的池化操作。通过选取⼀个区域内的最⼤值（Max</a:t>
            </a:r>
            <a:r>
              <a:rPr dirty="0" sz="750" spc="440">
                <a:latin typeface="Microsoft YaHei UI"/>
                <a:cs typeface="Microsoft YaHei UI"/>
              </a:rPr>
              <a:t> </a:t>
            </a:r>
            <a:r>
              <a:rPr dirty="0" sz="750" spc="-10">
                <a:latin typeface="Microsoft YaHei UI"/>
                <a:cs typeface="Microsoft YaHei UI"/>
              </a:rPr>
              <a:t>Pooling）</a:t>
            </a:r>
            <a:r>
              <a:rPr dirty="0" sz="750" spc="-20">
                <a:latin typeface="Microsoft YaHei UI"/>
                <a:cs typeface="Microsoft YaHei UI"/>
              </a:rPr>
              <a:t>或平均值，</a:t>
            </a:r>
            <a:r>
              <a:rPr dirty="0" sz="750">
                <a:latin typeface="Microsoft YaHei UI"/>
                <a:cs typeface="Microsoft YaHei UI"/>
              </a:rPr>
              <a:t>我们对特征图进⾏了采样，减⼩了它的空间尺⼨（分辨率），</a:t>
            </a:r>
            <a:r>
              <a:rPr dirty="0" sz="750" spc="-5">
                <a:latin typeface="Microsoft YaHei UI"/>
                <a:cs typeface="Microsoft YaHei UI"/>
              </a:rPr>
              <a:t>从⽽达到了降维和提炼特征的⽬的。</a:t>
            </a:r>
            <a:endParaRPr sz="750">
              <a:latin typeface="Microsoft YaHei UI"/>
              <a:cs typeface="Microsoft YaHei U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68412" rIns="0" bIns="0" rtlCol="0" vert="horz">
            <a:spAutoFit/>
          </a:bodyPr>
          <a:lstStyle/>
          <a:p>
            <a:pPr marL="2069464">
              <a:lnSpc>
                <a:spcPct val="100000"/>
              </a:lnSpc>
              <a:spcBef>
                <a:spcPts val="100"/>
              </a:spcBef>
            </a:pPr>
            <a:r>
              <a:rPr dirty="0" sz="4400"/>
              <a:t>A</a:t>
            </a:r>
            <a:r>
              <a:rPr dirty="0" sz="4400" spc="-15"/>
              <a:t> </a:t>
            </a:r>
            <a:r>
              <a:rPr dirty="0" sz="4400"/>
              <a:t>bit</a:t>
            </a:r>
            <a:r>
              <a:rPr dirty="0" sz="4400" spc="-30"/>
              <a:t> </a:t>
            </a:r>
            <a:r>
              <a:rPr dirty="0" sz="4400"/>
              <a:t>of</a:t>
            </a:r>
            <a:r>
              <a:rPr dirty="0" sz="4400" spc="-15"/>
              <a:t> </a:t>
            </a:r>
            <a:r>
              <a:rPr dirty="0" sz="4400" spc="-10"/>
              <a:t>history</a:t>
            </a:r>
            <a:endParaRPr sz="4400"/>
          </a:p>
        </p:txBody>
      </p:sp>
      <p:sp>
        <p:nvSpPr>
          <p:cNvPr id="3" name="object 3" descr=""/>
          <p:cNvSpPr txBox="1"/>
          <p:nvPr/>
        </p:nvSpPr>
        <p:spPr>
          <a:xfrm>
            <a:off x="226381" y="1439462"/>
            <a:ext cx="3146425" cy="4478655"/>
          </a:xfrm>
          <a:prstGeom prst="rect">
            <a:avLst/>
          </a:prstGeom>
        </p:spPr>
        <p:txBody>
          <a:bodyPr wrap="square" lIns="0" tIns="12065" rIns="0" bIns="0" rtlCol="0" vert="horz">
            <a:spAutoFit/>
          </a:bodyPr>
          <a:lstStyle/>
          <a:p>
            <a:pPr marL="12700">
              <a:lnSpc>
                <a:spcPct val="100000"/>
              </a:lnSpc>
              <a:spcBef>
                <a:spcPts val="95"/>
              </a:spcBef>
            </a:pPr>
            <a:r>
              <a:rPr dirty="0" sz="2800" b="1">
                <a:latin typeface="Calibri"/>
                <a:cs typeface="Calibri"/>
              </a:rPr>
              <a:t>Hubel</a:t>
            </a:r>
            <a:r>
              <a:rPr dirty="0" sz="2800" spc="-20" b="1">
                <a:latin typeface="Calibri"/>
                <a:cs typeface="Calibri"/>
              </a:rPr>
              <a:t> </a:t>
            </a:r>
            <a:r>
              <a:rPr dirty="0" sz="2800" b="1">
                <a:latin typeface="Calibri"/>
                <a:cs typeface="Calibri"/>
              </a:rPr>
              <a:t>&amp;</a:t>
            </a:r>
            <a:r>
              <a:rPr dirty="0" sz="2800" spc="-20" b="1">
                <a:latin typeface="Calibri"/>
                <a:cs typeface="Calibri"/>
              </a:rPr>
              <a:t> </a:t>
            </a:r>
            <a:r>
              <a:rPr dirty="0" sz="2800" spc="-10" b="1">
                <a:latin typeface="Calibri"/>
                <a:cs typeface="Calibri"/>
              </a:rPr>
              <a:t>Wiesel</a:t>
            </a:r>
            <a:endParaRPr sz="2800">
              <a:latin typeface="Calibri"/>
              <a:cs typeface="Calibri"/>
            </a:endParaRPr>
          </a:p>
          <a:p>
            <a:pPr marL="12700">
              <a:lnSpc>
                <a:spcPct val="100000"/>
              </a:lnSpc>
              <a:spcBef>
                <a:spcPts val="2905"/>
              </a:spcBef>
            </a:pPr>
            <a:r>
              <a:rPr dirty="0" sz="2400" b="1">
                <a:latin typeface="Calibri"/>
                <a:cs typeface="Calibri"/>
              </a:rPr>
              <a:t>1959</a:t>
            </a:r>
            <a:r>
              <a:rPr dirty="0" sz="2400" spc="-35" b="1">
                <a:latin typeface="Calibri"/>
                <a:cs typeface="Calibri"/>
              </a:rPr>
              <a:t> </a:t>
            </a:r>
            <a:r>
              <a:rPr dirty="0" sz="2400" spc="-20" b="1">
                <a:latin typeface="Calibri"/>
                <a:cs typeface="Calibri"/>
              </a:rPr>
              <a:t>Paper</a:t>
            </a:r>
            <a:endParaRPr sz="2400">
              <a:latin typeface="Calibri"/>
              <a:cs typeface="Calibri"/>
            </a:endParaRPr>
          </a:p>
          <a:p>
            <a:pPr marL="12700" marR="76200">
              <a:lnSpc>
                <a:spcPct val="100000"/>
              </a:lnSpc>
              <a:spcBef>
                <a:spcPts val="5"/>
              </a:spcBef>
            </a:pPr>
            <a:r>
              <a:rPr dirty="0" sz="2400" spc="-10">
                <a:latin typeface="Calibri"/>
                <a:cs typeface="Calibri"/>
              </a:rPr>
              <a:t>Receptive</a:t>
            </a:r>
            <a:r>
              <a:rPr dirty="0" sz="2400" spc="-65">
                <a:latin typeface="Calibri"/>
                <a:cs typeface="Calibri"/>
              </a:rPr>
              <a:t> </a:t>
            </a:r>
            <a:r>
              <a:rPr dirty="0" sz="2400">
                <a:latin typeface="Calibri"/>
                <a:cs typeface="Calibri"/>
              </a:rPr>
              <a:t>fields</a:t>
            </a:r>
            <a:r>
              <a:rPr dirty="0" sz="2400" spc="-30">
                <a:latin typeface="Calibri"/>
                <a:cs typeface="Calibri"/>
              </a:rPr>
              <a:t> </a:t>
            </a:r>
            <a:r>
              <a:rPr dirty="0" sz="2400">
                <a:latin typeface="Calibri"/>
                <a:cs typeface="Calibri"/>
              </a:rPr>
              <a:t>of</a:t>
            </a:r>
            <a:r>
              <a:rPr dirty="0" sz="2400" spc="-40">
                <a:latin typeface="Calibri"/>
                <a:cs typeface="Calibri"/>
              </a:rPr>
              <a:t> </a:t>
            </a:r>
            <a:r>
              <a:rPr dirty="0" sz="2400" spc="-10">
                <a:latin typeface="Calibri"/>
                <a:cs typeface="Calibri"/>
              </a:rPr>
              <a:t>single </a:t>
            </a:r>
            <a:r>
              <a:rPr dirty="0" sz="2400">
                <a:latin typeface="Calibri"/>
                <a:cs typeface="Calibri"/>
              </a:rPr>
              <a:t>neurones</a:t>
            </a:r>
            <a:r>
              <a:rPr dirty="0" sz="2400" spc="-65">
                <a:latin typeface="Calibri"/>
                <a:cs typeface="Calibri"/>
              </a:rPr>
              <a:t> </a:t>
            </a:r>
            <a:r>
              <a:rPr dirty="0" sz="2400">
                <a:latin typeface="Calibri"/>
                <a:cs typeface="Calibri"/>
              </a:rPr>
              <a:t>in</a:t>
            </a:r>
            <a:r>
              <a:rPr dirty="0" sz="2400" spc="-55">
                <a:latin typeface="Calibri"/>
                <a:cs typeface="Calibri"/>
              </a:rPr>
              <a:t> </a:t>
            </a:r>
            <a:r>
              <a:rPr dirty="0" sz="2400">
                <a:latin typeface="Calibri"/>
                <a:cs typeface="Calibri"/>
              </a:rPr>
              <a:t>the</a:t>
            </a:r>
            <a:r>
              <a:rPr dirty="0" sz="2400" spc="-55">
                <a:latin typeface="Calibri"/>
                <a:cs typeface="Calibri"/>
              </a:rPr>
              <a:t> </a:t>
            </a:r>
            <a:r>
              <a:rPr dirty="0" sz="2400" spc="-20">
                <a:latin typeface="Calibri"/>
                <a:cs typeface="Calibri"/>
              </a:rPr>
              <a:t>cat's </a:t>
            </a:r>
            <a:r>
              <a:rPr dirty="0" sz="2400">
                <a:latin typeface="Calibri"/>
                <a:cs typeface="Calibri"/>
              </a:rPr>
              <a:t>striate</a:t>
            </a:r>
            <a:r>
              <a:rPr dirty="0" sz="2400" spc="-130">
                <a:latin typeface="Calibri"/>
                <a:cs typeface="Calibri"/>
              </a:rPr>
              <a:t> </a:t>
            </a:r>
            <a:r>
              <a:rPr dirty="0" sz="2400" spc="-10">
                <a:latin typeface="Calibri"/>
                <a:cs typeface="Calibri"/>
              </a:rPr>
              <a:t>cortex</a:t>
            </a:r>
            <a:endParaRPr sz="2400">
              <a:latin typeface="Calibri"/>
              <a:cs typeface="Calibri"/>
            </a:endParaRPr>
          </a:p>
          <a:p>
            <a:pPr marL="12700">
              <a:lnSpc>
                <a:spcPct val="100000"/>
              </a:lnSpc>
              <a:spcBef>
                <a:spcPts val="2875"/>
              </a:spcBef>
            </a:pPr>
            <a:r>
              <a:rPr dirty="0" sz="2400" b="1">
                <a:latin typeface="Calibri"/>
                <a:cs typeface="Calibri"/>
              </a:rPr>
              <a:t>1962</a:t>
            </a:r>
            <a:r>
              <a:rPr dirty="0" sz="2400" spc="-35" b="1">
                <a:latin typeface="Calibri"/>
                <a:cs typeface="Calibri"/>
              </a:rPr>
              <a:t> </a:t>
            </a:r>
            <a:r>
              <a:rPr dirty="0" sz="2400" spc="-20" b="1">
                <a:latin typeface="Calibri"/>
                <a:cs typeface="Calibri"/>
              </a:rPr>
              <a:t>Paper</a:t>
            </a:r>
            <a:endParaRPr sz="2400">
              <a:latin typeface="Calibri"/>
              <a:cs typeface="Calibri"/>
            </a:endParaRPr>
          </a:p>
          <a:p>
            <a:pPr marL="12700" marR="5080">
              <a:lnSpc>
                <a:spcPct val="100000"/>
              </a:lnSpc>
            </a:pPr>
            <a:r>
              <a:rPr dirty="0" sz="2400" spc="-10">
                <a:latin typeface="Calibri"/>
                <a:cs typeface="Calibri"/>
              </a:rPr>
              <a:t>Receptive</a:t>
            </a:r>
            <a:r>
              <a:rPr dirty="0" sz="2400" spc="-65">
                <a:latin typeface="Calibri"/>
                <a:cs typeface="Calibri"/>
              </a:rPr>
              <a:t> </a:t>
            </a:r>
            <a:r>
              <a:rPr dirty="0" sz="2400" spc="-10">
                <a:latin typeface="Calibri"/>
                <a:cs typeface="Calibri"/>
              </a:rPr>
              <a:t>fields, </a:t>
            </a:r>
            <a:r>
              <a:rPr dirty="0" sz="2400">
                <a:latin typeface="Calibri"/>
                <a:cs typeface="Calibri"/>
              </a:rPr>
              <a:t>binocular</a:t>
            </a:r>
            <a:r>
              <a:rPr dirty="0" sz="2400" spc="-80">
                <a:latin typeface="Calibri"/>
                <a:cs typeface="Calibri"/>
              </a:rPr>
              <a:t> </a:t>
            </a:r>
            <a:r>
              <a:rPr dirty="0" sz="2400" spc="-10">
                <a:latin typeface="Calibri"/>
                <a:cs typeface="Calibri"/>
              </a:rPr>
              <a:t>interaction</a:t>
            </a:r>
            <a:r>
              <a:rPr dirty="0" sz="2400" spc="-80">
                <a:latin typeface="Calibri"/>
                <a:cs typeface="Calibri"/>
              </a:rPr>
              <a:t> </a:t>
            </a:r>
            <a:r>
              <a:rPr dirty="0" sz="2400" spc="-25">
                <a:latin typeface="Calibri"/>
                <a:cs typeface="Calibri"/>
              </a:rPr>
              <a:t>and </a:t>
            </a:r>
            <a:r>
              <a:rPr dirty="0" sz="2400">
                <a:latin typeface="Calibri"/>
                <a:cs typeface="Calibri"/>
              </a:rPr>
              <a:t>functional</a:t>
            </a:r>
            <a:r>
              <a:rPr dirty="0" sz="2400" spc="-60">
                <a:latin typeface="Calibri"/>
                <a:cs typeface="Calibri"/>
              </a:rPr>
              <a:t> </a:t>
            </a:r>
            <a:r>
              <a:rPr dirty="0" sz="2400" spc="-10">
                <a:latin typeface="Calibri"/>
                <a:cs typeface="Calibri"/>
              </a:rPr>
              <a:t>architecture</a:t>
            </a:r>
            <a:r>
              <a:rPr dirty="0" sz="2400" spc="-85">
                <a:latin typeface="Calibri"/>
                <a:cs typeface="Calibri"/>
              </a:rPr>
              <a:t> </a:t>
            </a:r>
            <a:r>
              <a:rPr dirty="0" sz="2400" spc="-25">
                <a:latin typeface="Calibri"/>
                <a:cs typeface="Calibri"/>
              </a:rPr>
              <a:t>in </a:t>
            </a:r>
            <a:r>
              <a:rPr dirty="0" sz="2400">
                <a:latin typeface="Calibri"/>
                <a:cs typeface="Calibri"/>
              </a:rPr>
              <a:t>cat's</a:t>
            </a:r>
            <a:r>
              <a:rPr dirty="0" sz="2400" spc="-75">
                <a:latin typeface="Calibri"/>
                <a:cs typeface="Calibri"/>
              </a:rPr>
              <a:t> </a:t>
            </a:r>
            <a:r>
              <a:rPr dirty="0" sz="2400">
                <a:latin typeface="Calibri"/>
                <a:cs typeface="Calibri"/>
              </a:rPr>
              <a:t>visual</a:t>
            </a:r>
            <a:r>
              <a:rPr dirty="0" sz="2400" spc="-60">
                <a:latin typeface="Calibri"/>
                <a:cs typeface="Calibri"/>
              </a:rPr>
              <a:t> </a:t>
            </a:r>
            <a:r>
              <a:rPr dirty="0" sz="2400" spc="-10">
                <a:latin typeface="Calibri"/>
                <a:cs typeface="Calibri"/>
              </a:rPr>
              <a:t>cortex</a:t>
            </a:r>
            <a:endParaRPr sz="2400">
              <a:latin typeface="Calibri"/>
              <a:cs typeface="Calibri"/>
            </a:endParaRPr>
          </a:p>
        </p:txBody>
      </p:sp>
      <p:pic>
        <p:nvPicPr>
          <p:cNvPr id="4" name="object 4" descr=""/>
          <p:cNvPicPr/>
          <p:nvPr/>
        </p:nvPicPr>
        <p:blipFill>
          <a:blip r:embed="rId2" cstate="print"/>
          <a:stretch>
            <a:fillRect/>
          </a:stretch>
        </p:blipFill>
        <p:spPr>
          <a:xfrm>
            <a:off x="3653494" y="1187196"/>
            <a:ext cx="5402891" cy="5373131"/>
          </a:xfrm>
          <a:prstGeom prst="rect">
            <a:avLst/>
          </a:prstGeom>
        </p:spPr>
      </p:pic>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674250" y="1062896"/>
            <a:ext cx="3818254" cy="2244090"/>
          </a:xfrm>
          <a:prstGeom prst="rect">
            <a:avLst/>
          </a:prstGeom>
        </p:spPr>
        <p:txBody>
          <a:bodyPr wrap="square" lIns="0" tIns="12065" rIns="0" bIns="0" rtlCol="0" vert="horz">
            <a:spAutoFit/>
          </a:bodyPr>
          <a:lstStyle/>
          <a:p>
            <a:pPr marL="12700" marR="5080">
              <a:lnSpc>
                <a:spcPct val="100000"/>
              </a:lnSpc>
              <a:spcBef>
                <a:spcPts val="95"/>
              </a:spcBef>
            </a:pPr>
            <a:r>
              <a:rPr dirty="0" sz="2800" spc="-25" b="1">
                <a:latin typeface="Calibri"/>
                <a:cs typeface="Calibri"/>
              </a:rPr>
              <a:t>Topographical</a:t>
            </a:r>
            <a:r>
              <a:rPr dirty="0" sz="2800" spc="-65" b="1">
                <a:latin typeface="Calibri"/>
                <a:cs typeface="Calibri"/>
              </a:rPr>
              <a:t> </a:t>
            </a:r>
            <a:r>
              <a:rPr dirty="0" sz="2800" b="1">
                <a:latin typeface="Calibri"/>
                <a:cs typeface="Calibri"/>
              </a:rPr>
              <a:t>mapping</a:t>
            </a:r>
            <a:r>
              <a:rPr dirty="0" sz="2800" spc="-90" b="1">
                <a:latin typeface="Calibri"/>
                <a:cs typeface="Calibri"/>
              </a:rPr>
              <a:t> </a:t>
            </a:r>
            <a:r>
              <a:rPr dirty="0" sz="2800" spc="-25" b="1">
                <a:latin typeface="Calibri"/>
                <a:cs typeface="Calibri"/>
              </a:rPr>
              <a:t>in </a:t>
            </a:r>
            <a:r>
              <a:rPr dirty="0" sz="2800" b="1">
                <a:latin typeface="Calibri"/>
                <a:cs typeface="Calibri"/>
              </a:rPr>
              <a:t>the</a:t>
            </a:r>
            <a:r>
              <a:rPr dirty="0" sz="2800" spc="-40" b="1">
                <a:latin typeface="Calibri"/>
                <a:cs typeface="Calibri"/>
              </a:rPr>
              <a:t> </a:t>
            </a:r>
            <a:r>
              <a:rPr dirty="0" sz="2800" spc="-10" b="1">
                <a:latin typeface="Calibri"/>
                <a:cs typeface="Calibri"/>
              </a:rPr>
              <a:t>cortex:</a:t>
            </a:r>
            <a:endParaRPr sz="2800">
              <a:latin typeface="Calibri"/>
              <a:cs typeface="Calibri"/>
            </a:endParaRPr>
          </a:p>
          <a:p>
            <a:pPr marL="12700" marR="212725">
              <a:lnSpc>
                <a:spcPct val="100000"/>
              </a:lnSpc>
              <a:spcBef>
                <a:spcPts val="670"/>
              </a:spcBef>
            </a:pPr>
            <a:r>
              <a:rPr dirty="0" sz="2800">
                <a:latin typeface="Calibri"/>
                <a:cs typeface="Calibri"/>
              </a:rPr>
              <a:t>nearby</a:t>
            </a:r>
            <a:r>
              <a:rPr dirty="0" sz="2800" spc="-50">
                <a:latin typeface="Calibri"/>
                <a:cs typeface="Calibri"/>
              </a:rPr>
              <a:t> </a:t>
            </a:r>
            <a:r>
              <a:rPr dirty="0" sz="2800">
                <a:latin typeface="Calibri"/>
                <a:cs typeface="Calibri"/>
              </a:rPr>
              <a:t>cells</a:t>
            </a:r>
            <a:r>
              <a:rPr dirty="0" sz="2800" spc="-40">
                <a:latin typeface="Calibri"/>
                <a:cs typeface="Calibri"/>
              </a:rPr>
              <a:t> </a:t>
            </a:r>
            <a:r>
              <a:rPr dirty="0" sz="2800">
                <a:latin typeface="Calibri"/>
                <a:cs typeface="Calibri"/>
              </a:rPr>
              <a:t>in</a:t>
            </a:r>
            <a:r>
              <a:rPr dirty="0" sz="2800" spc="-45">
                <a:latin typeface="Calibri"/>
                <a:cs typeface="Calibri"/>
              </a:rPr>
              <a:t> </a:t>
            </a:r>
            <a:r>
              <a:rPr dirty="0" sz="2800" spc="-10">
                <a:latin typeface="Calibri"/>
                <a:cs typeface="Calibri"/>
              </a:rPr>
              <a:t>cortex </a:t>
            </a:r>
            <a:r>
              <a:rPr dirty="0" sz="2800" spc="-20">
                <a:latin typeface="Calibri"/>
                <a:cs typeface="Calibri"/>
              </a:rPr>
              <a:t>represented</a:t>
            </a:r>
            <a:r>
              <a:rPr dirty="0" sz="2800" spc="-65">
                <a:latin typeface="Calibri"/>
                <a:cs typeface="Calibri"/>
              </a:rPr>
              <a:t> </a:t>
            </a:r>
            <a:r>
              <a:rPr dirty="0" sz="2800" spc="-10">
                <a:latin typeface="Calibri"/>
                <a:cs typeface="Calibri"/>
              </a:rPr>
              <a:t>nearby </a:t>
            </a:r>
            <a:r>
              <a:rPr dirty="0" sz="2800">
                <a:latin typeface="Calibri"/>
                <a:cs typeface="Calibri"/>
              </a:rPr>
              <a:t>regions</a:t>
            </a:r>
            <a:r>
              <a:rPr dirty="0" sz="2800" spc="-40">
                <a:latin typeface="Calibri"/>
                <a:cs typeface="Calibri"/>
              </a:rPr>
              <a:t> </a:t>
            </a:r>
            <a:r>
              <a:rPr dirty="0" sz="2800">
                <a:latin typeface="Calibri"/>
                <a:cs typeface="Calibri"/>
              </a:rPr>
              <a:t>in</a:t>
            </a:r>
            <a:r>
              <a:rPr dirty="0" sz="2800" spc="-40">
                <a:latin typeface="Calibri"/>
                <a:cs typeface="Calibri"/>
              </a:rPr>
              <a:t> </a:t>
            </a:r>
            <a:r>
              <a:rPr dirty="0" sz="2800">
                <a:latin typeface="Calibri"/>
                <a:cs typeface="Calibri"/>
              </a:rPr>
              <a:t>the</a:t>
            </a:r>
            <a:r>
              <a:rPr dirty="0" sz="2800" spc="-35">
                <a:latin typeface="Calibri"/>
                <a:cs typeface="Calibri"/>
              </a:rPr>
              <a:t> </a:t>
            </a:r>
            <a:r>
              <a:rPr dirty="0" sz="2800">
                <a:latin typeface="Calibri"/>
                <a:cs typeface="Calibri"/>
              </a:rPr>
              <a:t>visual</a:t>
            </a:r>
            <a:r>
              <a:rPr dirty="0" sz="2800" spc="-40">
                <a:latin typeface="Calibri"/>
                <a:cs typeface="Calibri"/>
              </a:rPr>
              <a:t> </a:t>
            </a:r>
            <a:r>
              <a:rPr dirty="0" sz="2800" spc="-10">
                <a:latin typeface="Calibri"/>
                <a:cs typeface="Calibri"/>
              </a:rPr>
              <a:t>field</a:t>
            </a:r>
            <a:endParaRPr sz="2800">
              <a:latin typeface="Calibri"/>
              <a:cs typeface="Calibri"/>
            </a:endParaRPr>
          </a:p>
        </p:txBody>
      </p:sp>
      <p:pic>
        <p:nvPicPr>
          <p:cNvPr id="3" name="object 3" descr=""/>
          <p:cNvPicPr/>
          <p:nvPr/>
        </p:nvPicPr>
        <p:blipFill>
          <a:blip r:embed="rId2" cstate="print"/>
          <a:stretch>
            <a:fillRect/>
          </a:stretch>
        </p:blipFill>
        <p:spPr>
          <a:xfrm>
            <a:off x="5061963" y="1412748"/>
            <a:ext cx="3676271" cy="4695450"/>
          </a:xfrm>
          <a:prstGeom prst="rect">
            <a:avLst/>
          </a:prstGeom>
        </p:spPr>
      </p:pic>
      <p:pic>
        <p:nvPicPr>
          <p:cNvPr id="4" name="object 4" descr=""/>
          <p:cNvPicPr/>
          <p:nvPr/>
        </p:nvPicPr>
        <p:blipFill>
          <a:blip r:embed="rId3" cstate="print"/>
          <a:stretch>
            <a:fillRect/>
          </a:stretch>
        </p:blipFill>
        <p:spPr>
          <a:xfrm>
            <a:off x="376427" y="3429000"/>
            <a:ext cx="4475988" cy="3357371"/>
          </a:xfrm>
          <a:prstGeom prst="rect">
            <a:avLst/>
          </a:prstGeom>
        </p:spPr>
      </p:pic>
      <p:sp>
        <p:nvSpPr>
          <p:cNvPr id="5" name="object 5"/>
          <p:cNvSpPr txBox="1">
            <a:spLocks noGrp="1"/>
          </p:cNvSpPr>
          <p:nvPr>
            <p:ph type="title"/>
          </p:nvPr>
        </p:nvSpPr>
        <p:spPr>
          <a:xfrm>
            <a:off x="2211038" y="264922"/>
            <a:ext cx="4166870" cy="696595"/>
          </a:xfrm>
          <a:prstGeom prst="rect"/>
        </p:spPr>
        <p:txBody>
          <a:bodyPr wrap="square" lIns="0" tIns="12700" rIns="0" bIns="0" rtlCol="0" vert="horz">
            <a:spAutoFit/>
          </a:bodyPr>
          <a:lstStyle/>
          <a:p>
            <a:pPr marL="12700">
              <a:lnSpc>
                <a:spcPct val="100000"/>
              </a:lnSpc>
              <a:spcBef>
                <a:spcPts val="100"/>
              </a:spcBef>
            </a:pPr>
            <a:r>
              <a:rPr dirty="0" sz="4400"/>
              <a:t>A</a:t>
            </a:r>
            <a:r>
              <a:rPr dirty="0" sz="4400" spc="-15"/>
              <a:t> </a:t>
            </a:r>
            <a:r>
              <a:rPr dirty="0" sz="4400"/>
              <a:t>bit</a:t>
            </a:r>
            <a:r>
              <a:rPr dirty="0" sz="4400" spc="-30"/>
              <a:t> </a:t>
            </a:r>
            <a:r>
              <a:rPr dirty="0" sz="4400"/>
              <a:t>of</a:t>
            </a:r>
            <a:r>
              <a:rPr dirty="0" sz="4400" spc="-15"/>
              <a:t> </a:t>
            </a:r>
            <a:r>
              <a:rPr dirty="0" sz="4400" spc="-10"/>
              <a:t>history</a:t>
            </a:r>
            <a:endParaRPr sz="4400"/>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4443" rIns="0" bIns="0" rtlCol="0" vert="horz">
            <a:spAutoFit/>
          </a:bodyPr>
          <a:lstStyle/>
          <a:p>
            <a:pPr marL="699770">
              <a:lnSpc>
                <a:spcPct val="100000"/>
              </a:lnSpc>
              <a:spcBef>
                <a:spcPts val="100"/>
              </a:spcBef>
            </a:pPr>
            <a:r>
              <a:rPr dirty="0" sz="4400"/>
              <a:t>LeNet</a:t>
            </a:r>
            <a:r>
              <a:rPr dirty="0" sz="4400" spc="-55"/>
              <a:t> </a:t>
            </a:r>
            <a:r>
              <a:rPr dirty="0" sz="4400"/>
              <a:t>[LeCun</a:t>
            </a:r>
            <a:r>
              <a:rPr dirty="0" sz="4400" spc="-30"/>
              <a:t> </a:t>
            </a:r>
            <a:r>
              <a:rPr dirty="0" sz="4400"/>
              <a:t>et</a:t>
            </a:r>
            <a:r>
              <a:rPr dirty="0" sz="4400" spc="-25"/>
              <a:t> </a:t>
            </a:r>
            <a:r>
              <a:rPr dirty="0" sz="4400"/>
              <a:t>al.</a:t>
            </a:r>
            <a:r>
              <a:rPr dirty="0" sz="4400" spc="-25"/>
              <a:t> </a:t>
            </a:r>
            <a:r>
              <a:rPr dirty="0" sz="4400" spc="-10"/>
              <a:t>1998]</a:t>
            </a:r>
            <a:endParaRPr sz="4400"/>
          </a:p>
        </p:txBody>
      </p:sp>
      <p:sp>
        <p:nvSpPr>
          <p:cNvPr id="3" name="object 3" descr=""/>
          <p:cNvSpPr txBox="1"/>
          <p:nvPr/>
        </p:nvSpPr>
        <p:spPr>
          <a:xfrm>
            <a:off x="186125" y="4577364"/>
            <a:ext cx="7857490" cy="1049655"/>
          </a:xfrm>
          <a:prstGeom prst="rect">
            <a:avLst/>
          </a:prstGeom>
        </p:spPr>
        <p:txBody>
          <a:bodyPr wrap="square" lIns="0" tIns="12700" rIns="0" bIns="0" rtlCol="0" vert="horz">
            <a:spAutoFit/>
          </a:bodyPr>
          <a:lstStyle/>
          <a:p>
            <a:pPr marL="12700" marR="5080" indent="342900">
              <a:lnSpc>
                <a:spcPct val="120000"/>
              </a:lnSpc>
              <a:spcBef>
                <a:spcPts val="100"/>
              </a:spcBef>
              <a:buFont typeface="Arial MT"/>
              <a:buChar char="•"/>
              <a:tabLst>
                <a:tab pos="355600" algn="l"/>
              </a:tabLst>
            </a:pPr>
            <a:r>
              <a:rPr dirty="0" sz="2800">
                <a:latin typeface="Calibri"/>
                <a:cs typeface="Calibri"/>
              </a:rPr>
              <a:t>See</a:t>
            </a:r>
            <a:r>
              <a:rPr dirty="0" sz="2800" spc="-50">
                <a:latin typeface="Calibri"/>
                <a:cs typeface="Calibri"/>
              </a:rPr>
              <a:t> </a:t>
            </a:r>
            <a:r>
              <a:rPr dirty="0" sz="2800">
                <a:latin typeface="Calibri"/>
                <a:cs typeface="Calibri"/>
              </a:rPr>
              <a:t>LeCun</a:t>
            </a:r>
            <a:r>
              <a:rPr dirty="0" sz="2800" spc="-45">
                <a:latin typeface="Calibri"/>
                <a:cs typeface="Calibri"/>
              </a:rPr>
              <a:t> </a:t>
            </a:r>
            <a:r>
              <a:rPr dirty="0" sz="2800">
                <a:latin typeface="Calibri"/>
                <a:cs typeface="Calibri"/>
              </a:rPr>
              <a:t>paper</a:t>
            </a:r>
            <a:r>
              <a:rPr dirty="0" sz="2800" spc="-40">
                <a:latin typeface="Calibri"/>
                <a:cs typeface="Calibri"/>
              </a:rPr>
              <a:t> </a:t>
            </a:r>
            <a:r>
              <a:rPr dirty="0" sz="2800">
                <a:latin typeface="Calibri"/>
                <a:cs typeface="Calibri"/>
              </a:rPr>
              <a:t>(1998)</a:t>
            </a:r>
            <a:r>
              <a:rPr dirty="0" sz="2800" spc="-10">
                <a:latin typeface="Calibri"/>
                <a:cs typeface="Calibri"/>
              </a:rPr>
              <a:t> </a:t>
            </a:r>
            <a:r>
              <a:rPr dirty="0" sz="2800">
                <a:latin typeface="Calibri"/>
                <a:cs typeface="Calibri"/>
              </a:rPr>
              <a:t>on</a:t>
            </a:r>
            <a:r>
              <a:rPr dirty="0" sz="2800" spc="-40">
                <a:latin typeface="Calibri"/>
                <a:cs typeface="Calibri"/>
              </a:rPr>
              <a:t> </a:t>
            </a:r>
            <a:r>
              <a:rPr dirty="0" sz="2800">
                <a:latin typeface="Calibri"/>
                <a:cs typeface="Calibri"/>
              </a:rPr>
              <a:t>text</a:t>
            </a:r>
            <a:r>
              <a:rPr dirty="0" sz="2800" spc="-50">
                <a:latin typeface="Calibri"/>
                <a:cs typeface="Calibri"/>
              </a:rPr>
              <a:t> </a:t>
            </a:r>
            <a:r>
              <a:rPr dirty="0" sz="2800" spc="-10">
                <a:latin typeface="Calibri"/>
                <a:cs typeface="Calibri"/>
              </a:rPr>
              <a:t>recognition: </a:t>
            </a:r>
            <a:r>
              <a:rPr dirty="0" sz="2800" spc="-25">
                <a:latin typeface="Calibri"/>
                <a:cs typeface="Calibri"/>
                <a:hlinkClick r:id="rId2"/>
              </a:rPr>
              <a:t>http://yann.lecun.com/exdb/publis/pdf/lecun-</a:t>
            </a:r>
            <a:r>
              <a:rPr dirty="0" sz="2800" spc="-10">
                <a:latin typeface="Calibri"/>
                <a:cs typeface="Calibri"/>
                <a:hlinkClick r:id="rId2"/>
              </a:rPr>
              <a:t>01a.pdf</a:t>
            </a:r>
            <a:endParaRPr sz="2800">
              <a:latin typeface="Calibri"/>
              <a:cs typeface="Calibri"/>
            </a:endParaRPr>
          </a:p>
        </p:txBody>
      </p:sp>
      <p:pic>
        <p:nvPicPr>
          <p:cNvPr id="4" name="object 4" descr=""/>
          <p:cNvPicPr/>
          <p:nvPr/>
        </p:nvPicPr>
        <p:blipFill>
          <a:blip r:embed="rId3" cstate="print"/>
          <a:stretch>
            <a:fillRect/>
          </a:stretch>
        </p:blipFill>
        <p:spPr>
          <a:xfrm>
            <a:off x="729562" y="884322"/>
            <a:ext cx="812769" cy="396149"/>
          </a:xfrm>
          <a:prstGeom prst="rect">
            <a:avLst/>
          </a:prstGeom>
        </p:spPr>
      </p:pic>
      <p:pic>
        <p:nvPicPr>
          <p:cNvPr id="5" name="object 5" descr=""/>
          <p:cNvPicPr/>
          <p:nvPr/>
        </p:nvPicPr>
        <p:blipFill>
          <a:blip r:embed="rId4" cstate="print"/>
          <a:stretch>
            <a:fillRect/>
          </a:stretch>
        </p:blipFill>
        <p:spPr>
          <a:xfrm>
            <a:off x="1704694" y="1011469"/>
            <a:ext cx="226092" cy="240746"/>
          </a:xfrm>
          <a:prstGeom prst="rect">
            <a:avLst/>
          </a:prstGeom>
        </p:spPr>
      </p:pic>
      <p:grpSp>
        <p:nvGrpSpPr>
          <p:cNvPr id="6" name="object 6" descr=""/>
          <p:cNvGrpSpPr/>
          <p:nvPr/>
        </p:nvGrpSpPr>
        <p:grpSpPr>
          <a:xfrm>
            <a:off x="323088" y="829076"/>
            <a:ext cx="8689975" cy="3209925"/>
            <a:chOff x="323088" y="829076"/>
            <a:chExt cx="8689975" cy="3209925"/>
          </a:xfrm>
        </p:grpSpPr>
        <p:pic>
          <p:nvPicPr>
            <p:cNvPr id="7" name="object 7" descr=""/>
            <p:cNvPicPr/>
            <p:nvPr/>
          </p:nvPicPr>
          <p:blipFill>
            <a:blip r:embed="rId5" cstate="print"/>
            <a:stretch>
              <a:fillRect/>
            </a:stretch>
          </p:blipFill>
          <p:spPr>
            <a:xfrm>
              <a:off x="323088" y="1629156"/>
              <a:ext cx="8458200" cy="2409444"/>
            </a:xfrm>
            <a:prstGeom prst="rect">
              <a:avLst/>
            </a:prstGeom>
          </p:spPr>
        </p:pic>
        <p:pic>
          <p:nvPicPr>
            <p:cNvPr id="8" name="object 8" descr=""/>
            <p:cNvPicPr/>
            <p:nvPr/>
          </p:nvPicPr>
          <p:blipFill>
            <a:blip r:embed="rId6" cstate="print"/>
            <a:stretch>
              <a:fillRect/>
            </a:stretch>
          </p:blipFill>
          <p:spPr>
            <a:xfrm>
              <a:off x="1995778" y="1003037"/>
              <a:ext cx="591934" cy="220979"/>
            </a:xfrm>
            <a:prstGeom prst="rect">
              <a:avLst/>
            </a:prstGeom>
          </p:spPr>
        </p:pic>
        <p:pic>
          <p:nvPicPr>
            <p:cNvPr id="9" name="object 9" descr=""/>
            <p:cNvPicPr/>
            <p:nvPr/>
          </p:nvPicPr>
          <p:blipFill>
            <a:blip r:embed="rId7" cstate="print"/>
            <a:stretch>
              <a:fillRect/>
            </a:stretch>
          </p:blipFill>
          <p:spPr>
            <a:xfrm>
              <a:off x="4434946" y="829076"/>
              <a:ext cx="2568593" cy="419868"/>
            </a:xfrm>
            <a:prstGeom prst="rect">
              <a:avLst/>
            </a:prstGeom>
          </p:spPr>
        </p:pic>
        <p:pic>
          <p:nvPicPr>
            <p:cNvPr id="10" name="object 10" descr=""/>
            <p:cNvPicPr/>
            <p:nvPr/>
          </p:nvPicPr>
          <p:blipFill>
            <a:blip r:embed="rId8" cstate="print"/>
            <a:stretch>
              <a:fillRect/>
            </a:stretch>
          </p:blipFill>
          <p:spPr>
            <a:xfrm>
              <a:off x="762769" y="1372064"/>
              <a:ext cx="786884" cy="365593"/>
            </a:xfrm>
            <a:prstGeom prst="rect">
              <a:avLst/>
            </a:prstGeom>
          </p:spPr>
        </p:pic>
        <p:pic>
          <p:nvPicPr>
            <p:cNvPr id="11" name="object 11" descr=""/>
            <p:cNvPicPr/>
            <p:nvPr/>
          </p:nvPicPr>
          <p:blipFill>
            <a:blip r:embed="rId9" cstate="print"/>
            <a:stretch>
              <a:fillRect/>
            </a:stretch>
          </p:blipFill>
          <p:spPr>
            <a:xfrm>
              <a:off x="1774706" y="1499188"/>
              <a:ext cx="267548" cy="195079"/>
            </a:xfrm>
            <a:prstGeom prst="rect">
              <a:avLst/>
            </a:prstGeom>
          </p:spPr>
        </p:pic>
        <p:pic>
          <p:nvPicPr>
            <p:cNvPr id="12" name="object 12" descr=""/>
            <p:cNvPicPr/>
            <p:nvPr/>
          </p:nvPicPr>
          <p:blipFill>
            <a:blip r:embed="rId10" cstate="print"/>
            <a:stretch>
              <a:fillRect/>
            </a:stretch>
          </p:blipFill>
          <p:spPr>
            <a:xfrm>
              <a:off x="2125652" y="907145"/>
              <a:ext cx="6887367" cy="1096582"/>
            </a:xfrm>
            <a:prstGeom prst="rect">
              <a:avLst/>
            </a:prstGeom>
          </p:spPr>
        </p:pic>
        <p:sp>
          <p:nvSpPr>
            <p:cNvPr id="13" name="object 13" descr=""/>
            <p:cNvSpPr/>
            <p:nvPr/>
          </p:nvSpPr>
          <p:spPr>
            <a:xfrm>
              <a:off x="7024271" y="2007215"/>
              <a:ext cx="15240" cy="14604"/>
            </a:xfrm>
            <a:custGeom>
              <a:avLst/>
              <a:gdLst/>
              <a:ahLst/>
              <a:cxnLst/>
              <a:rect l="l" t="t" r="r" b="b"/>
              <a:pathLst>
                <a:path w="15240" h="14605">
                  <a:moveTo>
                    <a:pt x="6828" y="0"/>
                  </a:moveTo>
                  <a:lnTo>
                    <a:pt x="5303" y="566"/>
                  </a:lnTo>
                  <a:lnTo>
                    <a:pt x="1789" y="4420"/>
                  </a:lnTo>
                  <a:lnTo>
                    <a:pt x="0" y="8589"/>
                  </a:lnTo>
                  <a:lnTo>
                    <a:pt x="5448" y="14507"/>
                  </a:lnTo>
                  <a:lnTo>
                    <a:pt x="9109" y="13663"/>
                  </a:lnTo>
                  <a:lnTo>
                    <a:pt x="11984" y="12109"/>
                  </a:lnTo>
                  <a:lnTo>
                    <a:pt x="13909" y="11070"/>
                  </a:lnTo>
                  <a:lnTo>
                    <a:pt x="14626" y="8669"/>
                  </a:lnTo>
                  <a:lnTo>
                    <a:pt x="13323" y="6256"/>
                  </a:lnTo>
                  <a:lnTo>
                    <a:pt x="12959" y="5828"/>
                  </a:lnTo>
                  <a:lnTo>
                    <a:pt x="12519" y="5488"/>
                  </a:lnTo>
                  <a:lnTo>
                    <a:pt x="12835" y="2875"/>
                  </a:lnTo>
                  <a:lnTo>
                    <a:pt x="10972" y="500"/>
                  </a:lnTo>
                  <a:lnTo>
                    <a:pt x="6828" y="0"/>
                  </a:lnTo>
                  <a:close/>
                </a:path>
              </a:pathLst>
            </a:custGeom>
            <a:solidFill>
              <a:srgbClr val="000000"/>
            </a:solidFill>
          </p:spPr>
          <p:txBody>
            <a:bodyPr wrap="square" lIns="0" tIns="0" rIns="0" bIns="0" rtlCol="0"/>
            <a:lstStyle/>
            <a:p/>
          </p:txBody>
        </p:sp>
      </p:grpSp>
      <p:sp>
        <p:nvSpPr>
          <p:cNvPr id="14" name="object 1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19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435909" rIns="0" bIns="0" rtlCol="0" vert="horz">
            <a:spAutoFit/>
          </a:bodyPr>
          <a:lstStyle/>
          <a:p>
            <a:pPr marL="1024255">
              <a:lnSpc>
                <a:spcPct val="100000"/>
              </a:lnSpc>
              <a:spcBef>
                <a:spcPts val="105"/>
              </a:spcBef>
            </a:pPr>
            <a:r>
              <a:rPr dirty="0" sz="4400"/>
              <a:t>Convolutional</a:t>
            </a:r>
            <a:r>
              <a:rPr dirty="0" sz="4400" spc="-100"/>
              <a:t> </a:t>
            </a:r>
            <a:r>
              <a:rPr dirty="0" sz="4400"/>
              <a:t>NN</a:t>
            </a:r>
            <a:r>
              <a:rPr dirty="0" sz="4400" spc="-65"/>
              <a:t> </a:t>
            </a:r>
            <a:r>
              <a:rPr dirty="0" sz="4400" spc="-10"/>
              <a:t>(CNN)</a:t>
            </a:r>
            <a:endParaRPr sz="4400"/>
          </a:p>
        </p:txBody>
      </p:sp>
      <p:pic>
        <p:nvPicPr>
          <p:cNvPr id="3" name="object 3" descr=""/>
          <p:cNvPicPr/>
          <p:nvPr/>
        </p:nvPicPr>
        <p:blipFill>
          <a:blip r:embed="rId2" cstate="print"/>
          <a:stretch>
            <a:fillRect/>
          </a:stretch>
        </p:blipFill>
        <p:spPr>
          <a:xfrm>
            <a:off x="524255" y="1629155"/>
            <a:ext cx="8173199" cy="2011680"/>
          </a:xfrm>
          <a:prstGeom prst="rect">
            <a:avLst/>
          </a:prstGeom>
        </p:spPr>
      </p:pic>
      <p:sp>
        <p:nvSpPr>
          <p:cNvPr id="4" name="object 4" descr=""/>
          <p:cNvSpPr txBox="1"/>
          <p:nvPr/>
        </p:nvSpPr>
        <p:spPr>
          <a:xfrm>
            <a:off x="1134445" y="4234295"/>
            <a:ext cx="3101975" cy="1122680"/>
          </a:xfrm>
          <a:prstGeom prst="rect">
            <a:avLst/>
          </a:prstGeom>
        </p:spPr>
        <p:txBody>
          <a:bodyPr wrap="square" lIns="0" tIns="12700" rIns="0" bIns="0" rtlCol="0" vert="horz">
            <a:spAutoFit/>
          </a:bodyPr>
          <a:lstStyle/>
          <a:p>
            <a:pPr marL="354965" indent="-342265">
              <a:lnSpc>
                <a:spcPct val="100000"/>
              </a:lnSpc>
              <a:spcBef>
                <a:spcPts val="100"/>
              </a:spcBef>
              <a:buFont typeface="Arial MT"/>
              <a:buChar char="•"/>
              <a:tabLst>
                <a:tab pos="354965" algn="l"/>
              </a:tabLst>
            </a:pPr>
            <a:r>
              <a:rPr dirty="0" sz="2400" spc="-10">
                <a:latin typeface="Calibri"/>
                <a:cs typeface="Calibri"/>
              </a:rPr>
              <a:t>Convolutional</a:t>
            </a:r>
            <a:r>
              <a:rPr dirty="0" sz="2400" spc="-30">
                <a:latin typeface="Calibri"/>
                <a:cs typeface="Calibri"/>
              </a:rPr>
              <a:t> </a:t>
            </a:r>
            <a:r>
              <a:rPr dirty="0" sz="2400" spc="-20">
                <a:latin typeface="Calibri"/>
                <a:cs typeface="Calibri"/>
              </a:rPr>
              <a:t>layer</a:t>
            </a:r>
            <a:endParaRPr sz="2400">
              <a:latin typeface="Calibri"/>
              <a:cs typeface="Calibri"/>
            </a:endParaRPr>
          </a:p>
          <a:p>
            <a:pPr marL="354965" indent="-342265">
              <a:lnSpc>
                <a:spcPct val="100000"/>
              </a:lnSpc>
              <a:buFont typeface="Arial MT"/>
              <a:buChar char="•"/>
              <a:tabLst>
                <a:tab pos="354965" algn="l"/>
              </a:tabLst>
            </a:pPr>
            <a:r>
              <a:rPr dirty="0" sz="2400" spc="-20">
                <a:latin typeface="Calibri"/>
                <a:cs typeface="Calibri"/>
              </a:rPr>
              <a:t>Sub-</a:t>
            </a:r>
            <a:r>
              <a:rPr dirty="0" sz="2400">
                <a:latin typeface="Calibri"/>
                <a:cs typeface="Calibri"/>
              </a:rPr>
              <a:t>sampling</a:t>
            </a:r>
            <a:r>
              <a:rPr dirty="0" sz="2400" spc="-15">
                <a:latin typeface="Calibri"/>
                <a:cs typeface="Calibri"/>
              </a:rPr>
              <a:t> </a:t>
            </a:r>
            <a:r>
              <a:rPr dirty="0" sz="2400" spc="-20">
                <a:latin typeface="Calibri"/>
                <a:cs typeface="Calibri"/>
              </a:rPr>
              <a:t>layer</a:t>
            </a:r>
            <a:endParaRPr sz="2400">
              <a:latin typeface="Calibri"/>
              <a:cs typeface="Calibri"/>
            </a:endParaRPr>
          </a:p>
          <a:p>
            <a:pPr marL="354965" indent="-342265">
              <a:lnSpc>
                <a:spcPct val="100000"/>
              </a:lnSpc>
              <a:buFont typeface="Arial MT"/>
              <a:buChar char="•"/>
              <a:tabLst>
                <a:tab pos="354965" algn="l"/>
              </a:tabLst>
            </a:pPr>
            <a:r>
              <a:rPr dirty="0" sz="2400">
                <a:latin typeface="Calibri"/>
                <a:cs typeface="Calibri"/>
              </a:rPr>
              <a:t>Fully</a:t>
            </a:r>
            <a:r>
              <a:rPr dirty="0" sz="2400" spc="-80">
                <a:latin typeface="Calibri"/>
                <a:cs typeface="Calibri"/>
              </a:rPr>
              <a:t> </a:t>
            </a:r>
            <a:r>
              <a:rPr dirty="0" sz="2400">
                <a:latin typeface="Calibri"/>
                <a:cs typeface="Calibri"/>
              </a:rPr>
              <a:t>connected</a:t>
            </a:r>
            <a:r>
              <a:rPr dirty="0" sz="2400" spc="-90">
                <a:latin typeface="Calibri"/>
                <a:cs typeface="Calibri"/>
              </a:rPr>
              <a:t> </a:t>
            </a:r>
            <a:r>
              <a:rPr dirty="0" sz="2400" spc="-10">
                <a:latin typeface="Calibri"/>
                <a:cs typeface="Calibri"/>
              </a:rPr>
              <a:t>layers</a:t>
            </a:r>
            <a:endParaRPr sz="2400">
              <a:latin typeface="Calibri"/>
              <a:cs typeface="Calibri"/>
            </a:endParaRPr>
          </a:p>
        </p:txBody>
      </p:sp>
      <p:pic>
        <p:nvPicPr>
          <p:cNvPr id="5" name="object 5" descr=""/>
          <p:cNvPicPr/>
          <p:nvPr/>
        </p:nvPicPr>
        <p:blipFill>
          <a:blip r:embed="rId3" cstate="print"/>
          <a:stretch>
            <a:fillRect/>
          </a:stretch>
        </p:blipFill>
        <p:spPr>
          <a:xfrm>
            <a:off x="4041757" y="4178343"/>
            <a:ext cx="734842" cy="359793"/>
          </a:xfrm>
          <a:prstGeom prst="rect">
            <a:avLst/>
          </a:prstGeom>
        </p:spPr>
      </p:pic>
      <p:pic>
        <p:nvPicPr>
          <p:cNvPr id="6" name="object 6" descr=""/>
          <p:cNvPicPr/>
          <p:nvPr/>
        </p:nvPicPr>
        <p:blipFill>
          <a:blip r:embed="rId4" cstate="print"/>
          <a:stretch>
            <a:fillRect/>
          </a:stretch>
        </p:blipFill>
        <p:spPr>
          <a:xfrm>
            <a:off x="4088555" y="4648587"/>
            <a:ext cx="713657" cy="319808"/>
          </a:xfrm>
          <a:prstGeom prst="rect">
            <a:avLst/>
          </a:prstGeom>
        </p:spPr>
      </p:pic>
      <p:pic>
        <p:nvPicPr>
          <p:cNvPr id="7" name="object 7" descr=""/>
          <p:cNvPicPr/>
          <p:nvPr/>
        </p:nvPicPr>
        <p:blipFill>
          <a:blip r:embed="rId5" cstate="print"/>
          <a:stretch>
            <a:fillRect/>
          </a:stretch>
        </p:blipFill>
        <p:spPr>
          <a:xfrm>
            <a:off x="4397023" y="5015473"/>
            <a:ext cx="933874" cy="333589"/>
          </a:xfrm>
          <a:prstGeom prst="rect">
            <a:avLst/>
          </a:prstGeom>
        </p:spPr>
      </p:pic>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20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99234" rIns="0" bIns="0" rtlCol="0" vert="horz">
            <a:spAutoFit/>
          </a:bodyPr>
          <a:lstStyle/>
          <a:p>
            <a:pPr marL="1397635">
              <a:lnSpc>
                <a:spcPct val="100000"/>
              </a:lnSpc>
              <a:spcBef>
                <a:spcPts val="105"/>
              </a:spcBef>
            </a:pPr>
            <a:r>
              <a:rPr dirty="0" sz="4400"/>
              <a:t>Basic</a:t>
            </a:r>
            <a:r>
              <a:rPr dirty="0" sz="4400" spc="-75"/>
              <a:t> </a:t>
            </a:r>
            <a:r>
              <a:rPr dirty="0" sz="4400"/>
              <a:t>Concept</a:t>
            </a:r>
            <a:r>
              <a:rPr dirty="0" sz="4400" spc="-90"/>
              <a:t> </a:t>
            </a:r>
            <a:r>
              <a:rPr dirty="0" sz="4400"/>
              <a:t>of</a:t>
            </a:r>
            <a:r>
              <a:rPr dirty="0" sz="4400" spc="-55"/>
              <a:t> </a:t>
            </a:r>
            <a:r>
              <a:rPr dirty="0" sz="4400" spc="-25"/>
              <a:t>CNN</a:t>
            </a:r>
            <a:endParaRPr sz="4400"/>
          </a:p>
        </p:txBody>
      </p:sp>
      <p:pic>
        <p:nvPicPr>
          <p:cNvPr id="3" name="object 3" descr=""/>
          <p:cNvPicPr/>
          <p:nvPr/>
        </p:nvPicPr>
        <p:blipFill>
          <a:blip r:embed="rId2" cstate="print"/>
          <a:stretch>
            <a:fillRect/>
          </a:stretch>
        </p:blipFill>
        <p:spPr>
          <a:xfrm>
            <a:off x="1620011" y="3293364"/>
            <a:ext cx="5428878" cy="2714624"/>
          </a:xfrm>
          <a:prstGeom prst="rect">
            <a:avLst/>
          </a:prstGeom>
        </p:spPr>
      </p:pic>
      <p:sp>
        <p:nvSpPr>
          <p:cNvPr id="4" name="object 4" descr=""/>
          <p:cNvSpPr/>
          <p:nvPr/>
        </p:nvSpPr>
        <p:spPr>
          <a:xfrm>
            <a:off x="4786812" y="2475637"/>
            <a:ext cx="1845310" cy="0"/>
          </a:xfrm>
          <a:custGeom>
            <a:avLst/>
            <a:gdLst/>
            <a:ahLst/>
            <a:cxnLst/>
            <a:rect l="l" t="t" r="r" b="b"/>
            <a:pathLst>
              <a:path w="1845309" h="0">
                <a:moveTo>
                  <a:pt x="0" y="0"/>
                </a:moveTo>
                <a:lnTo>
                  <a:pt x="1845155" y="0"/>
                </a:lnTo>
              </a:path>
            </a:pathLst>
          </a:custGeom>
          <a:ln w="14400">
            <a:solidFill>
              <a:srgbClr val="D20000"/>
            </a:solidFill>
          </a:ln>
        </p:spPr>
        <p:txBody>
          <a:bodyPr wrap="square" lIns="0" tIns="0" rIns="0" bIns="0" rtlCol="0"/>
          <a:lstStyle/>
          <a:p/>
        </p:txBody>
      </p:sp>
      <p:sp>
        <p:nvSpPr>
          <p:cNvPr id="5" name="object 5" descr=""/>
          <p:cNvSpPr/>
          <p:nvPr/>
        </p:nvSpPr>
        <p:spPr>
          <a:xfrm>
            <a:off x="6913375" y="2466697"/>
            <a:ext cx="1246505" cy="0"/>
          </a:xfrm>
          <a:custGeom>
            <a:avLst/>
            <a:gdLst/>
            <a:ahLst/>
            <a:cxnLst/>
            <a:rect l="l" t="t" r="r" b="b"/>
            <a:pathLst>
              <a:path w="1246504" h="0">
                <a:moveTo>
                  <a:pt x="0" y="0"/>
                </a:moveTo>
                <a:lnTo>
                  <a:pt x="1246301" y="0"/>
                </a:lnTo>
              </a:path>
            </a:pathLst>
          </a:custGeom>
          <a:ln w="14400">
            <a:solidFill>
              <a:srgbClr val="D20000"/>
            </a:solidFill>
          </a:ln>
        </p:spPr>
        <p:txBody>
          <a:bodyPr wrap="square" lIns="0" tIns="0" rIns="0" bIns="0" rtlCol="0"/>
          <a:lstStyle/>
          <a:p/>
        </p:txBody>
      </p:sp>
      <p:sp>
        <p:nvSpPr>
          <p:cNvPr id="6" name="object 6" descr=""/>
          <p:cNvSpPr txBox="1"/>
          <p:nvPr/>
        </p:nvSpPr>
        <p:spPr>
          <a:xfrm>
            <a:off x="523240" y="1540256"/>
            <a:ext cx="8239759" cy="1191895"/>
          </a:xfrm>
          <a:prstGeom prst="rect">
            <a:avLst/>
          </a:prstGeom>
        </p:spPr>
        <p:txBody>
          <a:bodyPr wrap="square" lIns="0" tIns="85725" rIns="0" bIns="0" rtlCol="0" vert="horz">
            <a:spAutoFit/>
          </a:bodyPr>
          <a:lstStyle/>
          <a:p>
            <a:pPr marL="367665" indent="-342265">
              <a:lnSpc>
                <a:spcPct val="100000"/>
              </a:lnSpc>
              <a:spcBef>
                <a:spcPts val="675"/>
              </a:spcBef>
              <a:buFont typeface="Arial MT"/>
              <a:buChar char="•"/>
              <a:tabLst>
                <a:tab pos="367665" algn="l"/>
              </a:tabLst>
            </a:pPr>
            <a:r>
              <a:rPr dirty="0" sz="2400">
                <a:latin typeface="Calibri"/>
                <a:cs typeface="Calibri"/>
              </a:rPr>
              <a:t>Here's</a:t>
            </a:r>
            <a:r>
              <a:rPr dirty="0" sz="2400" spc="-70">
                <a:latin typeface="Calibri"/>
                <a:cs typeface="Calibri"/>
              </a:rPr>
              <a:t> </a:t>
            </a:r>
            <a:r>
              <a:rPr dirty="0" sz="2400">
                <a:latin typeface="Calibri"/>
                <a:cs typeface="Calibri"/>
              </a:rPr>
              <a:t>a</a:t>
            </a:r>
            <a:r>
              <a:rPr dirty="0" sz="2400" spc="-75">
                <a:latin typeface="Calibri"/>
                <a:cs typeface="Calibri"/>
              </a:rPr>
              <a:t> </a:t>
            </a:r>
            <a:r>
              <a:rPr dirty="0" sz="2400" spc="-20">
                <a:latin typeface="Calibri"/>
                <a:cs typeface="Calibri"/>
              </a:rPr>
              <a:t>one-</a:t>
            </a:r>
            <a:r>
              <a:rPr dirty="0" sz="2400">
                <a:latin typeface="Calibri"/>
                <a:cs typeface="Calibri"/>
              </a:rPr>
              <a:t>dimensional</a:t>
            </a:r>
            <a:r>
              <a:rPr dirty="0" sz="2400" spc="-50">
                <a:latin typeface="Calibri"/>
                <a:cs typeface="Calibri"/>
              </a:rPr>
              <a:t> </a:t>
            </a:r>
            <a:r>
              <a:rPr dirty="0" sz="2400" spc="-10">
                <a:latin typeface="Calibri"/>
                <a:cs typeface="Calibri"/>
              </a:rPr>
              <a:t>convolutional</a:t>
            </a:r>
            <a:r>
              <a:rPr dirty="0" sz="2400" spc="-65">
                <a:latin typeface="Calibri"/>
                <a:cs typeface="Calibri"/>
              </a:rPr>
              <a:t> </a:t>
            </a:r>
            <a:r>
              <a:rPr dirty="0" sz="2400">
                <a:latin typeface="Calibri"/>
                <a:cs typeface="Calibri"/>
              </a:rPr>
              <a:t>neural</a:t>
            </a:r>
            <a:r>
              <a:rPr dirty="0" sz="2400" spc="-65">
                <a:latin typeface="Calibri"/>
                <a:cs typeface="Calibri"/>
              </a:rPr>
              <a:t> </a:t>
            </a:r>
            <a:r>
              <a:rPr dirty="0" sz="2400" spc="-10">
                <a:latin typeface="Calibri"/>
                <a:cs typeface="Calibri"/>
              </a:rPr>
              <a:t>network</a:t>
            </a:r>
            <a:endParaRPr sz="2400">
              <a:latin typeface="Calibri"/>
              <a:cs typeface="Calibri"/>
            </a:endParaRPr>
          </a:p>
          <a:p>
            <a:pPr marL="368300" marR="43180" indent="-342900">
              <a:lnSpc>
                <a:spcPct val="78900"/>
              </a:lnSpc>
              <a:spcBef>
                <a:spcPts val="1185"/>
              </a:spcBef>
              <a:buFont typeface="Arial MT"/>
              <a:buChar char="•"/>
              <a:tabLst>
                <a:tab pos="368300" algn="l"/>
              </a:tabLst>
            </a:pPr>
            <a:r>
              <a:rPr dirty="0" sz="2400">
                <a:latin typeface="Calibri"/>
                <a:cs typeface="Calibri"/>
              </a:rPr>
              <a:t>Each</a:t>
            </a:r>
            <a:r>
              <a:rPr dirty="0" sz="2400" spc="-75">
                <a:latin typeface="Calibri"/>
                <a:cs typeface="Calibri"/>
              </a:rPr>
              <a:t> </a:t>
            </a:r>
            <a:r>
              <a:rPr dirty="0" sz="2400">
                <a:latin typeface="Calibri"/>
                <a:cs typeface="Calibri"/>
              </a:rPr>
              <a:t>hidden</a:t>
            </a:r>
            <a:r>
              <a:rPr dirty="0" sz="2400" spc="-60">
                <a:latin typeface="Calibri"/>
                <a:cs typeface="Calibri"/>
              </a:rPr>
              <a:t> </a:t>
            </a:r>
            <a:r>
              <a:rPr dirty="0" sz="2400">
                <a:latin typeface="Calibri"/>
                <a:cs typeface="Calibri"/>
              </a:rPr>
              <a:t>neuron</a:t>
            </a:r>
            <a:r>
              <a:rPr dirty="0" sz="2400" spc="-60">
                <a:latin typeface="Calibri"/>
                <a:cs typeface="Calibri"/>
              </a:rPr>
              <a:t> </a:t>
            </a:r>
            <a:r>
              <a:rPr dirty="0" sz="2400">
                <a:latin typeface="Calibri"/>
                <a:cs typeface="Calibri"/>
              </a:rPr>
              <a:t>applies</a:t>
            </a:r>
            <a:r>
              <a:rPr dirty="0" sz="2400" spc="-70">
                <a:latin typeface="Calibri"/>
                <a:cs typeface="Calibri"/>
              </a:rPr>
              <a:t> </a:t>
            </a:r>
            <a:r>
              <a:rPr dirty="0" sz="2400" b="1" i="1">
                <a:solidFill>
                  <a:srgbClr val="0000FF"/>
                </a:solidFill>
                <a:latin typeface="Calibri"/>
                <a:cs typeface="Calibri"/>
              </a:rPr>
              <a:t>the</a:t>
            </a:r>
            <a:r>
              <a:rPr dirty="0" sz="2400" spc="-50" b="1" i="1">
                <a:solidFill>
                  <a:srgbClr val="0000FF"/>
                </a:solidFill>
                <a:latin typeface="Calibri"/>
                <a:cs typeface="Calibri"/>
              </a:rPr>
              <a:t> </a:t>
            </a:r>
            <a:r>
              <a:rPr dirty="0" sz="2400" b="1" i="1">
                <a:solidFill>
                  <a:srgbClr val="0000FF"/>
                </a:solidFill>
                <a:latin typeface="Calibri"/>
                <a:cs typeface="Calibri"/>
              </a:rPr>
              <a:t>same</a:t>
            </a:r>
            <a:r>
              <a:rPr dirty="0" sz="2400" spc="-75" b="1" i="1">
                <a:solidFill>
                  <a:srgbClr val="0000FF"/>
                </a:solidFill>
                <a:latin typeface="Calibri"/>
                <a:cs typeface="Calibri"/>
              </a:rPr>
              <a:t> </a:t>
            </a:r>
            <a:r>
              <a:rPr dirty="0" sz="2400" b="1" i="1">
                <a:solidFill>
                  <a:srgbClr val="0000FF"/>
                </a:solidFill>
                <a:latin typeface="Calibri"/>
                <a:cs typeface="Calibri"/>
              </a:rPr>
              <a:t>localized</a:t>
            </a:r>
            <a:r>
              <a:rPr dirty="0" sz="2400" spc="-40" b="1" i="1">
                <a:solidFill>
                  <a:srgbClr val="0000FF"/>
                </a:solidFill>
                <a:latin typeface="Calibri"/>
                <a:cs typeface="Calibri"/>
              </a:rPr>
              <a:t>, </a:t>
            </a:r>
            <a:r>
              <a:rPr dirty="0" sz="2400" b="1" i="1">
                <a:solidFill>
                  <a:srgbClr val="0000FF"/>
                </a:solidFill>
                <a:latin typeface="Calibri"/>
                <a:cs typeface="Calibri"/>
              </a:rPr>
              <a:t>linear</a:t>
            </a:r>
            <a:r>
              <a:rPr dirty="0" sz="2400" spc="-75" b="1" i="1">
                <a:solidFill>
                  <a:srgbClr val="0000FF"/>
                </a:solidFill>
                <a:latin typeface="Calibri"/>
                <a:cs typeface="Calibri"/>
              </a:rPr>
              <a:t> </a:t>
            </a:r>
            <a:r>
              <a:rPr dirty="0" sz="2400" b="1" i="1">
                <a:solidFill>
                  <a:srgbClr val="0000FF"/>
                </a:solidFill>
                <a:latin typeface="Calibri"/>
                <a:cs typeface="Calibri"/>
              </a:rPr>
              <a:t>filter</a:t>
            </a:r>
            <a:r>
              <a:rPr dirty="0" sz="2400" spc="-45" b="1" i="1">
                <a:solidFill>
                  <a:srgbClr val="0000FF"/>
                </a:solidFill>
                <a:latin typeface="Calibri"/>
                <a:cs typeface="Calibri"/>
              </a:rPr>
              <a:t> </a:t>
            </a:r>
            <a:r>
              <a:rPr dirty="0" sz="2400" spc="-25">
                <a:latin typeface="Calibri"/>
                <a:cs typeface="Calibri"/>
              </a:rPr>
              <a:t>to </a:t>
            </a:r>
            <a:r>
              <a:rPr dirty="0" baseline="-13888" sz="3600">
                <a:latin typeface="Calibri"/>
                <a:cs typeface="Calibri"/>
              </a:rPr>
              <a:t>the</a:t>
            </a:r>
            <a:r>
              <a:rPr dirty="0" baseline="-13888" sz="3600" spc="60">
                <a:latin typeface="Calibri"/>
                <a:cs typeface="Calibri"/>
              </a:rPr>
              <a:t> </a:t>
            </a:r>
            <a:r>
              <a:rPr dirty="0" baseline="-13888" sz="3600">
                <a:latin typeface="Calibri"/>
                <a:cs typeface="Calibri"/>
              </a:rPr>
              <a:t>input</a:t>
            </a:r>
            <a:r>
              <a:rPr dirty="0" baseline="-13888" sz="3600" spc="330">
                <a:latin typeface="Calibri"/>
                <a:cs typeface="Calibri"/>
              </a:rPr>
              <a:t> </a:t>
            </a:r>
            <a:r>
              <a:rPr dirty="0" u="heavy" sz="1100">
                <a:uFill>
                  <a:solidFill>
                    <a:srgbClr val="000000"/>
                  </a:solidFill>
                </a:uFill>
                <a:latin typeface="Trebuchet MS"/>
                <a:cs typeface="Trebuchet MS"/>
              </a:rPr>
              <a:t>Localized</a:t>
            </a:r>
            <a:r>
              <a:rPr dirty="0" u="heavy" sz="1100" spc="-65">
                <a:uFill>
                  <a:solidFill>
                    <a:srgbClr val="000000"/>
                  </a:solidFill>
                </a:uFill>
                <a:latin typeface="Trebuchet MS"/>
                <a:cs typeface="Trebuchet MS"/>
              </a:rPr>
              <a:t> (</a:t>
            </a:r>
            <a:r>
              <a:rPr dirty="0" u="heavy" sz="1100" spc="-20">
                <a:uFill>
                  <a:solidFill>
                    <a:srgbClr val="000000"/>
                  </a:solidFill>
                </a:uFill>
                <a:latin typeface="Microsoft YaHei UI"/>
                <a:cs typeface="Microsoft YaHei UI"/>
              </a:rPr>
              <a:t>局部化</a:t>
            </a:r>
            <a:r>
              <a:rPr dirty="0" sz="1100" spc="-80">
                <a:latin typeface="Trebuchet MS"/>
                <a:cs typeface="Trebuchet MS"/>
              </a:rPr>
              <a:t>): </a:t>
            </a:r>
            <a:r>
              <a:rPr dirty="0" sz="1100" spc="-20">
                <a:latin typeface="Microsoft YaHei UI"/>
                <a:cs typeface="Microsoft YaHei UI"/>
              </a:rPr>
              <a:t>你看图中的 </a:t>
            </a:r>
            <a:r>
              <a:rPr dirty="0" sz="1100">
                <a:latin typeface="Trebuchet MS"/>
                <a:cs typeface="Trebuchet MS"/>
              </a:rPr>
              <a:t>Hidden</a:t>
            </a:r>
            <a:r>
              <a:rPr dirty="0" sz="1100" spc="-10">
                <a:latin typeface="Trebuchet MS"/>
                <a:cs typeface="Trebuchet MS"/>
              </a:rPr>
              <a:t> </a:t>
            </a:r>
            <a:r>
              <a:rPr dirty="0" sz="1100" spc="-20">
                <a:latin typeface="Microsoft YaHei UI"/>
                <a:cs typeface="Microsoft YaHei UI"/>
              </a:rPr>
              <a:t>层，每个神经元只连接到 </a:t>
            </a:r>
            <a:r>
              <a:rPr dirty="0" sz="1100">
                <a:latin typeface="Trebuchet MS"/>
                <a:cs typeface="Trebuchet MS"/>
              </a:rPr>
              <a:t>Data</a:t>
            </a:r>
            <a:r>
              <a:rPr dirty="0" sz="1100" spc="-5">
                <a:latin typeface="Trebuchet MS"/>
                <a:cs typeface="Trebuchet MS"/>
              </a:rPr>
              <a:t> </a:t>
            </a:r>
            <a:r>
              <a:rPr dirty="0" sz="1100" spc="-20">
                <a:latin typeface="Microsoft YaHei UI"/>
                <a:cs typeface="Microsoft YaHei UI"/>
              </a:rPr>
              <a:t>层的⼀⼩部分</a:t>
            </a:r>
            <a:r>
              <a:rPr dirty="0" sz="1100">
                <a:latin typeface="Microsoft YaHei UI"/>
                <a:cs typeface="Microsoft YaHei UI"/>
              </a:rPr>
              <a:t>（</a:t>
            </a:r>
            <a:r>
              <a:rPr dirty="0" sz="1100">
                <a:latin typeface="Trebuchet MS"/>
                <a:cs typeface="Trebuchet MS"/>
              </a:rPr>
              <a:t>2</a:t>
            </a:r>
            <a:r>
              <a:rPr dirty="0" sz="1100" spc="-20">
                <a:latin typeface="Microsoft YaHei UI"/>
                <a:cs typeface="Microsoft YaHei UI"/>
              </a:rPr>
              <a:t>个输⼊），</a:t>
            </a:r>
            <a:r>
              <a:rPr dirty="0" sz="1100" spc="-30">
                <a:latin typeface="Microsoft YaHei UI"/>
                <a:cs typeface="Microsoft YaHei UI"/>
              </a:rPr>
              <a:t>⽽不是全</a:t>
            </a:r>
            <a:endParaRPr sz="1100">
              <a:latin typeface="Microsoft YaHei UI"/>
              <a:cs typeface="Microsoft YaHei UI"/>
            </a:endParaRP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21</a:t>
            </a:r>
          </a:p>
        </p:txBody>
      </p:sp>
      <p:sp>
        <p:nvSpPr>
          <p:cNvPr id="7" name="object 7" descr=""/>
          <p:cNvSpPr txBox="1"/>
          <p:nvPr/>
        </p:nvSpPr>
        <p:spPr>
          <a:xfrm>
            <a:off x="2105139" y="2673439"/>
            <a:ext cx="6873875" cy="607695"/>
          </a:xfrm>
          <a:prstGeom prst="rect">
            <a:avLst/>
          </a:prstGeom>
        </p:spPr>
        <p:txBody>
          <a:bodyPr wrap="square" lIns="0" tIns="39369" rIns="0" bIns="0" rtlCol="0" vert="horz">
            <a:spAutoFit/>
          </a:bodyPr>
          <a:lstStyle/>
          <a:p>
            <a:pPr marL="12700">
              <a:lnSpc>
                <a:spcPct val="100000"/>
              </a:lnSpc>
              <a:spcBef>
                <a:spcPts val="309"/>
              </a:spcBef>
            </a:pPr>
            <a:r>
              <a:rPr dirty="0" sz="1100" spc="-20">
                <a:latin typeface="Microsoft YaHei UI"/>
                <a:cs typeface="Microsoft YaHei UI"/>
              </a:rPr>
              <a:t>部。这就是</a:t>
            </a:r>
            <a:r>
              <a:rPr dirty="0" sz="1100" spc="-114">
                <a:latin typeface="Trebuchet MS"/>
                <a:cs typeface="Trebuchet MS"/>
              </a:rPr>
              <a:t>“</a:t>
            </a:r>
            <a:r>
              <a:rPr dirty="0" sz="1100" spc="-20">
                <a:latin typeface="Microsoft YaHei UI"/>
                <a:cs typeface="Microsoft YaHei UI"/>
              </a:rPr>
              <a:t>局部感受野</a:t>
            </a:r>
            <a:r>
              <a:rPr dirty="0" sz="1100" spc="-114">
                <a:latin typeface="Trebuchet MS"/>
                <a:cs typeface="Trebuchet MS"/>
              </a:rPr>
              <a:t>”</a:t>
            </a:r>
            <a:r>
              <a:rPr dirty="0" sz="1100" spc="-50">
                <a:latin typeface="Microsoft YaHei UI"/>
                <a:cs typeface="Microsoft YaHei UI"/>
              </a:rPr>
              <a:t>。</a:t>
            </a:r>
            <a:endParaRPr sz="1100">
              <a:latin typeface="Microsoft YaHei UI"/>
              <a:cs typeface="Microsoft YaHei UI"/>
            </a:endParaRPr>
          </a:p>
          <a:p>
            <a:pPr marL="12700" marR="5080">
              <a:lnSpc>
                <a:spcPct val="115700"/>
              </a:lnSpc>
            </a:pPr>
            <a:r>
              <a:rPr dirty="0" u="heavy" sz="1100">
                <a:uFill>
                  <a:solidFill>
                    <a:srgbClr val="000000"/>
                  </a:solidFill>
                </a:uFill>
                <a:latin typeface="Trebuchet MS"/>
                <a:cs typeface="Trebuchet MS"/>
              </a:rPr>
              <a:t>The same </a:t>
            </a:r>
            <a:r>
              <a:rPr dirty="0" u="heavy" sz="1100" spc="-80">
                <a:uFill>
                  <a:solidFill>
                    <a:srgbClr val="000000"/>
                  </a:solidFill>
                </a:uFill>
                <a:latin typeface="Trebuchet MS"/>
                <a:cs typeface="Trebuchet MS"/>
              </a:rPr>
              <a:t>filt</a:t>
            </a:r>
            <a:r>
              <a:rPr dirty="0" sz="1100" spc="-80">
                <a:latin typeface="Trebuchet MS"/>
                <a:cs typeface="Trebuchet MS"/>
              </a:rPr>
              <a:t>e</a:t>
            </a:r>
            <a:r>
              <a:rPr dirty="0" u="heavy" sz="1100" spc="-80">
                <a:uFill>
                  <a:solidFill>
                    <a:srgbClr val="000000"/>
                  </a:solidFill>
                </a:uFill>
                <a:latin typeface="Trebuchet MS"/>
                <a:cs typeface="Trebuchet MS"/>
              </a:rPr>
              <a:t>r</a:t>
            </a:r>
            <a:r>
              <a:rPr dirty="0" u="heavy" sz="1100" spc="-35">
                <a:uFill>
                  <a:solidFill>
                    <a:srgbClr val="000000"/>
                  </a:solidFill>
                </a:uFill>
                <a:latin typeface="Trebuchet MS"/>
                <a:cs typeface="Trebuchet MS"/>
              </a:rPr>
              <a:t> (</a:t>
            </a:r>
            <a:r>
              <a:rPr dirty="0" u="heavy" sz="1100" spc="-20">
                <a:uFill>
                  <a:solidFill>
                    <a:srgbClr val="000000"/>
                  </a:solidFill>
                </a:uFill>
                <a:latin typeface="Microsoft YaHei UI"/>
                <a:cs typeface="Microsoft YaHei UI"/>
              </a:rPr>
              <a:t>同⼀个滤波器</a:t>
            </a:r>
            <a:r>
              <a:rPr dirty="0" u="heavy" sz="1100" spc="-110">
                <a:uFill>
                  <a:solidFill>
                    <a:srgbClr val="000000"/>
                  </a:solidFill>
                </a:uFill>
                <a:latin typeface="Trebuchet MS"/>
                <a:cs typeface="Trebuchet MS"/>
              </a:rPr>
              <a:t>)</a:t>
            </a:r>
            <a:r>
              <a:rPr dirty="0" sz="1100" spc="-65">
                <a:latin typeface="Trebuchet MS"/>
                <a:cs typeface="Trebuchet MS"/>
              </a:rPr>
              <a:t>: </a:t>
            </a:r>
            <a:r>
              <a:rPr dirty="0" sz="1100" spc="-20">
                <a:latin typeface="Microsoft YaHei UI"/>
                <a:cs typeface="Microsoft YaHei UI"/>
              </a:rPr>
              <a:t>虽然图中没有明确画出参数，但它想表达的是，</a:t>
            </a:r>
            <a:r>
              <a:rPr dirty="0" sz="1100">
                <a:latin typeface="Trebuchet MS"/>
                <a:cs typeface="Trebuchet MS"/>
              </a:rPr>
              <a:t>Hidden </a:t>
            </a:r>
            <a:r>
              <a:rPr dirty="0" sz="1100" spc="-25">
                <a:latin typeface="Microsoft YaHei UI"/>
                <a:cs typeface="Microsoft YaHei UI"/>
              </a:rPr>
              <a:t>层从左到右的每⼀个神经</a:t>
            </a:r>
            <a:r>
              <a:rPr dirty="0" sz="1100" spc="-20">
                <a:latin typeface="Microsoft YaHei UI"/>
                <a:cs typeface="Microsoft YaHei UI"/>
              </a:rPr>
              <a:t>元，都使⽤完全相同的权重（也就是同⼀个滤波器）来处理它们各⾃看到的局部输⼊。这就是</a:t>
            </a:r>
            <a:r>
              <a:rPr dirty="0" sz="1100" spc="-114">
                <a:latin typeface="Trebuchet MS"/>
                <a:cs typeface="Trebuchet MS"/>
              </a:rPr>
              <a:t>“</a:t>
            </a:r>
            <a:r>
              <a:rPr dirty="0" sz="1100" spc="-20">
                <a:latin typeface="Microsoft YaHei UI"/>
                <a:cs typeface="Microsoft YaHei UI"/>
              </a:rPr>
              <a:t>权值共享</a:t>
            </a:r>
            <a:r>
              <a:rPr dirty="0" sz="1100" spc="-114">
                <a:latin typeface="Trebuchet MS"/>
                <a:cs typeface="Trebuchet MS"/>
              </a:rPr>
              <a:t>”</a:t>
            </a:r>
            <a:r>
              <a:rPr dirty="0" sz="1100" spc="-50">
                <a:latin typeface="Microsoft YaHei UI"/>
                <a:cs typeface="Microsoft YaHei UI"/>
              </a:rPr>
              <a:t>。</a:t>
            </a:r>
            <a:endParaRPr sz="1100">
              <a:latin typeface="Microsoft YaHei UI"/>
              <a:cs typeface="Microsoft YaHei U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59" y="279352"/>
            <a:ext cx="5087620" cy="635000"/>
          </a:xfrm>
          <a:prstGeom prst="rect"/>
        </p:spPr>
        <p:txBody>
          <a:bodyPr wrap="square" lIns="0" tIns="12065" rIns="0" bIns="0" rtlCol="0" vert="horz">
            <a:spAutoFit/>
          </a:bodyPr>
          <a:lstStyle/>
          <a:p>
            <a:pPr marL="12700">
              <a:lnSpc>
                <a:spcPct val="100000"/>
              </a:lnSpc>
              <a:spcBef>
                <a:spcPts val="95"/>
              </a:spcBef>
            </a:pPr>
            <a:r>
              <a:rPr dirty="0"/>
              <a:t>Sparse</a:t>
            </a:r>
            <a:r>
              <a:rPr dirty="0" spc="-130"/>
              <a:t> </a:t>
            </a:r>
            <a:r>
              <a:rPr dirty="0" spc="-10"/>
              <a:t>Connectivity</a:t>
            </a:r>
          </a:p>
        </p:txBody>
      </p:sp>
      <p:sp>
        <p:nvSpPr>
          <p:cNvPr id="3" name="object 3" descr=""/>
          <p:cNvSpPr txBox="1"/>
          <p:nvPr/>
        </p:nvSpPr>
        <p:spPr>
          <a:xfrm>
            <a:off x="330259" y="1108340"/>
            <a:ext cx="8427085" cy="1488440"/>
          </a:xfrm>
          <a:prstGeom prst="rect">
            <a:avLst/>
          </a:prstGeom>
        </p:spPr>
        <p:txBody>
          <a:bodyPr wrap="square" lIns="0" tIns="12700" rIns="0" bIns="0" rtlCol="0" vert="horz">
            <a:spAutoFit/>
          </a:bodyPr>
          <a:lstStyle/>
          <a:p>
            <a:pPr marL="355600" marR="5080" indent="-342900">
              <a:lnSpc>
                <a:spcPct val="100000"/>
              </a:lnSpc>
              <a:spcBef>
                <a:spcPts val="100"/>
              </a:spcBef>
              <a:buFont typeface="Arial MT"/>
              <a:buChar char="•"/>
              <a:tabLst>
                <a:tab pos="355600" algn="l"/>
              </a:tabLst>
            </a:pPr>
            <a:r>
              <a:rPr dirty="0" sz="2400">
                <a:latin typeface="Calibri"/>
                <a:cs typeface="Calibri"/>
              </a:rPr>
              <a:t>CNNs</a:t>
            </a:r>
            <a:r>
              <a:rPr dirty="0" sz="2400" spc="-65">
                <a:latin typeface="Calibri"/>
                <a:cs typeface="Calibri"/>
              </a:rPr>
              <a:t> </a:t>
            </a:r>
            <a:r>
              <a:rPr dirty="0" sz="2400">
                <a:latin typeface="Calibri"/>
                <a:cs typeface="Calibri"/>
              </a:rPr>
              <a:t>exploit</a:t>
            </a:r>
            <a:r>
              <a:rPr dirty="0" sz="2400" spc="-55">
                <a:latin typeface="Calibri"/>
                <a:cs typeface="Calibri"/>
              </a:rPr>
              <a:t> </a:t>
            </a:r>
            <a:r>
              <a:rPr dirty="0" sz="2400" spc="-10">
                <a:latin typeface="Calibri"/>
                <a:cs typeface="Calibri"/>
              </a:rPr>
              <a:t>spatially-</a:t>
            </a:r>
            <a:r>
              <a:rPr dirty="0" sz="2400">
                <a:latin typeface="Calibri"/>
                <a:cs typeface="Calibri"/>
              </a:rPr>
              <a:t>local</a:t>
            </a:r>
            <a:r>
              <a:rPr dirty="0" sz="2400" spc="-60">
                <a:latin typeface="Calibri"/>
                <a:cs typeface="Calibri"/>
              </a:rPr>
              <a:t> </a:t>
            </a:r>
            <a:r>
              <a:rPr dirty="0" sz="2400" spc="-10">
                <a:latin typeface="Calibri"/>
                <a:cs typeface="Calibri"/>
              </a:rPr>
              <a:t>correlation</a:t>
            </a:r>
            <a:r>
              <a:rPr dirty="0" sz="2400" spc="-60">
                <a:latin typeface="Calibri"/>
                <a:cs typeface="Calibri"/>
              </a:rPr>
              <a:t> </a:t>
            </a:r>
            <a:r>
              <a:rPr dirty="0" sz="2400">
                <a:latin typeface="Calibri"/>
                <a:cs typeface="Calibri"/>
              </a:rPr>
              <a:t>by</a:t>
            </a:r>
            <a:r>
              <a:rPr dirty="0" sz="2400" spc="-45">
                <a:latin typeface="Calibri"/>
                <a:cs typeface="Calibri"/>
              </a:rPr>
              <a:t> </a:t>
            </a:r>
            <a:r>
              <a:rPr dirty="0" sz="2400" spc="-10">
                <a:latin typeface="Calibri"/>
                <a:cs typeface="Calibri"/>
              </a:rPr>
              <a:t>enforcing</a:t>
            </a:r>
            <a:r>
              <a:rPr dirty="0" sz="2400" spc="-60">
                <a:latin typeface="Calibri"/>
                <a:cs typeface="Calibri"/>
              </a:rPr>
              <a:t> </a:t>
            </a:r>
            <a:r>
              <a:rPr dirty="0" sz="2400">
                <a:latin typeface="Calibri"/>
                <a:cs typeface="Calibri"/>
              </a:rPr>
              <a:t>a</a:t>
            </a:r>
            <a:r>
              <a:rPr dirty="0" sz="2400" spc="-45">
                <a:latin typeface="Calibri"/>
                <a:cs typeface="Calibri"/>
              </a:rPr>
              <a:t> </a:t>
            </a:r>
            <a:r>
              <a:rPr dirty="0" sz="2400" spc="-10">
                <a:latin typeface="Calibri"/>
                <a:cs typeface="Calibri"/>
              </a:rPr>
              <a:t>local </a:t>
            </a:r>
            <a:r>
              <a:rPr dirty="0" sz="2400">
                <a:latin typeface="Calibri"/>
                <a:cs typeface="Calibri"/>
              </a:rPr>
              <a:t>connectivity</a:t>
            </a:r>
            <a:r>
              <a:rPr dirty="0" sz="2400" spc="-85">
                <a:latin typeface="Calibri"/>
                <a:cs typeface="Calibri"/>
              </a:rPr>
              <a:t> </a:t>
            </a:r>
            <a:r>
              <a:rPr dirty="0" sz="2400" spc="-10">
                <a:latin typeface="Calibri"/>
                <a:cs typeface="Calibri"/>
              </a:rPr>
              <a:t>pattern</a:t>
            </a:r>
            <a:r>
              <a:rPr dirty="0" sz="2400" spc="-90">
                <a:latin typeface="Calibri"/>
                <a:cs typeface="Calibri"/>
              </a:rPr>
              <a:t> </a:t>
            </a:r>
            <a:r>
              <a:rPr dirty="0" sz="2400">
                <a:latin typeface="Calibri"/>
                <a:cs typeface="Calibri"/>
              </a:rPr>
              <a:t>between</a:t>
            </a:r>
            <a:r>
              <a:rPr dirty="0" sz="2400" spc="-75">
                <a:latin typeface="Calibri"/>
                <a:cs typeface="Calibri"/>
              </a:rPr>
              <a:t> </a:t>
            </a:r>
            <a:r>
              <a:rPr dirty="0" sz="2400">
                <a:latin typeface="Calibri"/>
                <a:cs typeface="Calibri"/>
              </a:rPr>
              <a:t>neurons</a:t>
            </a:r>
            <a:r>
              <a:rPr dirty="0" sz="2400" spc="-80">
                <a:latin typeface="Calibri"/>
                <a:cs typeface="Calibri"/>
              </a:rPr>
              <a:t> </a:t>
            </a:r>
            <a:r>
              <a:rPr dirty="0" sz="2400">
                <a:latin typeface="Calibri"/>
                <a:cs typeface="Calibri"/>
              </a:rPr>
              <a:t>of</a:t>
            </a:r>
            <a:r>
              <a:rPr dirty="0" sz="2400" spc="-70">
                <a:latin typeface="Calibri"/>
                <a:cs typeface="Calibri"/>
              </a:rPr>
              <a:t> </a:t>
            </a:r>
            <a:r>
              <a:rPr dirty="0" sz="2400">
                <a:latin typeface="Calibri"/>
                <a:cs typeface="Calibri"/>
              </a:rPr>
              <a:t>adjacent</a:t>
            </a:r>
            <a:r>
              <a:rPr dirty="0" sz="2400" spc="-85">
                <a:latin typeface="Calibri"/>
                <a:cs typeface="Calibri"/>
              </a:rPr>
              <a:t> </a:t>
            </a:r>
            <a:r>
              <a:rPr dirty="0" sz="2400" spc="-10">
                <a:latin typeface="Calibri"/>
                <a:cs typeface="Calibri"/>
              </a:rPr>
              <a:t>layers,</a:t>
            </a:r>
            <a:r>
              <a:rPr dirty="0" sz="2400" spc="-100">
                <a:latin typeface="Calibri"/>
                <a:cs typeface="Calibri"/>
              </a:rPr>
              <a:t> </a:t>
            </a:r>
            <a:r>
              <a:rPr dirty="0" sz="2400">
                <a:latin typeface="Calibri"/>
                <a:cs typeface="Calibri"/>
              </a:rPr>
              <a:t>i.e.,</a:t>
            </a:r>
            <a:r>
              <a:rPr dirty="0" sz="2400" spc="-75">
                <a:latin typeface="Calibri"/>
                <a:cs typeface="Calibri"/>
              </a:rPr>
              <a:t> </a:t>
            </a:r>
            <a:r>
              <a:rPr dirty="0" sz="2400" spc="-25">
                <a:latin typeface="Calibri"/>
                <a:cs typeface="Calibri"/>
              </a:rPr>
              <a:t>the </a:t>
            </a:r>
            <a:r>
              <a:rPr dirty="0" sz="2400">
                <a:latin typeface="Calibri"/>
                <a:cs typeface="Calibri"/>
              </a:rPr>
              <a:t>inputs</a:t>
            </a:r>
            <a:r>
              <a:rPr dirty="0" sz="2400" spc="-50">
                <a:latin typeface="Calibri"/>
                <a:cs typeface="Calibri"/>
              </a:rPr>
              <a:t> </a:t>
            </a:r>
            <a:r>
              <a:rPr dirty="0" sz="2400">
                <a:latin typeface="Calibri"/>
                <a:cs typeface="Calibri"/>
              </a:rPr>
              <a:t>of</a:t>
            </a:r>
            <a:r>
              <a:rPr dirty="0" sz="2400" spc="-45">
                <a:latin typeface="Calibri"/>
                <a:cs typeface="Calibri"/>
              </a:rPr>
              <a:t> </a:t>
            </a:r>
            <a:r>
              <a:rPr dirty="0" sz="2400">
                <a:latin typeface="Calibri"/>
                <a:cs typeface="Calibri"/>
              </a:rPr>
              <a:t>hidden</a:t>
            </a:r>
            <a:r>
              <a:rPr dirty="0" sz="2400" spc="-35">
                <a:latin typeface="Calibri"/>
                <a:cs typeface="Calibri"/>
              </a:rPr>
              <a:t> </a:t>
            </a:r>
            <a:r>
              <a:rPr dirty="0" sz="2400">
                <a:latin typeface="Calibri"/>
                <a:cs typeface="Calibri"/>
              </a:rPr>
              <a:t>units</a:t>
            </a:r>
            <a:r>
              <a:rPr dirty="0" sz="2400" spc="-45">
                <a:latin typeface="Calibri"/>
                <a:cs typeface="Calibri"/>
              </a:rPr>
              <a:t> </a:t>
            </a:r>
            <a:r>
              <a:rPr dirty="0" sz="2400">
                <a:latin typeface="Calibri"/>
                <a:cs typeface="Calibri"/>
              </a:rPr>
              <a:t>in</a:t>
            </a:r>
            <a:r>
              <a:rPr dirty="0" sz="2400" spc="-45">
                <a:latin typeface="Calibri"/>
                <a:cs typeface="Calibri"/>
              </a:rPr>
              <a:t> </a:t>
            </a:r>
            <a:r>
              <a:rPr dirty="0" sz="2400" spc="-10">
                <a:latin typeface="Calibri"/>
                <a:cs typeface="Calibri"/>
              </a:rPr>
              <a:t>layer</a:t>
            </a:r>
            <a:r>
              <a:rPr dirty="0" sz="2400" spc="-70">
                <a:latin typeface="Calibri"/>
                <a:cs typeface="Calibri"/>
              </a:rPr>
              <a:t> </a:t>
            </a:r>
            <a:r>
              <a:rPr dirty="0" sz="2400" b="1">
                <a:latin typeface="Calibri"/>
                <a:cs typeface="Calibri"/>
              </a:rPr>
              <a:t>m</a:t>
            </a:r>
            <a:r>
              <a:rPr dirty="0" sz="2400" spc="-35" b="1">
                <a:latin typeface="Calibri"/>
                <a:cs typeface="Calibri"/>
              </a:rPr>
              <a:t> </a:t>
            </a:r>
            <a:r>
              <a:rPr dirty="0" sz="2400">
                <a:latin typeface="Calibri"/>
                <a:cs typeface="Calibri"/>
              </a:rPr>
              <a:t>are</a:t>
            </a:r>
            <a:r>
              <a:rPr dirty="0" sz="2400" spc="-50">
                <a:latin typeface="Calibri"/>
                <a:cs typeface="Calibri"/>
              </a:rPr>
              <a:t> </a:t>
            </a:r>
            <a:r>
              <a:rPr dirty="0" sz="2400">
                <a:latin typeface="Calibri"/>
                <a:cs typeface="Calibri"/>
              </a:rPr>
              <a:t>from</a:t>
            </a:r>
            <a:r>
              <a:rPr dirty="0" sz="2400" spc="-40">
                <a:latin typeface="Calibri"/>
                <a:cs typeface="Calibri"/>
              </a:rPr>
              <a:t> </a:t>
            </a:r>
            <a:r>
              <a:rPr dirty="0" sz="2400">
                <a:latin typeface="Calibri"/>
                <a:cs typeface="Calibri"/>
              </a:rPr>
              <a:t>a</a:t>
            </a:r>
            <a:r>
              <a:rPr dirty="0" sz="2400" spc="-50">
                <a:latin typeface="Calibri"/>
                <a:cs typeface="Calibri"/>
              </a:rPr>
              <a:t> </a:t>
            </a:r>
            <a:r>
              <a:rPr dirty="0" sz="2400">
                <a:latin typeface="Calibri"/>
                <a:cs typeface="Calibri"/>
              </a:rPr>
              <a:t>subset</a:t>
            </a:r>
            <a:r>
              <a:rPr dirty="0" sz="2400" spc="-35">
                <a:latin typeface="Calibri"/>
                <a:cs typeface="Calibri"/>
              </a:rPr>
              <a:t> </a:t>
            </a:r>
            <a:r>
              <a:rPr dirty="0" sz="2400">
                <a:latin typeface="Calibri"/>
                <a:cs typeface="Calibri"/>
              </a:rPr>
              <a:t>of</a:t>
            </a:r>
            <a:r>
              <a:rPr dirty="0" sz="2400" spc="-45">
                <a:latin typeface="Calibri"/>
                <a:cs typeface="Calibri"/>
              </a:rPr>
              <a:t> </a:t>
            </a:r>
            <a:r>
              <a:rPr dirty="0" sz="2400">
                <a:latin typeface="Calibri"/>
                <a:cs typeface="Calibri"/>
              </a:rPr>
              <a:t>units</a:t>
            </a:r>
            <a:r>
              <a:rPr dirty="0" sz="2400" spc="-50">
                <a:latin typeface="Calibri"/>
                <a:cs typeface="Calibri"/>
              </a:rPr>
              <a:t> </a:t>
            </a:r>
            <a:r>
              <a:rPr dirty="0" sz="2400" spc="-25">
                <a:latin typeface="Calibri"/>
                <a:cs typeface="Calibri"/>
              </a:rPr>
              <a:t>in </a:t>
            </a:r>
            <a:r>
              <a:rPr dirty="0" sz="2400">
                <a:latin typeface="Calibri"/>
                <a:cs typeface="Calibri"/>
              </a:rPr>
              <a:t>layer</a:t>
            </a:r>
            <a:r>
              <a:rPr dirty="0" sz="2400" spc="-90">
                <a:latin typeface="Calibri"/>
                <a:cs typeface="Calibri"/>
              </a:rPr>
              <a:t> </a:t>
            </a:r>
            <a:r>
              <a:rPr dirty="0" sz="2400" spc="-10" b="1">
                <a:latin typeface="Calibri"/>
                <a:cs typeface="Calibri"/>
              </a:rPr>
              <a:t>m-</a:t>
            </a:r>
            <a:r>
              <a:rPr dirty="0" sz="2400" b="1">
                <a:latin typeface="Calibri"/>
                <a:cs typeface="Calibri"/>
              </a:rPr>
              <a:t>1</a:t>
            </a:r>
            <a:r>
              <a:rPr dirty="0" sz="2400">
                <a:latin typeface="Calibri"/>
                <a:cs typeface="Calibri"/>
              </a:rPr>
              <a:t>,</a:t>
            </a:r>
            <a:r>
              <a:rPr dirty="0" sz="2400" spc="-85">
                <a:latin typeface="Calibri"/>
                <a:cs typeface="Calibri"/>
              </a:rPr>
              <a:t> </a:t>
            </a:r>
            <a:r>
              <a:rPr dirty="0" sz="2400">
                <a:latin typeface="Calibri"/>
                <a:cs typeface="Calibri"/>
              </a:rPr>
              <a:t>units</a:t>
            </a:r>
            <a:r>
              <a:rPr dirty="0" sz="2400" spc="-85">
                <a:latin typeface="Calibri"/>
                <a:cs typeface="Calibri"/>
              </a:rPr>
              <a:t> </a:t>
            </a:r>
            <a:r>
              <a:rPr dirty="0" sz="2400">
                <a:latin typeface="Calibri"/>
                <a:cs typeface="Calibri"/>
              </a:rPr>
              <a:t>that</a:t>
            </a:r>
            <a:r>
              <a:rPr dirty="0" sz="2400" spc="-75">
                <a:latin typeface="Calibri"/>
                <a:cs typeface="Calibri"/>
              </a:rPr>
              <a:t> </a:t>
            </a:r>
            <a:r>
              <a:rPr dirty="0" sz="2400">
                <a:latin typeface="Calibri"/>
                <a:cs typeface="Calibri"/>
              </a:rPr>
              <a:t>have</a:t>
            </a:r>
            <a:r>
              <a:rPr dirty="0" sz="2400" spc="-75">
                <a:latin typeface="Calibri"/>
                <a:cs typeface="Calibri"/>
              </a:rPr>
              <a:t> </a:t>
            </a:r>
            <a:r>
              <a:rPr dirty="0" sz="2400">
                <a:latin typeface="Calibri"/>
                <a:cs typeface="Calibri"/>
              </a:rPr>
              <a:t>spatially</a:t>
            </a:r>
            <a:r>
              <a:rPr dirty="0" sz="2400" spc="-80">
                <a:latin typeface="Calibri"/>
                <a:cs typeface="Calibri"/>
              </a:rPr>
              <a:t> </a:t>
            </a:r>
            <a:r>
              <a:rPr dirty="0" sz="2400">
                <a:latin typeface="Calibri"/>
                <a:cs typeface="Calibri"/>
              </a:rPr>
              <a:t>contiguous</a:t>
            </a:r>
            <a:r>
              <a:rPr dirty="0" sz="2400" spc="-85">
                <a:latin typeface="Calibri"/>
                <a:cs typeface="Calibri"/>
              </a:rPr>
              <a:t> </a:t>
            </a:r>
            <a:r>
              <a:rPr dirty="0" sz="2400" i="1">
                <a:solidFill>
                  <a:srgbClr val="FF0000"/>
                </a:solidFill>
                <a:latin typeface="Calibri"/>
                <a:cs typeface="Calibri"/>
              </a:rPr>
              <a:t>receptive</a:t>
            </a:r>
            <a:r>
              <a:rPr dirty="0" sz="2400" spc="-80" i="1">
                <a:solidFill>
                  <a:srgbClr val="FF0000"/>
                </a:solidFill>
                <a:latin typeface="Calibri"/>
                <a:cs typeface="Calibri"/>
              </a:rPr>
              <a:t> </a:t>
            </a:r>
            <a:r>
              <a:rPr dirty="0" sz="2400" spc="-10" i="1">
                <a:solidFill>
                  <a:srgbClr val="FF0000"/>
                </a:solidFill>
                <a:latin typeface="Calibri"/>
                <a:cs typeface="Calibri"/>
              </a:rPr>
              <a:t>fields</a:t>
            </a:r>
            <a:endParaRPr sz="2400">
              <a:latin typeface="Calibri"/>
              <a:cs typeface="Calibri"/>
            </a:endParaRPr>
          </a:p>
        </p:txBody>
      </p:sp>
      <p:grpSp>
        <p:nvGrpSpPr>
          <p:cNvPr id="4" name="object 4" descr=""/>
          <p:cNvGrpSpPr/>
          <p:nvPr/>
        </p:nvGrpSpPr>
        <p:grpSpPr>
          <a:xfrm>
            <a:off x="2257044" y="2793492"/>
            <a:ext cx="3322320" cy="1524000"/>
            <a:chOff x="2257044" y="2793492"/>
            <a:chExt cx="3322320" cy="1524000"/>
          </a:xfrm>
        </p:grpSpPr>
        <p:pic>
          <p:nvPicPr>
            <p:cNvPr id="5" name="object 5" descr=""/>
            <p:cNvPicPr/>
            <p:nvPr/>
          </p:nvPicPr>
          <p:blipFill>
            <a:blip r:embed="rId2" cstate="print"/>
            <a:stretch>
              <a:fillRect/>
            </a:stretch>
          </p:blipFill>
          <p:spPr>
            <a:xfrm>
              <a:off x="2412492" y="2823972"/>
              <a:ext cx="3166872" cy="1493507"/>
            </a:xfrm>
            <a:prstGeom prst="rect">
              <a:avLst/>
            </a:prstGeom>
          </p:spPr>
        </p:pic>
        <p:sp>
          <p:nvSpPr>
            <p:cNvPr id="6" name="object 6" descr=""/>
            <p:cNvSpPr/>
            <p:nvPr/>
          </p:nvSpPr>
          <p:spPr>
            <a:xfrm>
              <a:off x="2257044" y="2793492"/>
              <a:ext cx="1477010" cy="462280"/>
            </a:xfrm>
            <a:custGeom>
              <a:avLst/>
              <a:gdLst/>
              <a:ahLst/>
              <a:cxnLst/>
              <a:rect l="l" t="t" r="r" b="b"/>
              <a:pathLst>
                <a:path w="1477010" h="462279">
                  <a:moveTo>
                    <a:pt x="1476756" y="0"/>
                  </a:moveTo>
                  <a:lnTo>
                    <a:pt x="0" y="0"/>
                  </a:lnTo>
                  <a:lnTo>
                    <a:pt x="0" y="461772"/>
                  </a:lnTo>
                  <a:lnTo>
                    <a:pt x="1476756" y="461772"/>
                  </a:lnTo>
                  <a:lnTo>
                    <a:pt x="1476756" y="0"/>
                  </a:lnTo>
                  <a:close/>
                </a:path>
              </a:pathLst>
            </a:custGeom>
            <a:solidFill>
              <a:srgbClr val="FFFFFF"/>
            </a:solidFill>
          </p:spPr>
          <p:txBody>
            <a:bodyPr wrap="square" lIns="0" tIns="0" rIns="0" bIns="0" rtlCol="0"/>
            <a:lstStyle/>
            <a:p/>
          </p:txBody>
        </p:sp>
      </p:grpSp>
      <p:sp>
        <p:nvSpPr>
          <p:cNvPr id="7" name="object 7" descr=""/>
          <p:cNvSpPr txBox="1"/>
          <p:nvPr/>
        </p:nvSpPr>
        <p:spPr>
          <a:xfrm>
            <a:off x="2335797" y="2806072"/>
            <a:ext cx="130683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Layer</a:t>
            </a:r>
            <a:r>
              <a:rPr dirty="0" sz="2400" spc="-135">
                <a:latin typeface="Calibri"/>
                <a:cs typeface="Calibri"/>
              </a:rPr>
              <a:t> </a:t>
            </a:r>
            <a:r>
              <a:rPr dirty="0" sz="2400" spc="-25">
                <a:latin typeface="Calibri"/>
                <a:cs typeface="Calibri"/>
              </a:rPr>
              <a:t>m+1</a:t>
            </a:r>
            <a:endParaRPr sz="2400">
              <a:latin typeface="Calibri"/>
              <a:cs typeface="Calibri"/>
            </a:endParaRPr>
          </a:p>
        </p:txBody>
      </p:sp>
      <p:sp>
        <p:nvSpPr>
          <p:cNvPr id="8" name="object 8" descr=""/>
          <p:cNvSpPr/>
          <p:nvPr/>
        </p:nvSpPr>
        <p:spPr>
          <a:xfrm>
            <a:off x="2257044" y="3369564"/>
            <a:ext cx="1167765" cy="462280"/>
          </a:xfrm>
          <a:custGeom>
            <a:avLst/>
            <a:gdLst/>
            <a:ahLst/>
            <a:cxnLst/>
            <a:rect l="l" t="t" r="r" b="b"/>
            <a:pathLst>
              <a:path w="1167764" h="462279">
                <a:moveTo>
                  <a:pt x="1167383" y="0"/>
                </a:moveTo>
                <a:lnTo>
                  <a:pt x="0" y="0"/>
                </a:lnTo>
                <a:lnTo>
                  <a:pt x="0" y="461772"/>
                </a:lnTo>
                <a:lnTo>
                  <a:pt x="1167383" y="461772"/>
                </a:lnTo>
                <a:lnTo>
                  <a:pt x="1167383" y="0"/>
                </a:lnTo>
                <a:close/>
              </a:path>
            </a:pathLst>
          </a:custGeom>
          <a:solidFill>
            <a:srgbClr val="FFFFFF"/>
          </a:solidFill>
        </p:spPr>
        <p:txBody>
          <a:bodyPr wrap="square" lIns="0" tIns="0" rIns="0" bIns="0" rtlCol="0"/>
          <a:lstStyle/>
          <a:p/>
        </p:txBody>
      </p:sp>
      <p:sp>
        <p:nvSpPr>
          <p:cNvPr id="9" name="object 9" descr=""/>
          <p:cNvSpPr txBox="1"/>
          <p:nvPr/>
        </p:nvSpPr>
        <p:spPr>
          <a:xfrm>
            <a:off x="2335799" y="3382440"/>
            <a:ext cx="99949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Layer</a:t>
            </a:r>
            <a:r>
              <a:rPr dirty="0" sz="2400" spc="-135">
                <a:latin typeface="Calibri"/>
                <a:cs typeface="Calibri"/>
              </a:rPr>
              <a:t> </a:t>
            </a:r>
            <a:r>
              <a:rPr dirty="0" sz="2400" spc="-50">
                <a:latin typeface="Calibri"/>
                <a:cs typeface="Calibri"/>
              </a:rPr>
              <a:t>m</a:t>
            </a:r>
            <a:endParaRPr sz="2400">
              <a:latin typeface="Calibri"/>
              <a:cs typeface="Calibri"/>
            </a:endParaRPr>
          </a:p>
        </p:txBody>
      </p:sp>
      <p:sp>
        <p:nvSpPr>
          <p:cNvPr id="10" name="object 10" descr=""/>
          <p:cNvSpPr/>
          <p:nvPr/>
        </p:nvSpPr>
        <p:spPr>
          <a:xfrm>
            <a:off x="2132076" y="3918203"/>
            <a:ext cx="1417320" cy="462280"/>
          </a:xfrm>
          <a:custGeom>
            <a:avLst/>
            <a:gdLst/>
            <a:ahLst/>
            <a:cxnLst/>
            <a:rect l="l" t="t" r="r" b="b"/>
            <a:pathLst>
              <a:path w="1417320" h="462279">
                <a:moveTo>
                  <a:pt x="1417320" y="0"/>
                </a:moveTo>
                <a:lnTo>
                  <a:pt x="0" y="0"/>
                </a:lnTo>
                <a:lnTo>
                  <a:pt x="0" y="461772"/>
                </a:lnTo>
                <a:lnTo>
                  <a:pt x="1417320" y="461772"/>
                </a:lnTo>
                <a:lnTo>
                  <a:pt x="1417320" y="0"/>
                </a:lnTo>
                <a:close/>
              </a:path>
            </a:pathLst>
          </a:custGeom>
          <a:solidFill>
            <a:srgbClr val="FFFFFF"/>
          </a:solidFill>
        </p:spPr>
        <p:txBody>
          <a:bodyPr wrap="square" lIns="0" tIns="0" rIns="0" bIns="0" rtlCol="0"/>
          <a:lstStyle/>
          <a:p/>
        </p:txBody>
      </p:sp>
      <p:sp>
        <p:nvSpPr>
          <p:cNvPr id="11" name="object 11" descr=""/>
          <p:cNvSpPr txBox="1"/>
          <p:nvPr/>
        </p:nvSpPr>
        <p:spPr>
          <a:xfrm>
            <a:off x="2210765" y="3931873"/>
            <a:ext cx="124714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Layer</a:t>
            </a:r>
            <a:r>
              <a:rPr dirty="0" sz="2400" spc="-130">
                <a:latin typeface="Calibri"/>
                <a:cs typeface="Calibri"/>
              </a:rPr>
              <a:t> </a:t>
            </a:r>
            <a:r>
              <a:rPr dirty="0" sz="2400" spc="-10">
                <a:latin typeface="Calibri"/>
                <a:cs typeface="Calibri"/>
              </a:rPr>
              <a:t>m-</a:t>
            </a:r>
            <a:r>
              <a:rPr dirty="0" sz="2400" spc="-50">
                <a:latin typeface="Calibri"/>
                <a:cs typeface="Calibri"/>
              </a:rPr>
              <a:t>1</a:t>
            </a:r>
            <a:endParaRPr sz="2400">
              <a:latin typeface="Calibri"/>
              <a:cs typeface="Calibri"/>
            </a:endParaRPr>
          </a:p>
        </p:txBody>
      </p:sp>
      <p:sp>
        <p:nvSpPr>
          <p:cNvPr id="12" name="object 12" descr=""/>
          <p:cNvSpPr/>
          <p:nvPr/>
        </p:nvSpPr>
        <p:spPr>
          <a:xfrm>
            <a:off x="6394380" y="2641624"/>
            <a:ext cx="1983739" cy="0"/>
          </a:xfrm>
          <a:custGeom>
            <a:avLst/>
            <a:gdLst/>
            <a:ahLst/>
            <a:cxnLst/>
            <a:rect l="l" t="t" r="r" b="b"/>
            <a:pathLst>
              <a:path w="1983740" h="0">
                <a:moveTo>
                  <a:pt x="0" y="0"/>
                </a:moveTo>
                <a:lnTo>
                  <a:pt x="1983242" y="0"/>
                </a:lnTo>
              </a:path>
            </a:pathLst>
          </a:custGeom>
          <a:ln w="14400">
            <a:solidFill>
              <a:srgbClr val="000000"/>
            </a:solidFill>
          </a:ln>
        </p:spPr>
        <p:txBody>
          <a:bodyPr wrap="square" lIns="0" tIns="0" rIns="0" bIns="0" rtlCol="0"/>
          <a:lstStyle/>
          <a:p/>
        </p:txBody>
      </p:sp>
      <p:sp>
        <p:nvSpPr>
          <p:cNvPr id="13" name="object 13" descr=""/>
          <p:cNvSpPr txBox="1"/>
          <p:nvPr/>
        </p:nvSpPr>
        <p:spPr>
          <a:xfrm>
            <a:off x="5742979" y="193561"/>
            <a:ext cx="2879725" cy="723900"/>
          </a:xfrm>
          <a:prstGeom prst="rect">
            <a:avLst/>
          </a:prstGeom>
        </p:spPr>
        <p:txBody>
          <a:bodyPr wrap="square" lIns="0" tIns="12065" rIns="0" bIns="0" rtlCol="0" vert="horz">
            <a:spAutoFit/>
          </a:bodyPr>
          <a:lstStyle/>
          <a:p>
            <a:pPr algn="just" marL="12700" marR="5080">
              <a:lnSpc>
                <a:spcPct val="117500"/>
              </a:lnSpc>
              <a:spcBef>
                <a:spcPts val="95"/>
              </a:spcBef>
            </a:pPr>
            <a:r>
              <a:rPr dirty="0" sz="1300" spc="125">
                <a:latin typeface="Trebuchet MS"/>
                <a:cs typeface="Trebuchet MS"/>
              </a:rPr>
              <a:t>CNN</a:t>
            </a:r>
            <a:r>
              <a:rPr dirty="0" sz="1300" spc="-5">
                <a:latin typeface="Microsoft YaHei UI"/>
                <a:cs typeface="Microsoft YaHei UI"/>
              </a:rPr>
              <a:t>中的神经元只与前⼀层空间上相邻的⼀⼩部分神经元连接，⽽不是像传统</a:t>
            </a:r>
            <a:r>
              <a:rPr dirty="0" sz="1300">
                <a:latin typeface="Microsoft YaHei UI"/>
                <a:cs typeface="Microsoft YaHei UI"/>
              </a:rPr>
              <a:t>神经⽹络那样</a:t>
            </a:r>
            <a:r>
              <a:rPr dirty="0" sz="1300" spc="-140">
                <a:latin typeface="Trebuchet MS"/>
                <a:cs typeface="Trebuchet MS"/>
              </a:rPr>
              <a:t>“</a:t>
            </a:r>
            <a:r>
              <a:rPr dirty="0" sz="1300">
                <a:latin typeface="Microsoft YaHei UI"/>
                <a:cs typeface="Microsoft YaHei UI"/>
              </a:rPr>
              <a:t>全员连接</a:t>
            </a:r>
            <a:r>
              <a:rPr dirty="0" sz="1300" spc="-50">
                <a:latin typeface="Trebuchet MS"/>
                <a:cs typeface="Trebuchet MS"/>
              </a:rPr>
              <a:t>”</a:t>
            </a:r>
            <a:endParaRPr sz="1300">
              <a:latin typeface="Trebuchet MS"/>
              <a:cs typeface="Trebuchet MS"/>
            </a:endParaRPr>
          </a:p>
        </p:txBody>
      </p:sp>
      <p:sp>
        <p:nvSpPr>
          <p:cNvPr id="14" name="object 14" descr=""/>
          <p:cNvSpPr txBox="1"/>
          <p:nvPr/>
        </p:nvSpPr>
        <p:spPr>
          <a:xfrm>
            <a:off x="116557" y="2996020"/>
            <a:ext cx="1961514" cy="530225"/>
          </a:xfrm>
          <a:prstGeom prst="rect">
            <a:avLst/>
          </a:prstGeom>
        </p:spPr>
        <p:txBody>
          <a:bodyPr wrap="square" lIns="0" tIns="12065" rIns="0" bIns="0" rtlCol="0" vert="horz">
            <a:spAutoFit/>
          </a:bodyPr>
          <a:lstStyle/>
          <a:p>
            <a:pPr marL="12700" marR="5080">
              <a:lnSpc>
                <a:spcPct val="118200"/>
              </a:lnSpc>
              <a:spcBef>
                <a:spcPts val="95"/>
              </a:spcBef>
            </a:pPr>
            <a:r>
              <a:rPr dirty="0" sz="700" spc="-5">
                <a:latin typeface="Microsoft YaHei UI"/>
                <a:cs typeface="Microsoft YaHei UI"/>
              </a:rPr>
              <a:t>在图像这类数据中，像素之间的关联性通常是局部的。⼀个像素和它旁边的像素关系很密切，但</a:t>
            </a:r>
            <a:r>
              <a:rPr dirty="0" sz="700">
                <a:latin typeface="Microsoft YaHei UI"/>
                <a:cs typeface="Microsoft YaHei UI"/>
              </a:rPr>
              <a:t>和离得很远的像素基本没什么关系。CNN</a:t>
            </a:r>
            <a:r>
              <a:rPr dirty="0" sz="700" spc="-20">
                <a:latin typeface="Microsoft YaHei UI"/>
                <a:cs typeface="Microsoft YaHei UI"/>
              </a:rPr>
              <a:t> 的稀疏</a:t>
            </a:r>
            <a:r>
              <a:rPr dirty="0" sz="700" spc="-5">
                <a:latin typeface="Microsoft YaHei UI"/>
                <a:cs typeface="Microsoft YaHei UI"/>
              </a:rPr>
              <a:t>连接正是利⽤了这种“空间局部相关性”</a:t>
            </a:r>
            <a:endParaRPr sz="700">
              <a:latin typeface="Microsoft YaHei UI"/>
              <a:cs typeface="Microsoft YaHei UI"/>
            </a:endParaRPr>
          </a:p>
        </p:txBody>
      </p:sp>
      <p:pic>
        <p:nvPicPr>
          <p:cNvPr id="15" name="object 15" descr=""/>
          <p:cNvPicPr/>
          <p:nvPr/>
        </p:nvPicPr>
        <p:blipFill>
          <a:blip r:embed="rId3" cstate="print"/>
          <a:stretch>
            <a:fillRect/>
          </a:stretch>
        </p:blipFill>
        <p:spPr>
          <a:xfrm>
            <a:off x="5899759" y="942404"/>
            <a:ext cx="542746" cy="229096"/>
          </a:xfrm>
          <a:prstGeom prst="rect">
            <a:avLst/>
          </a:prstGeom>
        </p:spPr>
      </p:pic>
      <p:pic>
        <p:nvPicPr>
          <p:cNvPr id="16" name="object 16" descr=""/>
          <p:cNvPicPr/>
          <p:nvPr/>
        </p:nvPicPr>
        <p:blipFill>
          <a:blip r:embed="rId4" cstate="print"/>
          <a:stretch>
            <a:fillRect/>
          </a:stretch>
        </p:blipFill>
        <p:spPr>
          <a:xfrm>
            <a:off x="6566417" y="966049"/>
            <a:ext cx="942446" cy="302580"/>
          </a:xfrm>
          <a:prstGeom prst="rect">
            <a:avLst/>
          </a:prstGeom>
        </p:spPr>
      </p:pic>
      <p:pic>
        <p:nvPicPr>
          <p:cNvPr id="17" name="object 17" descr=""/>
          <p:cNvPicPr/>
          <p:nvPr/>
        </p:nvPicPr>
        <p:blipFill>
          <a:blip r:embed="rId5" cstate="print"/>
          <a:stretch>
            <a:fillRect/>
          </a:stretch>
        </p:blipFill>
        <p:spPr>
          <a:xfrm>
            <a:off x="166962" y="2704769"/>
            <a:ext cx="1372090" cy="256045"/>
          </a:xfrm>
          <a:prstGeom prst="rect">
            <a:avLst/>
          </a:prstGeom>
        </p:spPr>
      </p:pic>
      <p:pic>
        <p:nvPicPr>
          <p:cNvPr id="18" name="object 18" descr=""/>
          <p:cNvPicPr/>
          <p:nvPr/>
        </p:nvPicPr>
        <p:blipFill>
          <a:blip r:embed="rId6" cstate="print"/>
          <a:stretch>
            <a:fillRect/>
          </a:stretch>
        </p:blipFill>
        <p:spPr>
          <a:xfrm>
            <a:off x="8326315" y="2187749"/>
            <a:ext cx="597348" cy="324558"/>
          </a:xfrm>
          <a:prstGeom prst="rect">
            <a:avLst/>
          </a:prstGeom>
        </p:spPr>
      </p:pic>
      <p:sp>
        <p:nvSpPr>
          <p:cNvPr id="19" name="object 19" descr=""/>
          <p:cNvSpPr txBox="1"/>
          <p:nvPr/>
        </p:nvSpPr>
        <p:spPr>
          <a:xfrm>
            <a:off x="5651606" y="2602273"/>
            <a:ext cx="3359150" cy="1577340"/>
          </a:xfrm>
          <a:prstGeom prst="rect">
            <a:avLst/>
          </a:prstGeom>
        </p:spPr>
        <p:txBody>
          <a:bodyPr wrap="square" lIns="0" tIns="12065" rIns="0" bIns="0" rtlCol="0" vert="horz">
            <a:spAutoFit/>
          </a:bodyPr>
          <a:lstStyle/>
          <a:p>
            <a:pPr marL="12700" marR="12700">
              <a:lnSpc>
                <a:spcPct val="119800"/>
              </a:lnSpc>
              <a:spcBef>
                <a:spcPts val="95"/>
              </a:spcBef>
            </a:pPr>
            <a:r>
              <a:rPr dirty="0" sz="850">
                <a:latin typeface="Microsoft YaHei UI"/>
                <a:cs typeface="Microsoft YaHei UI"/>
              </a:rPr>
              <a:t>对于⼀个神经元来说，它的感受野是指在输⼊空间（</a:t>
            </a:r>
            <a:r>
              <a:rPr dirty="0" sz="850" spc="-10">
                <a:latin typeface="Microsoft YaHei UI"/>
                <a:cs typeface="Microsoft YaHei UI"/>
              </a:rPr>
              <a:t>也就是最开始的</a:t>
            </a:r>
            <a:r>
              <a:rPr dirty="0" sz="850">
                <a:latin typeface="Microsoft YaHei UI"/>
                <a:cs typeface="Microsoft YaHei UI"/>
              </a:rPr>
              <a:t>原始图⽚）</a:t>
            </a:r>
            <a:r>
              <a:rPr dirty="0" sz="850" spc="-5">
                <a:latin typeface="Microsoft YaHei UI"/>
                <a:cs typeface="Microsoft YaHei UI"/>
              </a:rPr>
              <a:t>中，能够影响到这个神经元激活状态的区域。</a:t>
            </a:r>
            <a:endParaRPr sz="850">
              <a:latin typeface="Microsoft YaHei UI"/>
              <a:cs typeface="Microsoft YaHei UI"/>
            </a:endParaRPr>
          </a:p>
          <a:p>
            <a:pPr algn="just" marL="12700" marR="74295">
              <a:lnSpc>
                <a:spcPct val="119800"/>
              </a:lnSpc>
            </a:pPr>
            <a:r>
              <a:rPr dirty="0" sz="850" spc="30">
                <a:latin typeface="Microsoft YaHei UI"/>
                <a:cs typeface="Microsoft YaHei UI"/>
              </a:rPr>
              <a:t>图中 </a:t>
            </a:r>
            <a:r>
              <a:rPr dirty="0" sz="850">
                <a:latin typeface="Microsoft YaHei UI"/>
                <a:cs typeface="Microsoft YaHei UI"/>
              </a:rPr>
              <a:t>Layer</a:t>
            </a:r>
            <a:r>
              <a:rPr dirty="0" sz="850" spc="95">
                <a:latin typeface="Microsoft YaHei UI"/>
                <a:cs typeface="Microsoft YaHei UI"/>
              </a:rPr>
              <a:t> </a:t>
            </a:r>
            <a:r>
              <a:rPr dirty="0" sz="850">
                <a:latin typeface="Microsoft YaHei UI"/>
                <a:cs typeface="Microsoft YaHei UI"/>
              </a:rPr>
              <a:t>m</a:t>
            </a:r>
            <a:r>
              <a:rPr dirty="0" sz="850" spc="5">
                <a:latin typeface="Microsoft YaHei UI"/>
                <a:cs typeface="Microsoft YaHei UI"/>
              </a:rPr>
              <a:t> ⾥的⼀个神经元，它直接连接到 </a:t>
            </a:r>
            <a:r>
              <a:rPr dirty="0" sz="850">
                <a:latin typeface="Microsoft YaHei UI"/>
                <a:cs typeface="Microsoft YaHei UI"/>
              </a:rPr>
              <a:t>Layer</a:t>
            </a:r>
            <a:r>
              <a:rPr dirty="0" sz="850" spc="95">
                <a:latin typeface="Microsoft YaHei UI"/>
                <a:cs typeface="Microsoft YaHei UI"/>
              </a:rPr>
              <a:t> </a:t>
            </a:r>
            <a:r>
              <a:rPr dirty="0" sz="850" spc="-25">
                <a:latin typeface="Microsoft YaHei UI"/>
                <a:cs typeface="Microsoft YaHei UI"/>
              </a:rPr>
              <a:t>m-</a:t>
            </a:r>
            <a:r>
              <a:rPr dirty="0" sz="850">
                <a:latin typeface="Microsoft YaHei UI"/>
                <a:cs typeface="Microsoft YaHei UI"/>
              </a:rPr>
              <a:t>1</a:t>
            </a:r>
            <a:r>
              <a:rPr dirty="0" sz="850" spc="45">
                <a:latin typeface="Microsoft YaHei UI"/>
                <a:cs typeface="Microsoft YaHei UI"/>
              </a:rPr>
              <a:t> 的</a:t>
            </a:r>
            <a:r>
              <a:rPr dirty="0" sz="850">
                <a:latin typeface="Microsoft YaHei UI"/>
                <a:cs typeface="Microsoft YaHei UI"/>
              </a:rPr>
              <a:t>3</a:t>
            </a:r>
            <a:r>
              <a:rPr dirty="0" sz="850" spc="-25">
                <a:latin typeface="Microsoft YaHei UI"/>
                <a:cs typeface="Microsoft YaHei UI"/>
              </a:rPr>
              <a:t>个神</a:t>
            </a:r>
            <a:r>
              <a:rPr dirty="0" sz="850" spc="10">
                <a:latin typeface="Microsoft YaHei UI"/>
                <a:cs typeface="Microsoft YaHei UI"/>
              </a:rPr>
              <a:t>经元，所以它相对于 </a:t>
            </a:r>
            <a:r>
              <a:rPr dirty="0" sz="850">
                <a:latin typeface="Microsoft YaHei UI"/>
                <a:cs typeface="Microsoft YaHei UI"/>
              </a:rPr>
              <a:t>Layer</a:t>
            </a:r>
            <a:r>
              <a:rPr dirty="0" sz="850" spc="100">
                <a:latin typeface="Microsoft YaHei UI"/>
                <a:cs typeface="Microsoft YaHei UI"/>
              </a:rPr>
              <a:t> </a:t>
            </a:r>
            <a:r>
              <a:rPr dirty="0" sz="850" spc="-25">
                <a:latin typeface="Microsoft YaHei UI"/>
                <a:cs typeface="Microsoft YaHei UI"/>
              </a:rPr>
              <a:t>m-</a:t>
            </a:r>
            <a:r>
              <a:rPr dirty="0" sz="850">
                <a:latin typeface="Microsoft YaHei UI"/>
                <a:cs typeface="Microsoft YaHei UI"/>
              </a:rPr>
              <a:t>1</a:t>
            </a:r>
            <a:r>
              <a:rPr dirty="0" sz="850" spc="10">
                <a:latin typeface="Microsoft YaHei UI"/>
                <a:cs typeface="Microsoft YaHei UI"/>
              </a:rPr>
              <a:t> 的感受野是</a:t>
            </a:r>
            <a:r>
              <a:rPr dirty="0" sz="850">
                <a:latin typeface="Microsoft YaHei UI"/>
                <a:cs typeface="Microsoft YaHei UI"/>
              </a:rPr>
              <a:t>3</a:t>
            </a:r>
            <a:r>
              <a:rPr dirty="0" sz="850" spc="25">
                <a:latin typeface="Microsoft YaHei UI"/>
                <a:cs typeface="Microsoft YaHei UI"/>
              </a:rPr>
              <a:t>。虽然 </a:t>
            </a:r>
            <a:r>
              <a:rPr dirty="0" sz="850">
                <a:latin typeface="Microsoft YaHei UI"/>
                <a:cs typeface="Microsoft YaHei UI"/>
              </a:rPr>
              <a:t>Layer</a:t>
            </a:r>
            <a:r>
              <a:rPr dirty="0" sz="850" spc="100">
                <a:latin typeface="Microsoft YaHei UI"/>
                <a:cs typeface="Microsoft YaHei UI"/>
              </a:rPr>
              <a:t> </a:t>
            </a:r>
            <a:r>
              <a:rPr dirty="0" sz="850" spc="-110">
                <a:latin typeface="Microsoft YaHei UI"/>
                <a:cs typeface="Microsoft YaHei UI"/>
              </a:rPr>
              <a:t>m+1</a:t>
            </a:r>
            <a:r>
              <a:rPr dirty="0" sz="850" spc="25">
                <a:latin typeface="Microsoft YaHei UI"/>
                <a:cs typeface="Microsoft YaHei UI"/>
              </a:rPr>
              <a:t> 的</a:t>
            </a:r>
            <a:r>
              <a:rPr dirty="0" sz="850" spc="20">
                <a:latin typeface="Microsoft YaHei UI"/>
                <a:cs typeface="Microsoft YaHei UI"/>
              </a:rPr>
              <a:t>神经元相对于 </a:t>
            </a:r>
            <a:r>
              <a:rPr dirty="0" sz="850">
                <a:latin typeface="Microsoft YaHei UI"/>
                <a:cs typeface="Microsoft YaHei UI"/>
              </a:rPr>
              <a:t>Layer</a:t>
            </a:r>
            <a:r>
              <a:rPr dirty="0" sz="850" spc="160">
                <a:latin typeface="Microsoft YaHei UI"/>
                <a:cs typeface="Microsoft YaHei UI"/>
              </a:rPr>
              <a:t> </a:t>
            </a:r>
            <a:r>
              <a:rPr dirty="0" sz="850">
                <a:latin typeface="Microsoft YaHei UI"/>
                <a:cs typeface="Microsoft YaHei UI"/>
              </a:rPr>
              <a:t>m</a:t>
            </a:r>
            <a:r>
              <a:rPr dirty="0" sz="850" spc="15">
                <a:latin typeface="Microsoft YaHei UI"/>
                <a:cs typeface="Microsoft YaHei UI"/>
              </a:rPr>
              <a:t> 的感受野也是</a:t>
            </a:r>
            <a:r>
              <a:rPr dirty="0" sz="850">
                <a:latin typeface="Microsoft YaHei UI"/>
                <a:cs typeface="Microsoft YaHei UI"/>
              </a:rPr>
              <a:t>3，</a:t>
            </a:r>
            <a:r>
              <a:rPr dirty="0" sz="850" spc="-5">
                <a:latin typeface="Microsoft YaHei UI"/>
                <a:cs typeface="Microsoft YaHei UI"/>
              </a:rPr>
              <a:t>但它相对于最底层输⼊</a:t>
            </a:r>
            <a:endParaRPr sz="850">
              <a:latin typeface="Microsoft YaHei UI"/>
              <a:cs typeface="Microsoft YaHei UI"/>
            </a:endParaRPr>
          </a:p>
          <a:p>
            <a:pPr algn="just" marL="12700" marR="73660">
              <a:lnSpc>
                <a:spcPct val="119800"/>
              </a:lnSpc>
            </a:pPr>
            <a:r>
              <a:rPr dirty="0" sz="850">
                <a:latin typeface="Microsoft YaHei UI"/>
                <a:cs typeface="Microsoft YaHei UI"/>
              </a:rPr>
              <a:t>（the </a:t>
            </a:r>
            <a:r>
              <a:rPr dirty="0" sz="850" spc="-10">
                <a:latin typeface="Microsoft YaHei UI"/>
                <a:cs typeface="Microsoft YaHei UI"/>
              </a:rPr>
              <a:t>input </a:t>
            </a:r>
            <a:r>
              <a:rPr dirty="0" sz="850">
                <a:latin typeface="Microsoft YaHei UI"/>
                <a:cs typeface="Microsoft YaHei UI"/>
              </a:rPr>
              <a:t>retina） Layer </a:t>
            </a:r>
            <a:r>
              <a:rPr dirty="0" sz="850" spc="-25">
                <a:latin typeface="Microsoft YaHei UI"/>
                <a:cs typeface="Microsoft YaHei UI"/>
              </a:rPr>
              <a:t>m-</a:t>
            </a:r>
            <a:r>
              <a:rPr dirty="0" sz="850">
                <a:latin typeface="Microsoft YaHei UI"/>
                <a:cs typeface="Microsoft YaHei UI"/>
              </a:rPr>
              <a:t>1 的感受野已经是5</a:t>
            </a:r>
            <a:r>
              <a:rPr dirty="0" sz="850" spc="-10">
                <a:latin typeface="Microsoft YaHei UI"/>
                <a:cs typeface="Microsoft YaHei UI"/>
              </a:rPr>
              <a:t> 了。这是因为它</a:t>
            </a:r>
            <a:r>
              <a:rPr dirty="0" sz="850" spc="15">
                <a:latin typeface="Microsoft YaHei UI"/>
                <a:cs typeface="Microsoft YaHei UI"/>
              </a:rPr>
              <a:t>可以通过 </a:t>
            </a:r>
            <a:r>
              <a:rPr dirty="0" sz="850">
                <a:latin typeface="Microsoft YaHei UI"/>
                <a:cs typeface="Microsoft YaHei UI"/>
              </a:rPr>
              <a:t>Layer</a:t>
            </a:r>
            <a:r>
              <a:rPr dirty="0" sz="850" spc="80">
                <a:latin typeface="Microsoft YaHei UI"/>
                <a:cs typeface="Microsoft YaHei UI"/>
              </a:rPr>
              <a:t> </a:t>
            </a:r>
            <a:r>
              <a:rPr dirty="0" sz="850">
                <a:latin typeface="Microsoft YaHei UI"/>
                <a:cs typeface="Microsoft YaHei UI"/>
              </a:rPr>
              <a:t>m</a:t>
            </a:r>
            <a:r>
              <a:rPr dirty="0" sz="850" spc="5">
                <a:latin typeface="Microsoft YaHei UI"/>
                <a:cs typeface="Microsoft YaHei UI"/>
              </a:rPr>
              <a:t> 直接看到所有的 </a:t>
            </a:r>
            <a:r>
              <a:rPr dirty="0" sz="850">
                <a:latin typeface="Microsoft YaHei UI"/>
                <a:cs typeface="Microsoft YaHei UI"/>
              </a:rPr>
              <a:t>Layer</a:t>
            </a:r>
            <a:r>
              <a:rPr dirty="0" sz="850" spc="80">
                <a:latin typeface="Microsoft YaHei UI"/>
                <a:cs typeface="Microsoft YaHei UI"/>
              </a:rPr>
              <a:t> </a:t>
            </a:r>
            <a:r>
              <a:rPr dirty="0" sz="850" spc="-10">
                <a:latin typeface="Microsoft YaHei UI"/>
                <a:cs typeface="Microsoft YaHei UI"/>
              </a:rPr>
              <a:t>m-1</a:t>
            </a:r>
            <a:r>
              <a:rPr dirty="0" sz="850" spc="-50">
                <a:latin typeface="Microsoft YaHei UI"/>
                <a:cs typeface="Microsoft YaHei UI"/>
              </a:rPr>
              <a:t>。</a:t>
            </a:r>
            <a:endParaRPr sz="850">
              <a:latin typeface="Microsoft YaHei UI"/>
              <a:cs typeface="Microsoft YaHei UI"/>
            </a:endParaRPr>
          </a:p>
          <a:p>
            <a:pPr marL="12700" marR="5080">
              <a:lnSpc>
                <a:spcPct val="119800"/>
              </a:lnSpc>
            </a:pPr>
            <a:r>
              <a:rPr dirty="0" sz="850" spc="35">
                <a:latin typeface="Microsoft YaHei UI"/>
                <a:cs typeface="Microsoft YaHei UI"/>
              </a:rPr>
              <a:t>这个特性是 </a:t>
            </a:r>
            <a:r>
              <a:rPr dirty="0" sz="850">
                <a:latin typeface="Microsoft YaHei UI"/>
                <a:cs typeface="Microsoft YaHei UI"/>
              </a:rPr>
              <a:t>CNN</a:t>
            </a:r>
            <a:r>
              <a:rPr dirty="0" sz="850" spc="-5">
                <a:latin typeface="Microsoft YaHei UI"/>
                <a:cs typeface="Microsoft YaHei UI"/>
              </a:rPr>
              <a:t> 能够学习层次化特征的结构基础。通过⼀层⼀层地堆叠，深层⽹络的神经元就能够“看”到越来越⼤的原始图像区域，从</a:t>
            </a:r>
            <a:endParaRPr sz="850">
              <a:latin typeface="Microsoft YaHei UI"/>
              <a:cs typeface="Microsoft YaHei UI"/>
            </a:endParaRPr>
          </a:p>
          <a:p>
            <a:pPr marL="12700">
              <a:lnSpc>
                <a:spcPct val="100000"/>
              </a:lnSpc>
              <a:spcBef>
                <a:spcPts val="200"/>
              </a:spcBef>
            </a:pPr>
            <a:r>
              <a:rPr dirty="0" sz="850">
                <a:latin typeface="Microsoft YaHei UI"/>
                <a:cs typeface="Microsoft YaHei UI"/>
              </a:rPr>
              <a:t>⽽能将前⾯学到的⼩特征（如边缘、⻆点）</a:t>
            </a:r>
            <a:r>
              <a:rPr dirty="0" sz="850" spc="-5">
                <a:latin typeface="Microsoft YaHei UI"/>
                <a:cs typeface="Microsoft YaHei UI"/>
              </a:rPr>
              <a:t>组合成更复杂的、更⼤范</a:t>
            </a:r>
            <a:endParaRPr sz="850">
              <a:latin typeface="Microsoft YaHei UI"/>
              <a:cs typeface="Microsoft YaHei UI"/>
            </a:endParaRPr>
          </a:p>
        </p:txBody>
      </p:sp>
      <p:sp>
        <p:nvSpPr>
          <p:cNvPr id="20" name="object 20" descr=""/>
          <p:cNvSpPr txBox="1"/>
          <p:nvPr/>
        </p:nvSpPr>
        <p:spPr>
          <a:xfrm>
            <a:off x="5651606" y="4176150"/>
            <a:ext cx="1466850" cy="158750"/>
          </a:xfrm>
          <a:prstGeom prst="rect">
            <a:avLst/>
          </a:prstGeom>
        </p:spPr>
        <p:txBody>
          <a:bodyPr wrap="square" lIns="0" tIns="15240" rIns="0" bIns="0" rtlCol="0" vert="horz">
            <a:spAutoFit/>
          </a:bodyPr>
          <a:lstStyle/>
          <a:p>
            <a:pPr marL="12700">
              <a:lnSpc>
                <a:spcPct val="100000"/>
              </a:lnSpc>
              <a:spcBef>
                <a:spcPts val="120"/>
              </a:spcBef>
            </a:pPr>
            <a:r>
              <a:rPr dirty="0" sz="850">
                <a:latin typeface="Microsoft YaHei UI"/>
                <a:cs typeface="Microsoft YaHei UI"/>
              </a:rPr>
              <a:t>围的特征（如眼睛、⿐⼦）</a:t>
            </a:r>
            <a:r>
              <a:rPr dirty="0" sz="850" spc="-50">
                <a:latin typeface="Microsoft YaHei UI"/>
                <a:cs typeface="Microsoft YaHei UI"/>
              </a:rPr>
              <a:t>。</a:t>
            </a:r>
            <a:endParaRPr sz="850">
              <a:latin typeface="Microsoft YaHei UI"/>
              <a:cs typeface="Microsoft YaHei UI"/>
            </a:endParaRPr>
          </a:p>
        </p:txBody>
      </p:sp>
      <p:sp>
        <p:nvSpPr>
          <p:cNvPr id="21" name="object 21" descr=""/>
          <p:cNvSpPr txBox="1"/>
          <p:nvPr/>
        </p:nvSpPr>
        <p:spPr>
          <a:xfrm>
            <a:off x="94774" y="4271934"/>
            <a:ext cx="8846185" cy="2362200"/>
          </a:xfrm>
          <a:prstGeom prst="rect">
            <a:avLst/>
          </a:prstGeom>
        </p:spPr>
        <p:txBody>
          <a:bodyPr wrap="square" lIns="0" tIns="12065" rIns="0" bIns="0" rtlCol="0" vert="horz">
            <a:spAutoFit/>
          </a:bodyPr>
          <a:lstStyle/>
          <a:p>
            <a:pPr marL="12700" marR="3054350">
              <a:lnSpc>
                <a:spcPct val="119800"/>
              </a:lnSpc>
              <a:spcBef>
                <a:spcPts val="95"/>
              </a:spcBef>
            </a:pPr>
            <a:r>
              <a:rPr dirty="0" sz="850" spc="25">
                <a:latin typeface="Microsoft YaHei UI"/>
                <a:cs typeface="Microsoft YaHei UI"/>
              </a:rPr>
              <a:t>正是因为神经元只关注局部区域（稀疏连接），</a:t>
            </a:r>
            <a:r>
              <a:rPr dirty="0" sz="850" spc="15">
                <a:latin typeface="Microsoft YaHei UI"/>
                <a:cs typeface="Microsoft YaHei UI"/>
              </a:rPr>
              <a:t>整个⽹络的架构就被“强制”去学习那些能够对空间局部输⼊模式产⽣最强响应的“滤波器”。每个滤波器本质上就是⼀个权重模版，它的任务就是在⾃⼰的感受野内去寻找特定的局部模式</a:t>
            </a:r>
            <a:endParaRPr sz="850">
              <a:latin typeface="Microsoft YaHei UI"/>
              <a:cs typeface="Microsoft YaHei UI"/>
            </a:endParaRPr>
          </a:p>
          <a:p>
            <a:pPr marL="396875" marR="5080">
              <a:lnSpc>
                <a:spcPct val="100000"/>
              </a:lnSpc>
              <a:spcBef>
                <a:spcPts val="15"/>
              </a:spcBef>
            </a:pPr>
            <a:r>
              <a:rPr dirty="0" sz="1800">
                <a:latin typeface="Calibri"/>
                <a:cs typeface="Calibri"/>
              </a:rPr>
              <a:t>Imagine</a:t>
            </a:r>
            <a:r>
              <a:rPr dirty="0" sz="1800" spc="-35">
                <a:latin typeface="Calibri"/>
                <a:cs typeface="Calibri"/>
              </a:rPr>
              <a:t> </a:t>
            </a:r>
            <a:r>
              <a:rPr dirty="0" sz="1800">
                <a:latin typeface="Calibri"/>
                <a:cs typeface="Calibri"/>
              </a:rPr>
              <a:t>that</a:t>
            </a:r>
            <a:r>
              <a:rPr dirty="0" sz="1800" spc="-40">
                <a:latin typeface="Calibri"/>
                <a:cs typeface="Calibri"/>
              </a:rPr>
              <a:t> </a:t>
            </a:r>
            <a:r>
              <a:rPr dirty="0" sz="1800">
                <a:latin typeface="Calibri"/>
                <a:cs typeface="Calibri"/>
              </a:rPr>
              <a:t>layer</a:t>
            </a:r>
            <a:r>
              <a:rPr dirty="0" sz="1800" spc="-30">
                <a:latin typeface="Calibri"/>
                <a:cs typeface="Calibri"/>
              </a:rPr>
              <a:t> </a:t>
            </a:r>
            <a:r>
              <a:rPr dirty="0" sz="1800" spc="-10" b="1">
                <a:latin typeface="Calibri"/>
                <a:cs typeface="Calibri"/>
              </a:rPr>
              <a:t>m-</a:t>
            </a:r>
            <a:r>
              <a:rPr dirty="0" sz="1800" b="1">
                <a:latin typeface="Calibri"/>
                <a:cs typeface="Calibri"/>
              </a:rPr>
              <a:t>1</a:t>
            </a:r>
            <a:r>
              <a:rPr dirty="0" sz="1800" spc="-35" b="1">
                <a:latin typeface="Calibri"/>
                <a:cs typeface="Calibri"/>
              </a:rPr>
              <a:t> </a:t>
            </a:r>
            <a:r>
              <a:rPr dirty="0" sz="1800">
                <a:latin typeface="Calibri"/>
                <a:cs typeface="Calibri"/>
              </a:rPr>
              <a:t>is</a:t>
            </a:r>
            <a:r>
              <a:rPr dirty="0" sz="1800" spc="-30">
                <a:latin typeface="Calibri"/>
                <a:cs typeface="Calibri"/>
              </a:rPr>
              <a:t> </a:t>
            </a:r>
            <a:r>
              <a:rPr dirty="0" sz="1800">
                <a:latin typeface="Calibri"/>
                <a:cs typeface="Calibri"/>
              </a:rPr>
              <a:t>the</a:t>
            </a:r>
            <a:r>
              <a:rPr dirty="0" sz="1800" spc="-20">
                <a:latin typeface="Calibri"/>
                <a:cs typeface="Calibri"/>
              </a:rPr>
              <a:t> </a:t>
            </a:r>
            <a:r>
              <a:rPr dirty="0" sz="1800">
                <a:latin typeface="Calibri"/>
                <a:cs typeface="Calibri"/>
              </a:rPr>
              <a:t>input</a:t>
            </a:r>
            <a:r>
              <a:rPr dirty="0" sz="1800" spc="-35">
                <a:latin typeface="Calibri"/>
                <a:cs typeface="Calibri"/>
              </a:rPr>
              <a:t> </a:t>
            </a:r>
            <a:r>
              <a:rPr dirty="0" sz="1800">
                <a:latin typeface="Calibri"/>
                <a:cs typeface="Calibri"/>
              </a:rPr>
              <a:t>retina.</a:t>
            </a:r>
            <a:r>
              <a:rPr dirty="0" sz="1800" spc="-35">
                <a:latin typeface="Calibri"/>
                <a:cs typeface="Calibri"/>
              </a:rPr>
              <a:t> </a:t>
            </a:r>
            <a:r>
              <a:rPr dirty="0" sz="1800">
                <a:latin typeface="Calibri"/>
                <a:cs typeface="Calibri"/>
              </a:rPr>
              <a:t>In</a:t>
            </a:r>
            <a:r>
              <a:rPr dirty="0" sz="1800" spc="-35">
                <a:latin typeface="Calibri"/>
                <a:cs typeface="Calibri"/>
              </a:rPr>
              <a:t> </a:t>
            </a:r>
            <a:r>
              <a:rPr dirty="0" sz="1800">
                <a:latin typeface="Calibri"/>
                <a:cs typeface="Calibri"/>
              </a:rPr>
              <a:t>the</a:t>
            </a:r>
            <a:r>
              <a:rPr dirty="0" sz="1800" spc="-20">
                <a:latin typeface="Calibri"/>
                <a:cs typeface="Calibri"/>
              </a:rPr>
              <a:t> </a:t>
            </a:r>
            <a:r>
              <a:rPr dirty="0" sz="1800">
                <a:latin typeface="Calibri"/>
                <a:cs typeface="Calibri"/>
              </a:rPr>
              <a:t>above</a:t>
            </a:r>
            <a:r>
              <a:rPr dirty="0" sz="1800" spc="-30">
                <a:latin typeface="Calibri"/>
                <a:cs typeface="Calibri"/>
              </a:rPr>
              <a:t> </a:t>
            </a:r>
            <a:r>
              <a:rPr dirty="0" sz="1800">
                <a:latin typeface="Calibri"/>
                <a:cs typeface="Calibri"/>
              </a:rPr>
              <a:t>figure,</a:t>
            </a:r>
            <a:r>
              <a:rPr dirty="0" sz="1800" spc="-30">
                <a:latin typeface="Calibri"/>
                <a:cs typeface="Calibri"/>
              </a:rPr>
              <a:t> </a:t>
            </a:r>
            <a:r>
              <a:rPr dirty="0" sz="1800">
                <a:latin typeface="Calibri"/>
                <a:cs typeface="Calibri"/>
              </a:rPr>
              <a:t>units</a:t>
            </a:r>
            <a:r>
              <a:rPr dirty="0" sz="1800" spc="-25">
                <a:latin typeface="Calibri"/>
                <a:cs typeface="Calibri"/>
              </a:rPr>
              <a:t> </a:t>
            </a:r>
            <a:r>
              <a:rPr dirty="0" sz="1800">
                <a:latin typeface="Calibri"/>
                <a:cs typeface="Calibri"/>
              </a:rPr>
              <a:t>in</a:t>
            </a:r>
            <a:r>
              <a:rPr dirty="0" sz="1800" spc="-25">
                <a:latin typeface="Calibri"/>
                <a:cs typeface="Calibri"/>
              </a:rPr>
              <a:t> </a:t>
            </a:r>
            <a:r>
              <a:rPr dirty="0" sz="1800">
                <a:latin typeface="Calibri"/>
                <a:cs typeface="Calibri"/>
              </a:rPr>
              <a:t>layer</a:t>
            </a:r>
            <a:r>
              <a:rPr dirty="0" sz="1800" spc="-40">
                <a:latin typeface="Calibri"/>
                <a:cs typeface="Calibri"/>
              </a:rPr>
              <a:t> </a:t>
            </a:r>
            <a:r>
              <a:rPr dirty="0" sz="1800" b="1">
                <a:latin typeface="Calibri"/>
                <a:cs typeface="Calibri"/>
              </a:rPr>
              <a:t>m</a:t>
            </a:r>
            <a:r>
              <a:rPr dirty="0" sz="1800" spc="-25" b="1">
                <a:latin typeface="Calibri"/>
                <a:cs typeface="Calibri"/>
              </a:rPr>
              <a:t> </a:t>
            </a:r>
            <a:r>
              <a:rPr dirty="0" sz="1800" spc="-20">
                <a:latin typeface="Calibri"/>
                <a:cs typeface="Calibri"/>
              </a:rPr>
              <a:t>have </a:t>
            </a:r>
            <a:r>
              <a:rPr dirty="0" u="heavy" sz="1800" spc="-10">
                <a:uFill>
                  <a:solidFill>
                    <a:srgbClr val="000000"/>
                  </a:solidFill>
                </a:uFill>
                <a:latin typeface="Calibri"/>
                <a:cs typeface="Calibri"/>
              </a:rPr>
              <a:t>receptive</a:t>
            </a:r>
            <a:r>
              <a:rPr dirty="0" u="heavy" sz="1800" spc="-30">
                <a:uFill>
                  <a:solidFill>
                    <a:srgbClr val="000000"/>
                  </a:solidFill>
                </a:uFill>
                <a:latin typeface="Calibri"/>
                <a:cs typeface="Calibri"/>
              </a:rPr>
              <a:t> </a:t>
            </a:r>
            <a:r>
              <a:rPr dirty="0" u="heavy" sz="1800">
                <a:uFill>
                  <a:solidFill>
                    <a:srgbClr val="000000"/>
                  </a:solidFill>
                </a:uFill>
                <a:latin typeface="Calibri"/>
                <a:cs typeface="Calibri"/>
              </a:rPr>
              <a:t>fields</a:t>
            </a:r>
            <a:r>
              <a:rPr dirty="0" u="heavy" sz="1800" spc="-25">
                <a:uFill>
                  <a:solidFill>
                    <a:srgbClr val="000000"/>
                  </a:solidFill>
                </a:uFill>
                <a:latin typeface="Calibri"/>
                <a:cs typeface="Calibri"/>
              </a:rPr>
              <a:t> </a:t>
            </a:r>
            <a:r>
              <a:rPr dirty="0" u="heavy" sz="1800">
                <a:uFill>
                  <a:solidFill>
                    <a:srgbClr val="000000"/>
                  </a:solidFill>
                </a:uFill>
                <a:latin typeface="Calibri"/>
                <a:cs typeface="Calibri"/>
              </a:rPr>
              <a:t>of</a:t>
            </a:r>
            <a:r>
              <a:rPr dirty="0" u="heavy" sz="1800" spc="-35">
                <a:uFill>
                  <a:solidFill>
                    <a:srgbClr val="000000"/>
                  </a:solidFill>
                </a:uFill>
                <a:latin typeface="Calibri"/>
                <a:cs typeface="Calibri"/>
              </a:rPr>
              <a:t> </a:t>
            </a:r>
            <a:r>
              <a:rPr dirty="0" u="heavy" sz="1800">
                <a:uFill>
                  <a:solidFill>
                    <a:srgbClr val="000000"/>
                  </a:solidFill>
                </a:uFill>
                <a:latin typeface="Calibri"/>
                <a:cs typeface="Calibri"/>
              </a:rPr>
              <a:t>width</a:t>
            </a:r>
            <a:r>
              <a:rPr dirty="0" sz="1800" spc="-30">
                <a:latin typeface="Calibri"/>
                <a:cs typeface="Calibri"/>
              </a:rPr>
              <a:t> </a:t>
            </a:r>
            <a:r>
              <a:rPr dirty="0" sz="1800">
                <a:latin typeface="Calibri"/>
                <a:cs typeface="Calibri"/>
              </a:rPr>
              <a:t>3</a:t>
            </a:r>
            <a:r>
              <a:rPr dirty="0" sz="1800" spc="-30">
                <a:latin typeface="Calibri"/>
                <a:cs typeface="Calibri"/>
              </a:rPr>
              <a:t> </a:t>
            </a:r>
            <a:r>
              <a:rPr dirty="0" sz="1800">
                <a:latin typeface="Calibri"/>
                <a:cs typeface="Calibri"/>
              </a:rPr>
              <a:t>in</a:t>
            </a:r>
            <a:r>
              <a:rPr dirty="0" sz="1800" spc="-30">
                <a:latin typeface="Calibri"/>
                <a:cs typeface="Calibri"/>
              </a:rPr>
              <a:t> </a:t>
            </a:r>
            <a:r>
              <a:rPr dirty="0" sz="1800">
                <a:latin typeface="Calibri"/>
                <a:cs typeface="Calibri"/>
              </a:rPr>
              <a:t>the</a:t>
            </a:r>
            <a:r>
              <a:rPr dirty="0" sz="1800" spc="-35">
                <a:latin typeface="Calibri"/>
                <a:cs typeface="Calibri"/>
              </a:rPr>
              <a:t> </a:t>
            </a:r>
            <a:r>
              <a:rPr dirty="0" sz="1800">
                <a:latin typeface="Calibri"/>
                <a:cs typeface="Calibri"/>
              </a:rPr>
              <a:t>input</a:t>
            </a:r>
            <a:r>
              <a:rPr dirty="0" sz="1800" spc="-20">
                <a:latin typeface="Calibri"/>
                <a:cs typeface="Calibri"/>
              </a:rPr>
              <a:t> </a:t>
            </a:r>
            <a:r>
              <a:rPr dirty="0" sz="1800">
                <a:latin typeface="Calibri"/>
                <a:cs typeface="Calibri"/>
              </a:rPr>
              <a:t>retina</a:t>
            </a:r>
            <a:r>
              <a:rPr dirty="0" sz="1800" spc="-25">
                <a:latin typeface="Calibri"/>
                <a:cs typeface="Calibri"/>
              </a:rPr>
              <a:t> </a:t>
            </a:r>
            <a:r>
              <a:rPr dirty="0" sz="1800">
                <a:latin typeface="Calibri"/>
                <a:cs typeface="Calibri"/>
              </a:rPr>
              <a:t>and</a:t>
            </a:r>
            <a:r>
              <a:rPr dirty="0" sz="1800" spc="-40">
                <a:latin typeface="Calibri"/>
                <a:cs typeface="Calibri"/>
              </a:rPr>
              <a:t> </a:t>
            </a:r>
            <a:r>
              <a:rPr dirty="0" sz="1800">
                <a:latin typeface="Calibri"/>
                <a:cs typeface="Calibri"/>
              </a:rPr>
              <a:t>are</a:t>
            </a:r>
            <a:r>
              <a:rPr dirty="0" sz="1800" spc="-25">
                <a:latin typeface="Calibri"/>
                <a:cs typeface="Calibri"/>
              </a:rPr>
              <a:t> </a:t>
            </a:r>
            <a:r>
              <a:rPr dirty="0" sz="1800">
                <a:latin typeface="Calibri"/>
                <a:cs typeface="Calibri"/>
              </a:rPr>
              <a:t>thus</a:t>
            </a:r>
            <a:r>
              <a:rPr dirty="0" sz="1800" spc="-35">
                <a:latin typeface="Calibri"/>
                <a:cs typeface="Calibri"/>
              </a:rPr>
              <a:t> </a:t>
            </a:r>
            <a:r>
              <a:rPr dirty="0" sz="1800">
                <a:latin typeface="Calibri"/>
                <a:cs typeface="Calibri"/>
              </a:rPr>
              <a:t>only</a:t>
            </a:r>
            <a:r>
              <a:rPr dirty="0" sz="1800" spc="-40">
                <a:latin typeface="Calibri"/>
                <a:cs typeface="Calibri"/>
              </a:rPr>
              <a:t> </a:t>
            </a:r>
            <a:r>
              <a:rPr dirty="0" sz="1800">
                <a:latin typeface="Calibri"/>
                <a:cs typeface="Calibri"/>
              </a:rPr>
              <a:t>connected</a:t>
            </a:r>
            <a:r>
              <a:rPr dirty="0" sz="1800" spc="-5">
                <a:latin typeface="Calibri"/>
                <a:cs typeface="Calibri"/>
              </a:rPr>
              <a:t> </a:t>
            </a:r>
            <a:r>
              <a:rPr dirty="0" sz="1800">
                <a:latin typeface="Calibri"/>
                <a:cs typeface="Calibri"/>
              </a:rPr>
              <a:t>to</a:t>
            </a:r>
            <a:r>
              <a:rPr dirty="0" sz="1800" spc="-40">
                <a:latin typeface="Calibri"/>
                <a:cs typeface="Calibri"/>
              </a:rPr>
              <a:t> </a:t>
            </a:r>
            <a:r>
              <a:rPr dirty="0" sz="1800">
                <a:latin typeface="Calibri"/>
                <a:cs typeface="Calibri"/>
              </a:rPr>
              <a:t>3</a:t>
            </a:r>
            <a:r>
              <a:rPr dirty="0" sz="1800" spc="-35">
                <a:latin typeface="Calibri"/>
                <a:cs typeface="Calibri"/>
              </a:rPr>
              <a:t> </a:t>
            </a:r>
            <a:r>
              <a:rPr dirty="0" sz="1800" spc="-10">
                <a:latin typeface="Calibri"/>
                <a:cs typeface="Calibri"/>
              </a:rPr>
              <a:t>adjacent </a:t>
            </a:r>
            <a:r>
              <a:rPr dirty="0" sz="1800">
                <a:latin typeface="Calibri"/>
                <a:cs typeface="Calibri"/>
              </a:rPr>
              <a:t>neurons</a:t>
            </a:r>
            <a:r>
              <a:rPr dirty="0" sz="1800" spc="-45">
                <a:latin typeface="Calibri"/>
                <a:cs typeface="Calibri"/>
              </a:rPr>
              <a:t> </a:t>
            </a:r>
            <a:r>
              <a:rPr dirty="0" sz="1800">
                <a:latin typeface="Calibri"/>
                <a:cs typeface="Calibri"/>
              </a:rPr>
              <a:t>in</a:t>
            </a:r>
            <a:r>
              <a:rPr dirty="0" sz="1800" spc="-30">
                <a:latin typeface="Calibri"/>
                <a:cs typeface="Calibri"/>
              </a:rPr>
              <a:t> </a:t>
            </a:r>
            <a:r>
              <a:rPr dirty="0" sz="1800">
                <a:latin typeface="Calibri"/>
                <a:cs typeface="Calibri"/>
              </a:rPr>
              <a:t>the</a:t>
            </a:r>
            <a:r>
              <a:rPr dirty="0" sz="1800" spc="-45">
                <a:latin typeface="Calibri"/>
                <a:cs typeface="Calibri"/>
              </a:rPr>
              <a:t> </a:t>
            </a:r>
            <a:r>
              <a:rPr dirty="0" sz="1800">
                <a:latin typeface="Calibri"/>
                <a:cs typeface="Calibri"/>
              </a:rPr>
              <a:t>retina</a:t>
            </a:r>
            <a:r>
              <a:rPr dirty="0" sz="1800" spc="-20">
                <a:latin typeface="Calibri"/>
                <a:cs typeface="Calibri"/>
              </a:rPr>
              <a:t> </a:t>
            </a:r>
            <a:r>
              <a:rPr dirty="0" sz="1800" spc="-35">
                <a:latin typeface="Calibri"/>
                <a:cs typeface="Calibri"/>
              </a:rPr>
              <a:t>layer.</a:t>
            </a:r>
            <a:r>
              <a:rPr dirty="0" sz="1800" spc="-45">
                <a:latin typeface="Calibri"/>
                <a:cs typeface="Calibri"/>
              </a:rPr>
              <a:t> </a:t>
            </a:r>
            <a:r>
              <a:rPr dirty="0" sz="1800">
                <a:latin typeface="Calibri"/>
                <a:cs typeface="Calibri"/>
              </a:rPr>
              <a:t>Units</a:t>
            </a:r>
            <a:r>
              <a:rPr dirty="0" sz="1800" spc="-45">
                <a:latin typeface="Calibri"/>
                <a:cs typeface="Calibri"/>
              </a:rPr>
              <a:t> </a:t>
            </a:r>
            <a:r>
              <a:rPr dirty="0" sz="1800">
                <a:latin typeface="Calibri"/>
                <a:cs typeface="Calibri"/>
              </a:rPr>
              <a:t>in</a:t>
            </a:r>
            <a:r>
              <a:rPr dirty="0" sz="1800" spc="-30">
                <a:latin typeface="Calibri"/>
                <a:cs typeface="Calibri"/>
              </a:rPr>
              <a:t> </a:t>
            </a:r>
            <a:r>
              <a:rPr dirty="0" sz="1800">
                <a:latin typeface="Calibri"/>
                <a:cs typeface="Calibri"/>
              </a:rPr>
              <a:t>layer</a:t>
            </a:r>
            <a:r>
              <a:rPr dirty="0" sz="1800" spc="-45">
                <a:latin typeface="Calibri"/>
                <a:cs typeface="Calibri"/>
              </a:rPr>
              <a:t> </a:t>
            </a:r>
            <a:r>
              <a:rPr dirty="0" sz="1800" b="1">
                <a:latin typeface="Calibri"/>
                <a:cs typeface="Calibri"/>
              </a:rPr>
              <a:t>m+1</a:t>
            </a:r>
            <a:r>
              <a:rPr dirty="0" sz="1800" spc="-50" b="1">
                <a:latin typeface="Calibri"/>
                <a:cs typeface="Calibri"/>
              </a:rPr>
              <a:t> </a:t>
            </a:r>
            <a:r>
              <a:rPr dirty="0" sz="1800">
                <a:latin typeface="Calibri"/>
                <a:cs typeface="Calibri"/>
              </a:rPr>
              <a:t>have</a:t>
            </a:r>
            <a:r>
              <a:rPr dirty="0" sz="1800" spc="-55">
                <a:latin typeface="Calibri"/>
                <a:cs typeface="Calibri"/>
              </a:rPr>
              <a:t> </a:t>
            </a:r>
            <a:r>
              <a:rPr dirty="0" sz="1800">
                <a:latin typeface="Calibri"/>
                <a:cs typeface="Calibri"/>
              </a:rPr>
              <a:t>a</a:t>
            </a:r>
            <a:r>
              <a:rPr dirty="0" sz="1800" spc="-45">
                <a:latin typeface="Calibri"/>
                <a:cs typeface="Calibri"/>
              </a:rPr>
              <a:t> </a:t>
            </a:r>
            <a:r>
              <a:rPr dirty="0" sz="1800">
                <a:latin typeface="Calibri"/>
                <a:cs typeface="Calibri"/>
              </a:rPr>
              <a:t>similar</a:t>
            </a:r>
            <a:r>
              <a:rPr dirty="0" sz="1800" spc="-40">
                <a:latin typeface="Calibri"/>
                <a:cs typeface="Calibri"/>
              </a:rPr>
              <a:t> </a:t>
            </a:r>
            <a:r>
              <a:rPr dirty="0" sz="1800">
                <a:latin typeface="Calibri"/>
                <a:cs typeface="Calibri"/>
              </a:rPr>
              <a:t>connectivity</a:t>
            </a:r>
            <a:r>
              <a:rPr dirty="0" sz="1800" spc="-25">
                <a:latin typeface="Calibri"/>
                <a:cs typeface="Calibri"/>
              </a:rPr>
              <a:t> </a:t>
            </a:r>
            <a:r>
              <a:rPr dirty="0" sz="1800">
                <a:latin typeface="Calibri"/>
                <a:cs typeface="Calibri"/>
              </a:rPr>
              <a:t>with</a:t>
            </a:r>
            <a:r>
              <a:rPr dirty="0" sz="1800" spc="-35">
                <a:latin typeface="Calibri"/>
                <a:cs typeface="Calibri"/>
              </a:rPr>
              <a:t> </a:t>
            </a:r>
            <a:r>
              <a:rPr dirty="0" sz="1800">
                <a:latin typeface="Calibri"/>
                <a:cs typeface="Calibri"/>
              </a:rPr>
              <a:t>the</a:t>
            </a:r>
            <a:r>
              <a:rPr dirty="0" sz="1800" spc="-35">
                <a:latin typeface="Calibri"/>
                <a:cs typeface="Calibri"/>
              </a:rPr>
              <a:t> </a:t>
            </a:r>
            <a:r>
              <a:rPr dirty="0" sz="1800" spc="-10">
                <a:latin typeface="Calibri"/>
                <a:cs typeface="Calibri"/>
              </a:rPr>
              <a:t>layer </a:t>
            </a:r>
            <a:r>
              <a:rPr dirty="0" sz="1800" spc="-20">
                <a:latin typeface="Calibri"/>
                <a:cs typeface="Calibri"/>
              </a:rPr>
              <a:t>below.</a:t>
            </a:r>
            <a:r>
              <a:rPr dirty="0" sz="1800" spc="-25">
                <a:latin typeface="Calibri"/>
                <a:cs typeface="Calibri"/>
              </a:rPr>
              <a:t> </a:t>
            </a:r>
            <a:r>
              <a:rPr dirty="0" sz="1800">
                <a:latin typeface="Calibri"/>
                <a:cs typeface="Calibri"/>
              </a:rPr>
              <a:t>We</a:t>
            </a:r>
            <a:r>
              <a:rPr dirty="0" sz="1800" spc="-40">
                <a:latin typeface="Calibri"/>
                <a:cs typeface="Calibri"/>
              </a:rPr>
              <a:t> </a:t>
            </a:r>
            <a:r>
              <a:rPr dirty="0" sz="1800">
                <a:latin typeface="Calibri"/>
                <a:cs typeface="Calibri"/>
              </a:rPr>
              <a:t>say</a:t>
            </a:r>
            <a:r>
              <a:rPr dirty="0" sz="1800" spc="-60">
                <a:latin typeface="Calibri"/>
                <a:cs typeface="Calibri"/>
              </a:rPr>
              <a:t> </a:t>
            </a:r>
            <a:r>
              <a:rPr dirty="0" sz="1800">
                <a:latin typeface="Calibri"/>
                <a:cs typeface="Calibri"/>
              </a:rPr>
              <a:t>that</a:t>
            </a:r>
            <a:r>
              <a:rPr dirty="0" sz="1800" spc="-50">
                <a:latin typeface="Calibri"/>
                <a:cs typeface="Calibri"/>
              </a:rPr>
              <a:t> </a:t>
            </a:r>
            <a:r>
              <a:rPr dirty="0" sz="1800">
                <a:latin typeface="Calibri"/>
                <a:cs typeface="Calibri"/>
              </a:rPr>
              <a:t>their</a:t>
            </a:r>
            <a:r>
              <a:rPr dirty="0" sz="1800" spc="-40">
                <a:latin typeface="Calibri"/>
                <a:cs typeface="Calibri"/>
              </a:rPr>
              <a:t> </a:t>
            </a:r>
            <a:r>
              <a:rPr dirty="0" sz="1800">
                <a:latin typeface="Calibri"/>
                <a:cs typeface="Calibri"/>
              </a:rPr>
              <a:t>receptive</a:t>
            </a:r>
            <a:r>
              <a:rPr dirty="0" sz="1800" spc="-25">
                <a:latin typeface="Calibri"/>
                <a:cs typeface="Calibri"/>
              </a:rPr>
              <a:t> </a:t>
            </a:r>
            <a:r>
              <a:rPr dirty="0" sz="1800">
                <a:latin typeface="Calibri"/>
                <a:cs typeface="Calibri"/>
              </a:rPr>
              <a:t>field</a:t>
            </a:r>
            <a:r>
              <a:rPr dirty="0" sz="1800" spc="-35">
                <a:latin typeface="Calibri"/>
                <a:cs typeface="Calibri"/>
              </a:rPr>
              <a:t> </a:t>
            </a:r>
            <a:r>
              <a:rPr dirty="0" sz="1800">
                <a:latin typeface="Calibri"/>
                <a:cs typeface="Calibri"/>
              </a:rPr>
              <a:t>with</a:t>
            </a:r>
            <a:r>
              <a:rPr dirty="0" sz="1800" spc="-30">
                <a:latin typeface="Calibri"/>
                <a:cs typeface="Calibri"/>
              </a:rPr>
              <a:t> </a:t>
            </a:r>
            <a:r>
              <a:rPr dirty="0" sz="1800">
                <a:latin typeface="Calibri"/>
                <a:cs typeface="Calibri"/>
              </a:rPr>
              <a:t>respect</a:t>
            </a:r>
            <a:r>
              <a:rPr dirty="0" sz="1800" spc="-40">
                <a:latin typeface="Calibri"/>
                <a:cs typeface="Calibri"/>
              </a:rPr>
              <a:t> </a:t>
            </a:r>
            <a:r>
              <a:rPr dirty="0" sz="1800">
                <a:latin typeface="Calibri"/>
                <a:cs typeface="Calibri"/>
              </a:rPr>
              <a:t>to</a:t>
            </a:r>
            <a:r>
              <a:rPr dirty="0" sz="1800" spc="-45">
                <a:latin typeface="Calibri"/>
                <a:cs typeface="Calibri"/>
              </a:rPr>
              <a:t> </a:t>
            </a:r>
            <a:r>
              <a:rPr dirty="0" sz="1800">
                <a:latin typeface="Calibri"/>
                <a:cs typeface="Calibri"/>
              </a:rPr>
              <a:t>the</a:t>
            </a:r>
            <a:r>
              <a:rPr dirty="0" sz="1800" spc="-45">
                <a:latin typeface="Calibri"/>
                <a:cs typeface="Calibri"/>
              </a:rPr>
              <a:t> </a:t>
            </a:r>
            <a:r>
              <a:rPr dirty="0" sz="1800">
                <a:latin typeface="Calibri"/>
                <a:cs typeface="Calibri"/>
              </a:rPr>
              <a:t>layer</a:t>
            </a:r>
            <a:r>
              <a:rPr dirty="0" sz="1800" spc="-40">
                <a:latin typeface="Calibri"/>
                <a:cs typeface="Calibri"/>
              </a:rPr>
              <a:t> </a:t>
            </a:r>
            <a:r>
              <a:rPr dirty="0" sz="1800">
                <a:latin typeface="Calibri"/>
                <a:cs typeface="Calibri"/>
              </a:rPr>
              <a:t>below</a:t>
            </a:r>
            <a:r>
              <a:rPr dirty="0" sz="1800" spc="-30">
                <a:latin typeface="Calibri"/>
                <a:cs typeface="Calibri"/>
              </a:rPr>
              <a:t> </a:t>
            </a:r>
            <a:r>
              <a:rPr dirty="0" sz="1800">
                <a:latin typeface="Calibri"/>
                <a:cs typeface="Calibri"/>
              </a:rPr>
              <a:t>is</a:t>
            </a:r>
            <a:r>
              <a:rPr dirty="0" sz="1800" spc="-40">
                <a:latin typeface="Calibri"/>
                <a:cs typeface="Calibri"/>
              </a:rPr>
              <a:t> </a:t>
            </a:r>
            <a:r>
              <a:rPr dirty="0" sz="1800">
                <a:latin typeface="Calibri"/>
                <a:cs typeface="Calibri"/>
              </a:rPr>
              <a:t>also</a:t>
            </a:r>
            <a:r>
              <a:rPr dirty="0" sz="1800" spc="-45">
                <a:latin typeface="Calibri"/>
                <a:cs typeface="Calibri"/>
              </a:rPr>
              <a:t> </a:t>
            </a:r>
            <a:r>
              <a:rPr dirty="0" sz="1800">
                <a:latin typeface="Calibri"/>
                <a:cs typeface="Calibri"/>
              </a:rPr>
              <a:t>3,</a:t>
            </a:r>
            <a:r>
              <a:rPr dirty="0" sz="1800" spc="-40">
                <a:latin typeface="Calibri"/>
                <a:cs typeface="Calibri"/>
              </a:rPr>
              <a:t> </a:t>
            </a:r>
            <a:r>
              <a:rPr dirty="0" sz="1800">
                <a:latin typeface="Calibri"/>
                <a:cs typeface="Calibri"/>
              </a:rPr>
              <a:t>but</a:t>
            </a:r>
            <a:r>
              <a:rPr dirty="0" sz="1800" spc="-40">
                <a:latin typeface="Calibri"/>
                <a:cs typeface="Calibri"/>
              </a:rPr>
              <a:t> </a:t>
            </a:r>
            <a:r>
              <a:rPr dirty="0" sz="1800" spc="-10">
                <a:latin typeface="Calibri"/>
                <a:cs typeface="Calibri"/>
              </a:rPr>
              <a:t>their receptive</a:t>
            </a:r>
            <a:r>
              <a:rPr dirty="0" sz="1800" spc="-25">
                <a:latin typeface="Calibri"/>
                <a:cs typeface="Calibri"/>
              </a:rPr>
              <a:t> </a:t>
            </a:r>
            <a:r>
              <a:rPr dirty="0" sz="1800">
                <a:latin typeface="Calibri"/>
                <a:cs typeface="Calibri"/>
              </a:rPr>
              <a:t>field</a:t>
            </a:r>
            <a:r>
              <a:rPr dirty="0" sz="1800" spc="-30">
                <a:latin typeface="Calibri"/>
                <a:cs typeface="Calibri"/>
              </a:rPr>
              <a:t> </a:t>
            </a:r>
            <a:r>
              <a:rPr dirty="0" sz="1800">
                <a:latin typeface="Calibri"/>
                <a:cs typeface="Calibri"/>
              </a:rPr>
              <a:t>with</a:t>
            </a:r>
            <a:r>
              <a:rPr dirty="0" sz="1800" spc="-10">
                <a:latin typeface="Calibri"/>
                <a:cs typeface="Calibri"/>
              </a:rPr>
              <a:t> </a:t>
            </a:r>
            <a:r>
              <a:rPr dirty="0" sz="1800">
                <a:latin typeface="Calibri"/>
                <a:cs typeface="Calibri"/>
              </a:rPr>
              <a:t>respect</a:t>
            </a:r>
            <a:r>
              <a:rPr dirty="0" sz="1800" spc="-45">
                <a:latin typeface="Calibri"/>
                <a:cs typeface="Calibri"/>
              </a:rPr>
              <a:t> </a:t>
            </a:r>
            <a:r>
              <a:rPr dirty="0" sz="1800">
                <a:latin typeface="Calibri"/>
                <a:cs typeface="Calibri"/>
              </a:rPr>
              <a:t>to</a:t>
            </a:r>
            <a:r>
              <a:rPr dirty="0" sz="1800" spc="-35">
                <a:latin typeface="Calibri"/>
                <a:cs typeface="Calibri"/>
              </a:rPr>
              <a:t> </a:t>
            </a:r>
            <a:r>
              <a:rPr dirty="0" sz="1800">
                <a:latin typeface="Calibri"/>
                <a:cs typeface="Calibri"/>
              </a:rPr>
              <a:t>the</a:t>
            </a:r>
            <a:r>
              <a:rPr dirty="0" sz="1800" spc="-20">
                <a:latin typeface="Calibri"/>
                <a:cs typeface="Calibri"/>
              </a:rPr>
              <a:t> </a:t>
            </a:r>
            <a:r>
              <a:rPr dirty="0" sz="1800">
                <a:latin typeface="Calibri"/>
                <a:cs typeface="Calibri"/>
              </a:rPr>
              <a:t>input</a:t>
            </a:r>
            <a:r>
              <a:rPr dirty="0" sz="1800" spc="-30">
                <a:latin typeface="Calibri"/>
                <a:cs typeface="Calibri"/>
              </a:rPr>
              <a:t> </a:t>
            </a:r>
            <a:r>
              <a:rPr dirty="0" sz="1800">
                <a:latin typeface="Calibri"/>
                <a:cs typeface="Calibri"/>
              </a:rPr>
              <a:t>is</a:t>
            </a:r>
            <a:r>
              <a:rPr dirty="0" sz="1800" spc="-30">
                <a:latin typeface="Calibri"/>
                <a:cs typeface="Calibri"/>
              </a:rPr>
              <a:t> </a:t>
            </a:r>
            <a:r>
              <a:rPr dirty="0" sz="1800">
                <a:latin typeface="Calibri"/>
                <a:cs typeface="Calibri"/>
              </a:rPr>
              <a:t>larger</a:t>
            </a:r>
            <a:r>
              <a:rPr dirty="0" sz="1800" spc="-40">
                <a:latin typeface="Calibri"/>
                <a:cs typeface="Calibri"/>
              </a:rPr>
              <a:t> </a:t>
            </a:r>
            <a:r>
              <a:rPr dirty="0" sz="1800">
                <a:latin typeface="Calibri"/>
                <a:cs typeface="Calibri"/>
              </a:rPr>
              <a:t>(5).</a:t>
            </a:r>
            <a:r>
              <a:rPr dirty="0" sz="1800" spc="-15">
                <a:latin typeface="Calibri"/>
                <a:cs typeface="Calibri"/>
              </a:rPr>
              <a:t> </a:t>
            </a:r>
            <a:r>
              <a:rPr dirty="0" sz="1800">
                <a:latin typeface="Calibri"/>
                <a:cs typeface="Calibri"/>
              </a:rPr>
              <a:t>Each</a:t>
            </a:r>
            <a:r>
              <a:rPr dirty="0" sz="1800" spc="-40">
                <a:latin typeface="Calibri"/>
                <a:cs typeface="Calibri"/>
              </a:rPr>
              <a:t> </a:t>
            </a:r>
            <a:r>
              <a:rPr dirty="0" sz="1800">
                <a:latin typeface="Calibri"/>
                <a:cs typeface="Calibri"/>
              </a:rPr>
              <a:t>unit</a:t>
            </a:r>
            <a:r>
              <a:rPr dirty="0" sz="1800" spc="-25">
                <a:latin typeface="Calibri"/>
                <a:cs typeface="Calibri"/>
              </a:rPr>
              <a:t> </a:t>
            </a:r>
            <a:r>
              <a:rPr dirty="0" sz="1800">
                <a:latin typeface="Calibri"/>
                <a:cs typeface="Calibri"/>
              </a:rPr>
              <a:t>is</a:t>
            </a:r>
            <a:r>
              <a:rPr dirty="0" sz="1800" spc="-30">
                <a:latin typeface="Calibri"/>
                <a:cs typeface="Calibri"/>
              </a:rPr>
              <a:t> </a:t>
            </a:r>
            <a:r>
              <a:rPr dirty="0" sz="1800" spc="-10">
                <a:latin typeface="Calibri"/>
                <a:cs typeface="Calibri"/>
              </a:rPr>
              <a:t>unresponsive</a:t>
            </a:r>
            <a:r>
              <a:rPr dirty="0" sz="1800" spc="-35">
                <a:latin typeface="Calibri"/>
                <a:cs typeface="Calibri"/>
              </a:rPr>
              <a:t> </a:t>
            </a:r>
            <a:r>
              <a:rPr dirty="0" sz="1800">
                <a:latin typeface="Calibri"/>
                <a:cs typeface="Calibri"/>
              </a:rPr>
              <a:t>to</a:t>
            </a:r>
            <a:r>
              <a:rPr dirty="0" sz="1800" spc="-35">
                <a:latin typeface="Calibri"/>
                <a:cs typeface="Calibri"/>
              </a:rPr>
              <a:t> </a:t>
            </a:r>
            <a:r>
              <a:rPr dirty="0" sz="1800" spc="-10">
                <a:latin typeface="Calibri"/>
                <a:cs typeface="Calibri"/>
              </a:rPr>
              <a:t>variations </a:t>
            </a:r>
            <a:r>
              <a:rPr dirty="0" sz="1800">
                <a:latin typeface="Calibri"/>
                <a:cs typeface="Calibri"/>
              </a:rPr>
              <a:t>outside</a:t>
            </a:r>
            <a:r>
              <a:rPr dirty="0" sz="1800" spc="-30">
                <a:latin typeface="Calibri"/>
                <a:cs typeface="Calibri"/>
              </a:rPr>
              <a:t> </a:t>
            </a:r>
            <a:r>
              <a:rPr dirty="0" sz="1800">
                <a:latin typeface="Calibri"/>
                <a:cs typeface="Calibri"/>
              </a:rPr>
              <a:t>of</a:t>
            </a:r>
            <a:r>
              <a:rPr dirty="0" sz="1800" spc="-40">
                <a:latin typeface="Calibri"/>
                <a:cs typeface="Calibri"/>
              </a:rPr>
              <a:t> </a:t>
            </a:r>
            <a:r>
              <a:rPr dirty="0" sz="1800">
                <a:latin typeface="Calibri"/>
                <a:cs typeface="Calibri"/>
              </a:rPr>
              <a:t>its</a:t>
            </a:r>
            <a:r>
              <a:rPr dirty="0" sz="1800" spc="-40">
                <a:latin typeface="Calibri"/>
                <a:cs typeface="Calibri"/>
              </a:rPr>
              <a:t> </a:t>
            </a:r>
            <a:r>
              <a:rPr dirty="0" sz="1800" spc="-10">
                <a:latin typeface="Calibri"/>
                <a:cs typeface="Calibri"/>
              </a:rPr>
              <a:t>receptive</a:t>
            </a:r>
            <a:r>
              <a:rPr dirty="0" sz="1800" spc="-25">
                <a:latin typeface="Calibri"/>
                <a:cs typeface="Calibri"/>
              </a:rPr>
              <a:t> </a:t>
            </a:r>
            <a:r>
              <a:rPr dirty="0" sz="1800">
                <a:latin typeface="Calibri"/>
                <a:cs typeface="Calibri"/>
              </a:rPr>
              <a:t>field</a:t>
            </a:r>
            <a:r>
              <a:rPr dirty="0" sz="1800" spc="-25">
                <a:latin typeface="Calibri"/>
                <a:cs typeface="Calibri"/>
              </a:rPr>
              <a:t> </a:t>
            </a:r>
            <a:r>
              <a:rPr dirty="0" sz="1800">
                <a:latin typeface="Calibri"/>
                <a:cs typeface="Calibri"/>
              </a:rPr>
              <a:t>with</a:t>
            </a:r>
            <a:r>
              <a:rPr dirty="0" sz="1800" spc="-15">
                <a:latin typeface="Calibri"/>
                <a:cs typeface="Calibri"/>
              </a:rPr>
              <a:t> </a:t>
            </a:r>
            <a:r>
              <a:rPr dirty="0" sz="1800">
                <a:latin typeface="Calibri"/>
                <a:cs typeface="Calibri"/>
              </a:rPr>
              <a:t>respect</a:t>
            </a:r>
            <a:r>
              <a:rPr dirty="0" sz="1800" spc="-45">
                <a:latin typeface="Calibri"/>
                <a:cs typeface="Calibri"/>
              </a:rPr>
              <a:t> </a:t>
            </a:r>
            <a:r>
              <a:rPr dirty="0" sz="1800">
                <a:latin typeface="Calibri"/>
                <a:cs typeface="Calibri"/>
              </a:rPr>
              <a:t>to</a:t>
            </a:r>
            <a:r>
              <a:rPr dirty="0" sz="1800" spc="-40">
                <a:latin typeface="Calibri"/>
                <a:cs typeface="Calibri"/>
              </a:rPr>
              <a:t> </a:t>
            </a:r>
            <a:r>
              <a:rPr dirty="0" sz="1800">
                <a:latin typeface="Calibri"/>
                <a:cs typeface="Calibri"/>
              </a:rPr>
              <a:t>the</a:t>
            </a:r>
            <a:r>
              <a:rPr dirty="0" sz="1800" spc="-25">
                <a:latin typeface="Calibri"/>
                <a:cs typeface="Calibri"/>
              </a:rPr>
              <a:t> </a:t>
            </a:r>
            <a:r>
              <a:rPr dirty="0" sz="1800">
                <a:latin typeface="Calibri"/>
                <a:cs typeface="Calibri"/>
              </a:rPr>
              <a:t>retina.</a:t>
            </a:r>
            <a:r>
              <a:rPr dirty="0" sz="1800" spc="-40">
                <a:latin typeface="Calibri"/>
                <a:cs typeface="Calibri"/>
              </a:rPr>
              <a:t> </a:t>
            </a:r>
            <a:r>
              <a:rPr dirty="0" sz="1800">
                <a:latin typeface="Calibri"/>
                <a:cs typeface="Calibri"/>
              </a:rPr>
              <a:t>The</a:t>
            </a:r>
            <a:r>
              <a:rPr dirty="0" sz="1800" spc="-30">
                <a:latin typeface="Calibri"/>
                <a:cs typeface="Calibri"/>
              </a:rPr>
              <a:t> </a:t>
            </a:r>
            <a:r>
              <a:rPr dirty="0" sz="1800" spc="-10">
                <a:latin typeface="Calibri"/>
                <a:cs typeface="Calibri"/>
              </a:rPr>
              <a:t>architecture</a:t>
            </a:r>
            <a:r>
              <a:rPr dirty="0" sz="1800" spc="-15">
                <a:latin typeface="Calibri"/>
                <a:cs typeface="Calibri"/>
              </a:rPr>
              <a:t> </a:t>
            </a:r>
            <a:r>
              <a:rPr dirty="0" sz="1800">
                <a:latin typeface="Calibri"/>
                <a:cs typeface="Calibri"/>
              </a:rPr>
              <a:t>thus</a:t>
            </a:r>
            <a:r>
              <a:rPr dirty="0" sz="1800" spc="-40">
                <a:latin typeface="Calibri"/>
                <a:cs typeface="Calibri"/>
              </a:rPr>
              <a:t> </a:t>
            </a:r>
            <a:r>
              <a:rPr dirty="0" sz="1800">
                <a:latin typeface="Calibri"/>
                <a:cs typeface="Calibri"/>
              </a:rPr>
              <a:t>ensures</a:t>
            </a:r>
            <a:r>
              <a:rPr dirty="0" sz="1800" spc="-40">
                <a:latin typeface="Calibri"/>
                <a:cs typeface="Calibri"/>
              </a:rPr>
              <a:t> </a:t>
            </a:r>
            <a:r>
              <a:rPr dirty="0" sz="1800" spc="-20">
                <a:latin typeface="Calibri"/>
                <a:cs typeface="Calibri"/>
              </a:rPr>
              <a:t>that </a:t>
            </a:r>
            <a:r>
              <a:rPr dirty="0" sz="1800" b="1">
                <a:latin typeface="Calibri"/>
                <a:cs typeface="Calibri"/>
              </a:rPr>
              <a:t>the</a:t>
            </a:r>
            <a:r>
              <a:rPr dirty="0" sz="1800" spc="-40" b="1">
                <a:latin typeface="Calibri"/>
                <a:cs typeface="Calibri"/>
              </a:rPr>
              <a:t> </a:t>
            </a:r>
            <a:r>
              <a:rPr dirty="0" sz="1800" b="1">
                <a:latin typeface="Calibri"/>
                <a:cs typeface="Calibri"/>
              </a:rPr>
              <a:t>learnt</a:t>
            </a:r>
            <a:r>
              <a:rPr dirty="0" sz="1800" spc="-45" b="1">
                <a:latin typeface="Calibri"/>
                <a:cs typeface="Calibri"/>
              </a:rPr>
              <a:t> </a:t>
            </a:r>
            <a:r>
              <a:rPr dirty="0" sz="1800" b="1">
                <a:latin typeface="Calibri"/>
                <a:cs typeface="Calibri"/>
              </a:rPr>
              <a:t>“filters”</a:t>
            </a:r>
            <a:r>
              <a:rPr dirty="0" sz="1800" spc="-5" b="1">
                <a:latin typeface="Calibri"/>
                <a:cs typeface="Calibri"/>
              </a:rPr>
              <a:t> </a:t>
            </a:r>
            <a:r>
              <a:rPr dirty="0" sz="1800" b="1">
                <a:latin typeface="Calibri"/>
                <a:cs typeface="Calibri"/>
              </a:rPr>
              <a:t>produce</a:t>
            </a:r>
            <a:r>
              <a:rPr dirty="0" sz="1800" spc="-60" b="1">
                <a:latin typeface="Calibri"/>
                <a:cs typeface="Calibri"/>
              </a:rPr>
              <a:t> </a:t>
            </a:r>
            <a:r>
              <a:rPr dirty="0" sz="1800" b="1">
                <a:latin typeface="Calibri"/>
                <a:cs typeface="Calibri"/>
              </a:rPr>
              <a:t>the</a:t>
            </a:r>
            <a:r>
              <a:rPr dirty="0" sz="1800" spc="-25" b="1">
                <a:latin typeface="Calibri"/>
                <a:cs typeface="Calibri"/>
              </a:rPr>
              <a:t> </a:t>
            </a:r>
            <a:r>
              <a:rPr dirty="0" sz="1800" spc="-10" b="1">
                <a:latin typeface="Calibri"/>
                <a:cs typeface="Calibri"/>
              </a:rPr>
              <a:t>strongest</a:t>
            </a:r>
            <a:r>
              <a:rPr dirty="0" sz="1800" spc="-45" b="1">
                <a:latin typeface="Calibri"/>
                <a:cs typeface="Calibri"/>
              </a:rPr>
              <a:t> </a:t>
            </a:r>
            <a:r>
              <a:rPr dirty="0" sz="1800" b="1">
                <a:latin typeface="Calibri"/>
                <a:cs typeface="Calibri"/>
              </a:rPr>
              <a:t>response</a:t>
            </a:r>
            <a:r>
              <a:rPr dirty="0" sz="1800" spc="-25" b="1">
                <a:latin typeface="Calibri"/>
                <a:cs typeface="Calibri"/>
              </a:rPr>
              <a:t> </a:t>
            </a:r>
            <a:r>
              <a:rPr dirty="0" sz="1800" b="1">
                <a:latin typeface="Calibri"/>
                <a:cs typeface="Calibri"/>
              </a:rPr>
              <a:t>to</a:t>
            </a:r>
            <a:r>
              <a:rPr dirty="0" sz="1800" spc="-25" b="1">
                <a:latin typeface="Calibri"/>
                <a:cs typeface="Calibri"/>
              </a:rPr>
              <a:t> </a:t>
            </a:r>
            <a:r>
              <a:rPr dirty="0" sz="1800" b="1">
                <a:latin typeface="Calibri"/>
                <a:cs typeface="Calibri"/>
              </a:rPr>
              <a:t>a</a:t>
            </a:r>
            <a:r>
              <a:rPr dirty="0" sz="1800" spc="-140" b="1">
                <a:latin typeface="Calibri"/>
                <a:cs typeface="Calibri"/>
              </a:rPr>
              <a:t> </a:t>
            </a:r>
            <a:r>
              <a:rPr dirty="0" u="heavy" sz="1800" spc="-335" b="1">
                <a:uFill>
                  <a:solidFill>
                    <a:srgbClr val="000000"/>
                  </a:solidFill>
                </a:uFill>
                <a:latin typeface="Calibri"/>
                <a:cs typeface="Calibri"/>
              </a:rPr>
              <a:t> </a:t>
            </a:r>
            <a:r>
              <a:rPr dirty="0" u="heavy" sz="1800" b="1">
                <a:uFill>
                  <a:solidFill>
                    <a:srgbClr val="000000"/>
                  </a:solidFill>
                </a:uFill>
                <a:latin typeface="Calibri"/>
                <a:cs typeface="Calibri"/>
              </a:rPr>
              <a:t>spatially</a:t>
            </a:r>
            <a:r>
              <a:rPr dirty="0" u="heavy" sz="1800" spc="-50" b="1">
                <a:uFill>
                  <a:solidFill>
                    <a:srgbClr val="000000"/>
                  </a:solidFill>
                </a:uFill>
                <a:latin typeface="Calibri"/>
                <a:cs typeface="Calibri"/>
              </a:rPr>
              <a:t> </a:t>
            </a:r>
            <a:r>
              <a:rPr dirty="0" u="heavy" sz="1800" b="1">
                <a:uFill>
                  <a:solidFill>
                    <a:srgbClr val="000000"/>
                  </a:solidFill>
                </a:uFill>
                <a:latin typeface="Calibri"/>
                <a:cs typeface="Calibri"/>
              </a:rPr>
              <a:t>local</a:t>
            </a:r>
            <a:r>
              <a:rPr dirty="0" u="heavy" sz="1800" spc="-35" b="1">
                <a:uFill>
                  <a:solidFill>
                    <a:srgbClr val="000000"/>
                  </a:solidFill>
                </a:uFill>
                <a:latin typeface="Calibri"/>
                <a:cs typeface="Calibri"/>
              </a:rPr>
              <a:t> </a:t>
            </a:r>
            <a:r>
              <a:rPr dirty="0" u="heavy" sz="1800" b="1">
                <a:uFill>
                  <a:solidFill>
                    <a:srgbClr val="000000"/>
                  </a:solidFill>
                </a:uFill>
                <a:latin typeface="Calibri"/>
                <a:cs typeface="Calibri"/>
              </a:rPr>
              <a:t>input</a:t>
            </a:r>
            <a:r>
              <a:rPr dirty="0" u="heavy" sz="1800" spc="-40" b="1">
                <a:uFill>
                  <a:solidFill>
                    <a:srgbClr val="000000"/>
                  </a:solidFill>
                </a:uFill>
                <a:latin typeface="Calibri"/>
                <a:cs typeface="Calibri"/>
              </a:rPr>
              <a:t> </a:t>
            </a:r>
            <a:r>
              <a:rPr dirty="0" u="heavy" sz="1800" spc="-10" b="1">
                <a:uFill>
                  <a:solidFill>
                    <a:srgbClr val="000000"/>
                  </a:solidFill>
                </a:uFill>
                <a:latin typeface="Calibri"/>
                <a:cs typeface="Calibri"/>
              </a:rPr>
              <a:t>pattern.</a:t>
            </a:r>
            <a:endParaRPr sz="1800">
              <a:latin typeface="Calibri"/>
              <a:cs typeface="Calibri"/>
            </a:endParaRPr>
          </a:p>
          <a:p>
            <a:pPr algn="r" marR="338455">
              <a:lnSpc>
                <a:spcPts val="825"/>
              </a:lnSpc>
            </a:pPr>
            <a:r>
              <a:rPr dirty="0" sz="1200" spc="-25">
                <a:solidFill>
                  <a:srgbClr val="898989"/>
                </a:solidFill>
                <a:latin typeface="Calibri"/>
                <a:cs typeface="Calibri"/>
              </a:rPr>
              <a:t>22</a:t>
            </a:r>
            <a:endParaRPr sz="12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284" y="284524"/>
            <a:ext cx="4059554" cy="635000"/>
          </a:xfrm>
          <a:prstGeom prst="rect"/>
        </p:spPr>
        <p:txBody>
          <a:bodyPr wrap="square" lIns="0" tIns="12065" rIns="0" bIns="0" rtlCol="0" vert="horz">
            <a:spAutoFit/>
          </a:bodyPr>
          <a:lstStyle/>
          <a:p>
            <a:pPr marL="12700">
              <a:lnSpc>
                <a:spcPct val="100000"/>
              </a:lnSpc>
              <a:spcBef>
                <a:spcPts val="95"/>
              </a:spcBef>
            </a:pPr>
            <a:r>
              <a:rPr dirty="0"/>
              <a:t>Shared</a:t>
            </a:r>
            <a:r>
              <a:rPr dirty="0" spc="-80"/>
              <a:t> </a:t>
            </a:r>
            <a:r>
              <a:rPr dirty="0" spc="-10"/>
              <a:t>Weights</a:t>
            </a:r>
          </a:p>
        </p:txBody>
      </p:sp>
      <p:grpSp>
        <p:nvGrpSpPr>
          <p:cNvPr id="3" name="object 3" descr=""/>
          <p:cNvGrpSpPr/>
          <p:nvPr/>
        </p:nvGrpSpPr>
        <p:grpSpPr>
          <a:xfrm>
            <a:off x="1836420" y="2421635"/>
            <a:ext cx="3877310" cy="1295400"/>
            <a:chOff x="1836420" y="2421635"/>
            <a:chExt cx="3877310" cy="1295400"/>
          </a:xfrm>
        </p:grpSpPr>
        <p:pic>
          <p:nvPicPr>
            <p:cNvPr id="4" name="object 4" descr=""/>
            <p:cNvPicPr/>
            <p:nvPr/>
          </p:nvPicPr>
          <p:blipFill>
            <a:blip r:embed="rId2" cstate="print"/>
            <a:stretch>
              <a:fillRect/>
            </a:stretch>
          </p:blipFill>
          <p:spPr>
            <a:xfrm>
              <a:off x="2124468" y="2421635"/>
              <a:ext cx="3589007" cy="1295400"/>
            </a:xfrm>
            <a:prstGeom prst="rect">
              <a:avLst/>
            </a:prstGeom>
          </p:spPr>
        </p:pic>
        <p:sp>
          <p:nvSpPr>
            <p:cNvPr id="5" name="object 5" descr=""/>
            <p:cNvSpPr/>
            <p:nvPr/>
          </p:nvSpPr>
          <p:spPr>
            <a:xfrm>
              <a:off x="1836420" y="2630423"/>
              <a:ext cx="1167765" cy="462280"/>
            </a:xfrm>
            <a:custGeom>
              <a:avLst/>
              <a:gdLst/>
              <a:ahLst/>
              <a:cxnLst/>
              <a:rect l="l" t="t" r="r" b="b"/>
              <a:pathLst>
                <a:path w="1167764" h="462280">
                  <a:moveTo>
                    <a:pt x="1167383" y="0"/>
                  </a:moveTo>
                  <a:lnTo>
                    <a:pt x="0" y="0"/>
                  </a:lnTo>
                  <a:lnTo>
                    <a:pt x="0" y="461772"/>
                  </a:lnTo>
                  <a:lnTo>
                    <a:pt x="1167383" y="461772"/>
                  </a:lnTo>
                  <a:lnTo>
                    <a:pt x="1167383" y="0"/>
                  </a:lnTo>
                  <a:close/>
                </a:path>
              </a:pathLst>
            </a:custGeom>
            <a:solidFill>
              <a:srgbClr val="FFFFFF"/>
            </a:solidFill>
          </p:spPr>
          <p:txBody>
            <a:bodyPr wrap="square" lIns="0" tIns="0" rIns="0" bIns="0" rtlCol="0"/>
            <a:lstStyle/>
            <a:p/>
          </p:txBody>
        </p:sp>
      </p:grpSp>
      <p:sp>
        <p:nvSpPr>
          <p:cNvPr id="6" name="object 6" descr=""/>
          <p:cNvSpPr txBox="1"/>
          <p:nvPr/>
        </p:nvSpPr>
        <p:spPr>
          <a:xfrm>
            <a:off x="402267" y="3954527"/>
            <a:ext cx="8455660" cy="2219960"/>
          </a:xfrm>
          <a:prstGeom prst="rect">
            <a:avLst/>
          </a:prstGeom>
        </p:spPr>
        <p:txBody>
          <a:bodyPr wrap="square" lIns="0" tIns="12700" rIns="0" bIns="0" rtlCol="0" vert="horz">
            <a:spAutoFit/>
          </a:bodyPr>
          <a:lstStyle/>
          <a:p>
            <a:pPr marL="12700" marR="176530">
              <a:lnSpc>
                <a:spcPct val="100000"/>
              </a:lnSpc>
              <a:spcBef>
                <a:spcPts val="100"/>
              </a:spcBef>
            </a:pPr>
            <a:r>
              <a:rPr dirty="0" sz="1800">
                <a:latin typeface="Calibri"/>
                <a:cs typeface="Calibri"/>
              </a:rPr>
              <a:t>In</a:t>
            </a:r>
            <a:r>
              <a:rPr dirty="0" sz="1800" spc="-40">
                <a:latin typeface="Calibri"/>
                <a:cs typeface="Calibri"/>
              </a:rPr>
              <a:t> </a:t>
            </a:r>
            <a:r>
              <a:rPr dirty="0" sz="1800">
                <a:latin typeface="Calibri"/>
                <a:cs typeface="Calibri"/>
              </a:rPr>
              <a:t>the</a:t>
            </a:r>
            <a:r>
              <a:rPr dirty="0" sz="1800" spc="-30">
                <a:latin typeface="Calibri"/>
                <a:cs typeface="Calibri"/>
              </a:rPr>
              <a:t> </a:t>
            </a:r>
            <a:r>
              <a:rPr dirty="0" sz="1800">
                <a:latin typeface="Calibri"/>
                <a:cs typeface="Calibri"/>
              </a:rPr>
              <a:t>above</a:t>
            </a:r>
            <a:r>
              <a:rPr dirty="0" sz="1800" spc="-35">
                <a:latin typeface="Calibri"/>
                <a:cs typeface="Calibri"/>
              </a:rPr>
              <a:t> </a:t>
            </a:r>
            <a:r>
              <a:rPr dirty="0" sz="1800">
                <a:latin typeface="Calibri"/>
                <a:cs typeface="Calibri"/>
              </a:rPr>
              <a:t>figure,</a:t>
            </a:r>
            <a:r>
              <a:rPr dirty="0" sz="1800" spc="-35">
                <a:latin typeface="Calibri"/>
                <a:cs typeface="Calibri"/>
              </a:rPr>
              <a:t> </a:t>
            </a:r>
            <a:r>
              <a:rPr dirty="0" sz="1800">
                <a:latin typeface="Calibri"/>
                <a:cs typeface="Calibri"/>
              </a:rPr>
              <a:t>we</a:t>
            </a:r>
            <a:r>
              <a:rPr dirty="0" sz="1800" spc="-35">
                <a:latin typeface="Calibri"/>
                <a:cs typeface="Calibri"/>
              </a:rPr>
              <a:t> </a:t>
            </a:r>
            <a:r>
              <a:rPr dirty="0" sz="1800">
                <a:latin typeface="Calibri"/>
                <a:cs typeface="Calibri"/>
              </a:rPr>
              <a:t>show</a:t>
            </a:r>
            <a:r>
              <a:rPr dirty="0" sz="1800" spc="-35">
                <a:latin typeface="Calibri"/>
                <a:cs typeface="Calibri"/>
              </a:rPr>
              <a:t> </a:t>
            </a:r>
            <a:r>
              <a:rPr dirty="0" sz="1800">
                <a:latin typeface="Calibri"/>
                <a:cs typeface="Calibri"/>
              </a:rPr>
              <a:t>3</a:t>
            </a:r>
            <a:r>
              <a:rPr dirty="0" sz="1800" spc="-40">
                <a:latin typeface="Calibri"/>
                <a:cs typeface="Calibri"/>
              </a:rPr>
              <a:t> </a:t>
            </a:r>
            <a:r>
              <a:rPr dirty="0" sz="1800">
                <a:latin typeface="Calibri"/>
                <a:cs typeface="Calibri"/>
              </a:rPr>
              <a:t>hidden</a:t>
            </a:r>
            <a:r>
              <a:rPr dirty="0" sz="1800" spc="-15">
                <a:latin typeface="Calibri"/>
                <a:cs typeface="Calibri"/>
              </a:rPr>
              <a:t> </a:t>
            </a:r>
            <a:r>
              <a:rPr dirty="0" sz="1800">
                <a:latin typeface="Calibri"/>
                <a:cs typeface="Calibri"/>
              </a:rPr>
              <a:t>units</a:t>
            </a:r>
            <a:r>
              <a:rPr dirty="0" sz="1800" spc="-40">
                <a:latin typeface="Calibri"/>
                <a:cs typeface="Calibri"/>
              </a:rPr>
              <a:t> </a:t>
            </a:r>
            <a:r>
              <a:rPr dirty="0" sz="1800">
                <a:latin typeface="Calibri"/>
                <a:cs typeface="Calibri"/>
              </a:rPr>
              <a:t>belonging</a:t>
            </a:r>
            <a:r>
              <a:rPr dirty="0" sz="1800" spc="-15">
                <a:latin typeface="Calibri"/>
                <a:cs typeface="Calibri"/>
              </a:rPr>
              <a:t> </a:t>
            </a:r>
            <a:r>
              <a:rPr dirty="0" sz="1800">
                <a:latin typeface="Calibri"/>
                <a:cs typeface="Calibri"/>
              </a:rPr>
              <a:t>to</a:t>
            </a:r>
            <a:r>
              <a:rPr dirty="0" sz="1800" spc="-40">
                <a:latin typeface="Calibri"/>
                <a:cs typeface="Calibri"/>
              </a:rPr>
              <a:t> </a:t>
            </a:r>
            <a:r>
              <a:rPr dirty="0" sz="1800">
                <a:latin typeface="Calibri"/>
                <a:cs typeface="Calibri"/>
              </a:rPr>
              <a:t>the</a:t>
            </a:r>
            <a:r>
              <a:rPr dirty="0" sz="1800" spc="-35">
                <a:latin typeface="Calibri"/>
                <a:cs typeface="Calibri"/>
              </a:rPr>
              <a:t> </a:t>
            </a:r>
            <a:r>
              <a:rPr dirty="0" sz="1800">
                <a:latin typeface="Calibri"/>
                <a:cs typeface="Calibri"/>
              </a:rPr>
              <a:t>same</a:t>
            </a:r>
            <a:r>
              <a:rPr dirty="0" sz="1800" spc="-35">
                <a:latin typeface="Calibri"/>
                <a:cs typeface="Calibri"/>
              </a:rPr>
              <a:t> </a:t>
            </a:r>
            <a:r>
              <a:rPr dirty="0" sz="1800" spc="-10">
                <a:latin typeface="Calibri"/>
                <a:cs typeface="Calibri"/>
              </a:rPr>
              <a:t>feature</a:t>
            </a:r>
            <a:r>
              <a:rPr dirty="0" sz="1800" spc="-35">
                <a:latin typeface="Calibri"/>
                <a:cs typeface="Calibri"/>
              </a:rPr>
              <a:t> </a:t>
            </a:r>
            <a:r>
              <a:rPr dirty="0" sz="1800">
                <a:latin typeface="Calibri"/>
                <a:cs typeface="Calibri"/>
              </a:rPr>
              <a:t>map.</a:t>
            </a:r>
            <a:r>
              <a:rPr dirty="0" sz="1800" spc="-40">
                <a:latin typeface="Calibri"/>
                <a:cs typeface="Calibri"/>
              </a:rPr>
              <a:t> </a:t>
            </a:r>
            <a:r>
              <a:rPr dirty="0" sz="1800" spc="-10">
                <a:latin typeface="Calibri"/>
                <a:cs typeface="Calibri"/>
              </a:rPr>
              <a:t>Weights </a:t>
            </a:r>
            <a:r>
              <a:rPr dirty="0" sz="1800">
                <a:latin typeface="Calibri"/>
                <a:cs typeface="Calibri"/>
              </a:rPr>
              <a:t>of</a:t>
            </a:r>
            <a:r>
              <a:rPr dirty="0" sz="1800" spc="-50">
                <a:latin typeface="Calibri"/>
                <a:cs typeface="Calibri"/>
              </a:rPr>
              <a:t> </a:t>
            </a:r>
            <a:r>
              <a:rPr dirty="0" sz="1800">
                <a:latin typeface="Calibri"/>
                <a:cs typeface="Calibri"/>
              </a:rPr>
              <a:t>the</a:t>
            </a:r>
            <a:r>
              <a:rPr dirty="0" sz="1800" spc="-35">
                <a:latin typeface="Calibri"/>
                <a:cs typeface="Calibri"/>
              </a:rPr>
              <a:t> </a:t>
            </a:r>
            <a:r>
              <a:rPr dirty="0" sz="1800">
                <a:latin typeface="Calibri"/>
                <a:cs typeface="Calibri"/>
              </a:rPr>
              <a:t>same</a:t>
            </a:r>
            <a:r>
              <a:rPr dirty="0" sz="1800" spc="-60">
                <a:latin typeface="Calibri"/>
                <a:cs typeface="Calibri"/>
              </a:rPr>
              <a:t> </a:t>
            </a:r>
            <a:r>
              <a:rPr dirty="0" sz="1800">
                <a:latin typeface="Calibri"/>
                <a:cs typeface="Calibri"/>
              </a:rPr>
              <a:t>color</a:t>
            </a:r>
            <a:r>
              <a:rPr dirty="0" sz="1800" spc="-30">
                <a:latin typeface="Calibri"/>
                <a:cs typeface="Calibri"/>
              </a:rPr>
              <a:t> </a:t>
            </a:r>
            <a:r>
              <a:rPr dirty="0" sz="1800">
                <a:latin typeface="Calibri"/>
                <a:cs typeface="Calibri"/>
              </a:rPr>
              <a:t>are</a:t>
            </a:r>
            <a:r>
              <a:rPr dirty="0" sz="1800" spc="-40">
                <a:latin typeface="Calibri"/>
                <a:cs typeface="Calibri"/>
              </a:rPr>
              <a:t> </a:t>
            </a:r>
            <a:r>
              <a:rPr dirty="0" sz="1800" spc="-10">
                <a:latin typeface="Calibri"/>
                <a:cs typeface="Calibri"/>
              </a:rPr>
              <a:t>shared—constrained</a:t>
            </a:r>
            <a:r>
              <a:rPr dirty="0" sz="1800" spc="-50">
                <a:latin typeface="Calibri"/>
                <a:cs typeface="Calibri"/>
              </a:rPr>
              <a:t> </a:t>
            </a:r>
            <a:r>
              <a:rPr dirty="0" sz="1800">
                <a:latin typeface="Calibri"/>
                <a:cs typeface="Calibri"/>
              </a:rPr>
              <a:t>to</a:t>
            </a:r>
            <a:r>
              <a:rPr dirty="0" sz="1800" spc="-40">
                <a:latin typeface="Calibri"/>
                <a:cs typeface="Calibri"/>
              </a:rPr>
              <a:t> </a:t>
            </a:r>
            <a:r>
              <a:rPr dirty="0" sz="1800">
                <a:latin typeface="Calibri"/>
                <a:cs typeface="Calibri"/>
              </a:rPr>
              <a:t>be</a:t>
            </a:r>
            <a:r>
              <a:rPr dirty="0" sz="1800" spc="-45">
                <a:latin typeface="Calibri"/>
                <a:cs typeface="Calibri"/>
              </a:rPr>
              <a:t> </a:t>
            </a:r>
            <a:r>
              <a:rPr dirty="0" sz="1800">
                <a:latin typeface="Calibri"/>
                <a:cs typeface="Calibri"/>
              </a:rPr>
              <a:t>identical.</a:t>
            </a:r>
            <a:r>
              <a:rPr dirty="0" sz="1800" spc="-40">
                <a:latin typeface="Calibri"/>
                <a:cs typeface="Calibri"/>
              </a:rPr>
              <a:t> </a:t>
            </a:r>
            <a:r>
              <a:rPr dirty="0" sz="1800">
                <a:latin typeface="Calibri"/>
                <a:cs typeface="Calibri"/>
              </a:rPr>
              <a:t>Gradient</a:t>
            </a:r>
            <a:r>
              <a:rPr dirty="0" sz="1800" spc="-35">
                <a:latin typeface="Calibri"/>
                <a:cs typeface="Calibri"/>
              </a:rPr>
              <a:t> </a:t>
            </a:r>
            <a:r>
              <a:rPr dirty="0" sz="1800">
                <a:latin typeface="Calibri"/>
                <a:cs typeface="Calibri"/>
              </a:rPr>
              <a:t>descent</a:t>
            </a:r>
            <a:r>
              <a:rPr dirty="0" sz="1800" spc="-55">
                <a:latin typeface="Calibri"/>
                <a:cs typeface="Calibri"/>
              </a:rPr>
              <a:t> </a:t>
            </a:r>
            <a:r>
              <a:rPr dirty="0" sz="1800">
                <a:latin typeface="Calibri"/>
                <a:cs typeface="Calibri"/>
              </a:rPr>
              <a:t>can</a:t>
            </a:r>
            <a:r>
              <a:rPr dirty="0" sz="1800" spc="-40">
                <a:latin typeface="Calibri"/>
                <a:cs typeface="Calibri"/>
              </a:rPr>
              <a:t> </a:t>
            </a:r>
            <a:r>
              <a:rPr dirty="0" sz="1800">
                <a:latin typeface="Calibri"/>
                <a:cs typeface="Calibri"/>
              </a:rPr>
              <a:t>still</a:t>
            </a:r>
            <a:r>
              <a:rPr dirty="0" sz="1800" spc="-45">
                <a:latin typeface="Calibri"/>
                <a:cs typeface="Calibri"/>
              </a:rPr>
              <a:t> </a:t>
            </a:r>
            <a:r>
              <a:rPr dirty="0" sz="1800" spc="-25">
                <a:latin typeface="Calibri"/>
                <a:cs typeface="Calibri"/>
              </a:rPr>
              <a:t>be </a:t>
            </a:r>
            <a:r>
              <a:rPr dirty="0" sz="1800">
                <a:latin typeface="Calibri"/>
                <a:cs typeface="Calibri"/>
              </a:rPr>
              <a:t>used</a:t>
            </a:r>
            <a:r>
              <a:rPr dirty="0" sz="1800" spc="-50">
                <a:latin typeface="Calibri"/>
                <a:cs typeface="Calibri"/>
              </a:rPr>
              <a:t> </a:t>
            </a:r>
            <a:r>
              <a:rPr dirty="0" sz="1800">
                <a:latin typeface="Calibri"/>
                <a:cs typeface="Calibri"/>
              </a:rPr>
              <a:t>to</a:t>
            </a:r>
            <a:r>
              <a:rPr dirty="0" sz="1800" spc="-35">
                <a:latin typeface="Calibri"/>
                <a:cs typeface="Calibri"/>
              </a:rPr>
              <a:t> </a:t>
            </a:r>
            <a:r>
              <a:rPr dirty="0" sz="1800">
                <a:latin typeface="Calibri"/>
                <a:cs typeface="Calibri"/>
              </a:rPr>
              <a:t>learn</a:t>
            </a:r>
            <a:r>
              <a:rPr dirty="0" sz="1800" spc="-25">
                <a:latin typeface="Calibri"/>
                <a:cs typeface="Calibri"/>
              </a:rPr>
              <a:t> </a:t>
            </a:r>
            <a:r>
              <a:rPr dirty="0" sz="1800">
                <a:latin typeface="Calibri"/>
                <a:cs typeface="Calibri"/>
              </a:rPr>
              <a:t>such</a:t>
            </a:r>
            <a:r>
              <a:rPr dirty="0" sz="1800" spc="-25">
                <a:latin typeface="Calibri"/>
                <a:cs typeface="Calibri"/>
              </a:rPr>
              <a:t> </a:t>
            </a:r>
            <a:r>
              <a:rPr dirty="0" sz="1800">
                <a:latin typeface="Calibri"/>
                <a:cs typeface="Calibri"/>
              </a:rPr>
              <a:t>shared</a:t>
            </a:r>
            <a:r>
              <a:rPr dirty="0" sz="1800" spc="-35">
                <a:latin typeface="Calibri"/>
                <a:cs typeface="Calibri"/>
              </a:rPr>
              <a:t> </a:t>
            </a:r>
            <a:r>
              <a:rPr dirty="0" sz="1800" spc="-10">
                <a:latin typeface="Calibri"/>
                <a:cs typeface="Calibri"/>
              </a:rPr>
              <a:t>parameters,</a:t>
            </a:r>
            <a:r>
              <a:rPr dirty="0" sz="1800" spc="-35">
                <a:latin typeface="Calibri"/>
                <a:cs typeface="Calibri"/>
              </a:rPr>
              <a:t> </a:t>
            </a:r>
            <a:r>
              <a:rPr dirty="0" sz="1800">
                <a:latin typeface="Calibri"/>
                <a:cs typeface="Calibri"/>
              </a:rPr>
              <a:t>with</a:t>
            </a:r>
            <a:r>
              <a:rPr dirty="0" sz="1800" spc="-25">
                <a:latin typeface="Calibri"/>
                <a:cs typeface="Calibri"/>
              </a:rPr>
              <a:t> </a:t>
            </a:r>
            <a:r>
              <a:rPr dirty="0" sz="1800">
                <a:latin typeface="Calibri"/>
                <a:cs typeface="Calibri"/>
              </a:rPr>
              <a:t>only</a:t>
            </a:r>
            <a:r>
              <a:rPr dirty="0" sz="1800" spc="-20">
                <a:latin typeface="Calibri"/>
                <a:cs typeface="Calibri"/>
              </a:rPr>
              <a:t> </a:t>
            </a:r>
            <a:r>
              <a:rPr dirty="0" sz="1800">
                <a:latin typeface="Calibri"/>
                <a:cs typeface="Calibri"/>
              </a:rPr>
              <a:t>a</a:t>
            </a:r>
            <a:r>
              <a:rPr dirty="0" sz="1800" spc="-40">
                <a:latin typeface="Calibri"/>
                <a:cs typeface="Calibri"/>
              </a:rPr>
              <a:t> </a:t>
            </a:r>
            <a:r>
              <a:rPr dirty="0" sz="1800">
                <a:latin typeface="Calibri"/>
                <a:cs typeface="Calibri"/>
              </a:rPr>
              <a:t>small</a:t>
            </a:r>
            <a:r>
              <a:rPr dirty="0" sz="1800" spc="-40">
                <a:latin typeface="Calibri"/>
                <a:cs typeface="Calibri"/>
              </a:rPr>
              <a:t> </a:t>
            </a:r>
            <a:r>
              <a:rPr dirty="0" sz="1800">
                <a:latin typeface="Calibri"/>
                <a:cs typeface="Calibri"/>
              </a:rPr>
              <a:t>change</a:t>
            </a:r>
            <a:r>
              <a:rPr dirty="0" sz="1800" spc="-25">
                <a:latin typeface="Calibri"/>
                <a:cs typeface="Calibri"/>
              </a:rPr>
              <a:t> </a:t>
            </a:r>
            <a:r>
              <a:rPr dirty="0" sz="1800">
                <a:latin typeface="Calibri"/>
                <a:cs typeface="Calibri"/>
              </a:rPr>
              <a:t>to</a:t>
            </a:r>
            <a:r>
              <a:rPr dirty="0" sz="1800" spc="-35">
                <a:latin typeface="Calibri"/>
                <a:cs typeface="Calibri"/>
              </a:rPr>
              <a:t> </a:t>
            </a:r>
            <a:r>
              <a:rPr dirty="0" sz="1800">
                <a:latin typeface="Calibri"/>
                <a:cs typeface="Calibri"/>
              </a:rPr>
              <a:t>the</a:t>
            </a:r>
            <a:r>
              <a:rPr dirty="0" sz="1800" spc="-35">
                <a:latin typeface="Calibri"/>
                <a:cs typeface="Calibri"/>
              </a:rPr>
              <a:t> </a:t>
            </a:r>
            <a:r>
              <a:rPr dirty="0" sz="1800">
                <a:latin typeface="Calibri"/>
                <a:cs typeface="Calibri"/>
              </a:rPr>
              <a:t>original</a:t>
            </a:r>
            <a:r>
              <a:rPr dirty="0" sz="1800" spc="-20">
                <a:latin typeface="Calibri"/>
                <a:cs typeface="Calibri"/>
              </a:rPr>
              <a:t> </a:t>
            </a:r>
            <a:r>
              <a:rPr dirty="0" sz="1800" spc="-10">
                <a:latin typeface="Calibri"/>
                <a:cs typeface="Calibri"/>
              </a:rPr>
              <a:t>algorithm.</a:t>
            </a:r>
            <a:endParaRPr sz="1800">
              <a:latin typeface="Calibri"/>
              <a:cs typeface="Calibri"/>
            </a:endParaRPr>
          </a:p>
          <a:p>
            <a:pPr marL="12700" marR="5080">
              <a:lnSpc>
                <a:spcPct val="100000"/>
              </a:lnSpc>
              <a:spcBef>
                <a:spcPts val="2160"/>
              </a:spcBef>
            </a:pPr>
            <a:r>
              <a:rPr dirty="0" sz="1800" spc="-10">
                <a:latin typeface="Calibri"/>
                <a:cs typeface="Calibri"/>
              </a:rPr>
              <a:t>Replicating</a:t>
            </a:r>
            <a:r>
              <a:rPr dirty="0" sz="1800" spc="-20">
                <a:latin typeface="Calibri"/>
                <a:cs typeface="Calibri"/>
              </a:rPr>
              <a:t> </a:t>
            </a:r>
            <a:r>
              <a:rPr dirty="0" sz="1800">
                <a:latin typeface="Calibri"/>
                <a:cs typeface="Calibri"/>
              </a:rPr>
              <a:t>units</a:t>
            </a:r>
            <a:r>
              <a:rPr dirty="0" sz="1800" spc="-25">
                <a:latin typeface="Calibri"/>
                <a:cs typeface="Calibri"/>
              </a:rPr>
              <a:t> </a:t>
            </a:r>
            <a:r>
              <a:rPr dirty="0" sz="1800">
                <a:latin typeface="Calibri"/>
                <a:cs typeface="Calibri"/>
              </a:rPr>
              <a:t>in</a:t>
            </a:r>
            <a:r>
              <a:rPr dirty="0" sz="1800" spc="-45">
                <a:latin typeface="Calibri"/>
                <a:cs typeface="Calibri"/>
              </a:rPr>
              <a:t> </a:t>
            </a:r>
            <a:r>
              <a:rPr dirty="0" sz="1800">
                <a:latin typeface="Calibri"/>
                <a:cs typeface="Calibri"/>
              </a:rPr>
              <a:t>this</a:t>
            </a:r>
            <a:r>
              <a:rPr dirty="0" sz="1800" spc="-25">
                <a:latin typeface="Calibri"/>
                <a:cs typeface="Calibri"/>
              </a:rPr>
              <a:t> </a:t>
            </a:r>
            <a:r>
              <a:rPr dirty="0" sz="1800">
                <a:latin typeface="Calibri"/>
                <a:cs typeface="Calibri"/>
              </a:rPr>
              <a:t>way</a:t>
            </a:r>
            <a:r>
              <a:rPr dirty="0" sz="1800" spc="-40">
                <a:latin typeface="Calibri"/>
                <a:cs typeface="Calibri"/>
              </a:rPr>
              <a:t> </a:t>
            </a:r>
            <a:r>
              <a:rPr dirty="0" sz="1800">
                <a:latin typeface="Calibri"/>
                <a:cs typeface="Calibri"/>
              </a:rPr>
              <a:t>allows</a:t>
            </a:r>
            <a:r>
              <a:rPr dirty="0" sz="1800" spc="-25">
                <a:latin typeface="Calibri"/>
                <a:cs typeface="Calibri"/>
              </a:rPr>
              <a:t> </a:t>
            </a:r>
            <a:r>
              <a:rPr dirty="0" sz="1800">
                <a:latin typeface="Calibri"/>
                <a:cs typeface="Calibri"/>
              </a:rPr>
              <a:t>for</a:t>
            </a:r>
            <a:r>
              <a:rPr dirty="0" sz="1800" spc="-40">
                <a:latin typeface="Calibri"/>
                <a:cs typeface="Calibri"/>
              </a:rPr>
              <a:t> </a:t>
            </a:r>
            <a:r>
              <a:rPr dirty="0" sz="1800" spc="-10">
                <a:latin typeface="Calibri"/>
                <a:cs typeface="Calibri"/>
              </a:rPr>
              <a:t>features</a:t>
            </a:r>
            <a:r>
              <a:rPr dirty="0" sz="1800" spc="-45">
                <a:latin typeface="Calibri"/>
                <a:cs typeface="Calibri"/>
              </a:rPr>
              <a:t> </a:t>
            </a:r>
            <a:r>
              <a:rPr dirty="0" sz="1800">
                <a:latin typeface="Calibri"/>
                <a:cs typeface="Calibri"/>
              </a:rPr>
              <a:t>to</a:t>
            </a:r>
            <a:r>
              <a:rPr dirty="0" sz="1800" spc="-45">
                <a:latin typeface="Calibri"/>
                <a:cs typeface="Calibri"/>
              </a:rPr>
              <a:t> </a:t>
            </a:r>
            <a:r>
              <a:rPr dirty="0" sz="1800">
                <a:latin typeface="Calibri"/>
                <a:cs typeface="Calibri"/>
              </a:rPr>
              <a:t>be</a:t>
            </a:r>
            <a:r>
              <a:rPr dirty="0" sz="1800" spc="-25">
                <a:latin typeface="Calibri"/>
                <a:cs typeface="Calibri"/>
              </a:rPr>
              <a:t> </a:t>
            </a:r>
            <a:r>
              <a:rPr dirty="0" sz="1800" spc="-10">
                <a:latin typeface="Calibri"/>
                <a:cs typeface="Calibri"/>
              </a:rPr>
              <a:t>detected</a:t>
            </a:r>
            <a:r>
              <a:rPr dirty="0" sz="1800" spc="-20">
                <a:latin typeface="Calibri"/>
                <a:cs typeface="Calibri"/>
              </a:rPr>
              <a:t> </a:t>
            </a:r>
            <a:r>
              <a:rPr dirty="0" sz="1800" i="1">
                <a:latin typeface="Calibri"/>
                <a:cs typeface="Calibri"/>
              </a:rPr>
              <a:t>regardless</a:t>
            </a:r>
            <a:r>
              <a:rPr dirty="0" sz="1800" spc="-25" i="1">
                <a:latin typeface="Calibri"/>
                <a:cs typeface="Calibri"/>
              </a:rPr>
              <a:t> </a:t>
            </a:r>
            <a:r>
              <a:rPr dirty="0" sz="1800" i="1">
                <a:latin typeface="Calibri"/>
                <a:cs typeface="Calibri"/>
              </a:rPr>
              <a:t>of</a:t>
            </a:r>
            <a:r>
              <a:rPr dirty="0" sz="1800" spc="-40" i="1">
                <a:latin typeface="Calibri"/>
                <a:cs typeface="Calibri"/>
              </a:rPr>
              <a:t> </a:t>
            </a:r>
            <a:r>
              <a:rPr dirty="0" sz="1800" i="1">
                <a:latin typeface="Calibri"/>
                <a:cs typeface="Calibri"/>
              </a:rPr>
              <a:t>their</a:t>
            </a:r>
            <a:r>
              <a:rPr dirty="0" sz="1800" spc="-35" i="1">
                <a:latin typeface="Calibri"/>
                <a:cs typeface="Calibri"/>
              </a:rPr>
              <a:t> </a:t>
            </a:r>
            <a:r>
              <a:rPr dirty="0" sz="1800" spc="-10" i="1">
                <a:latin typeface="Calibri"/>
                <a:cs typeface="Calibri"/>
              </a:rPr>
              <a:t>position</a:t>
            </a:r>
            <a:r>
              <a:rPr dirty="0" sz="1800" spc="500" i="1">
                <a:latin typeface="Calibri"/>
                <a:cs typeface="Calibri"/>
              </a:rPr>
              <a:t> </a:t>
            </a:r>
            <a:r>
              <a:rPr dirty="0" sz="1800" i="1">
                <a:latin typeface="Calibri"/>
                <a:cs typeface="Calibri"/>
              </a:rPr>
              <a:t>in</a:t>
            </a:r>
            <a:r>
              <a:rPr dirty="0" sz="1800" spc="-40" i="1">
                <a:latin typeface="Calibri"/>
                <a:cs typeface="Calibri"/>
              </a:rPr>
              <a:t> </a:t>
            </a:r>
            <a:r>
              <a:rPr dirty="0" sz="1800" i="1">
                <a:latin typeface="Calibri"/>
                <a:cs typeface="Calibri"/>
              </a:rPr>
              <a:t>the</a:t>
            </a:r>
            <a:r>
              <a:rPr dirty="0" sz="1800" spc="-45" i="1">
                <a:latin typeface="Calibri"/>
                <a:cs typeface="Calibri"/>
              </a:rPr>
              <a:t> </a:t>
            </a:r>
            <a:r>
              <a:rPr dirty="0" sz="1800" i="1">
                <a:latin typeface="Calibri"/>
                <a:cs typeface="Calibri"/>
              </a:rPr>
              <a:t>visual</a:t>
            </a:r>
            <a:r>
              <a:rPr dirty="0" sz="1800" spc="-40" i="1">
                <a:latin typeface="Calibri"/>
                <a:cs typeface="Calibri"/>
              </a:rPr>
              <a:t> </a:t>
            </a:r>
            <a:r>
              <a:rPr dirty="0" sz="1800" i="1">
                <a:latin typeface="Calibri"/>
                <a:cs typeface="Calibri"/>
              </a:rPr>
              <a:t>field.</a:t>
            </a:r>
            <a:r>
              <a:rPr dirty="0" sz="1800" spc="-45" i="1">
                <a:latin typeface="Calibri"/>
                <a:cs typeface="Calibri"/>
              </a:rPr>
              <a:t> </a:t>
            </a:r>
            <a:r>
              <a:rPr dirty="0" sz="1800" spc="-10">
                <a:latin typeface="Calibri"/>
                <a:cs typeface="Calibri"/>
              </a:rPr>
              <a:t>Additionally,</a:t>
            </a:r>
            <a:r>
              <a:rPr dirty="0" sz="1800" spc="-25">
                <a:latin typeface="Calibri"/>
                <a:cs typeface="Calibri"/>
              </a:rPr>
              <a:t> </a:t>
            </a:r>
            <a:r>
              <a:rPr dirty="0" sz="1800">
                <a:latin typeface="Calibri"/>
                <a:cs typeface="Calibri"/>
              </a:rPr>
              <a:t>weight</a:t>
            </a:r>
            <a:r>
              <a:rPr dirty="0" sz="1800" spc="-45">
                <a:latin typeface="Calibri"/>
                <a:cs typeface="Calibri"/>
              </a:rPr>
              <a:t> </a:t>
            </a:r>
            <a:r>
              <a:rPr dirty="0" sz="1800">
                <a:latin typeface="Calibri"/>
                <a:cs typeface="Calibri"/>
              </a:rPr>
              <a:t>sharing</a:t>
            </a:r>
            <a:r>
              <a:rPr dirty="0" sz="1800" spc="-40">
                <a:latin typeface="Calibri"/>
                <a:cs typeface="Calibri"/>
              </a:rPr>
              <a:t> </a:t>
            </a:r>
            <a:r>
              <a:rPr dirty="0" sz="1800">
                <a:latin typeface="Calibri"/>
                <a:cs typeface="Calibri"/>
              </a:rPr>
              <a:t>increases</a:t>
            </a:r>
            <a:r>
              <a:rPr dirty="0" sz="1800" spc="-45">
                <a:latin typeface="Calibri"/>
                <a:cs typeface="Calibri"/>
              </a:rPr>
              <a:t> </a:t>
            </a:r>
            <a:r>
              <a:rPr dirty="0" sz="1800">
                <a:latin typeface="Calibri"/>
                <a:cs typeface="Calibri"/>
              </a:rPr>
              <a:t>learning</a:t>
            </a:r>
            <a:r>
              <a:rPr dirty="0" sz="1800" spc="-35">
                <a:latin typeface="Calibri"/>
                <a:cs typeface="Calibri"/>
              </a:rPr>
              <a:t> </a:t>
            </a:r>
            <a:r>
              <a:rPr dirty="0" sz="1800">
                <a:latin typeface="Calibri"/>
                <a:cs typeface="Calibri"/>
              </a:rPr>
              <a:t>efficiency</a:t>
            </a:r>
            <a:r>
              <a:rPr dirty="0" sz="1800" spc="-35">
                <a:latin typeface="Calibri"/>
                <a:cs typeface="Calibri"/>
              </a:rPr>
              <a:t> </a:t>
            </a:r>
            <a:r>
              <a:rPr dirty="0" sz="1800">
                <a:latin typeface="Calibri"/>
                <a:cs typeface="Calibri"/>
              </a:rPr>
              <a:t>by</a:t>
            </a:r>
            <a:r>
              <a:rPr dirty="0" sz="1800" spc="-40">
                <a:latin typeface="Calibri"/>
                <a:cs typeface="Calibri"/>
              </a:rPr>
              <a:t> </a:t>
            </a:r>
            <a:r>
              <a:rPr dirty="0" sz="1800" spc="-10">
                <a:latin typeface="Calibri"/>
                <a:cs typeface="Calibri"/>
              </a:rPr>
              <a:t>greatly </a:t>
            </a:r>
            <a:r>
              <a:rPr dirty="0" sz="1800">
                <a:latin typeface="Calibri"/>
                <a:cs typeface="Calibri"/>
              </a:rPr>
              <a:t>reducing</a:t>
            </a:r>
            <a:r>
              <a:rPr dirty="0" sz="1800" spc="-20">
                <a:latin typeface="Calibri"/>
                <a:cs typeface="Calibri"/>
              </a:rPr>
              <a:t> </a:t>
            </a:r>
            <a:r>
              <a:rPr dirty="0" sz="1800">
                <a:latin typeface="Calibri"/>
                <a:cs typeface="Calibri"/>
              </a:rPr>
              <a:t>the</a:t>
            </a:r>
            <a:r>
              <a:rPr dirty="0" sz="1800" spc="-40">
                <a:latin typeface="Calibri"/>
                <a:cs typeface="Calibri"/>
              </a:rPr>
              <a:t> </a:t>
            </a:r>
            <a:r>
              <a:rPr dirty="0" sz="1800">
                <a:latin typeface="Calibri"/>
                <a:cs typeface="Calibri"/>
              </a:rPr>
              <a:t>number</a:t>
            </a:r>
            <a:r>
              <a:rPr dirty="0" sz="1800" spc="-40">
                <a:latin typeface="Calibri"/>
                <a:cs typeface="Calibri"/>
              </a:rPr>
              <a:t> </a:t>
            </a:r>
            <a:r>
              <a:rPr dirty="0" sz="1800">
                <a:latin typeface="Calibri"/>
                <a:cs typeface="Calibri"/>
              </a:rPr>
              <a:t>of</a:t>
            </a:r>
            <a:r>
              <a:rPr dirty="0" sz="1800" spc="-40">
                <a:latin typeface="Calibri"/>
                <a:cs typeface="Calibri"/>
              </a:rPr>
              <a:t> </a:t>
            </a:r>
            <a:r>
              <a:rPr dirty="0" sz="1800">
                <a:latin typeface="Calibri"/>
                <a:cs typeface="Calibri"/>
              </a:rPr>
              <a:t>free</a:t>
            </a:r>
            <a:r>
              <a:rPr dirty="0" sz="1800" spc="-35">
                <a:latin typeface="Calibri"/>
                <a:cs typeface="Calibri"/>
              </a:rPr>
              <a:t> </a:t>
            </a:r>
            <a:r>
              <a:rPr dirty="0" sz="1800" spc="-10">
                <a:latin typeface="Calibri"/>
                <a:cs typeface="Calibri"/>
              </a:rPr>
              <a:t>parameters</a:t>
            </a:r>
            <a:r>
              <a:rPr dirty="0" sz="1800" spc="-35">
                <a:latin typeface="Calibri"/>
                <a:cs typeface="Calibri"/>
              </a:rPr>
              <a:t> </a:t>
            </a:r>
            <a:r>
              <a:rPr dirty="0" sz="1800">
                <a:latin typeface="Calibri"/>
                <a:cs typeface="Calibri"/>
              </a:rPr>
              <a:t>being</a:t>
            </a:r>
            <a:r>
              <a:rPr dirty="0" sz="1800" spc="-35">
                <a:latin typeface="Calibri"/>
                <a:cs typeface="Calibri"/>
              </a:rPr>
              <a:t> </a:t>
            </a:r>
            <a:r>
              <a:rPr dirty="0" sz="1800">
                <a:latin typeface="Calibri"/>
                <a:cs typeface="Calibri"/>
              </a:rPr>
              <a:t>learnt.</a:t>
            </a:r>
            <a:r>
              <a:rPr dirty="0" sz="1800" spc="-40">
                <a:latin typeface="Calibri"/>
                <a:cs typeface="Calibri"/>
              </a:rPr>
              <a:t> </a:t>
            </a:r>
            <a:r>
              <a:rPr dirty="0" sz="1800">
                <a:latin typeface="Calibri"/>
                <a:cs typeface="Calibri"/>
              </a:rPr>
              <a:t>The</a:t>
            </a:r>
            <a:r>
              <a:rPr dirty="0" sz="1800" spc="-30">
                <a:latin typeface="Calibri"/>
                <a:cs typeface="Calibri"/>
              </a:rPr>
              <a:t> </a:t>
            </a:r>
            <a:r>
              <a:rPr dirty="0" sz="1800" spc="-10">
                <a:latin typeface="Calibri"/>
                <a:cs typeface="Calibri"/>
              </a:rPr>
              <a:t>constraints</a:t>
            </a:r>
            <a:r>
              <a:rPr dirty="0" sz="1800" spc="-40">
                <a:latin typeface="Calibri"/>
                <a:cs typeface="Calibri"/>
              </a:rPr>
              <a:t> </a:t>
            </a:r>
            <a:r>
              <a:rPr dirty="0" sz="1800">
                <a:latin typeface="Calibri"/>
                <a:cs typeface="Calibri"/>
              </a:rPr>
              <a:t>on</a:t>
            </a:r>
            <a:r>
              <a:rPr dirty="0" sz="1800" spc="-45">
                <a:latin typeface="Calibri"/>
                <a:cs typeface="Calibri"/>
              </a:rPr>
              <a:t> </a:t>
            </a:r>
            <a:r>
              <a:rPr dirty="0" sz="1800">
                <a:latin typeface="Calibri"/>
                <a:cs typeface="Calibri"/>
              </a:rPr>
              <a:t>the</a:t>
            </a:r>
            <a:r>
              <a:rPr dirty="0" sz="1800" spc="-30">
                <a:latin typeface="Calibri"/>
                <a:cs typeface="Calibri"/>
              </a:rPr>
              <a:t> </a:t>
            </a:r>
            <a:r>
              <a:rPr dirty="0" sz="1800">
                <a:latin typeface="Calibri"/>
                <a:cs typeface="Calibri"/>
              </a:rPr>
              <a:t>model</a:t>
            </a:r>
            <a:r>
              <a:rPr dirty="0" sz="1800" spc="-40">
                <a:latin typeface="Calibri"/>
                <a:cs typeface="Calibri"/>
              </a:rPr>
              <a:t> </a:t>
            </a:r>
            <a:r>
              <a:rPr dirty="0" sz="1800" spc="-10">
                <a:latin typeface="Calibri"/>
                <a:cs typeface="Calibri"/>
              </a:rPr>
              <a:t>enable </a:t>
            </a:r>
            <a:r>
              <a:rPr dirty="0" sz="1800">
                <a:latin typeface="Calibri"/>
                <a:cs typeface="Calibri"/>
              </a:rPr>
              <a:t>CNNs</a:t>
            </a:r>
            <a:r>
              <a:rPr dirty="0" sz="1800" spc="-55">
                <a:latin typeface="Calibri"/>
                <a:cs typeface="Calibri"/>
              </a:rPr>
              <a:t> </a:t>
            </a:r>
            <a:r>
              <a:rPr dirty="0" sz="1800">
                <a:latin typeface="Calibri"/>
                <a:cs typeface="Calibri"/>
              </a:rPr>
              <a:t>to</a:t>
            </a:r>
            <a:r>
              <a:rPr dirty="0" sz="1800" spc="-60">
                <a:latin typeface="Calibri"/>
                <a:cs typeface="Calibri"/>
              </a:rPr>
              <a:t> </a:t>
            </a:r>
            <a:r>
              <a:rPr dirty="0" sz="1800">
                <a:latin typeface="Calibri"/>
                <a:cs typeface="Calibri"/>
              </a:rPr>
              <a:t>achieve</a:t>
            </a:r>
            <a:r>
              <a:rPr dirty="0" sz="1800" spc="-40">
                <a:latin typeface="Calibri"/>
                <a:cs typeface="Calibri"/>
              </a:rPr>
              <a:t> </a:t>
            </a:r>
            <a:r>
              <a:rPr dirty="0" sz="1800">
                <a:latin typeface="Calibri"/>
                <a:cs typeface="Calibri"/>
              </a:rPr>
              <a:t>better</a:t>
            </a:r>
            <a:r>
              <a:rPr dirty="0" sz="1800" spc="-50">
                <a:latin typeface="Calibri"/>
                <a:cs typeface="Calibri"/>
              </a:rPr>
              <a:t> </a:t>
            </a:r>
            <a:r>
              <a:rPr dirty="0" sz="1800" spc="-10">
                <a:latin typeface="Calibri"/>
                <a:cs typeface="Calibri"/>
              </a:rPr>
              <a:t>generalization</a:t>
            </a:r>
            <a:r>
              <a:rPr dirty="0" sz="1800" spc="-50">
                <a:latin typeface="Calibri"/>
                <a:cs typeface="Calibri"/>
              </a:rPr>
              <a:t> </a:t>
            </a:r>
            <a:r>
              <a:rPr dirty="0" sz="1800">
                <a:latin typeface="Calibri"/>
                <a:cs typeface="Calibri"/>
              </a:rPr>
              <a:t>on</a:t>
            </a:r>
            <a:r>
              <a:rPr dirty="0" sz="1800" spc="-55">
                <a:latin typeface="Calibri"/>
                <a:cs typeface="Calibri"/>
              </a:rPr>
              <a:t> </a:t>
            </a:r>
            <a:r>
              <a:rPr dirty="0" sz="1800">
                <a:latin typeface="Calibri"/>
                <a:cs typeface="Calibri"/>
              </a:rPr>
              <a:t>vision</a:t>
            </a:r>
            <a:r>
              <a:rPr dirty="0" sz="1800" spc="-45">
                <a:latin typeface="Calibri"/>
                <a:cs typeface="Calibri"/>
              </a:rPr>
              <a:t> </a:t>
            </a:r>
            <a:r>
              <a:rPr dirty="0" sz="1800" spc="-10">
                <a:latin typeface="Calibri"/>
                <a:cs typeface="Calibri"/>
              </a:rPr>
              <a:t>problems.</a:t>
            </a:r>
            <a:endParaRPr sz="1800">
              <a:latin typeface="Calibri"/>
              <a:cs typeface="Calibri"/>
            </a:endParaRPr>
          </a:p>
        </p:txBody>
      </p:sp>
      <p:sp>
        <p:nvSpPr>
          <p:cNvPr id="7" name="object 7" descr=""/>
          <p:cNvSpPr txBox="1"/>
          <p:nvPr/>
        </p:nvSpPr>
        <p:spPr>
          <a:xfrm>
            <a:off x="1914436" y="2643373"/>
            <a:ext cx="99949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Layer</a:t>
            </a:r>
            <a:r>
              <a:rPr dirty="0" sz="2400" spc="-135">
                <a:latin typeface="Calibri"/>
                <a:cs typeface="Calibri"/>
              </a:rPr>
              <a:t> </a:t>
            </a:r>
            <a:r>
              <a:rPr dirty="0" sz="2400" spc="-50">
                <a:latin typeface="Calibri"/>
                <a:cs typeface="Calibri"/>
              </a:rPr>
              <a:t>m</a:t>
            </a:r>
            <a:endParaRPr sz="2400">
              <a:latin typeface="Calibri"/>
              <a:cs typeface="Calibri"/>
            </a:endParaRPr>
          </a:p>
        </p:txBody>
      </p:sp>
      <p:sp>
        <p:nvSpPr>
          <p:cNvPr id="8" name="object 8" descr=""/>
          <p:cNvSpPr/>
          <p:nvPr/>
        </p:nvSpPr>
        <p:spPr>
          <a:xfrm>
            <a:off x="1828800" y="3255264"/>
            <a:ext cx="1417320" cy="462280"/>
          </a:xfrm>
          <a:custGeom>
            <a:avLst/>
            <a:gdLst/>
            <a:ahLst/>
            <a:cxnLst/>
            <a:rect l="l" t="t" r="r" b="b"/>
            <a:pathLst>
              <a:path w="1417320" h="462279">
                <a:moveTo>
                  <a:pt x="1417320" y="0"/>
                </a:moveTo>
                <a:lnTo>
                  <a:pt x="0" y="0"/>
                </a:lnTo>
                <a:lnTo>
                  <a:pt x="0" y="461772"/>
                </a:lnTo>
                <a:lnTo>
                  <a:pt x="1417320" y="461772"/>
                </a:lnTo>
                <a:lnTo>
                  <a:pt x="1417320" y="0"/>
                </a:lnTo>
                <a:close/>
              </a:path>
            </a:pathLst>
          </a:custGeom>
          <a:solidFill>
            <a:srgbClr val="FFFFFF"/>
          </a:solidFill>
        </p:spPr>
        <p:txBody>
          <a:bodyPr wrap="square" lIns="0" tIns="0" rIns="0" bIns="0" rtlCol="0"/>
          <a:lstStyle/>
          <a:p/>
        </p:txBody>
      </p:sp>
      <p:sp>
        <p:nvSpPr>
          <p:cNvPr id="9" name="object 9" descr=""/>
          <p:cNvSpPr txBox="1"/>
          <p:nvPr/>
        </p:nvSpPr>
        <p:spPr>
          <a:xfrm>
            <a:off x="1907987" y="3268575"/>
            <a:ext cx="124714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Layer</a:t>
            </a:r>
            <a:r>
              <a:rPr dirty="0" sz="2400" spc="-130">
                <a:latin typeface="Calibri"/>
                <a:cs typeface="Calibri"/>
              </a:rPr>
              <a:t> </a:t>
            </a:r>
            <a:r>
              <a:rPr dirty="0" sz="2400" spc="-10">
                <a:latin typeface="Calibri"/>
                <a:cs typeface="Calibri"/>
              </a:rPr>
              <a:t>m-</a:t>
            </a:r>
            <a:r>
              <a:rPr dirty="0" sz="2400" spc="-50">
                <a:latin typeface="Calibri"/>
                <a:cs typeface="Calibri"/>
              </a:rPr>
              <a:t>1</a:t>
            </a:r>
            <a:endParaRPr sz="2400">
              <a:latin typeface="Calibri"/>
              <a:cs typeface="Calibri"/>
            </a:endParaRPr>
          </a:p>
        </p:txBody>
      </p:sp>
      <p:pic>
        <p:nvPicPr>
          <p:cNvPr id="10" name="object 10" descr=""/>
          <p:cNvPicPr/>
          <p:nvPr/>
        </p:nvPicPr>
        <p:blipFill>
          <a:blip r:embed="rId3" cstate="print"/>
          <a:stretch>
            <a:fillRect/>
          </a:stretch>
        </p:blipFill>
        <p:spPr>
          <a:xfrm>
            <a:off x="6151916" y="5028883"/>
            <a:ext cx="2554654" cy="363220"/>
          </a:xfrm>
          <a:prstGeom prst="rect">
            <a:avLst/>
          </a:prstGeom>
        </p:spPr>
      </p:pic>
      <p:pic>
        <p:nvPicPr>
          <p:cNvPr id="11" name="object 11" descr=""/>
          <p:cNvPicPr/>
          <p:nvPr/>
        </p:nvPicPr>
        <p:blipFill>
          <a:blip r:embed="rId4" cstate="print"/>
          <a:stretch>
            <a:fillRect/>
          </a:stretch>
        </p:blipFill>
        <p:spPr>
          <a:xfrm>
            <a:off x="397428" y="5347016"/>
            <a:ext cx="1678442" cy="347979"/>
          </a:xfrm>
          <a:prstGeom prst="rect">
            <a:avLst/>
          </a:prstGeom>
        </p:spPr>
      </p:pic>
      <p:pic>
        <p:nvPicPr>
          <p:cNvPr id="12" name="object 12" descr=""/>
          <p:cNvPicPr/>
          <p:nvPr/>
        </p:nvPicPr>
        <p:blipFill>
          <a:blip r:embed="rId5" cstate="print"/>
          <a:stretch>
            <a:fillRect/>
          </a:stretch>
        </p:blipFill>
        <p:spPr>
          <a:xfrm>
            <a:off x="5630426" y="5644982"/>
            <a:ext cx="1703002" cy="36449"/>
          </a:xfrm>
          <a:prstGeom prst="rect">
            <a:avLst/>
          </a:prstGeom>
        </p:spPr>
      </p:pic>
      <p:sp>
        <p:nvSpPr>
          <p:cNvPr id="13" name="object 13" descr=""/>
          <p:cNvSpPr/>
          <p:nvPr/>
        </p:nvSpPr>
        <p:spPr>
          <a:xfrm>
            <a:off x="413084" y="5919730"/>
            <a:ext cx="3709035" cy="0"/>
          </a:xfrm>
          <a:custGeom>
            <a:avLst/>
            <a:gdLst/>
            <a:ahLst/>
            <a:cxnLst/>
            <a:rect l="l" t="t" r="r" b="b"/>
            <a:pathLst>
              <a:path w="3709035" h="0">
                <a:moveTo>
                  <a:pt x="0" y="0"/>
                </a:moveTo>
                <a:lnTo>
                  <a:pt x="3708731" y="0"/>
                </a:lnTo>
              </a:path>
            </a:pathLst>
          </a:custGeom>
          <a:ln w="14400">
            <a:solidFill>
              <a:srgbClr val="000000"/>
            </a:solidFill>
          </a:ln>
        </p:spPr>
        <p:txBody>
          <a:bodyPr wrap="square" lIns="0" tIns="0" rIns="0" bIns="0" rtlCol="0"/>
          <a:lstStyle/>
          <a:p/>
        </p:txBody>
      </p:sp>
      <p:pic>
        <p:nvPicPr>
          <p:cNvPr id="14" name="object 14" descr=""/>
          <p:cNvPicPr/>
          <p:nvPr/>
        </p:nvPicPr>
        <p:blipFill>
          <a:blip r:embed="rId6" cstate="print"/>
          <a:stretch>
            <a:fillRect/>
          </a:stretch>
        </p:blipFill>
        <p:spPr>
          <a:xfrm>
            <a:off x="6110901" y="4212114"/>
            <a:ext cx="1655220" cy="52450"/>
          </a:xfrm>
          <a:prstGeom prst="rect">
            <a:avLst/>
          </a:prstGeom>
        </p:spPr>
      </p:pic>
      <p:sp>
        <p:nvSpPr>
          <p:cNvPr id="15" name="object 15" descr=""/>
          <p:cNvSpPr txBox="1"/>
          <p:nvPr/>
        </p:nvSpPr>
        <p:spPr>
          <a:xfrm>
            <a:off x="5189999" y="149394"/>
            <a:ext cx="3701415" cy="898525"/>
          </a:xfrm>
          <a:prstGeom prst="rect">
            <a:avLst/>
          </a:prstGeom>
        </p:spPr>
        <p:txBody>
          <a:bodyPr wrap="square" lIns="0" tIns="11430" rIns="0" bIns="0" rtlCol="0" vert="horz">
            <a:spAutoFit/>
          </a:bodyPr>
          <a:lstStyle/>
          <a:p>
            <a:pPr marL="12700" marR="5080">
              <a:lnSpc>
                <a:spcPct val="120600"/>
              </a:lnSpc>
              <a:spcBef>
                <a:spcPts val="90"/>
              </a:spcBef>
            </a:pPr>
            <a:r>
              <a:rPr dirty="0" sz="950" spc="25">
                <a:latin typeface="Microsoft YaHei UI"/>
                <a:cs typeface="Microsoft YaHei UI"/>
              </a:rPr>
              <a:t>在⽣成⼀张特征图 </a:t>
            </a:r>
            <a:r>
              <a:rPr dirty="0" sz="950">
                <a:latin typeface="Microsoft YaHei UI"/>
                <a:cs typeface="Microsoft YaHei UI"/>
              </a:rPr>
              <a:t>(feature</a:t>
            </a:r>
            <a:r>
              <a:rPr dirty="0" sz="950" spc="229">
                <a:latin typeface="Microsoft YaHei UI"/>
                <a:cs typeface="Microsoft YaHei UI"/>
              </a:rPr>
              <a:t> </a:t>
            </a:r>
            <a:r>
              <a:rPr dirty="0" sz="950">
                <a:latin typeface="Microsoft YaHei UI"/>
                <a:cs typeface="Microsoft YaHei UI"/>
              </a:rPr>
              <a:t>map)</a:t>
            </a:r>
            <a:r>
              <a:rPr dirty="0" sz="950" spc="-5">
                <a:latin typeface="Microsoft YaHei UI"/>
                <a:cs typeface="Microsoft YaHei UI"/>
              </a:rPr>
              <a:t> 的过程中，所有神经元使⽤的都</a:t>
            </a:r>
            <a:r>
              <a:rPr dirty="0" sz="950">
                <a:latin typeface="Microsoft YaHei UI"/>
                <a:cs typeface="Microsoft YaHei UI"/>
              </a:rPr>
              <a:t>是同⼀个滤波器，即共享同⼀套权重（weights）和偏置（bias）</a:t>
            </a:r>
            <a:r>
              <a:rPr dirty="0" sz="950" spc="-50">
                <a:latin typeface="Microsoft YaHei UI"/>
                <a:cs typeface="Microsoft YaHei UI"/>
              </a:rPr>
              <a:t>。</a:t>
            </a:r>
            <a:r>
              <a:rPr dirty="0" sz="950" spc="85">
                <a:latin typeface="Microsoft YaHei UI"/>
                <a:cs typeface="Microsoft YaHei UI"/>
              </a:rPr>
              <a:t>图中的 </a:t>
            </a:r>
            <a:r>
              <a:rPr dirty="0" sz="950">
                <a:latin typeface="Microsoft YaHei UI"/>
                <a:cs typeface="Microsoft YaHei UI"/>
              </a:rPr>
              <a:t>Layer</a:t>
            </a:r>
            <a:r>
              <a:rPr dirty="0" sz="950" spc="340">
                <a:latin typeface="Microsoft YaHei UI"/>
                <a:cs typeface="Microsoft YaHei UI"/>
              </a:rPr>
              <a:t> </a:t>
            </a:r>
            <a:r>
              <a:rPr dirty="0" sz="950">
                <a:latin typeface="Microsoft YaHei UI"/>
                <a:cs typeface="Microsoft YaHei UI"/>
              </a:rPr>
              <a:t>m，</a:t>
            </a:r>
            <a:r>
              <a:rPr dirty="0" sz="950" spc="-5">
                <a:latin typeface="Microsoft YaHei UI"/>
                <a:cs typeface="Microsoft YaHei UI"/>
              </a:rPr>
              <a:t>那三个紫⾊的神经元共同构成了⼀张特征图。它</a:t>
            </a:r>
            <a:r>
              <a:rPr dirty="0" sz="950" spc="40">
                <a:latin typeface="Microsoft YaHei UI"/>
                <a:cs typeface="Microsoft YaHei UI"/>
              </a:rPr>
              <a:t>们分别连接到 </a:t>
            </a:r>
            <a:r>
              <a:rPr dirty="0" sz="950">
                <a:latin typeface="Microsoft YaHei UI"/>
                <a:cs typeface="Microsoft YaHei UI"/>
              </a:rPr>
              <a:t>Layer</a:t>
            </a:r>
            <a:r>
              <a:rPr dirty="0" sz="950" spc="295">
                <a:latin typeface="Microsoft YaHei UI"/>
                <a:cs typeface="Microsoft YaHei UI"/>
              </a:rPr>
              <a:t> </a:t>
            </a:r>
            <a:r>
              <a:rPr dirty="0" sz="950" spc="-20">
                <a:latin typeface="Microsoft YaHei UI"/>
                <a:cs typeface="Microsoft YaHei UI"/>
              </a:rPr>
              <a:t>m-</a:t>
            </a:r>
            <a:r>
              <a:rPr dirty="0" sz="950">
                <a:latin typeface="Microsoft YaHei UI"/>
                <a:cs typeface="Microsoft YaHei UI"/>
              </a:rPr>
              <a:t>1</a:t>
            </a:r>
            <a:r>
              <a:rPr dirty="0" sz="950" spc="-5">
                <a:latin typeface="Microsoft YaHei UI"/>
                <a:cs typeface="Microsoft YaHei UI"/>
              </a:rPr>
              <a:t> 的不同局部区域，但它们各⾃的连接权重</a:t>
            </a:r>
            <a:r>
              <a:rPr dirty="0" sz="950">
                <a:latin typeface="Microsoft YaHei UI"/>
                <a:cs typeface="Microsoft YaHei UI"/>
              </a:rPr>
              <a:t>模式（⽤红、绿、蓝三种颜⾊的线表示）</a:t>
            </a:r>
            <a:r>
              <a:rPr dirty="0" sz="950" spc="-10">
                <a:latin typeface="Microsoft YaHei UI"/>
                <a:cs typeface="Microsoft YaHei UI"/>
              </a:rPr>
              <a:t>是完全相同的。</a:t>
            </a:r>
            <a:endParaRPr sz="950">
              <a:latin typeface="Microsoft YaHei UI"/>
              <a:cs typeface="Microsoft YaHei UI"/>
            </a:endParaRPr>
          </a:p>
        </p:txBody>
      </p:sp>
      <p:sp>
        <p:nvSpPr>
          <p:cNvPr id="18" name="object 18"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23</a:t>
            </a:r>
          </a:p>
        </p:txBody>
      </p:sp>
      <p:sp>
        <p:nvSpPr>
          <p:cNvPr id="16" name="object 16" descr=""/>
          <p:cNvSpPr txBox="1"/>
          <p:nvPr/>
        </p:nvSpPr>
        <p:spPr>
          <a:xfrm>
            <a:off x="80760" y="862117"/>
            <a:ext cx="8780780" cy="1663064"/>
          </a:xfrm>
          <a:prstGeom prst="rect">
            <a:avLst/>
          </a:prstGeom>
        </p:spPr>
        <p:txBody>
          <a:bodyPr wrap="square" lIns="0" tIns="12065" rIns="0" bIns="0" rtlCol="0" vert="horz">
            <a:spAutoFit/>
          </a:bodyPr>
          <a:lstStyle/>
          <a:p>
            <a:pPr marL="12700" marR="3860165">
              <a:lnSpc>
                <a:spcPct val="119800"/>
              </a:lnSpc>
              <a:spcBef>
                <a:spcPts val="95"/>
              </a:spcBef>
            </a:pPr>
            <a:r>
              <a:rPr dirty="0" sz="850" spc="45">
                <a:latin typeface="Microsoft YaHei UI"/>
                <a:cs typeface="Microsoft YaHei UI"/>
              </a:rPr>
              <a:t>每个滤波器在整个视野中被复制  </a:t>
            </a:r>
            <a:r>
              <a:rPr dirty="0" sz="850">
                <a:latin typeface="Microsoft YaHei UI"/>
                <a:cs typeface="Microsoft YaHei UI"/>
              </a:rPr>
              <a:t>(replicated)”</a:t>
            </a:r>
            <a:r>
              <a:rPr dirty="0" sz="850" spc="-5">
                <a:latin typeface="Microsoft YaHei UI"/>
                <a:cs typeface="Microsoft YaHei UI"/>
              </a:rPr>
              <a:t>。你可以想象我们只精⼼设计了⼀个“特征探测器”，然后把这个探测器的⽆数个“复制品”派发出去，让它们同时在图⽚的不同位置上进⾏探测⼯作。</a:t>
            </a:r>
            <a:endParaRPr sz="850">
              <a:latin typeface="Microsoft YaHei UI"/>
              <a:cs typeface="Microsoft YaHei UI"/>
            </a:endParaRPr>
          </a:p>
          <a:p>
            <a:pPr marL="532765" indent="-342900">
              <a:lnSpc>
                <a:spcPts val="2615"/>
              </a:lnSpc>
              <a:buFont typeface="Arial MT"/>
              <a:buChar char="•"/>
              <a:tabLst>
                <a:tab pos="532765" algn="l"/>
              </a:tabLst>
            </a:pPr>
            <a:r>
              <a:rPr dirty="0" sz="2400">
                <a:latin typeface="Calibri"/>
                <a:cs typeface="Calibri"/>
              </a:rPr>
              <a:t>In</a:t>
            </a:r>
            <a:r>
              <a:rPr dirty="0" sz="2400" spc="-55">
                <a:latin typeface="Calibri"/>
                <a:cs typeface="Calibri"/>
              </a:rPr>
              <a:t> </a:t>
            </a:r>
            <a:r>
              <a:rPr dirty="0" sz="2400">
                <a:latin typeface="Calibri"/>
                <a:cs typeface="Calibri"/>
              </a:rPr>
              <a:t>CNNs,</a:t>
            </a:r>
            <a:r>
              <a:rPr dirty="0" sz="2400" spc="-60">
                <a:latin typeface="Calibri"/>
                <a:cs typeface="Calibri"/>
              </a:rPr>
              <a:t> </a:t>
            </a:r>
            <a:r>
              <a:rPr dirty="0" sz="2400">
                <a:latin typeface="Calibri"/>
                <a:cs typeface="Calibri"/>
              </a:rPr>
              <a:t>each</a:t>
            </a:r>
            <a:r>
              <a:rPr dirty="0" sz="2400" spc="-50">
                <a:latin typeface="Calibri"/>
                <a:cs typeface="Calibri"/>
              </a:rPr>
              <a:t> </a:t>
            </a:r>
            <a:r>
              <a:rPr dirty="0" sz="2400">
                <a:latin typeface="Calibri"/>
                <a:cs typeface="Calibri"/>
              </a:rPr>
              <a:t>filter</a:t>
            </a:r>
            <a:r>
              <a:rPr dirty="0" sz="2400" spc="-65">
                <a:latin typeface="Calibri"/>
                <a:cs typeface="Calibri"/>
              </a:rPr>
              <a:t> </a:t>
            </a:r>
            <a:r>
              <a:rPr dirty="0" sz="2400">
                <a:latin typeface="Calibri"/>
                <a:cs typeface="Calibri"/>
              </a:rPr>
              <a:t>is</a:t>
            </a:r>
            <a:r>
              <a:rPr dirty="0" sz="2400" spc="-55">
                <a:latin typeface="Calibri"/>
                <a:cs typeface="Calibri"/>
              </a:rPr>
              <a:t> </a:t>
            </a:r>
            <a:r>
              <a:rPr dirty="0" sz="2400" spc="-10">
                <a:latin typeface="Calibri"/>
                <a:cs typeface="Calibri"/>
              </a:rPr>
              <a:t>replicated</a:t>
            </a:r>
            <a:r>
              <a:rPr dirty="0" sz="2400" spc="-65">
                <a:latin typeface="Calibri"/>
                <a:cs typeface="Calibri"/>
              </a:rPr>
              <a:t> </a:t>
            </a:r>
            <a:r>
              <a:rPr dirty="0" sz="2400">
                <a:latin typeface="Calibri"/>
                <a:cs typeface="Calibri"/>
              </a:rPr>
              <a:t>across</a:t>
            </a:r>
            <a:r>
              <a:rPr dirty="0" sz="2400" spc="-65">
                <a:latin typeface="Calibri"/>
                <a:cs typeface="Calibri"/>
              </a:rPr>
              <a:t> </a:t>
            </a:r>
            <a:r>
              <a:rPr dirty="0" sz="2400">
                <a:latin typeface="Calibri"/>
                <a:cs typeface="Calibri"/>
              </a:rPr>
              <a:t>the</a:t>
            </a:r>
            <a:r>
              <a:rPr dirty="0" sz="2400" spc="-50">
                <a:latin typeface="Calibri"/>
                <a:cs typeface="Calibri"/>
              </a:rPr>
              <a:t> </a:t>
            </a:r>
            <a:r>
              <a:rPr dirty="0" sz="2400">
                <a:latin typeface="Calibri"/>
                <a:cs typeface="Calibri"/>
              </a:rPr>
              <a:t>entire</a:t>
            </a:r>
            <a:r>
              <a:rPr dirty="0" sz="2400" spc="-55">
                <a:latin typeface="Calibri"/>
                <a:cs typeface="Calibri"/>
              </a:rPr>
              <a:t> </a:t>
            </a:r>
            <a:r>
              <a:rPr dirty="0" sz="2400">
                <a:latin typeface="Calibri"/>
                <a:cs typeface="Calibri"/>
              </a:rPr>
              <a:t>visual</a:t>
            </a:r>
            <a:r>
              <a:rPr dirty="0" sz="2400" spc="-40">
                <a:latin typeface="Calibri"/>
                <a:cs typeface="Calibri"/>
              </a:rPr>
              <a:t> </a:t>
            </a:r>
            <a:r>
              <a:rPr dirty="0" sz="2400" spc="-10">
                <a:latin typeface="Calibri"/>
                <a:cs typeface="Calibri"/>
              </a:rPr>
              <a:t>field.</a:t>
            </a:r>
            <a:endParaRPr sz="2400">
              <a:latin typeface="Calibri"/>
              <a:cs typeface="Calibri"/>
            </a:endParaRPr>
          </a:p>
          <a:p>
            <a:pPr marL="532765" marR="1367155">
              <a:lnSpc>
                <a:spcPct val="100000"/>
              </a:lnSpc>
            </a:pPr>
            <a:r>
              <a:rPr dirty="0" sz="2400">
                <a:latin typeface="Calibri"/>
                <a:cs typeface="Calibri"/>
              </a:rPr>
              <a:t>These</a:t>
            </a:r>
            <a:r>
              <a:rPr dirty="0" sz="2400" spc="-45">
                <a:latin typeface="Calibri"/>
                <a:cs typeface="Calibri"/>
              </a:rPr>
              <a:t> </a:t>
            </a:r>
            <a:r>
              <a:rPr dirty="0" sz="2400" spc="-10">
                <a:latin typeface="Calibri"/>
                <a:cs typeface="Calibri"/>
              </a:rPr>
              <a:t>replicated</a:t>
            </a:r>
            <a:r>
              <a:rPr dirty="0" sz="2400" spc="-70">
                <a:latin typeface="Calibri"/>
                <a:cs typeface="Calibri"/>
              </a:rPr>
              <a:t> </a:t>
            </a:r>
            <a:r>
              <a:rPr dirty="0" sz="2400">
                <a:latin typeface="Calibri"/>
                <a:cs typeface="Calibri"/>
              </a:rPr>
              <a:t>units</a:t>
            </a:r>
            <a:r>
              <a:rPr dirty="0" sz="2400" spc="-65">
                <a:latin typeface="Calibri"/>
                <a:cs typeface="Calibri"/>
              </a:rPr>
              <a:t> </a:t>
            </a:r>
            <a:r>
              <a:rPr dirty="0" sz="2400">
                <a:latin typeface="Calibri"/>
                <a:cs typeface="Calibri"/>
              </a:rPr>
              <a:t>share</a:t>
            </a:r>
            <a:r>
              <a:rPr dirty="0" sz="2400" spc="-55">
                <a:latin typeface="Calibri"/>
                <a:cs typeface="Calibri"/>
              </a:rPr>
              <a:t> </a:t>
            </a:r>
            <a:r>
              <a:rPr dirty="0" sz="2400">
                <a:latin typeface="Calibri"/>
                <a:cs typeface="Calibri"/>
              </a:rPr>
              <a:t>the</a:t>
            </a:r>
            <a:r>
              <a:rPr dirty="0" sz="2400" spc="-55">
                <a:latin typeface="Calibri"/>
                <a:cs typeface="Calibri"/>
              </a:rPr>
              <a:t> </a:t>
            </a:r>
            <a:r>
              <a:rPr dirty="0" sz="2400">
                <a:latin typeface="Calibri"/>
                <a:cs typeface="Calibri"/>
              </a:rPr>
              <a:t>same</a:t>
            </a:r>
            <a:r>
              <a:rPr dirty="0" sz="2400" spc="-60">
                <a:latin typeface="Calibri"/>
                <a:cs typeface="Calibri"/>
              </a:rPr>
              <a:t> </a:t>
            </a:r>
            <a:r>
              <a:rPr dirty="0" sz="2400" spc="-10">
                <a:latin typeface="Calibri"/>
                <a:cs typeface="Calibri"/>
              </a:rPr>
              <a:t>parameterization </a:t>
            </a:r>
            <a:r>
              <a:rPr dirty="0" sz="2400">
                <a:latin typeface="Calibri"/>
                <a:cs typeface="Calibri"/>
              </a:rPr>
              <a:t>(weight</a:t>
            </a:r>
            <a:r>
              <a:rPr dirty="0" sz="2400" spc="-75">
                <a:latin typeface="Calibri"/>
                <a:cs typeface="Calibri"/>
              </a:rPr>
              <a:t> </a:t>
            </a:r>
            <a:r>
              <a:rPr dirty="0" sz="2400">
                <a:latin typeface="Calibri"/>
                <a:cs typeface="Calibri"/>
              </a:rPr>
              <a:t>vector</a:t>
            </a:r>
            <a:r>
              <a:rPr dirty="0" sz="2400" spc="-70">
                <a:latin typeface="Calibri"/>
                <a:cs typeface="Calibri"/>
              </a:rPr>
              <a:t> </a:t>
            </a:r>
            <a:r>
              <a:rPr dirty="0" sz="2400">
                <a:latin typeface="Calibri"/>
                <a:cs typeface="Calibri"/>
              </a:rPr>
              <a:t>and</a:t>
            </a:r>
            <a:r>
              <a:rPr dirty="0" sz="2400" spc="-65">
                <a:latin typeface="Calibri"/>
                <a:cs typeface="Calibri"/>
              </a:rPr>
              <a:t> </a:t>
            </a:r>
            <a:r>
              <a:rPr dirty="0" sz="2400">
                <a:latin typeface="Calibri"/>
                <a:cs typeface="Calibri"/>
              </a:rPr>
              <a:t>bias)</a:t>
            </a:r>
            <a:r>
              <a:rPr dirty="0" sz="2400" spc="-55">
                <a:latin typeface="Calibri"/>
                <a:cs typeface="Calibri"/>
              </a:rPr>
              <a:t> </a:t>
            </a:r>
            <a:r>
              <a:rPr dirty="0" sz="2400">
                <a:latin typeface="Calibri"/>
                <a:cs typeface="Calibri"/>
              </a:rPr>
              <a:t>and</a:t>
            </a:r>
            <a:r>
              <a:rPr dirty="0" sz="2400" spc="-65">
                <a:latin typeface="Calibri"/>
                <a:cs typeface="Calibri"/>
              </a:rPr>
              <a:t> </a:t>
            </a:r>
            <a:r>
              <a:rPr dirty="0" sz="2400">
                <a:latin typeface="Calibri"/>
                <a:cs typeface="Calibri"/>
              </a:rPr>
              <a:t>form</a:t>
            </a:r>
            <a:r>
              <a:rPr dirty="0" sz="2400" spc="-70">
                <a:latin typeface="Calibri"/>
                <a:cs typeface="Calibri"/>
              </a:rPr>
              <a:t> </a:t>
            </a:r>
            <a:r>
              <a:rPr dirty="0" sz="2400">
                <a:latin typeface="Calibri"/>
                <a:cs typeface="Calibri"/>
              </a:rPr>
              <a:t>a</a:t>
            </a:r>
            <a:r>
              <a:rPr dirty="0" sz="2400" spc="-60">
                <a:latin typeface="Calibri"/>
                <a:cs typeface="Calibri"/>
              </a:rPr>
              <a:t> </a:t>
            </a:r>
            <a:r>
              <a:rPr dirty="0" sz="2400" i="1">
                <a:solidFill>
                  <a:srgbClr val="FF0000"/>
                </a:solidFill>
                <a:latin typeface="Calibri"/>
                <a:cs typeface="Calibri"/>
              </a:rPr>
              <a:t>feature</a:t>
            </a:r>
            <a:r>
              <a:rPr dirty="0" sz="2400" spc="-65" i="1">
                <a:solidFill>
                  <a:srgbClr val="FF0000"/>
                </a:solidFill>
                <a:latin typeface="Calibri"/>
                <a:cs typeface="Calibri"/>
              </a:rPr>
              <a:t> </a:t>
            </a:r>
            <a:r>
              <a:rPr dirty="0" sz="2400" spc="-25" i="1">
                <a:solidFill>
                  <a:srgbClr val="FF0000"/>
                </a:solidFill>
                <a:latin typeface="Calibri"/>
                <a:cs typeface="Calibri"/>
              </a:rPr>
              <a:t>map</a:t>
            </a:r>
            <a:endParaRPr sz="2400">
              <a:latin typeface="Calibri"/>
              <a:cs typeface="Calibri"/>
            </a:endParaRPr>
          </a:p>
          <a:p>
            <a:pPr lvl="1" marL="5552440" indent="-109855">
              <a:lnSpc>
                <a:spcPts val="855"/>
              </a:lnSpc>
              <a:buAutoNum type="arabicPeriod"/>
              <a:tabLst>
                <a:tab pos="5552440" algn="l"/>
              </a:tabLst>
            </a:pPr>
            <a:r>
              <a:rPr dirty="0" sz="850">
                <a:latin typeface="Microsoft YaHei UI"/>
                <a:cs typeface="Microsoft YaHei UI"/>
              </a:rPr>
              <a:t>位置⽆关性 / 平移不变性 (Positional</a:t>
            </a:r>
            <a:r>
              <a:rPr dirty="0" sz="850" spc="45">
                <a:latin typeface="Microsoft YaHei UI"/>
                <a:cs typeface="Microsoft YaHei UI"/>
              </a:rPr>
              <a:t> </a:t>
            </a:r>
            <a:r>
              <a:rPr dirty="0" sz="850">
                <a:latin typeface="Microsoft YaHei UI"/>
                <a:cs typeface="Microsoft YaHei UI"/>
              </a:rPr>
              <a:t>Invariance</a:t>
            </a:r>
            <a:r>
              <a:rPr dirty="0" sz="850" spc="50">
                <a:latin typeface="Microsoft YaHei UI"/>
                <a:cs typeface="Microsoft YaHei UI"/>
              </a:rPr>
              <a:t> / </a:t>
            </a:r>
            <a:r>
              <a:rPr dirty="0" sz="850" spc="-10">
                <a:latin typeface="Microsoft YaHei UI"/>
                <a:cs typeface="Microsoft YaHei UI"/>
              </a:rPr>
              <a:t>Equivariance)</a:t>
            </a:r>
            <a:endParaRPr sz="850">
              <a:latin typeface="Microsoft YaHei UI"/>
              <a:cs typeface="Microsoft YaHei UI"/>
            </a:endParaRPr>
          </a:p>
          <a:p>
            <a:pPr marL="5442585">
              <a:lnSpc>
                <a:spcPct val="100000"/>
              </a:lnSpc>
              <a:spcBef>
                <a:spcPts val="200"/>
              </a:spcBef>
            </a:pPr>
            <a:r>
              <a:rPr dirty="0" sz="850" spc="-5">
                <a:latin typeface="Microsoft YaHei UI"/>
                <a:cs typeface="Microsoft YaHei UI"/>
              </a:rPr>
              <a:t>由于⽹络在图⽚的所有位置都使⽤同⼀个特征探测器，因此⼀个特定</a:t>
            </a:r>
            <a:endParaRPr sz="850">
              <a:latin typeface="Microsoft YaHei UI"/>
              <a:cs typeface="Microsoft YaHei UI"/>
            </a:endParaRPr>
          </a:p>
        </p:txBody>
      </p:sp>
      <p:sp>
        <p:nvSpPr>
          <p:cNvPr id="17" name="object 17" descr=""/>
          <p:cNvSpPr txBox="1"/>
          <p:nvPr/>
        </p:nvSpPr>
        <p:spPr>
          <a:xfrm>
            <a:off x="5510998" y="2499277"/>
            <a:ext cx="3500754" cy="1475740"/>
          </a:xfrm>
          <a:prstGeom prst="rect">
            <a:avLst/>
          </a:prstGeom>
        </p:spPr>
        <p:txBody>
          <a:bodyPr wrap="square" lIns="0" tIns="12065" rIns="0" bIns="0" rtlCol="0" vert="horz">
            <a:spAutoFit/>
          </a:bodyPr>
          <a:lstStyle/>
          <a:p>
            <a:pPr algn="just" marL="12700" marR="229235">
              <a:lnSpc>
                <a:spcPct val="119800"/>
              </a:lnSpc>
              <a:spcBef>
                <a:spcPts val="95"/>
              </a:spcBef>
            </a:pPr>
            <a:r>
              <a:rPr dirty="0" sz="850" spc="10">
                <a:latin typeface="Microsoft YaHei UI"/>
                <a:cs typeface="Microsoft YaHei UI"/>
              </a:rPr>
              <a:t>的特征⽆论出现在图像的哪个位置，都能被检测出来 </a:t>
            </a:r>
            <a:r>
              <a:rPr dirty="0" sz="850">
                <a:latin typeface="Microsoft YaHei UI"/>
                <a:cs typeface="Microsoft YaHei UI"/>
              </a:rPr>
              <a:t>(“features</a:t>
            </a:r>
            <a:r>
              <a:rPr dirty="0" sz="850" spc="310">
                <a:latin typeface="Microsoft YaHei UI"/>
                <a:cs typeface="Microsoft YaHei UI"/>
              </a:rPr>
              <a:t> </a:t>
            </a:r>
            <a:r>
              <a:rPr dirty="0" sz="850" spc="-25">
                <a:latin typeface="Microsoft YaHei UI"/>
                <a:cs typeface="Microsoft YaHei UI"/>
              </a:rPr>
              <a:t>to </a:t>
            </a:r>
            <a:r>
              <a:rPr dirty="0" sz="850">
                <a:latin typeface="Microsoft YaHei UI"/>
                <a:cs typeface="Microsoft YaHei UI"/>
              </a:rPr>
              <a:t>be detected regardless of their position”)</a:t>
            </a:r>
            <a:r>
              <a:rPr dirty="0" sz="850" spc="-5">
                <a:latin typeface="Microsoft YaHei UI"/>
                <a:cs typeface="Microsoft YaHei UI"/>
              </a:rPr>
              <a:t>。例如⼀个⻋⽆论出现在左上⻆还是右下⻆都能被这个滤波器探测出来</a:t>
            </a:r>
            <a:endParaRPr sz="850">
              <a:latin typeface="Microsoft YaHei UI"/>
              <a:cs typeface="Microsoft YaHei UI"/>
            </a:endParaRPr>
          </a:p>
          <a:p>
            <a:pPr marL="253365">
              <a:lnSpc>
                <a:spcPct val="100000"/>
              </a:lnSpc>
              <a:spcBef>
                <a:spcPts val="620"/>
              </a:spcBef>
            </a:pPr>
            <a:r>
              <a:rPr dirty="0" sz="850">
                <a:latin typeface="Microsoft YaHei UI"/>
                <a:cs typeface="Microsoft YaHei UI"/>
              </a:rPr>
              <a:t>2.</a:t>
            </a:r>
            <a:r>
              <a:rPr dirty="0" sz="850" spc="5">
                <a:latin typeface="Microsoft YaHei UI"/>
                <a:cs typeface="Microsoft YaHei UI"/>
              </a:rPr>
              <a:t> 极⾼的参数效率 </a:t>
            </a:r>
            <a:r>
              <a:rPr dirty="0" sz="850">
                <a:latin typeface="Microsoft YaHei UI"/>
                <a:cs typeface="Microsoft YaHei UI"/>
              </a:rPr>
              <a:t>(Parameter</a:t>
            </a:r>
            <a:r>
              <a:rPr dirty="0" sz="850" spc="75">
                <a:latin typeface="Microsoft YaHei UI"/>
                <a:cs typeface="Microsoft YaHei UI"/>
              </a:rPr>
              <a:t> </a:t>
            </a:r>
            <a:r>
              <a:rPr dirty="0" sz="850" spc="-10">
                <a:latin typeface="Microsoft YaHei UI"/>
                <a:cs typeface="Microsoft YaHei UI"/>
              </a:rPr>
              <a:t>Eﬃciency)</a:t>
            </a:r>
            <a:endParaRPr sz="850">
              <a:latin typeface="Microsoft YaHei UI"/>
              <a:cs typeface="Microsoft YaHei UI"/>
            </a:endParaRPr>
          </a:p>
          <a:p>
            <a:pPr marL="253365" marR="5080">
              <a:lnSpc>
                <a:spcPct val="119800"/>
              </a:lnSpc>
            </a:pPr>
            <a:r>
              <a:rPr dirty="0" sz="850" spc="15">
                <a:latin typeface="Microsoft YaHei UI"/>
                <a:cs typeface="Microsoft YaHei UI"/>
              </a:rPr>
              <a:t>这是最直观的好处。假设我们有⼀个 </a:t>
            </a:r>
            <a:r>
              <a:rPr dirty="0" sz="850">
                <a:latin typeface="Microsoft YaHei UI"/>
                <a:cs typeface="Microsoft YaHei UI"/>
              </a:rPr>
              <a:t>5x5</a:t>
            </a:r>
            <a:r>
              <a:rPr dirty="0" sz="850" spc="5">
                <a:latin typeface="Microsoft YaHei UI"/>
                <a:cs typeface="Microsoft YaHei UI"/>
              </a:rPr>
              <a:t> 的滤波器，要处理⼀张</a:t>
            </a:r>
            <a:r>
              <a:rPr dirty="0" sz="850" spc="-25">
                <a:latin typeface="Microsoft YaHei UI"/>
                <a:cs typeface="Microsoft YaHei UI"/>
              </a:rPr>
              <a:t> 100x100</a:t>
            </a:r>
            <a:r>
              <a:rPr dirty="0" sz="850" spc="-15">
                <a:latin typeface="Microsoft YaHei UI"/>
                <a:cs typeface="Microsoft YaHei UI"/>
              </a:rPr>
              <a:t> 的图⽚。如果没有权值共享，每个输出神经元都需要⾃⼰</a:t>
            </a:r>
            <a:r>
              <a:rPr dirty="0" sz="850">
                <a:latin typeface="Microsoft YaHei UI"/>
                <a:cs typeface="Microsoft YaHei UI"/>
              </a:rPr>
              <a:t>的⼀套 5x5=25</a:t>
            </a:r>
            <a:r>
              <a:rPr dirty="0" sz="850" spc="-5">
                <a:latin typeface="Microsoft YaHei UI"/>
                <a:cs typeface="Microsoft YaHei UI"/>
              </a:rPr>
              <a:t> 个权重，那参数量将会是天⽂数字。但在权值共享</a:t>
            </a:r>
            <a:r>
              <a:rPr dirty="0" sz="850">
                <a:latin typeface="Microsoft YaHei UI"/>
                <a:cs typeface="Microsoft YaHei UI"/>
              </a:rPr>
              <a:t>机制下，⽆论图⽚多⼤，我们只需要学习这⼀套 5x5=25</a:t>
            </a:r>
            <a:r>
              <a:rPr dirty="0" sz="850" spc="-10">
                <a:latin typeface="Microsoft YaHei UI"/>
                <a:cs typeface="Microsoft YaHei UI"/>
              </a:rPr>
              <a:t> 个权重参数就够了！</a:t>
            </a:r>
            <a:endParaRPr sz="850">
              <a:latin typeface="Microsoft YaHei UI"/>
              <a:cs typeface="Microsoft YaHei U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13675" y="1939063"/>
            <a:ext cx="6704449" cy="4112332"/>
          </a:xfrm>
          <a:prstGeom prst="rect">
            <a:avLst/>
          </a:prstGeom>
        </p:spPr>
      </p:pic>
      <p:sp>
        <p:nvSpPr>
          <p:cNvPr id="3" name="object 3" descr=""/>
          <p:cNvSpPr txBox="1"/>
          <p:nvPr/>
        </p:nvSpPr>
        <p:spPr>
          <a:xfrm>
            <a:off x="214604" y="191125"/>
            <a:ext cx="7843520" cy="1729105"/>
          </a:xfrm>
          <a:prstGeom prst="rect">
            <a:avLst/>
          </a:prstGeom>
        </p:spPr>
        <p:txBody>
          <a:bodyPr wrap="square" lIns="0" tIns="12065" rIns="0" bIns="0" rtlCol="0" vert="horz">
            <a:spAutoFit/>
          </a:bodyPr>
          <a:lstStyle/>
          <a:p>
            <a:pPr marL="12700" marR="8255">
              <a:lnSpc>
                <a:spcPct val="118700"/>
              </a:lnSpc>
              <a:spcBef>
                <a:spcPts val="95"/>
              </a:spcBef>
            </a:pPr>
            <a:r>
              <a:rPr dirty="0" sz="1100">
                <a:latin typeface="Microsoft YaHei UI"/>
                <a:cs typeface="Microsoft YaHei UI"/>
              </a:rPr>
              <a:t>卷积核</a:t>
            </a:r>
            <a:r>
              <a:rPr dirty="0" sz="1100" spc="-30">
                <a:latin typeface="Microsoft YaHei UI"/>
                <a:cs typeface="Microsoft YaHei UI"/>
              </a:rPr>
              <a:t>（</a:t>
            </a:r>
            <a:r>
              <a:rPr dirty="0" sz="1100" spc="-30">
                <a:latin typeface="Trebuchet MS"/>
                <a:cs typeface="Trebuchet MS"/>
              </a:rPr>
              <a:t>Kernel/Filter</a:t>
            </a:r>
            <a:r>
              <a:rPr dirty="0" sz="1100" spc="-30">
                <a:latin typeface="Microsoft YaHei UI"/>
                <a:cs typeface="Microsoft YaHei UI"/>
              </a:rPr>
              <a:t>）：</a:t>
            </a:r>
            <a:r>
              <a:rPr dirty="0" sz="1100" spc="170">
                <a:latin typeface="Microsoft YaHei UI"/>
                <a:cs typeface="Microsoft YaHei UI"/>
              </a:rPr>
              <a:t>即 </a:t>
            </a:r>
            <a:r>
              <a:rPr dirty="0" sz="1100" spc="-110">
                <a:latin typeface="Trebuchet MS"/>
                <a:cs typeface="Trebuchet MS"/>
              </a:rPr>
              <a:t>“</a:t>
            </a:r>
            <a:r>
              <a:rPr dirty="0" sz="1100">
                <a:latin typeface="Microsoft YaHei UI"/>
                <a:cs typeface="Microsoft YaHei UI"/>
              </a:rPr>
              <a:t>特征提取器</a:t>
            </a:r>
            <a:r>
              <a:rPr dirty="0" sz="1100" spc="-55">
                <a:latin typeface="Trebuchet MS"/>
                <a:cs typeface="Trebuchet MS"/>
              </a:rPr>
              <a:t>”</a:t>
            </a:r>
            <a:r>
              <a:rPr dirty="0" sz="1100" spc="-15">
                <a:latin typeface="Microsoft YaHei UI"/>
                <a:cs typeface="Microsoft YaHei UI"/>
              </a:rPr>
              <a:t>，是⼀个⼩型的可学习矩阵</a:t>
            </a:r>
            <a:r>
              <a:rPr dirty="0" sz="1100">
                <a:latin typeface="Microsoft YaHei UI"/>
                <a:cs typeface="Microsoft YaHei UI"/>
              </a:rPr>
              <a:t>（</a:t>
            </a:r>
            <a:r>
              <a:rPr dirty="0" sz="1100" spc="170">
                <a:latin typeface="Microsoft YaHei UI"/>
                <a:cs typeface="Microsoft YaHei UI"/>
              </a:rPr>
              <a:t>如 </a:t>
            </a:r>
            <a:r>
              <a:rPr dirty="0" sz="1100" spc="60">
                <a:latin typeface="Trebuchet MS"/>
                <a:cs typeface="Trebuchet MS"/>
              </a:rPr>
              <a:t>3×3</a:t>
            </a:r>
            <a:r>
              <a:rPr dirty="0" sz="1100">
                <a:latin typeface="Microsoft YaHei UI"/>
                <a:cs typeface="Microsoft YaHei UI"/>
              </a:rPr>
              <a:t>、</a:t>
            </a:r>
            <a:r>
              <a:rPr dirty="0" sz="1100">
                <a:latin typeface="Trebuchet MS"/>
                <a:cs typeface="Trebuchet MS"/>
              </a:rPr>
              <a:t>5×5</a:t>
            </a:r>
            <a:r>
              <a:rPr dirty="0" sz="1100">
                <a:latin typeface="Microsoft YaHei UI"/>
                <a:cs typeface="Microsoft YaHei UI"/>
              </a:rPr>
              <a:t>），深度与输⼊特征图的通道数</a:t>
            </a:r>
            <a:r>
              <a:rPr dirty="0" sz="1100" spc="55">
                <a:latin typeface="Microsoft YaHei UI"/>
                <a:cs typeface="Microsoft YaHei UI"/>
              </a:rPr>
              <a:t>（</a:t>
            </a:r>
            <a:r>
              <a:rPr dirty="0" sz="1100" spc="55">
                <a:latin typeface="Trebuchet MS"/>
                <a:cs typeface="Trebuchet MS"/>
              </a:rPr>
              <a:t>C</a:t>
            </a:r>
            <a:r>
              <a:rPr dirty="0" sz="1100" spc="55">
                <a:latin typeface="Microsoft YaHei UI"/>
                <a:cs typeface="Microsoft YaHei UI"/>
              </a:rPr>
              <a:t>）</a:t>
            </a:r>
            <a:r>
              <a:rPr dirty="0" sz="1100" spc="-50">
                <a:latin typeface="Microsoft YaHei UI"/>
                <a:cs typeface="Microsoft YaHei UI"/>
              </a:rPr>
              <a:t>⼀</a:t>
            </a:r>
            <a:r>
              <a:rPr dirty="0" sz="1100" spc="10">
                <a:latin typeface="Microsoft YaHei UI"/>
                <a:cs typeface="Microsoft YaHei UI"/>
              </a:rPr>
              <a:t>致。例：输⼊为 </a:t>
            </a:r>
            <a:r>
              <a:rPr dirty="0" sz="1100">
                <a:latin typeface="Trebuchet MS"/>
                <a:cs typeface="Trebuchet MS"/>
              </a:rPr>
              <a:t>3</a:t>
            </a:r>
            <a:r>
              <a:rPr dirty="0" sz="1100" spc="70">
                <a:latin typeface="Trebuchet MS"/>
                <a:cs typeface="Trebuchet MS"/>
              </a:rPr>
              <a:t> </a:t>
            </a:r>
            <a:r>
              <a:rPr dirty="0" sz="1100">
                <a:latin typeface="Microsoft YaHei UI"/>
                <a:cs typeface="Microsoft YaHei UI"/>
              </a:rPr>
              <a:t>通道</a:t>
            </a:r>
            <a:r>
              <a:rPr dirty="0" sz="1100" spc="65">
                <a:latin typeface="Microsoft YaHei UI"/>
                <a:cs typeface="Microsoft YaHei UI"/>
              </a:rPr>
              <a:t>（</a:t>
            </a:r>
            <a:r>
              <a:rPr dirty="0" sz="1100" spc="65">
                <a:latin typeface="Trebuchet MS"/>
                <a:cs typeface="Trebuchet MS"/>
              </a:rPr>
              <a:t>RGB</a:t>
            </a:r>
            <a:r>
              <a:rPr dirty="0" sz="1100" spc="65">
                <a:latin typeface="Microsoft YaHei UI"/>
                <a:cs typeface="Microsoft YaHei UI"/>
              </a:rPr>
              <a:t>），</a:t>
            </a:r>
            <a:r>
              <a:rPr dirty="0" sz="1100" spc="5">
                <a:latin typeface="Microsoft YaHei UI"/>
                <a:cs typeface="Microsoft YaHei UI"/>
              </a:rPr>
              <a:t>卷积核的深度必为 </a:t>
            </a:r>
            <a:r>
              <a:rPr dirty="0" sz="1100">
                <a:latin typeface="Trebuchet MS"/>
                <a:cs typeface="Trebuchet MS"/>
              </a:rPr>
              <a:t>3</a:t>
            </a:r>
            <a:r>
              <a:rPr dirty="0" sz="1100">
                <a:latin typeface="Microsoft YaHei UI"/>
                <a:cs typeface="Microsoft YaHei UI"/>
              </a:rPr>
              <a:t>（</a:t>
            </a:r>
            <a:r>
              <a:rPr dirty="0" sz="1100" spc="5">
                <a:latin typeface="Microsoft YaHei UI"/>
                <a:cs typeface="Microsoft YaHei UI"/>
              </a:rPr>
              <a:t>每个通道对应⼀个 </a:t>
            </a:r>
            <a:r>
              <a:rPr dirty="0" sz="1100" spc="75">
                <a:latin typeface="Trebuchet MS"/>
                <a:cs typeface="Trebuchet MS"/>
              </a:rPr>
              <a:t>2D</a:t>
            </a:r>
            <a:r>
              <a:rPr dirty="0" sz="1100" spc="70">
                <a:latin typeface="Trebuchet MS"/>
                <a:cs typeface="Trebuchet MS"/>
              </a:rPr>
              <a:t> </a:t>
            </a:r>
            <a:r>
              <a:rPr dirty="0" sz="1100">
                <a:latin typeface="Microsoft YaHei UI"/>
                <a:cs typeface="Microsoft YaHei UI"/>
              </a:rPr>
              <a:t>核，最终结果求和）</a:t>
            </a:r>
            <a:r>
              <a:rPr dirty="0" sz="1100" spc="-50">
                <a:latin typeface="Microsoft YaHei UI"/>
                <a:cs typeface="Microsoft YaHei UI"/>
              </a:rPr>
              <a:t>。</a:t>
            </a:r>
            <a:endParaRPr sz="1100">
              <a:latin typeface="Microsoft YaHei UI"/>
              <a:cs typeface="Microsoft YaHei UI"/>
            </a:endParaRPr>
          </a:p>
          <a:p>
            <a:pPr marL="12700">
              <a:lnSpc>
                <a:spcPct val="100000"/>
              </a:lnSpc>
              <a:spcBef>
                <a:spcPts val="1585"/>
              </a:spcBef>
            </a:pPr>
            <a:r>
              <a:rPr dirty="0" sz="1100">
                <a:latin typeface="Microsoft YaHei UI"/>
                <a:cs typeface="Microsoft YaHei UI"/>
              </a:rPr>
              <a:t>步⻓（</a:t>
            </a:r>
            <a:r>
              <a:rPr dirty="0" sz="1100">
                <a:latin typeface="Trebuchet MS"/>
                <a:cs typeface="Trebuchet MS"/>
              </a:rPr>
              <a:t>Stride</a:t>
            </a:r>
            <a:r>
              <a:rPr dirty="0" sz="1100">
                <a:latin typeface="Microsoft YaHei UI"/>
                <a:cs typeface="Microsoft YaHei UI"/>
              </a:rPr>
              <a:t>）：</a:t>
            </a:r>
            <a:r>
              <a:rPr dirty="0" sz="1100" spc="15">
                <a:latin typeface="Microsoft YaHei UI"/>
                <a:cs typeface="Microsoft YaHei UI"/>
              </a:rPr>
              <a:t>卷积核在输⼊特征图上滑动的 </a:t>
            </a:r>
            <a:r>
              <a:rPr dirty="0" sz="1100" spc="-110">
                <a:latin typeface="Trebuchet MS"/>
                <a:cs typeface="Trebuchet MS"/>
              </a:rPr>
              <a:t>“</a:t>
            </a:r>
            <a:r>
              <a:rPr dirty="0" sz="1100">
                <a:latin typeface="Microsoft YaHei UI"/>
                <a:cs typeface="Microsoft YaHei UI"/>
              </a:rPr>
              <a:t>步幅</a:t>
            </a:r>
            <a:r>
              <a:rPr dirty="0" sz="1100" spc="-55">
                <a:latin typeface="Trebuchet MS"/>
                <a:cs typeface="Trebuchet MS"/>
              </a:rPr>
              <a:t>”</a:t>
            </a:r>
            <a:r>
              <a:rPr dirty="0" sz="1100" spc="25">
                <a:latin typeface="Microsoft YaHei UI"/>
                <a:cs typeface="Microsoft YaHei UI"/>
              </a:rPr>
              <a:t>，默认值为 </a:t>
            </a:r>
            <a:r>
              <a:rPr dirty="0" sz="1100">
                <a:latin typeface="Trebuchet MS"/>
                <a:cs typeface="Trebuchet MS"/>
              </a:rPr>
              <a:t>1</a:t>
            </a:r>
            <a:r>
              <a:rPr dirty="0" sz="1100" spc="-5">
                <a:latin typeface="Microsoft YaHei UI"/>
                <a:cs typeface="Microsoft YaHei UI"/>
              </a:rPr>
              <a:t>。步⻓越⼤，输出特征图尺⼨越⼩。</a:t>
            </a:r>
            <a:endParaRPr sz="1100">
              <a:latin typeface="Microsoft YaHei UI"/>
              <a:cs typeface="Microsoft YaHei UI"/>
            </a:endParaRPr>
          </a:p>
          <a:p>
            <a:pPr marL="12700" marR="5080">
              <a:lnSpc>
                <a:spcPct val="118700"/>
              </a:lnSpc>
              <a:spcBef>
                <a:spcPts val="1335"/>
              </a:spcBef>
            </a:pPr>
            <a:r>
              <a:rPr dirty="0" sz="1100">
                <a:latin typeface="Microsoft YaHei UI"/>
                <a:cs typeface="Microsoft YaHei UI"/>
              </a:rPr>
              <a:t>填充（</a:t>
            </a:r>
            <a:r>
              <a:rPr dirty="0" sz="1100">
                <a:latin typeface="Trebuchet MS"/>
                <a:cs typeface="Trebuchet MS"/>
              </a:rPr>
              <a:t>Padding</a:t>
            </a:r>
            <a:r>
              <a:rPr dirty="0" sz="1100">
                <a:latin typeface="Microsoft YaHei UI"/>
                <a:cs typeface="Microsoft YaHei UI"/>
              </a:rPr>
              <a:t>）：</a:t>
            </a:r>
            <a:r>
              <a:rPr dirty="0" sz="1100" spc="50">
                <a:latin typeface="Microsoft YaHei UI"/>
                <a:cs typeface="Microsoft YaHei UI"/>
              </a:rPr>
              <a:t>在输⼊特征图边缘补 </a:t>
            </a:r>
            <a:r>
              <a:rPr dirty="0" sz="1100">
                <a:latin typeface="Trebuchet MS"/>
                <a:cs typeface="Trebuchet MS"/>
              </a:rPr>
              <a:t>0</a:t>
            </a:r>
            <a:r>
              <a:rPr dirty="0" sz="1100">
                <a:latin typeface="Microsoft YaHei UI"/>
                <a:cs typeface="Microsoft YaHei UI"/>
              </a:rPr>
              <a:t>（或其他值），⽤于保持输出特征图尺⼨与输⼊⼀致（</a:t>
            </a:r>
            <a:r>
              <a:rPr dirty="0" sz="1100">
                <a:latin typeface="Trebuchet MS"/>
                <a:cs typeface="Trebuchet MS"/>
              </a:rPr>
              <a:t>“Same</a:t>
            </a:r>
            <a:r>
              <a:rPr dirty="0" sz="1100" spc="500">
                <a:latin typeface="Trebuchet MS"/>
                <a:cs typeface="Trebuchet MS"/>
              </a:rPr>
              <a:t> </a:t>
            </a:r>
            <a:r>
              <a:rPr dirty="0" sz="1100">
                <a:latin typeface="Trebuchet MS"/>
                <a:cs typeface="Trebuchet MS"/>
              </a:rPr>
              <a:t>Padding”</a:t>
            </a:r>
            <a:r>
              <a:rPr dirty="0" sz="1100">
                <a:latin typeface="Microsoft YaHei UI"/>
                <a:cs typeface="Microsoft YaHei UI"/>
              </a:rPr>
              <a:t>），</a:t>
            </a:r>
            <a:r>
              <a:rPr dirty="0" sz="1100" spc="-20">
                <a:latin typeface="Microsoft YaHei UI"/>
                <a:cs typeface="Microsoft YaHei UI"/>
              </a:rPr>
              <a:t>或减少</a:t>
            </a:r>
            <a:r>
              <a:rPr dirty="0" sz="1100">
                <a:latin typeface="Microsoft YaHei UI"/>
                <a:cs typeface="Microsoft YaHei UI"/>
              </a:rPr>
              <a:t>尺⼨</a:t>
            </a:r>
            <a:r>
              <a:rPr dirty="0" sz="1100" spc="-30">
                <a:latin typeface="Microsoft YaHei UI"/>
                <a:cs typeface="Microsoft YaHei UI"/>
              </a:rPr>
              <a:t>（</a:t>
            </a:r>
            <a:r>
              <a:rPr dirty="0" sz="1100" spc="-30">
                <a:latin typeface="Trebuchet MS"/>
                <a:cs typeface="Trebuchet MS"/>
              </a:rPr>
              <a:t>“Valid</a:t>
            </a:r>
            <a:r>
              <a:rPr dirty="0" sz="1100" spc="195">
                <a:latin typeface="Trebuchet MS"/>
                <a:cs typeface="Trebuchet MS"/>
              </a:rPr>
              <a:t> </a:t>
            </a:r>
            <a:r>
              <a:rPr dirty="0" sz="1100">
                <a:latin typeface="Trebuchet MS"/>
                <a:cs typeface="Trebuchet MS"/>
              </a:rPr>
              <a:t>Padding”</a:t>
            </a:r>
            <a:r>
              <a:rPr dirty="0" sz="1100">
                <a:latin typeface="Microsoft YaHei UI"/>
                <a:cs typeface="Microsoft YaHei UI"/>
              </a:rPr>
              <a:t>）</a:t>
            </a:r>
            <a:r>
              <a:rPr dirty="0" sz="1100" spc="-50">
                <a:latin typeface="Microsoft YaHei UI"/>
                <a:cs typeface="Microsoft YaHei UI"/>
              </a:rPr>
              <a:t>。</a:t>
            </a:r>
            <a:endParaRPr sz="1100">
              <a:latin typeface="Microsoft YaHei UI"/>
              <a:cs typeface="Microsoft YaHei UI"/>
            </a:endParaRPr>
          </a:p>
          <a:p>
            <a:pPr marL="12700">
              <a:lnSpc>
                <a:spcPct val="100000"/>
              </a:lnSpc>
              <a:spcBef>
                <a:spcPts val="1580"/>
              </a:spcBef>
            </a:pPr>
            <a:r>
              <a:rPr dirty="0" sz="1100">
                <a:latin typeface="Microsoft YaHei UI"/>
                <a:cs typeface="Microsoft YaHei UI"/>
              </a:rPr>
              <a:t>特征图（</a:t>
            </a:r>
            <a:r>
              <a:rPr dirty="0" sz="1100">
                <a:latin typeface="Trebuchet MS"/>
                <a:cs typeface="Trebuchet MS"/>
              </a:rPr>
              <a:t>Feature</a:t>
            </a:r>
            <a:r>
              <a:rPr dirty="0" sz="1100" spc="90">
                <a:latin typeface="Trebuchet MS"/>
                <a:cs typeface="Trebuchet MS"/>
              </a:rPr>
              <a:t> </a:t>
            </a:r>
            <a:r>
              <a:rPr dirty="0" sz="1100" spc="55">
                <a:latin typeface="Trebuchet MS"/>
                <a:cs typeface="Trebuchet MS"/>
              </a:rPr>
              <a:t>Map</a:t>
            </a:r>
            <a:r>
              <a:rPr dirty="0" sz="1100" spc="55">
                <a:latin typeface="Microsoft YaHei UI"/>
                <a:cs typeface="Microsoft YaHei UI"/>
              </a:rPr>
              <a:t>）：</a:t>
            </a:r>
            <a:r>
              <a:rPr dirty="0" sz="1100">
                <a:latin typeface="Microsoft YaHei UI"/>
                <a:cs typeface="Microsoft YaHei UI"/>
              </a:rPr>
              <a:t>卷积操作的输出结果，每个卷积核对应⼀个特征图（</a:t>
            </a:r>
            <a:r>
              <a:rPr dirty="0" sz="1100" spc="25">
                <a:latin typeface="Microsoft YaHei UI"/>
                <a:cs typeface="Microsoft YaHei UI"/>
              </a:rPr>
              <a:t>通道数 </a:t>
            </a:r>
            <a:r>
              <a:rPr dirty="0" sz="1100" spc="90">
                <a:latin typeface="Trebuchet MS"/>
                <a:cs typeface="Trebuchet MS"/>
              </a:rPr>
              <a:t>= </a:t>
            </a:r>
            <a:r>
              <a:rPr dirty="0" sz="1100">
                <a:latin typeface="Microsoft YaHei UI"/>
                <a:cs typeface="Microsoft YaHei UI"/>
              </a:rPr>
              <a:t>卷积核数量</a:t>
            </a:r>
            <a:r>
              <a:rPr dirty="0" sz="1100" spc="-50">
                <a:latin typeface="Microsoft YaHei UI"/>
                <a:cs typeface="Microsoft YaHei UI"/>
              </a:rPr>
              <a:t>）</a:t>
            </a:r>
            <a:endParaRPr sz="1100">
              <a:latin typeface="Microsoft YaHei UI"/>
              <a:cs typeface="Microsoft YaHei U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558" y="337103"/>
            <a:ext cx="5792470" cy="696595"/>
          </a:xfrm>
          <a:prstGeom prst="rect"/>
        </p:spPr>
        <p:txBody>
          <a:bodyPr wrap="square" lIns="0" tIns="12700" rIns="0" bIns="0" rtlCol="0" vert="horz">
            <a:spAutoFit/>
          </a:bodyPr>
          <a:lstStyle/>
          <a:p>
            <a:pPr marL="12700">
              <a:lnSpc>
                <a:spcPct val="100000"/>
              </a:lnSpc>
              <a:spcBef>
                <a:spcPts val="100"/>
              </a:spcBef>
            </a:pPr>
            <a:r>
              <a:rPr dirty="0" sz="4400"/>
              <a:t>Details</a:t>
            </a:r>
            <a:r>
              <a:rPr dirty="0" sz="4400" spc="-95"/>
              <a:t> </a:t>
            </a:r>
            <a:r>
              <a:rPr dirty="0" sz="4400"/>
              <a:t>and</a:t>
            </a:r>
            <a:r>
              <a:rPr dirty="0" sz="4400" spc="-65"/>
              <a:t> </a:t>
            </a:r>
            <a:r>
              <a:rPr dirty="0" sz="4400" spc="-10"/>
              <a:t>Notation</a:t>
            </a:r>
            <a:endParaRPr sz="4400"/>
          </a:p>
        </p:txBody>
      </p:sp>
      <p:sp>
        <p:nvSpPr>
          <p:cNvPr id="3" name="object 3" descr=""/>
          <p:cNvSpPr txBox="1"/>
          <p:nvPr/>
        </p:nvSpPr>
        <p:spPr>
          <a:xfrm>
            <a:off x="5517086" y="5709682"/>
            <a:ext cx="1007744" cy="280670"/>
          </a:xfrm>
          <a:prstGeom prst="rect">
            <a:avLst/>
          </a:prstGeom>
        </p:spPr>
        <p:txBody>
          <a:bodyPr wrap="square" lIns="0" tIns="15240" rIns="0" bIns="0" rtlCol="0" vert="horz">
            <a:spAutoFit/>
          </a:bodyPr>
          <a:lstStyle/>
          <a:p>
            <a:pPr marL="12700">
              <a:lnSpc>
                <a:spcPct val="100000"/>
              </a:lnSpc>
              <a:spcBef>
                <a:spcPts val="120"/>
              </a:spcBef>
              <a:tabLst>
                <a:tab pos="893444" algn="l"/>
              </a:tabLst>
            </a:pPr>
            <a:r>
              <a:rPr dirty="0" sz="1650" spc="-25">
                <a:latin typeface="SimSun"/>
                <a:cs typeface="SimSun"/>
              </a:rPr>
              <a:t>ij</a:t>
            </a:r>
            <a:r>
              <a:rPr dirty="0" sz="1650">
                <a:latin typeface="SimSun"/>
                <a:cs typeface="SimSun"/>
              </a:rPr>
              <a:t>	</a:t>
            </a:r>
            <a:r>
              <a:rPr dirty="0" sz="1650" spc="-50">
                <a:latin typeface="SimSun"/>
                <a:cs typeface="SimSun"/>
              </a:rPr>
              <a:t>k</a:t>
            </a:r>
            <a:endParaRPr sz="1650">
              <a:latin typeface="SimSun"/>
              <a:cs typeface="SimSun"/>
            </a:endParaRPr>
          </a:p>
        </p:txBody>
      </p:sp>
      <p:sp>
        <p:nvSpPr>
          <p:cNvPr id="4" name="object 4" descr=""/>
          <p:cNvSpPr txBox="1"/>
          <p:nvPr/>
        </p:nvSpPr>
        <p:spPr>
          <a:xfrm>
            <a:off x="2673763" y="5709682"/>
            <a:ext cx="227329" cy="280670"/>
          </a:xfrm>
          <a:prstGeom prst="rect">
            <a:avLst/>
          </a:prstGeom>
        </p:spPr>
        <p:txBody>
          <a:bodyPr wrap="square" lIns="0" tIns="15240" rIns="0" bIns="0" rtlCol="0" vert="horz">
            <a:spAutoFit/>
          </a:bodyPr>
          <a:lstStyle/>
          <a:p>
            <a:pPr marL="12700">
              <a:lnSpc>
                <a:spcPct val="100000"/>
              </a:lnSpc>
              <a:spcBef>
                <a:spcPts val="120"/>
              </a:spcBef>
            </a:pPr>
            <a:r>
              <a:rPr dirty="0" sz="1650" spc="-25">
                <a:latin typeface="SimSun"/>
                <a:cs typeface="SimSun"/>
              </a:rPr>
              <a:t>ij</a:t>
            </a:r>
            <a:endParaRPr sz="1650">
              <a:latin typeface="SimSun"/>
              <a:cs typeface="SimSun"/>
            </a:endParaRPr>
          </a:p>
        </p:txBody>
      </p:sp>
      <p:sp>
        <p:nvSpPr>
          <p:cNvPr id="5" name="object 5" descr=""/>
          <p:cNvSpPr txBox="1"/>
          <p:nvPr/>
        </p:nvSpPr>
        <p:spPr>
          <a:xfrm>
            <a:off x="2487617" y="5316730"/>
            <a:ext cx="389255" cy="462915"/>
          </a:xfrm>
          <a:prstGeom prst="rect">
            <a:avLst/>
          </a:prstGeom>
        </p:spPr>
        <p:txBody>
          <a:bodyPr wrap="square" lIns="0" tIns="14604" rIns="0" bIns="0" rtlCol="0" vert="horz">
            <a:spAutoFit/>
          </a:bodyPr>
          <a:lstStyle/>
          <a:p>
            <a:pPr marL="38100">
              <a:lnSpc>
                <a:spcPct val="100000"/>
              </a:lnSpc>
              <a:spcBef>
                <a:spcPts val="114"/>
              </a:spcBef>
            </a:pPr>
            <a:r>
              <a:rPr dirty="0" baseline="-23391" sz="4275" spc="112">
                <a:latin typeface="SimSun"/>
                <a:cs typeface="SimSun"/>
              </a:rPr>
              <a:t>h</a:t>
            </a:r>
            <a:r>
              <a:rPr dirty="0" sz="1650" spc="75">
                <a:latin typeface="SimSun"/>
                <a:cs typeface="SimSun"/>
              </a:rPr>
              <a:t>k</a:t>
            </a:r>
            <a:endParaRPr sz="1650">
              <a:latin typeface="SimSun"/>
              <a:cs typeface="SimSun"/>
            </a:endParaRPr>
          </a:p>
        </p:txBody>
      </p:sp>
      <p:sp>
        <p:nvSpPr>
          <p:cNvPr id="6" name="object 6" descr=""/>
          <p:cNvSpPr txBox="1"/>
          <p:nvPr/>
        </p:nvSpPr>
        <p:spPr>
          <a:xfrm>
            <a:off x="3071197" y="5471464"/>
            <a:ext cx="3731895" cy="462915"/>
          </a:xfrm>
          <a:prstGeom prst="rect">
            <a:avLst/>
          </a:prstGeom>
        </p:spPr>
        <p:txBody>
          <a:bodyPr wrap="square" lIns="0" tIns="14604" rIns="0" bIns="0" rtlCol="0" vert="horz">
            <a:spAutoFit/>
          </a:bodyPr>
          <a:lstStyle/>
          <a:p>
            <a:pPr marL="63500">
              <a:lnSpc>
                <a:spcPct val="100000"/>
              </a:lnSpc>
              <a:spcBef>
                <a:spcPts val="114"/>
              </a:spcBef>
              <a:tabLst>
                <a:tab pos="1891030" algn="l"/>
                <a:tab pos="2863215" algn="l"/>
              </a:tabLst>
            </a:pPr>
            <a:r>
              <a:rPr dirty="0" sz="2700">
                <a:latin typeface="Symbol"/>
                <a:cs typeface="Symbol"/>
              </a:rPr>
              <a:t></a:t>
            </a:r>
            <a:r>
              <a:rPr dirty="0" sz="2700" spc="240">
                <a:latin typeface="Times New Roman"/>
                <a:cs typeface="Times New Roman"/>
              </a:rPr>
              <a:t> </a:t>
            </a:r>
            <a:r>
              <a:rPr dirty="0" sz="2850" spc="-145">
                <a:latin typeface="SimSun"/>
                <a:cs typeface="SimSun"/>
              </a:rPr>
              <a:t>tanh</a:t>
            </a:r>
            <a:r>
              <a:rPr dirty="0" sz="2700" spc="-145">
                <a:latin typeface="SimSun"/>
                <a:cs typeface="SimSun"/>
              </a:rPr>
              <a:t>((</a:t>
            </a:r>
            <a:r>
              <a:rPr dirty="0" sz="2850" spc="-145">
                <a:latin typeface="SimSun"/>
                <a:cs typeface="SimSun"/>
              </a:rPr>
              <a:t>W</a:t>
            </a:r>
            <a:r>
              <a:rPr dirty="0" sz="2850" spc="-535">
                <a:latin typeface="SimSun"/>
                <a:cs typeface="SimSun"/>
              </a:rPr>
              <a:t> </a:t>
            </a:r>
            <a:r>
              <a:rPr dirty="0" baseline="40404" sz="2475" spc="-75">
                <a:latin typeface="SimSun"/>
                <a:cs typeface="SimSun"/>
              </a:rPr>
              <a:t>k</a:t>
            </a:r>
            <a:r>
              <a:rPr dirty="0" baseline="40404" sz="2475">
                <a:latin typeface="SimSun"/>
                <a:cs typeface="SimSun"/>
              </a:rPr>
              <a:t>	</a:t>
            </a:r>
            <a:r>
              <a:rPr dirty="0" sz="2700">
                <a:latin typeface="Symbol"/>
                <a:cs typeface="Symbol"/>
              </a:rPr>
              <a:t></a:t>
            </a:r>
            <a:r>
              <a:rPr dirty="0" sz="2700" spc="215">
                <a:latin typeface="Times New Roman"/>
                <a:cs typeface="Times New Roman"/>
              </a:rPr>
              <a:t> </a:t>
            </a:r>
            <a:r>
              <a:rPr dirty="0" sz="2700" spc="-25">
                <a:latin typeface="SimSun"/>
                <a:cs typeface="SimSun"/>
              </a:rPr>
              <a:t>x)</a:t>
            </a:r>
            <a:r>
              <a:rPr dirty="0" sz="2700">
                <a:latin typeface="SimSun"/>
                <a:cs typeface="SimSun"/>
              </a:rPr>
              <a:t>	</a:t>
            </a:r>
            <a:r>
              <a:rPr dirty="0" sz="2700">
                <a:latin typeface="Symbol"/>
                <a:cs typeface="Symbol"/>
              </a:rPr>
              <a:t></a:t>
            </a:r>
            <a:r>
              <a:rPr dirty="0" sz="2700" spc="180">
                <a:latin typeface="Times New Roman"/>
                <a:cs typeface="Times New Roman"/>
              </a:rPr>
              <a:t> </a:t>
            </a:r>
            <a:r>
              <a:rPr dirty="0" sz="2850">
                <a:latin typeface="SimSun"/>
                <a:cs typeface="SimSun"/>
              </a:rPr>
              <a:t>b</a:t>
            </a:r>
            <a:r>
              <a:rPr dirty="0" sz="2850" spc="-140">
                <a:latin typeface="SimSun"/>
                <a:cs typeface="SimSun"/>
              </a:rPr>
              <a:t> </a:t>
            </a:r>
            <a:r>
              <a:rPr dirty="0" sz="2700" spc="-50">
                <a:latin typeface="SimSun"/>
                <a:cs typeface="SimSun"/>
              </a:rPr>
              <a:t>)</a:t>
            </a:r>
            <a:endParaRPr sz="2700">
              <a:latin typeface="SimSun"/>
              <a:cs typeface="SimSun"/>
            </a:endParaRPr>
          </a:p>
        </p:txBody>
      </p:sp>
      <p:grpSp>
        <p:nvGrpSpPr>
          <p:cNvPr id="7" name="object 7" descr=""/>
          <p:cNvGrpSpPr/>
          <p:nvPr/>
        </p:nvGrpSpPr>
        <p:grpSpPr>
          <a:xfrm>
            <a:off x="2472182" y="5433314"/>
            <a:ext cx="4345940" cy="673100"/>
            <a:chOff x="2472182" y="5433314"/>
            <a:chExt cx="4345940" cy="673100"/>
          </a:xfrm>
        </p:grpSpPr>
        <p:sp>
          <p:nvSpPr>
            <p:cNvPr id="8" name="object 8" descr=""/>
            <p:cNvSpPr/>
            <p:nvPr/>
          </p:nvSpPr>
          <p:spPr>
            <a:xfrm>
              <a:off x="2484882" y="5446014"/>
              <a:ext cx="4320540" cy="647700"/>
            </a:xfrm>
            <a:custGeom>
              <a:avLst/>
              <a:gdLst/>
              <a:ahLst/>
              <a:cxnLst/>
              <a:rect l="l" t="t" r="r" b="b"/>
              <a:pathLst>
                <a:path w="4320540" h="647700">
                  <a:moveTo>
                    <a:pt x="4320540" y="0"/>
                  </a:moveTo>
                  <a:lnTo>
                    <a:pt x="0" y="0"/>
                  </a:lnTo>
                  <a:lnTo>
                    <a:pt x="0" y="647700"/>
                  </a:lnTo>
                  <a:lnTo>
                    <a:pt x="4320540" y="647700"/>
                  </a:lnTo>
                  <a:lnTo>
                    <a:pt x="4320540" y="0"/>
                  </a:lnTo>
                  <a:close/>
                </a:path>
              </a:pathLst>
            </a:custGeom>
            <a:solidFill>
              <a:srgbClr val="FFFF00">
                <a:alpha val="12159"/>
              </a:srgbClr>
            </a:solidFill>
          </p:spPr>
          <p:txBody>
            <a:bodyPr wrap="square" lIns="0" tIns="0" rIns="0" bIns="0" rtlCol="0"/>
            <a:lstStyle/>
            <a:p/>
          </p:txBody>
        </p:sp>
        <p:sp>
          <p:nvSpPr>
            <p:cNvPr id="9" name="object 9" descr=""/>
            <p:cNvSpPr/>
            <p:nvPr/>
          </p:nvSpPr>
          <p:spPr>
            <a:xfrm>
              <a:off x="2484882" y="5446014"/>
              <a:ext cx="4320540" cy="647700"/>
            </a:xfrm>
            <a:custGeom>
              <a:avLst/>
              <a:gdLst/>
              <a:ahLst/>
              <a:cxnLst/>
              <a:rect l="l" t="t" r="r" b="b"/>
              <a:pathLst>
                <a:path w="4320540" h="647700">
                  <a:moveTo>
                    <a:pt x="0" y="647700"/>
                  </a:moveTo>
                  <a:lnTo>
                    <a:pt x="4320540" y="647700"/>
                  </a:lnTo>
                  <a:lnTo>
                    <a:pt x="4320540" y="0"/>
                  </a:lnTo>
                  <a:lnTo>
                    <a:pt x="0" y="0"/>
                  </a:lnTo>
                  <a:lnTo>
                    <a:pt x="0" y="647700"/>
                  </a:lnTo>
                  <a:close/>
                </a:path>
              </a:pathLst>
            </a:custGeom>
            <a:ln w="25400">
              <a:solidFill>
                <a:srgbClr val="FF0000"/>
              </a:solidFill>
            </a:ln>
          </p:spPr>
          <p:txBody>
            <a:bodyPr wrap="square" lIns="0" tIns="0" rIns="0" bIns="0" rtlCol="0"/>
            <a:lstStyle/>
            <a:p/>
          </p:txBody>
        </p:sp>
      </p:grpSp>
      <p:sp>
        <p:nvSpPr>
          <p:cNvPr id="10" name="object 10" descr=""/>
          <p:cNvSpPr txBox="1"/>
          <p:nvPr/>
        </p:nvSpPr>
        <p:spPr>
          <a:xfrm>
            <a:off x="245551" y="1206911"/>
            <a:ext cx="8769350" cy="3950970"/>
          </a:xfrm>
          <a:prstGeom prst="rect">
            <a:avLst/>
          </a:prstGeom>
        </p:spPr>
        <p:txBody>
          <a:bodyPr wrap="square" lIns="0" tIns="12065" rIns="0" bIns="0" rtlCol="0" vert="horz">
            <a:spAutoFit/>
          </a:bodyPr>
          <a:lstStyle/>
          <a:p>
            <a:pPr marL="367665" indent="-342265">
              <a:lnSpc>
                <a:spcPct val="100000"/>
              </a:lnSpc>
              <a:spcBef>
                <a:spcPts val="95"/>
              </a:spcBef>
              <a:buFont typeface="Arial MT"/>
              <a:buChar char="•"/>
              <a:tabLst>
                <a:tab pos="367665" algn="l"/>
              </a:tabLst>
            </a:pPr>
            <a:r>
              <a:rPr dirty="0" sz="2800">
                <a:latin typeface="Calibri"/>
                <a:cs typeface="Calibri"/>
              </a:rPr>
              <a:t>A</a:t>
            </a:r>
            <a:r>
              <a:rPr dirty="0" sz="2800" spc="-120">
                <a:latin typeface="Calibri"/>
                <a:cs typeface="Calibri"/>
              </a:rPr>
              <a:t> </a:t>
            </a:r>
            <a:r>
              <a:rPr dirty="0" sz="2800" spc="-10">
                <a:latin typeface="Calibri"/>
                <a:cs typeface="Calibri"/>
              </a:rPr>
              <a:t>feature</a:t>
            </a:r>
            <a:r>
              <a:rPr dirty="0" sz="2800" spc="-75">
                <a:latin typeface="Calibri"/>
                <a:cs typeface="Calibri"/>
              </a:rPr>
              <a:t> </a:t>
            </a:r>
            <a:r>
              <a:rPr dirty="0" sz="2800">
                <a:latin typeface="Calibri"/>
                <a:cs typeface="Calibri"/>
              </a:rPr>
              <a:t>map</a:t>
            </a:r>
            <a:r>
              <a:rPr dirty="0" sz="2800" spc="-60">
                <a:latin typeface="Calibri"/>
                <a:cs typeface="Calibri"/>
              </a:rPr>
              <a:t> </a:t>
            </a:r>
            <a:r>
              <a:rPr dirty="0" sz="2800">
                <a:latin typeface="Calibri"/>
                <a:cs typeface="Calibri"/>
              </a:rPr>
              <a:t>is</a:t>
            </a:r>
            <a:r>
              <a:rPr dirty="0" sz="2800" spc="-60">
                <a:latin typeface="Calibri"/>
                <a:cs typeface="Calibri"/>
              </a:rPr>
              <a:t> </a:t>
            </a:r>
            <a:r>
              <a:rPr dirty="0" sz="2800">
                <a:latin typeface="Calibri"/>
                <a:cs typeface="Calibri"/>
              </a:rPr>
              <a:t>obtained</a:t>
            </a:r>
            <a:r>
              <a:rPr dirty="0" sz="2800" spc="-40">
                <a:latin typeface="Calibri"/>
                <a:cs typeface="Calibri"/>
              </a:rPr>
              <a:t> </a:t>
            </a:r>
            <a:r>
              <a:rPr dirty="0" sz="2800" spc="-20">
                <a:latin typeface="Calibri"/>
                <a:cs typeface="Calibri"/>
              </a:rPr>
              <a:t>by</a:t>
            </a:r>
            <a:r>
              <a:rPr dirty="0" sz="2800" spc="-155">
                <a:latin typeface="Calibri"/>
                <a:cs typeface="Calibri"/>
              </a:rPr>
              <a:t> </a:t>
            </a:r>
            <a:r>
              <a:rPr dirty="0" u="heavy" sz="2800" spc="-545">
                <a:uFill>
                  <a:solidFill>
                    <a:srgbClr val="000000"/>
                  </a:solidFill>
                </a:uFill>
                <a:latin typeface="Calibri"/>
                <a:cs typeface="Calibri"/>
              </a:rPr>
              <a:t> </a:t>
            </a:r>
            <a:r>
              <a:rPr dirty="0" u="heavy" sz="2800" spc="-10">
                <a:uFill>
                  <a:solidFill>
                    <a:srgbClr val="000000"/>
                  </a:solidFill>
                </a:uFill>
                <a:latin typeface="Calibri"/>
                <a:cs typeface="Calibri"/>
              </a:rPr>
              <a:t>repeated</a:t>
            </a:r>
            <a:r>
              <a:rPr dirty="0" u="heavy" sz="2800" spc="-70">
                <a:uFill>
                  <a:solidFill>
                    <a:srgbClr val="000000"/>
                  </a:solidFill>
                </a:uFill>
                <a:latin typeface="Calibri"/>
                <a:cs typeface="Calibri"/>
              </a:rPr>
              <a:t> </a:t>
            </a:r>
            <a:r>
              <a:rPr dirty="0" u="heavy" sz="2800">
                <a:uFill>
                  <a:solidFill>
                    <a:srgbClr val="000000"/>
                  </a:solidFill>
                </a:uFill>
                <a:latin typeface="Calibri"/>
                <a:cs typeface="Calibri"/>
              </a:rPr>
              <a:t>application</a:t>
            </a:r>
            <a:r>
              <a:rPr dirty="0" u="heavy" sz="2800" spc="-50">
                <a:uFill>
                  <a:solidFill>
                    <a:srgbClr val="000000"/>
                  </a:solidFill>
                </a:uFill>
                <a:latin typeface="Calibri"/>
                <a:cs typeface="Calibri"/>
              </a:rPr>
              <a:t> </a:t>
            </a:r>
            <a:r>
              <a:rPr dirty="0" sz="2800">
                <a:latin typeface="Calibri"/>
                <a:cs typeface="Calibri"/>
              </a:rPr>
              <a:t>of</a:t>
            </a:r>
            <a:r>
              <a:rPr dirty="0" sz="2800" spc="-70">
                <a:latin typeface="Calibri"/>
                <a:cs typeface="Calibri"/>
              </a:rPr>
              <a:t> </a:t>
            </a:r>
            <a:r>
              <a:rPr dirty="0" sz="2800" spc="-50">
                <a:latin typeface="Calibri"/>
                <a:cs typeface="Calibri"/>
              </a:rPr>
              <a:t>a</a:t>
            </a:r>
            <a:endParaRPr sz="2800">
              <a:latin typeface="Calibri"/>
              <a:cs typeface="Calibri"/>
            </a:endParaRPr>
          </a:p>
          <a:p>
            <a:pPr marL="368300" marR="292100" indent="-32384">
              <a:lnSpc>
                <a:spcPct val="100000"/>
              </a:lnSpc>
            </a:pPr>
            <a:r>
              <a:rPr dirty="0" u="heavy" sz="2800" spc="-455">
                <a:uFill>
                  <a:solidFill>
                    <a:srgbClr val="000000"/>
                  </a:solidFill>
                </a:uFill>
                <a:latin typeface="Calibri"/>
                <a:cs typeface="Calibri"/>
              </a:rPr>
              <a:t> </a:t>
            </a:r>
            <a:r>
              <a:rPr dirty="0" u="heavy" sz="2800">
                <a:uFill>
                  <a:solidFill>
                    <a:srgbClr val="000000"/>
                  </a:solidFill>
                </a:uFill>
                <a:latin typeface="Calibri"/>
                <a:cs typeface="Calibri"/>
              </a:rPr>
              <a:t>function</a:t>
            </a:r>
            <a:r>
              <a:rPr dirty="0" u="heavy" sz="2800" spc="-55">
                <a:uFill>
                  <a:solidFill>
                    <a:srgbClr val="000000"/>
                  </a:solidFill>
                </a:uFill>
                <a:latin typeface="Calibri"/>
                <a:cs typeface="Calibri"/>
              </a:rPr>
              <a:t> </a:t>
            </a:r>
            <a:r>
              <a:rPr dirty="0" u="heavy" sz="2800">
                <a:uFill>
                  <a:solidFill>
                    <a:srgbClr val="000000"/>
                  </a:solidFill>
                </a:uFill>
                <a:latin typeface="Calibri"/>
                <a:cs typeface="Calibri"/>
              </a:rPr>
              <a:t>across</a:t>
            </a:r>
            <a:r>
              <a:rPr dirty="0" u="heavy" sz="2800" spc="-55">
                <a:uFill>
                  <a:solidFill>
                    <a:srgbClr val="000000"/>
                  </a:solidFill>
                </a:uFill>
                <a:latin typeface="Calibri"/>
                <a:cs typeface="Calibri"/>
              </a:rPr>
              <a:t> </a:t>
            </a:r>
            <a:r>
              <a:rPr dirty="0" u="heavy" sz="2800" spc="-25">
                <a:uFill>
                  <a:solidFill>
                    <a:srgbClr val="000000"/>
                  </a:solidFill>
                </a:uFill>
                <a:latin typeface="Calibri"/>
                <a:cs typeface="Calibri"/>
              </a:rPr>
              <a:t>sub-</a:t>
            </a:r>
            <a:r>
              <a:rPr dirty="0" u="heavy" sz="2800">
                <a:uFill>
                  <a:solidFill>
                    <a:srgbClr val="000000"/>
                  </a:solidFill>
                </a:uFill>
                <a:latin typeface="Calibri"/>
                <a:cs typeface="Calibri"/>
              </a:rPr>
              <a:t>regions</a:t>
            </a:r>
            <a:r>
              <a:rPr dirty="0" sz="2800" spc="-25">
                <a:latin typeface="Calibri"/>
                <a:cs typeface="Calibri"/>
              </a:rPr>
              <a:t> </a:t>
            </a:r>
            <a:r>
              <a:rPr dirty="0" sz="2800">
                <a:latin typeface="Calibri"/>
                <a:cs typeface="Calibri"/>
              </a:rPr>
              <a:t>of</a:t>
            </a:r>
            <a:r>
              <a:rPr dirty="0" sz="2800" spc="-65">
                <a:latin typeface="Calibri"/>
                <a:cs typeface="Calibri"/>
              </a:rPr>
              <a:t> </a:t>
            </a:r>
            <a:r>
              <a:rPr dirty="0" sz="2800">
                <a:latin typeface="Calibri"/>
                <a:cs typeface="Calibri"/>
              </a:rPr>
              <a:t>the</a:t>
            </a:r>
            <a:r>
              <a:rPr dirty="0" sz="2800" spc="-55">
                <a:latin typeface="Calibri"/>
                <a:cs typeface="Calibri"/>
              </a:rPr>
              <a:t> </a:t>
            </a:r>
            <a:r>
              <a:rPr dirty="0" sz="2800">
                <a:latin typeface="Calibri"/>
                <a:cs typeface="Calibri"/>
              </a:rPr>
              <a:t>entire</a:t>
            </a:r>
            <a:r>
              <a:rPr dirty="0" sz="2800" spc="-50">
                <a:latin typeface="Calibri"/>
                <a:cs typeface="Calibri"/>
              </a:rPr>
              <a:t> </a:t>
            </a:r>
            <a:r>
              <a:rPr dirty="0" sz="2800">
                <a:latin typeface="Calibri"/>
                <a:cs typeface="Calibri"/>
              </a:rPr>
              <a:t>image,</a:t>
            </a:r>
            <a:r>
              <a:rPr dirty="0" sz="2800" spc="-80">
                <a:latin typeface="Calibri"/>
                <a:cs typeface="Calibri"/>
              </a:rPr>
              <a:t> </a:t>
            </a:r>
            <a:r>
              <a:rPr dirty="0" sz="2800">
                <a:latin typeface="Calibri"/>
                <a:cs typeface="Calibri"/>
              </a:rPr>
              <a:t>in</a:t>
            </a:r>
            <a:r>
              <a:rPr dirty="0" sz="2800" spc="-55">
                <a:latin typeface="Calibri"/>
                <a:cs typeface="Calibri"/>
              </a:rPr>
              <a:t> </a:t>
            </a:r>
            <a:r>
              <a:rPr dirty="0" sz="2800" spc="-10">
                <a:latin typeface="Calibri"/>
                <a:cs typeface="Calibri"/>
              </a:rPr>
              <a:t>other </a:t>
            </a:r>
            <a:r>
              <a:rPr dirty="0" sz="2800">
                <a:latin typeface="Calibri"/>
                <a:cs typeface="Calibri"/>
              </a:rPr>
              <a:t>words,</a:t>
            </a:r>
            <a:r>
              <a:rPr dirty="0" sz="2800" spc="-40">
                <a:latin typeface="Calibri"/>
                <a:cs typeface="Calibri"/>
              </a:rPr>
              <a:t> </a:t>
            </a:r>
            <a:r>
              <a:rPr dirty="0" sz="2800">
                <a:latin typeface="Calibri"/>
                <a:cs typeface="Calibri"/>
              </a:rPr>
              <a:t>by</a:t>
            </a:r>
            <a:r>
              <a:rPr dirty="0" sz="2800" spc="-35">
                <a:latin typeface="Calibri"/>
                <a:cs typeface="Calibri"/>
              </a:rPr>
              <a:t> </a:t>
            </a:r>
            <a:r>
              <a:rPr dirty="0" sz="2800" spc="-10" i="1">
                <a:solidFill>
                  <a:srgbClr val="FF0000"/>
                </a:solidFill>
                <a:latin typeface="Calibri"/>
                <a:cs typeface="Calibri"/>
              </a:rPr>
              <a:t>convolution</a:t>
            </a:r>
            <a:r>
              <a:rPr dirty="0" sz="2800" spc="-55" i="1">
                <a:solidFill>
                  <a:srgbClr val="FF0000"/>
                </a:solidFill>
                <a:latin typeface="Calibri"/>
                <a:cs typeface="Calibri"/>
              </a:rPr>
              <a:t> </a:t>
            </a:r>
            <a:r>
              <a:rPr dirty="0" sz="2800">
                <a:latin typeface="Calibri"/>
                <a:cs typeface="Calibri"/>
              </a:rPr>
              <a:t>of</a:t>
            </a:r>
            <a:r>
              <a:rPr dirty="0" sz="2800" spc="-55">
                <a:latin typeface="Calibri"/>
                <a:cs typeface="Calibri"/>
              </a:rPr>
              <a:t> </a:t>
            </a:r>
            <a:r>
              <a:rPr dirty="0" sz="2800">
                <a:latin typeface="Calibri"/>
                <a:cs typeface="Calibri"/>
              </a:rPr>
              <a:t>the</a:t>
            </a:r>
            <a:r>
              <a:rPr dirty="0" sz="2800" spc="-40">
                <a:latin typeface="Calibri"/>
                <a:cs typeface="Calibri"/>
              </a:rPr>
              <a:t> </a:t>
            </a:r>
            <a:r>
              <a:rPr dirty="0" sz="2800">
                <a:latin typeface="Calibri"/>
                <a:cs typeface="Calibri"/>
              </a:rPr>
              <a:t>input</a:t>
            </a:r>
            <a:r>
              <a:rPr dirty="0" sz="2800" spc="-15">
                <a:latin typeface="Calibri"/>
                <a:cs typeface="Calibri"/>
              </a:rPr>
              <a:t> </a:t>
            </a:r>
            <a:r>
              <a:rPr dirty="0" sz="2800">
                <a:latin typeface="Calibri"/>
                <a:cs typeface="Calibri"/>
              </a:rPr>
              <a:t>image</a:t>
            </a:r>
            <a:r>
              <a:rPr dirty="0" sz="2800" spc="-60">
                <a:latin typeface="Calibri"/>
                <a:cs typeface="Calibri"/>
              </a:rPr>
              <a:t> </a:t>
            </a:r>
            <a:r>
              <a:rPr dirty="0" sz="2800">
                <a:latin typeface="Calibri"/>
                <a:cs typeface="Calibri"/>
              </a:rPr>
              <a:t>with</a:t>
            </a:r>
            <a:r>
              <a:rPr dirty="0" sz="2800" spc="-45">
                <a:latin typeface="Calibri"/>
                <a:cs typeface="Calibri"/>
              </a:rPr>
              <a:t> </a:t>
            </a:r>
            <a:r>
              <a:rPr dirty="0" sz="2800">
                <a:latin typeface="Calibri"/>
                <a:cs typeface="Calibri"/>
              </a:rPr>
              <a:t>a</a:t>
            </a:r>
            <a:r>
              <a:rPr dirty="0" sz="2800" spc="-55">
                <a:latin typeface="Calibri"/>
                <a:cs typeface="Calibri"/>
              </a:rPr>
              <a:t> </a:t>
            </a:r>
            <a:r>
              <a:rPr dirty="0" sz="2800" spc="-10">
                <a:latin typeface="Calibri"/>
                <a:cs typeface="Calibri"/>
              </a:rPr>
              <a:t>linear </a:t>
            </a:r>
            <a:r>
              <a:rPr dirty="0" sz="2800" spc="-30">
                <a:latin typeface="Calibri"/>
                <a:cs typeface="Calibri"/>
              </a:rPr>
              <a:t>filter,</a:t>
            </a:r>
            <a:r>
              <a:rPr dirty="0" sz="2800" spc="-50">
                <a:latin typeface="Calibri"/>
                <a:cs typeface="Calibri"/>
              </a:rPr>
              <a:t> </a:t>
            </a:r>
            <a:r>
              <a:rPr dirty="0" sz="2800">
                <a:latin typeface="Calibri"/>
                <a:cs typeface="Calibri"/>
              </a:rPr>
              <a:t>adding</a:t>
            </a:r>
            <a:r>
              <a:rPr dirty="0" sz="2800" spc="-30">
                <a:latin typeface="Calibri"/>
                <a:cs typeface="Calibri"/>
              </a:rPr>
              <a:t> </a:t>
            </a:r>
            <a:r>
              <a:rPr dirty="0" sz="2800">
                <a:latin typeface="Calibri"/>
                <a:cs typeface="Calibri"/>
              </a:rPr>
              <a:t>a</a:t>
            </a:r>
            <a:r>
              <a:rPr dirty="0" sz="2800" spc="-55">
                <a:latin typeface="Calibri"/>
                <a:cs typeface="Calibri"/>
              </a:rPr>
              <a:t> </a:t>
            </a:r>
            <a:r>
              <a:rPr dirty="0" sz="2800">
                <a:latin typeface="Calibri"/>
                <a:cs typeface="Calibri"/>
              </a:rPr>
              <a:t>bias</a:t>
            </a:r>
            <a:r>
              <a:rPr dirty="0" sz="2800" spc="-35">
                <a:latin typeface="Calibri"/>
                <a:cs typeface="Calibri"/>
              </a:rPr>
              <a:t> </a:t>
            </a:r>
            <a:r>
              <a:rPr dirty="0" sz="2800">
                <a:latin typeface="Calibri"/>
                <a:cs typeface="Calibri"/>
              </a:rPr>
              <a:t>term</a:t>
            </a:r>
            <a:r>
              <a:rPr dirty="0" sz="2800" spc="-45">
                <a:latin typeface="Calibri"/>
                <a:cs typeface="Calibri"/>
              </a:rPr>
              <a:t> </a:t>
            </a:r>
            <a:r>
              <a:rPr dirty="0" sz="2800">
                <a:latin typeface="Calibri"/>
                <a:cs typeface="Calibri"/>
              </a:rPr>
              <a:t>and</a:t>
            </a:r>
            <a:r>
              <a:rPr dirty="0" sz="2800" spc="-45">
                <a:latin typeface="Calibri"/>
                <a:cs typeface="Calibri"/>
              </a:rPr>
              <a:t> </a:t>
            </a:r>
            <a:r>
              <a:rPr dirty="0" sz="2800">
                <a:latin typeface="Calibri"/>
                <a:cs typeface="Calibri"/>
              </a:rPr>
              <a:t>then</a:t>
            </a:r>
            <a:r>
              <a:rPr dirty="0" sz="2800" spc="-30">
                <a:latin typeface="Calibri"/>
                <a:cs typeface="Calibri"/>
              </a:rPr>
              <a:t> </a:t>
            </a:r>
            <a:r>
              <a:rPr dirty="0" sz="2800">
                <a:latin typeface="Calibri"/>
                <a:cs typeface="Calibri"/>
              </a:rPr>
              <a:t>applying</a:t>
            </a:r>
            <a:r>
              <a:rPr dirty="0" sz="2800" spc="-25">
                <a:latin typeface="Calibri"/>
                <a:cs typeface="Calibri"/>
              </a:rPr>
              <a:t> </a:t>
            </a:r>
            <a:r>
              <a:rPr dirty="0" sz="2800">
                <a:latin typeface="Calibri"/>
                <a:cs typeface="Calibri"/>
              </a:rPr>
              <a:t>a</a:t>
            </a:r>
            <a:r>
              <a:rPr dirty="0" sz="2800" spc="-45">
                <a:latin typeface="Calibri"/>
                <a:cs typeface="Calibri"/>
              </a:rPr>
              <a:t> </a:t>
            </a:r>
            <a:r>
              <a:rPr dirty="0" sz="2800" spc="-20">
                <a:latin typeface="Calibri"/>
                <a:cs typeface="Calibri"/>
              </a:rPr>
              <a:t>non-</a:t>
            </a:r>
            <a:r>
              <a:rPr dirty="0" sz="2800" spc="-10">
                <a:latin typeface="Calibri"/>
                <a:cs typeface="Calibri"/>
              </a:rPr>
              <a:t>linear function.</a:t>
            </a:r>
            <a:endParaRPr sz="2800">
              <a:latin typeface="Calibri"/>
              <a:cs typeface="Calibri"/>
            </a:endParaRPr>
          </a:p>
          <a:p>
            <a:pPr marL="368300" marR="17780" indent="-343535">
              <a:lnSpc>
                <a:spcPct val="100000"/>
              </a:lnSpc>
              <a:spcBef>
                <a:spcPts val="670"/>
              </a:spcBef>
              <a:buFont typeface="Arial MT"/>
              <a:buChar char="•"/>
              <a:tabLst>
                <a:tab pos="368300" algn="l"/>
              </a:tabLst>
            </a:pPr>
            <a:r>
              <a:rPr dirty="0" sz="2800">
                <a:latin typeface="Calibri"/>
                <a:cs typeface="Calibri"/>
              </a:rPr>
              <a:t>If</a:t>
            </a:r>
            <a:r>
              <a:rPr dirty="0" sz="2800" spc="-55">
                <a:latin typeface="Calibri"/>
                <a:cs typeface="Calibri"/>
              </a:rPr>
              <a:t> </a:t>
            </a:r>
            <a:r>
              <a:rPr dirty="0" sz="2800">
                <a:latin typeface="Calibri"/>
                <a:cs typeface="Calibri"/>
              </a:rPr>
              <a:t>we</a:t>
            </a:r>
            <a:r>
              <a:rPr dirty="0" sz="2800" spc="-40">
                <a:latin typeface="Calibri"/>
                <a:cs typeface="Calibri"/>
              </a:rPr>
              <a:t> </a:t>
            </a:r>
            <a:r>
              <a:rPr dirty="0" sz="2800">
                <a:latin typeface="Calibri"/>
                <a:cs typeface="Calibri"/>
              </a:rPr>
              <a:t>denote</a:t>
            </a:r>
            <a:r>
              <a:rPr dirty="0" sz="2800" spc="-45">
                <a:latin typeface="Calibri"/>
                <a:cs typeface="Calibri"/>
              </a:rPr>
              <a:t> </a:t>
            </a:r>
            <a:r>
              <a:rPr dirty="0" sz="2800">
                <a:latin typeface="Calibri"/>
                <a:cs typeface="Calibri"/>
              </a:rPr>
              <a:t>the</a:t>
            </a:r>
            <a:r>
              <a:rPr dirty="0" sz="2800" spc="-30">
                <a:latin typeface="Calibri"/>
                <a:cs typeface="Calibri"/>
              </a:rPr>
              <a:t> </a:t>
            </a:r>
            <a:r>
              <a:rPr dirty="0" sz="2800" spc="-20">
                <a:latin typeface="Calibri"/>
                <a:cs typeface="Calibri"/>
              </a:rPr>
              <a:t>k-</a:t>
            </a:r>
            <a:r>
              <a:rPr dirty="0" sz="2800">
                <a:latin typeface="Calibri"/>
                <a:cs typeface="Calibri"/>
              </a:rPr>
              <a:t>th</a:t>
            </a:r>
            <a:r>
              <a:rPr dirty="0" sz="2800" spc="-10">
                <a:latin typeface="Calibri"/>
                <a:cs typeface="Calibri"/>
              </a:rPr>
              <a:t> feature</a:t>
            </a:r>
            <a:r>
              <a:rPr dirty="0" sz="2800" spc="-50">
                <a:latin typeface="Calibri"/>
                <a:cs typeface="Calibri"/>
              </a:rPr>
              <a:t> </a:t>
            </a:r>
            <a:r>
              <a:rPr dirty="0" sz="2800">
                <a:latin typeface="Calibri"/>
                <a:cs typeface="Calibri"/>
              </a:rPr>
              <a:t>map</a:t>
            </a:r>
            <a:r>
              <a:rPr dirty="0" sz="2800" spc="-35">
                <a:latin typeface="Calibri"/>
                <a:cs typeface="Calibri"/>
              </a:rPr>
              <a:t> </a:t>
            </a:r>
            <a:r>
              <a:rPr dirty="0" sz="2800">
                <a:latin typeface="Calibri"/>
                <a:cs typeface="Calibri"/>
              </a:rPr>
              <a:t>at</a:t>
            </a:r>
            <a:r>
              <a:rPr dirty="0" sz="2800" spc="-40">
                <a:latin typeface="Calibri"/>
                <a:cs typeface="Calibri"/>
              </a:rPr>
              <a:t> </a:t>
            </a:r>
            <a:r>
              <a:rPr dirty="0" sz="2800">
                <a:latin typeface="Calibri"/>
                <a:cs typeface="Calibri"/>
              </a:rPr>
              <a:t>a</a:t>
            </a:r>
            <a:r>
              <a:rPr dirty="0" sz="2800" spc="-40">
                <a:latin typeface="Calibri"/>
                <a:cs typeface="Calibri"/>
              </a:rPr>
              <a:t> </a:t>
            </a:r>
            <a:r>
              <a:rPr dirty="0" sz="2800">
                <a:latin typeface="Calibri"/>
                <a:cs typeface="Calibri"/>
              </a:rPr>
              <a:t>given</a:t>
            </a:r>
            <a:r>
              <a:rPr dirty="0" sz="2800" spc="-45">
                <a:latin typeface="Calibri"/>
                <a:cs typeface="Calibri"/>
              </a:rPr>
              <a:t> </a:t>
            </a:r>
            <a:r>
              <a:rPr dirty="0" sz="2800">
                <a:latin typeface="Calibri"/>
                <a:cs typeface="Calibri"/>
              </a:rPr>
              <a:t>layer</a:t>
            </a:r>
            <a:r>
              <a:rPr dirty="0" sz="2800" spc="-55">
                <a:latin typeface="Calibri"/>
                <a:cs typeface="Calibri"/>
              </a:rPr>
              <a:t> </a:t>
            </a:r>
            <a:r>
              <a:rPr dirty="0" sz="2800">
                <a:latin typeface="Calibri"/>
                <a:cs typeface="Calibri"/>
              </a:rPr>
              <a:t>as</a:t>
            </a:r>
            <a:r>
              <a:rPr dirty="0" sz="2800" spc="35">
                <a:latin typeface="Calibri"/>
                <a:cs typeface="Calibri"/>
              </a:rPr>
              <a:t> </a:t>
            </a:r>
            <a:r>
              <a:rPr dirty="0" baseline="9876" sz="3375" spc="104" i="1">
                <a:latin typeface="Times New Roman"/>
                <a:cs typeface="Times New Roman"/>
              </a:rPr>
              <a:t>h</a:t>
            </a:r>
            <a:r>
              <a:rPr dirty="0" baseline="61965" sz="1950" spc="104" i="1">
                <a:latin typeface="Times New Roman"/>
                <a:cs typeface="Times New Roman"/>
              </a:rPr>
              <a:t>k</a:t>
            </a:r>
            <a:r>
              <a:rPr dirty="0" baseline="61965" sz="1950" spc="390" i="1">
                <a:latin typeface="Times New Roman"/>
                <a:cs typeface="Times New Roman"/>
              </a:rPr>
              <a:t> </a:t>
            </a:r>
            <a:r>
              <a:rPr dirty="0" sz="2800" spc="-50">
                <a:latin typeface="Calibri"/>
                <a:cs typeface="Calibri"/>
              </a:rPr>
              <a:t>, </a:t>
            </a:r>
            <a:r>
              <a:rPr dirty="0" sz="2800">
                <a:latin typeface="Calibri"/>
                <a:cs typeface="Calibri"/>
              </a:rPr>
              <a:t>whose</a:t>
            </a:r>
            <a:r>
              <a:rPr dirty="0" sz="2800" spc="-160">
                <a:latin typeface="Calibri"/>
                <a:cs typeface="Calibri"/>
              </a:rPr>
              <a:t> </a:t>
            </a:r>
            <a:r>
              <a:rPr dirty="0" sz="2800">
                <a:latin typeface="Calibri"/>
                <a:cs typeface="Calibri"/>
              </a:rPr>
              <a:t>filters</a:t>
            </a:r>
            <a:r>
              <a:rPr dirty="0" sz="2800" spc="-55">
                <a:latin typeface="Calibri"/>
                <a:cs typeface="Calibri"/>
              </a:rPr>
              <a:t> </a:t>
            </a:r>
            <a:r>
              <a:rPr dirty="0" sz="2800">
                <a:latin typeface="Calibri"/>
                <a:cs typeface="Calibri"/>
              </a:rPr>
              <a:t>are</a:t>
            </a:r>
            <a:r>
              <a:rPr dirty="0" sz="2800" spc="-40">
                <a:latin typeface="Calibri"/>
                <a:cs typeface="Calibri"/>
              </a:rPr>
              <a:t> </a:t>
            </a:r>
            <a:r>
              <a:rPr dirty="0" sz="2800">
                <a:latin typeface="Calibri"/>
                <a:cs typeface="Calibri"/>
              </a:rPr>
              <a:t>determined</a:t>
            </a:r>
            <a:r>
              <a:rPr dirty="0" sz="2800" spc="-35">
                <a:latin typeface="Calibri"/>
                <a:cs typeface="Calibri"/>
              </a:rPr>
              <a:t> </a:t>
            </a:r>
            <a:r>
              <a:rPr dirty="0" sz="2800">
                <a:latin typeface="Calibri"/>
                <a:cs typeface="Calibri"/>
              </a:rPr>
              <a:t>by</a:t>
            </a:r>
            <a:r>
              <a:rPr dirty="0" sz="2800" spc="-45">
                <a:latin typeface="Calibri"/>
                <a:cs typeface="Calibri"/>
              </a:rPr>
              <a:t> </a:t>
            </a:r>
            <a:r>
              <a:rPr dirty="0" sz="2800">
                <a:latin typeface="Calibri"/>
                <a:cs typeface="Calibri"/>
              </a:rPr>
              <a:t>the</a:t>
            </a:r>
            <a:r>
              <a:rPr dirty="0" sz="2800" spc="-45">
                <a:latin typeface="Calibri"/>
                <a:cs typeface="Calibri"/>
              </a:rPr>
              <a:t> </a:t>
            </a:r>
            <a:r>
              <a:rPr dirty="0" sz="2800" spc="-25">
                <a:latin typeface="Calibri"/>
                <a:cs typeface="Calibri"/>
              </a:rPr>
              <a:t>weights</a:t>
            </a:r>
            <a:r>
              <a:rPr dirty="0" sz="2800" spc="-185">
                <a:latin typeface="Calibri"/>
                <a:cs typeface="Calibri"/>
              </a:rPr>
              <a:t> </a:t>
            </a:r>
            <a:r>
              <a:rPr dirty="0" baseline="-5050" sz="3300" spc="-75">
                <a:latin typeface="SimSun"/>
                <a:cs typeface="SimSun"/>
              </a:rPr>
              <a:t>W</a:t>
            </a:r>
            <a:r>
              <a:rPr dirty="0" baseline="-5050" sz="3300" spc="-637">
                <a:latin typeface="SimSun"/>
                <a:cs typeface="SimSun"/>
              </a:rPr>
              <a:t> </a:t>
            </a:r>
            <a:r>
              <a:rPr dirty="0" baseline="32051" sz="1950" spc="-60">
                <a:latin typeface="SimSun"/>
                <a:cs typeface="SimSun"/>
              </a:rPr>
              <a:t>k</a:t>
            </a:r>
            <a:r>
              <a:rPr dirty="0" baseline="32051" sz="1950" spc="-390">
                <a:latin typeface="SimSun"/>
                <a:cs typeface="SimSun"/>
              </a:rPr>
              <a:t> </a:t>
            </a:r>
            <a:r>
              <a:rPr dirty="0" sz="2800">
                <a:latin typeface="Calibri"/>
                <a:cs typeface="Calibri"/>
              </a:rPr>
              <a:t>and</a:t>
            </a:r>
            <a:r>
              <a:rPr dirty="0" sz="2800" spc="-20">
                <a:latin typeface="Calibri"/>
                <a:cs typeface="Calibri"/>
              </a:rPr>
              <a:t> </a:t>
            </a:r>
            <a:r>
              <a:rPr dirty="0" sz="2800" spc="-10">
                <a:latin typeface="Calibri"/>
                <a:cs typeface="Calibri"/>
              </a:rPr>
              <a:t>bias</a:t>
            </a:r>
            <a:r>
              <a:rPr dirty="0" sz="2800" spc="-260">
                <a:latin typeface="Calibri"/>
                <a:cs typeface="Calibri"/>
              </a:rPr>
              <a:t> </a:t>
            </a:r>
            <a:r>
              <a:rPr dirty="0" baseline="1291" sz="3225">
                <a:latin typeface="SimSun"/>
                <a:cs typeface="SimSun"/>
              </a:rPr>
              <a:t>b</a:t>
            </a:r>
            <a:r>
              <a:rPr dirty="0" baseline="-22222" sz="1875">
                <a:latin typeface="SimSun"/>
                <a:cs typeface="SimSun"/>
              </a:rPr>
              <a:t>k</a:t>
            </a:r>
            <a:r>
              <a:rPr dirty="0" baseline="-22222" sz="1875" spc="-172">
                <a:latin typeface="SimSun"/>
                <a:cs typeface="SimSun"/>
              </a:rPr>
              <a:t> </a:t>
            </a:r>
            <a:r>
              <a:rPr dirty="0" sz="2800" spc="-50">
                <a:latin typeface="Calibri"/>
                <a:cs typeface="Calibri"/>
              </a:rPr>
              <a:t>, </a:t>
            </a:r>
            <a:r>
              <a:rPr dirty="0" sz="2800">
                <a:latin typeface="Calibri"/>
                <a:cs typeface="Calibri"/>
              </a:rPr>
              <a:t>then</a:t>
            </a:r>
            <a:r>
              <a:rPr dirty="0" sz="2800" spc="-60">
                <a:latin typeface="Calibri"/>
                <a:cs typeface="Calibri"/>
              </a:rPr>
              <a:t> </a:t>
            </a:r>
            <a:r>
              <a:rPr dirty="0" sz="2800">
                <a:latin typeface="Calibri"/>
                <a:cs typeface="Calibri"/>
              </a:rPr>
              <a:t>the</a:t>
            </a:r>
            <a:r>
              <a:rPr dirty="0" sz="2800" spc="-75">
                <a:latin typeface="Calibri"/>
                <a:cs typeface="Calibri"/>
              </a:rPr>
              <a:t> </a:t>
            </a:r>
            <a:r>
              <a:rPr dirty="0" sz="2800" spc="-10">
                <a:latin typeface="Calibri"/>
                <a:cs typeface="Calibri"/>
              </a:rPr>
              <a:t>feature</a:t>
            </a:r>
            <a:r>
              <a:rPr dirty="0" sz="2800" spc="-75">
                <a:latin typeface="Calibri"/>
                <a:cs typeface="Calibri"/>
              </a:rPr>
              <a:t> </a:t>
            </a:r>
            <a:r>
              <a:rPr dirty="0" sz="2800">
                <a:latin typeface="Calibri"/>
                <a:cs typeface="Calibri"/>
              </a:rPr>
              <a:t>map</a:t>
            </a:r>
            <a:r>
              <a:rPr dirty="0" sz="2800" spc="-60">
                <a:latin typeface="Calibri"/>
                <a:cs typeface="Calibri"/>
              </a:rPr>
              <a:t> </a:t>
            </a:r>
            <a:r>
              <a:rPr dirty="0" sz="2800">
                <a:latin typeface="Calibri"/>
                <a:cs typeface="Calibri"/>
              </a:rPr>
              <a:t>is</a:t>
            </a:r>
            <a:r>
              <a:rPr dirty="0" sz="2800" spc="-65">
                <a:latin typeface="Calibri"/>
                <a:cs typeface="Calibri"/>
              </a:rPr>
              <a:t> </a:t>
            </a:r>
            <a:r>
              <a:rPr dirty="0" sz="2800">
                <a:latin typeface="Calibri"/>
                <a:cs typeface="Calibri"/>
              </a:rPr>
              <a:t>obtained</a:t>
            </a:r>
            <a:r>
              <a:rPr dirty="0" sz="2800" spc="-50">
                <a:latin typeface="Calibri"/>
                <a:cs typeface="Calibri"/>
              </a:rPr>
              <a:t> </a:t>
            </a:r>
            <a:r>
              <a:rPr dirty="0" sz="2800">
                <a:latin typeface="Calibri"/>
                <a:cs typeface="Calibri"/>
              </a:rPr>
              <a:t>using</a:t>
            </a:r>
            <a:r>
              <a:rPr dirty="0" sz="2800" spc="-45">
                <a:latin typeface="Calibri"/>
                <a:cs typeface="Calibri"/>
              </a:rPr>
              <a:t> </a:t>
            </a:r>
            <a:r>
              <a:rPr dirty="0" sz="2800" spc="-10">
                <a:latin typeface="Calibri"/>
                <a:cs typeface="Calibri"/>
              </a:rPr>
              <a:t>convolution</a:t>
            </a:r>
            <a:r>
              <a:rPr dirty="0" sz="2800" spc="-50">
                <a:latin typeface="Calibri"/>
                <a:cs typeface="Calibri"/>
              </a:rPr>
              <a:t> </a:t>
            </a:r>
            <a:r>
              <a:rPr dirty="0" sz="2800" spc="-25">
                <a:latin typeface="Calibri"/>
                <a:cs typeface="Calibri"/>
              </a:rPr>
              <a:t>as </a:t>
            </a:r>
            <a:r>
              <a:rPr dirty="0" sz="2800">
                <a:latin typeface="Calibri"/>
                <a:cs typeface="Calibri"/>
              </a:rPr>
              <a:t>follows</a:t>
            </a:r>
            <a:r>
              <a:rPr dirty="0" sz="2800" spc="-90">
                <a:latin typeface="Calibri"/>
                <a:cs typeface="Calibri"/>
              </a:rPr>
              <a:t> </a:t>
            </a:r>
            <a:r>
              <a:rPr dirty="0" sz="2800">
                <a:latin typeface="Calibri"/>
                <a:cs typeface="Calibri"/>
              </a:rPr>
              <a:t>(for</a:t>
            </a:r>
            <a:r>
              <a:rPr dirty="0" sz="2800" spc="-80">
                <a:latin typeface="Calibri"/>
                <a:cs typeface="Calibri"/>
              </a:rPr>
              <a:t> </a:t>
            </a:r>
            <a:r>
              <a:rPr dirty="0" sz="2800" i="1">
                <a:latin typeface="Calibri"/>
                <a:cs typeface="Calibri"/>
              </a:rPr>
              <a:t>tanh</a:t>
            </a:r>
            <a:r>
              <a:rPr dirty="0" sz="2800" spc="-100" i="1">
                <a:latin typeface="Calibri"/>
                <a:cs typeface="Calibri"/>
              </a:rPr>
              <a:t> </a:t>
            </a:r>
            <a:r>
              <a:rPr dirty="0" sz="2800" spc="-25">
                <a:latin typeface="Calibri"/>
                <a:cs typeface="Calibri"/>
              </a:rPr>
              <a:t>non-</a:t>
            </a:r>
            <a:r>
              <a:rPr dirty="0" sz="2800" spc="-10">
                <a:latin typeface="Calibri"/>
                <a:cs typeface="Calibri"/>
              </a:rPr>
              <a:t>linearities):</a:t>
            </a:r>
            <a:endParaRPr sz="2800">
              <a:latin typeface="Calibri"/>
              <a:cs typeface="Calibri"/>
            </a:endParaRPr>
          </a:p>
        </p:txBody>
      </p:sp>
      <p:pic>
        <p:nvPicPr>
          <p:cNvPr id="11" name="object 11" descr=""/>
          <p:cNvPicPr/>
          <p:nvPr/>
        </p:nvPicPr>
        <p:blipFill>
          <a:blip r:embed="rId2" cstate="print"/>
          <a:stretch>
            <a:fillRect/>
          </a:stretch>
        </p:blipFill>
        <p:spPr>
          <a:xfrm>
            <a:off x="325721" y="83002"/>
            <a:ext cx="521477" cy="301717"/>
          </a:xfrm>
          <a:prstGeom prst="rect">
            <a:avLst/>
          </a:prstGeom>
        </p:spPr>
      </p:pic>
      <p:pic>
        <p:nvPicPr>
          <p:cNvPr id="12" name="object 12" descr=""/>
          <p:cNvPicPr/>
          <p:nvPr/>
        </p:nvPicPr>
        <p:blipFill>
          <a:blip r:embed="rId3" cstate="print"/>
          <a:stretch>
            <a:fillRect/>
          </a:stretch>
        </p:blipFill>
        <p:spPr>
          <a:xfrm>
            <a:off x="915740" y="78018"/>
            <a:ext cx="203064" cy="325236"/>
          </a:xfrm>
          <a:prstGeom prst="rect">
            <a:avLst/>
          </a:prstGeom>
        </p:spPr>
      </p:pic>
      <p:pic>
        <p:nvPicPr>
          <p:cNvPr id="13" name="object 13" descr=""/>
          <p:cNvPicPr/>
          <p:nvPr/>
        </p:nvPicPr>
        <p:blipFill>
          <a:blip r:embed="rId4" cstate="print"/>
          <a:stretch>
            <a:fillRect/>
          </a:stretch>
        </p:blipFill>
        <p:spPr>
          <a:xfrm>
            <a:off x="1191705" y="53417"/>
            <a:ext cx="822613" cy="314666"/>
          </a:xfrm>
          <a:prstGeom prst="rect">
            <a:avLst/>
          </a:prstGeom>
        </p:spPr>
      </p:pic>
      <p:pic>
        <p:nvPicPr>
          <p:cNvPr id="14" name="object 14" descr=""/>
          <p:cNvPicPr/>
          <p:nvPr/>
        </p:nvPicPr>
        <p:blipFill>
          <a:blip r:embed="rId5" cstate="print"/>
          <a:stretch>
            <a:fillRect/>
          </a:stretch>
        </p:blipFill>
        <p:spPr>
          <a:xfrm>
            <a:off x="2087967" y="205441"/>
            <a:ext cx="402407" cy="276572"/>
          </a:xfrm>
          <a:prstGeom prst="rect">
            <a:avLst/>
          </a:prstGeom>
        </p:spPr>
      </p:pic>
      <p:pic>
        <p:nvPicPr>
          <p:cNvPr id="15" name="object 15" descr=""/>
          <p:cNvPicPr/>
          <p:nvPr/>
        </p:nvPicPr>
        <p:blipFill>
          <a:blip r:embed="rId6" cstate="print"/>
          <a:stretch>
            <a:fillRect/>
          </a:stretch>
        </p:blipFill>
        <p:spPr>
          <a:xfrm>
            <a:off x="2626626" y="74077"/>
            <a:ext cx="437817" cy="324692"/>
          </a:xfrm>
          <a:prstGeom prst="rect">
            <a:avLst/>
          </a:prstGeom>
        </p:spPr>
      </p:pic>
      <p:pic>
        <p:nvPicPr>
          <p:cNvPr id="16" name="object 16" descr=""/>
          <p:cNvPicPr/>
          <p:nvPr/>
        </p:nvPicPr>
        <p:blipFill>
          <a:blip r:embed="rId7" cstate="print"/>
          <a:stretch>
            <a:fillRect/>
          </a:stretch>
        </p:blipFill>
        <p:spPr>
          <a:xfrm>
            <a:off x="3130166" y="57939"/>
            <a:ext cx="283735" cy="362262"/>
          </a:xfrm>
          <a:prstGeom prst="rect">
            <a:avLst/>
          </a:prstGeom>
        </p:spPr>
      </p:pic>
      <p:sp>
        <p:nvSpPr>
          <p:cNvPr id="17" name="object 17" descr=""/>
          <p:cNvSpPr/>
          <p:nvPr/>
        </p:nvSpPr>
        <p:spPr>
          <a:xfrm>
            <a:off x="3477844" y="233298"/>
            <a:ext cx="41910" cy="81915"/>
          </a:xfrm>
          <a:custGeom>
            <a:avLst/>
            <a:gdLst/>
            <a:ahLst/>
            <a:cxnLst/>
            <a:rect l="l" t="t" r="r" b="b"/>
            <a:pathLst>
              <a:path w="41910" h="81914">
                <a:moveTo>
                  <a:pt x="35344" y="6769"/>
                </a:moveTo>
                <a:lnTo>
                  <a:pt x="33616" y="1524"/>
                </a:lnTo>
                <a:lnTo>
                  <a:pt x="31216" y="0"/>
                </a:lnTo>
                <a:lnTo>
                  <a:pt x="18161" y="1524"/>
                </a:lnTo>
                <a:lnTo>
                  <a:pt x="18402" y="1524"/>
                </a:lnTo>
                <a:lnTo>
                  <a:pt x="10947" y="2781"/>
                </a:lnTo>
                <a:lnTo>
                  <a:pt x="6946" y="3302"/>
                </a:lnTo>
                <a:lnTo>
                  <a:pt x="7188" y="3302"/>
                </a:lnTo>
                <a:lnTo>
                  <a:pt x="6413" y="4013"/>
                </a:lnTo>
                <a:lnTo>
                  <a:pt x="1524" y="8420"/>
                </a:lnTo>
                <a:lnTo>
                  <a:pt x="0" y="9817"/>
                </a:lnTo>
                <a:lnTo>
                  <a:pt x="1346" y="16573"/>
                </a:lnTo>
                <a:lnTo>
                  <a:pt x="1447" y="17094"/>
                </a:lnTo>
                <a:lnTo>
                  <a:pt x="1549" y="17589"/>
                </a:lnTo>
                <a:lnTo>
                  <a:pt x="7340" y="19951"/>
                </a:lnTo>
                <a:lnTo>
                  <a:pt x="9474" y="20828"/>
                </a:lnTo>
                <a:lnTo>
                  <a:pt x="11722" y="20828"/>
                </a:lnTo>
                <a:lnTo>
                  <a:pt x="16484" y="19951"/>
                </a:lnTo>
                <a:lnTo>
                  <a:pt x="16789" y="19951"/>
                </a:lnTo>
                <a:lnTo>
                  <a:pt x="18770" y="17094"/>
                </a:lnTo>
                <a:lnTo>
                  <a:pt x="18402" y="15049"/>
                </a:lnTo>
                <a:lnTo>
                  <a:pt x="20396" y="13970"/>
                </a:lnTo>
                <a:lnTo>
                  <a:pt x="25869" y="12420"/>
                </a:lnTo>
                <a:lnTo>
                  <a:pt x="33807" y="9817"/>
                </a:lnTo>
                <a:lnTo>
                  <a:pt x="35344" y="6769"/>
                </a:lnTo>
                <a:close/>
              </a:path>
              <a:path w="41910" h="81914">
                <a:moveTo>
                  <a:pt x="41325" y="66776"/>
                </a:moveTo>
                <a:lnTo>
                  <a:pt x="38849" y="64122"/>
                </a:lnTo>
                <a:lnTo>
                  <a:pt x="36957" y="63893"/>
                </a:lnTo>
                <a:lnTo>
                  <a:pt x="22199" y="73710"/>
                </a:lnTo>
                <a:lnTo>
                  <a:pt x="21628" y="76555"/>
                </a:lnTo>
                <a:lnTo>
                  <a:pt x="24434" y="80772"/>
                </a:lnTo>
                <a:lnTo>
                  <a:pt x="27279" y="81343"/>
                </a:lnTo>
                <a:lnTo>
                  <a:pt x="29591" y="79806"/>
                </a:lnTo>
                <a:lnTo>
                  <a:pt x="29972" y="79476"/>
                </a:lnTo>
                <a:lnTo>
                  <a:pt x="41249" y="68986"/>
                </a:lnTo>
                <a:lnTo>
                  <a:pt x="41325" y="66776"/>
                </a:lnTo>
                <a:close/>
              </a:path>
            </a:pathLst>
          </a:custGeom>
          <a:solidFill>
            <a:srgbClr val="000000"/>
          </a:solidFill>
        </p:spPr>
        <p:txBody>
          <a:bodyPr wrap="square" lIns="0" tIns="0" rIns="0" bIns="0" rtlCol="0"/>
          <a:lstStyle/>
          <a:p/>
        </p:txBody>
      </p:sp>
      <p:pic>
        <p:nvPicPr>
          <p:cNvPr id="18" name="object 18" descr=""/>
          <p:cNvPicPr/>
          <p:nvPr/>
        </p:nvPicPr>
        <p:blipFill>
          <a:blip r:embed="rId8" cstate="print"/>
          <a:stretch>
            <a:fillRect/>
          </a:stretch>
        </p:blipFill>
        <p:spPr>
          <a:xfrm>
            <a:off x="235827" y="947234"/>
            <a:ext cx="1899055" cy="322900"/>
          </a:xfrm>
          <a:prstGeom prst="rect">
            <a:avLst/>
          </a:prstGeom>
        </p:spPr>
      </p:pic>
      <p:pic>
        <p:nvPicPr>
          <p:cNvPr id="19" name="object 19" descr=""/>
          <p:cNvPicPr/>
          <p:nvPr/>
        </p:nvPicPr>
        <p:blipFill>
          <a:blip r:embed="rId9" cstate="print"/>
          <a:stretch>
            <a:fillRect/>
          </a:stretch>
        </p:blipFill>
        <p:spPr>
          <a:xfrm>
            <a:off x="2231422" y="940931"/>
            <a:ext cx="1773663" cy="346406"/>
          </a:xfrm>
          <a:prstGeom prst="rect">
            <a:avLst/>
          </a:prstGeom>
        </p:spPr>
      </p:pic>
      <p:pic>
        <p:nvPicPr>
          <p:cNvPr id="20" name="object 20" descr=""/>
          <p:cNvPicPr/>
          <p:nvPr/>
        </p:nvPicPr>
        <p:blipFill>
          <a:blip r:embed="rId10" cstate="print"/>
          <a:stretch>
            <a:fillRect/>
          </a:stretch>
        </p:blipFill>
        <p:spPr>
          <a:xfrm>
            <a:off x="4125005" y="954944"/>
            <a:ext cx="946532" cy="346316"/>
          </a:xfrm>
          <a:prstGeom prst="rect">
            <a:avLst/>
          </a:prstGeom>
        </p:spPr>
      </p:pic>
      <p:pic>
        <p:nvPicPr>
          <p:cNvPr id="21" name="object 21" descr=""/>
          <p:cNvPicPr/>
          <p:nvPr/>
        </p:nvPicPr>
        <p:blipFill>
          <a:blip r:embed="rId11" cstate="print"/>
          <a:stretch>
            <a:fillRect/>
          </a:stretch>
        </p:blipFill>
        <p:spPr>
          <a:xfrm>
            <a:off x="5157884" y="965220"/>
            <a:ext cx="806877" cy="405775"/>
          </a:xfrm>
          <a:prstGeom prst="rect">
            <a:avLst/>
          </a:prstGeom>
        </p:spPr>
      </p:pic>
      <p:pic>
        <p:nvPicPr>
          <p:cNvPr id="22" name="object 22" descr=""/>
          <p:cNvPicPr/>
          <p:nvPr/>
        </p:nvPicPr>
        <p:blipFill>
          <a:blip r:embed="rId12" cstate="print"/>
          <a:stretch>
            <a:fillRect/>
          </a:stretch>
        </p:blipFill>
        <p:spPr>
          <a:xfrm>
            <a:off x="6012877" y="995578"/>
            <a:ext cx="1807270" cy="344599"/>
          </a:xfrm>
          <a:prstGeom prst="rect">
            <a:avLst/>
          </a:prstGeom>
        </p:spPr>
      </p:pic>
      <p:pic>
        <p:nvPicPr>
          <p:cNvPr id="23" name="object 23" descr=""/>
          <p:cNvPicPr/>
          <p:nvPr/>
        </p:nvPicPr>
        <p:blipFill>
          <a:blip r:embed="rId13" cstate="print"/>
          <a:stretch>
            <a:fillRect/>
          </a:stretch>
        </p:blipFill>
        <p:spPr>
          <a:xfrm>
            <a:off x="2098368" y="3106809"/>
            <a:ext cx="214071" cy="147999"/>
          </a:xfrm>
          <a:prstGeom prst="rect">
            <a:avLst/>
          </a:prstGeom>
        </p:spPr>
      </p:pic>
      <p:pic>
        <p:nvPicPr>
          <p:cNvPr id="24" name="object 24" descr=""/>
          <p:cNvPicPr/>
          <p:nvPr/>
        </p:nvPicPr>
        <p:blipFill>
          <a:blip r:embed="rId14" cstate="print"/>
          <a:stretch>
            <a:fillRect/>
          </a:stretch>
        </p:blipFill>
        <p:spPr>
          <a:xfrm>
            <a:off x="6080446" y="2865671"/>
            <a:ext cx="1372072" cy="328510"/>
          </a:xfrm>
          <a:prstGeom prst="rect">
            <a:avLst/>
          </a:prstGeom>
        </p:spPr>
      </p:pic>
      <p:grpSp>
        <p:nvGrpSpPr>
          <p:cNvPr id="25" name="object 25" descr=""/>
          <p:cNvGrpSpPr/>
          <p:nvPr/>
        </p:nvGrpSpPr>
        <p:grpSpPr>
          <a:xfrm>
            <a:off x="2389733" y="2937722"/>
            <a:ext cx="3627754" cy="662305"/>
            <a:chOff x="2389733" y="2937722"/>
            <a:chExt cx="3627754" cy="662305"/>
          </a:xfrm>
        </p:grpSpPr>
        <p:pic>
          <p:nvPicPr>
            <p:cNvPr id="26" name="object 26" descr=""/>
            <p:cNvPicPr/>
            <p:nvPr/>
          </p:nvPicPr>
          <p:blipFill>
            <a:blip r:embed="rId15" cstate="print"/>
            <a:stretch>
              <a:fillRect/>
            </a:stretch>
          </p:blipFill>
          <p:spPr>
            <a:xfrm>
              <a:off x="4067896" y="3085597"/>
              <a:ext cx="143624" cy="137160"/>
            </a:xfrm>
            <a:prstGeom prst="rect">
              <a:avLst/>
            </a:prstGeom>
          </p:spPr>
        </p:pic>
        <p:pic>
          <p:nvPicPr>
            <p:cNvPr id="27" name="object 27" descr=""/>
            <p:cNvPicPr/>
            <p:nvPr/>
          </p:nvPicPr>
          <p:blipFill>
            <a:blip r:embed="rId16" cstate="print"/>
            <a:stretch>
              <a:fillRect/>
            </a:stretch>
          </p:blipFill>
          <p:spPr>
            <a:xfrm>
              <a:off x="4349087" y="2995935"/>
              <a:ext cx="419116" cy="224062"/>
            </a:xfrm>
            <a:prstGeom prst="rect">
              <a:avLst/>
            </a:prstGeom>
          </p:spPr>
        </p:pic>
        <p:sp>
          <p:nvSpPr>
            <p:cNvPr id="28" name="object 28" descr=""/>
            <p:cNvSpPr/>
            <p:nvPr/>
          </p:nvSpPr>
          <p:spPr>
            <a:xfrm>
              <a:off x="4838001" y="3077362"/>
              <a:ext cx="26670" cy="92710"/>
            </a:xfrm>
            <a:custGeom>
              <a:avLst/>
              <a:gdLst/>
              <a:ahLst/>
              <a:cxnLst/>
              <a:rect l="l" t="t" r="r" b="b"/>
              <a:pathLst>
                <a:path w="26670" h="92710">
                  <a:moveTo>
                    <a:pt x="20307" y="8420"/>
                  </a:moveTo>
                  <a:lnTo>
                    <a:pt x="18999" y="6388"/>
                  </a:lnTo>
                  <a:lnTo>
                    <a:pt x="18643" y="6032"/>
                  </a:lnTo>
                  <a:lnTo>
                    <a:pt x="9309" y="0"/>
                  </a:lnTo>
                  <a:lnTo>
                    <a:pt x="4584" y="1016"/>
                  </a:lnTo>
                  <a:lnTo>
                    <a:pt x="0" y="8089"/>
                  </a:lnTo>
                  <a:lnTo>
                    <a:pt x="1016" y="12814"/>
                  </a:lnTo>
                  <a:lnTo>
                    <a:pt x="7073" y="16738"/>
                  </a:lnTo>
                  <a:lnTo>
                    <a:pt x="10325" y="16738"/>
                  </a:lnTo>
                  <a:lnTo>
                    <a:pt x="19850" y="10579"/>
                  </a:lnTo>
                  <a:lnTo>
                    <a:pt x="20307" y="8420"/>
                  </a:lnTo>
                  <a:close/>
                </a:path>
                <a:path w="26670" h="92710">
                  <a:moveTo>
                    <a:pt x="26250" y="77673"/>
                  </a:moveTo>
                  <a:lnTo>
                    <a:pt x="25603" y="74828"/>
                  </a:lnTo>
                  <a:lnTo>
                    <a:pt x="21640" y="72351"/>
                  </a:lnTo>
                  <a:lnTo>
                    <a:pt x="19304" y="72605"/>
                  </a:lnTo>
                  <a:lnTo>
                    <a:pt x="14071" y="77673"/>
                  </a:lnTo>
                  <a:lnTo>
                    <a:pt x="9931" y="81927"/>
                  </a:lnTo>
                  <a:lnTo>
                    <a:pt x="7950" y="89166"/>
                  </a:lnTo>
                  <a:lnTo>
                    <a:pt x="9182" y="91325"/>
                  </a:lnTo>
                  <a:lnTo>
                    <a:pt x="12280" y="92189"/>
                  </a:lnTo>
                  <a:lnTo>
                    <a:pt x="13119" y="92189"/>
                  </a:lnTo>
                  <a:lnTo>
                    <a:pt x="18884" y="89166"/>
                  </a:lnTo>
                  <a:lnTo>
                    <a:pt x="22199" y="84162"/>
                  </a:lnTo>
                  <a:lnTo>
                    <a:pt x="26250" y="77673"/>
                  </a:lnTo>
                  <a:close/>
                </a:path>
              </a:pathLst>
            </a:custGeom>
            <a:solidFill>
              <a:srgbClr val="000000"/>
            </a:solidFill>
          </p:spPr>
          <p:txBody>
            <a:bodyPr wrap="square" lIns="0" tIns="0" rIns="0" bIns="0" rtlCol="0"/>
            <a:lstStyle/>
            <a:p/>
          </p:txBody>
        </p:sp>
        <p:pic>
          <p:nvPicPr>
            <p:cNvPr id="29" name="object 29" descr=""/>
            <p:cNvPicPr/>
            <p:nvPr/>
          </p:nvPicPr>
          <p:blipFill>
            <a:blip r:embed="rId17" cstate="print"/>
            <a:stretch>
              <a:fillRect/>
            </a:stretch>
          </p:blipFill>
          <p:spPr>
            <a:xfrm>
              <a:off x="2389733" y="2937722"/>
              <a:ext cx="3627146" cy="662026"/>
            </a:xfrm>
            <a:prstGeom prst="rect">
              <a:avLst/>
            </a:prstGeom>
          </p:spPr>
        </p:pic>
      </p:grpSp>
      <p:pic>
        <p:nvPicPr>
          <p:cNvPr id="30" name="object 30" descr=""/>
          <p:cNvPicPr/>
          <p:nvPr/>
        </p:nvPicPr>
        <p:blipFill>
          <a:blip r:embed="rId18" cstate="print"/>
          <a:stretch>
            <a:fillRect/>
          </a:stretch>
        </p:blipFill>
        <p:spPr>
          <a:xfrm>
            <a:off x="7595068" y="2931736"/>
            <a:ext cx="1548931" cy="350743"/>
          </a:xfrm>
          <a:prstGeom prst="rect">
            <a:avLst/>
          </a:prstGeom>
        </p:spPr>
      </p:pic>
      <p:pic>
        <p:nvPicPr>
          <p:cNvPr id="31" name="object 31" descr=""/>
          <p:cNvPicPr/>
          <p:nvPr/>
        </p:nvPicPr>
        <p:blipFill>
          <a:blip r:embed="rId19" cstate="print"/>
          <a:stretch>
            <a:fillRect/>
          </a:stretch>
        </p:blipFill>
        <p:spPr>
          <a:xfrm>
            <a:off x="5700248" y="4810315"/>
            <a:ext cx="3371058" cy="1758345"/>
          </a:xfrm>
          <a:prstGeom prst="rect">
            <a:avLst/>
          </a:prstGeom>
        </p:spPr>
      </p:pic>
      <p:pic>
        <p:nvPicPr>
          <p:cNvPr id="32" name="object 32" descr=""/>
          <p:cNvPicPr/>
          <p:nvPr/>
        </p:nvPicPr>
        <p:blipFill>
          <a:blip r:embed="rId20" cstate="print"/>
          <a:stretch>
            <a:fillRect/>
          </a:stretch>
        </p:blipFill>
        <p:spPr>
          <a:xfrm>
            <a:off x="1571165" y="5433662"/>
            <a:ext cx="410481" cy="50926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64793" rIns="0" bIns="0" rtlCol="0" vert="horz">
            <a:spAutoFit/>
          </a:bodyPr>
          <a:lstStyle/>
          <a:p>
            <a:pPr marL="1478280">
              <a:lnSpc>
                <a:spcPct val="100000"/>
              </a:lnSpc>
              <a:spcBef>
                <a:spcPts val="105"/>
              </a:spcBef>
            </a:pPr>
            <a:r>
              <a:rPr dirty="0" sz="4400"/>
              <a:t>Convolutional</a:t>
            </a:r>
            <a:r>
              <a:rPr dirty="0" sz="4400" spc="-85"/>
              <a:t> </a:t>
            </a:r>
            <a:r>
              <a:rPr dirty="0" sz="4400" spc="-10"/>
              <a:t>Layers</a:t>
            </a:r>
            <a:endParaRPr sz="4400"/>
          </a:p>
        </p:txBody>
      </p:sp>
      <p:sp>
        <p:nvSpPr>
          <p:cNvPr id="3" name="object 3" descr=""/>
          <p:cNvSpPr txBox="1"/>
          <p:nvPr/>
        </p:nvSpPr>
        <p:spPr>
          <a:xfrm>
            <a:off x="186244" y="1566951"/>
            <a:ext cx="8572500" cy="1732280"/>
          </a:xfrm>
          <a:prstGeom prst="rect">
            <a:avLst/>
          </a:prstGeom>
        </p:spPr>
        <p:txBody>
          <a:bodyPr wrap="square" lIns="0" tIns="12065" rIns="0" bIns="0" rtlCol="0" vert="horz">
            <a:spAutoFit/>
          </a:bodyPr>
          <a:lstStyle/>
          <a:p>
            <a:pPr marL="355600" marR="473075" indent="-342900">
              <a:lnSpc>
                <a:spcPct val="100000"/>
              </a:lnSpc>
              <a:spcBef>
                <a:spcPts val="95"/>
              </a:spcBef>
              <a:buFont typeface="Arial MT"/>
              <a:buChar char="•"/>
              <a:tabLst>
                <a:tab pos="355600" algn="l"/>
              </a:tabLst>
            </a:pPr>
            <a:r>
              <a:rPr dirty="0" sz="2800">
                <a:latin typeface="Calibri"/>
                <a:cs typeface="Calibri"/>
              </a:rPr>
              <a:t>Suppose</a:t>
            </a:r>
            <a:r>
              <a:rPr dirty="0" sz="2800" spc="-50">
                <a:latin typeface="Calibri"/>
                <a:cs typeface="Calibri"/>
              </a:rPr>
              <a:t> </a:t>
            </a:r>
            <a:r>
              <a:rPr dirty="0" sz="2800">
                <a:latin typeface="Calibri"/>
                <a:cs typeface="Calibri"/>
              </a:rPr>
              <a:t>that</a:t>
            </a:r>
            <a:r>
              <a:rPr dirty="0" sz="2800" spc="-75">
                <a:latin typeface="Calibri"/>
                <a:cs typeface="Calibri"/>
              </a:rPr>
              <a:t> </a:t>
            </a:r>
            <a:r>
              <a:rPr dirty="0" sz="2800">
                <a:latin typeface="Calibri"/>
                <a:cs typeface="Calibri"/>
              </a:rPr>
              <a:t>we</a:t>
            </a:r>
            <a:r>
              <a:rPr dirty="0" sz="2800" spc="-90">
                <a:latin typeface="Calibri"/>
                <a:cs typeface="Calibri"/>
              </a:rPr>
              <a:t> </a:t>
            </a:r>
            <a:r>
              <a:rPr dirty="0" sz="2800">
                <a:latin typeface="Calibri"/>
                <a:cs typeface="Calibri"/>
              </a:rPr>
              <a:t>have</a:t>
            </a:r>
            <a:r>
              <a:rPr dirty="0" sz="2800" spc="-70">
                <a:latin typeface="Calibri"/>
                <a:cs typeface="Calibri"/>
              </a:rPr>
              <a:t> </a:t>
            </a:r>
            <a:r>
              <a:rPr dirty="0" sz="2800">
                <a:latin typeface="Calibri"/>
                <a:cs typeface="Calibri"/>
              </a:rPr>
              <a:t>some</a:t>
            </a:r>
            <a:r>
              <a:rPr dirty="0" sz="2800" spc="-90">
                <a:latin typeface="Calibri"/>
                <a:cs typeface="Calibri"/>
              </a:rPr>
              <a:t> </a:t>
            </a:r>
            <a:r>
              <a:rPr dirty="0" sz="2800">
                <a:latin typeface="Calibri"/>
                <a:cs typeface="Calibri"/>
              </a:rPr>
              <a:t>NxN</a:t>
            </a:r>
            <a:r>
              <a:rPr dirty="0" sz="2800" spc="-60">
                <a:latin typeface="Calibri"/>
                <a:cs typeface="Calibri"/>
              </a:rPr>
              <a:t> </a:t>
            </a:r>
            <a:r>
              <a:rPr dirty="0" sz="2800">
                <a:latin typeface="Calibri"/>
                <a:cs typeface="Calibri"/>
              </a:rPr>
              <a:t>square</a:t>
            </a:r>
            <a:r>
              <a:rPr dirty="0" sz="2800" spc="-75">
                <a:latin typeface="Calibri"/>
                <a:cs typeface="Calibri"/>
              </a:rPr>
              <a:t> </a:t>
            </a:r>
            <a:r>
              <a:rPr dirty="0" sz="2800">
                <a:latin typeface="Calibri"/>
                <a:cs typeface="Calibri"/>
              </a:rPr>
              <a:t>neuron</a:t>
            </a:r>
            <a:r>
              <a:rPr dirty="0" sz="2800" spc="-55">
                <a:latin typeface="Calibri"/>
                <a:cs typeface="Calibri"/>
              </a:rPr>
              <a:t> </a:t>
            </a:r>
            <a:r>
              <a:rPr dirty="0" sz="2800" spc="-10">
                <a:latin typeface="Calibri"/>
                <a:cs typeface="Calibri"/>
              </a:rPr>
              <a:t>layer </a:t>
            </a:r>
            <a:r>
              <a:rPr dirty="0" sz="2800">
                <a:latin typeface="Calibri"/>
                <a:cs typeface="Calibri"/>
              </a:rPr>
              <a:t>which</a:t>
            </a:r>
            <a:r>
              <a:rPr dirty="0" sz="2800" spc="-40">
                <a:latin typeface="Calibri"/>
                <a:cs typeface="Calibri"/>
              </a:rPr>
              <a:t> </a:t>
            </a:r>
            <a:r>
              <a:rPr dirty="0" sz="2800">
                <a:latin typeface="Calibri"/>
                <a:cs typeface="Calibri"/>
              </a:rPr>
              <a:t>is</a:t>
            </a:r>
            <a:r>
              <a:rPr dirty="0" sz="2800" spc="-45">
                <a:latin typeface="Calibri"/>
                <a:cs typeface="Calibri"/>
              </a:rPr>
              <a:t> </a:t>
            </a:r>
            <a:r>
              <a:rPr dirty="0" sz="2800" spc="-10">
                <a:latin typeface="Calibri"/>
                <a:cs typeface="Calibri"/>
              </a:rPr>
              <a:t>followed</a:t>
            </a:r>
            <a:r>
              <a:rPr dirty="0" sz="2800" spc="-60">
                <a:latin typeface="Calibri"/>
                <a:cs typeface="Calibri"/>
              </a:rPr>
              <a:t> </a:t>
            </a:r>
            <a:r>
              <a:rPr dirty="0" sz="2800">
                <a:latin typeface="Calibri"/>
                <a:cs typeface="Calibri"/>
              </a:rPr>
              <a:t>by</a:t>
            </a:r>
            <a:r>
              <a:rPr dirty="0" sz="2800" spc="-50">
                <a:latin typeface="Calibri"/>
                <a:cs typeface="Calibri"/>
              </a:rPr>
              <a:t> </a:t>
            </a:r>
            <a:r>
              <a:rPr dirty="0" sz="2800">
                <a:latin typeface="Calibri"/>
                <a:cs typeface="Calibri"/>
              </a:rPr>
              <a:t>our</a:t>
            </a:r>
            <a:r>
              <a:rPr dirty="0" sz="2800" spc="-50">
                <a:latin typeface="Calibri"/>
                <a:cs typeface="Calibri"/>
              </a:rPr>
              <a:t> </a:t>
            </a:r>
            <a:r>
              <a:rPr dirty="0" sz="2800" spc="-10">
                <a:latin typeface="Calibri"/>
                <a:cs typeface="Calibri"/>
              </a:rPr>
              <a:t>convolutional</a:t>
            </a:r>
            <a:r>
              <a:rPr dirty="0" sz="2800" spc="-25">
                <a:latin typeface="Calibri"/>
                <a:cs typeface="Calibri"/>
              </a:rPr>
              <a:t> </a:t>
            </a:r>
            <a:r>
              <a:rPr dirty="0" sz="2800" spc="-55">
                <a:latin typeface="Calibri"/>
                <a:cs typeface="Calibri"/>
              </a:rPr>
              <a:t>layer. </a:t>
            </a:r>
            <a:r>
              <a:rPr dirty="0" sz="2800">
                <a:latin typeface="Calibri"/>
                <a:cs typeface="Calibri"/>
              </a:rPr>
              <a:t>If</a:t>
            </a:r>
            <a:r>
              <a:rPr dirty="0" sz="2800" spc="-70">
                <a:latin typeface="Calibri"/>
                <a:cs typeface="Calibri"/>
              </a:rPr>
              <a:t> </a:t>
            </a:r>
            <a:r>
              <a:rPr dirty="0" sz="2800">
                <a:latin typeface="Calibri"/>
                <a:cs typeface="Calibri"/>
              </a:rPr>
              <a:t>we</a:t>
            </a:r>
            <a:r>
              <a:rPr dirty="0" sz="2800" spc="-65">
                <a:latin typeface="Calibri"/>
                <a:cs typeface="Calibri"/>
              </a:rPr>
              <a:t> </a:t>
            </a:r>
            <a:r>
              <a:rPr dirty="0" sz="2800" spc="-25">
                <a:latin typeface="Calibri"/>
                <a:cs typeface="Calibri"/>
              </a:rPr>
              <a:t>use</a:t>
            </a:r>
            <a:endParaRPr sz="2800">
              <a:latin typeface="Calibri"/>
              <a:cs typeface="Calibri"/>
            </a:endParaRPr>
          </a:p>
          <a:p>
            <a:pPr marL="355600">
              <a:lnSpc>
                <a:spcPct val="100000"/>
              </a:lnSpc>
            </a:pPr>
            <a:r>
              <a:rPr dirty="0" sz="2800">
                <a:latin typeface="Calibri"/>
                <a:cs typeface="Calibri"/>
              </a:rPr>
              <a:t>an</a:t>
            </a:r>
            <a:r>
              <a:rPr dirty="0" sz="2800" spc="-70">
                <a:latin typeface="Calibri"/>
                <a:cs typeface="Calibri"/>
              </a:rPr>
              <a:t> </a:t>
            </a:r>
            <a:r>
              <a:rPr dirty="0" sz="2800">
                <a:latin typeface="Calibri"/>
                <a:cs typeface="Calibri"/>
              </a:rPr>
              <a:t>mxm</a:t>
            </a:r>
            <a:r>
              <a:rPr dirty="0" sz="2800" spc="-55">
                <a:latin typeface="Calibri"/>
                <a:cs typeface="Calibri"/>
              </a:rPr>
              <a:t> </a:t>
            </a:r>
            <a:r>
              <a:rPr dirty="0" sz="2800">
                <a:latin typeface="Calibri"/>
                <a:cs typeface="Calibri"/>
              </a:rPr>
              <a:t>filter</a:t>
            </a:r>
            <a:r>
              <a:rPr dirty="0" sz="2800" spc="-65">
                <a:latin typeface="Calibri"/>
                <a:cs typeface="Calibri"/>
              </a:rPr>
              <a:t> </a:t>
            </a:r>
            <a:r>
              <a:rPr dirty="0" sz="2800">
                <a:latin typeface="Calibri"/>
                <a:cs typeface="Calibri"/>
              </a:rPr>
              <a:t>ω,</a:t>
            </a:r>
            <a:r>
              <a:rPr dirty="0" sz="2800" spc="-50">
                <a:latin typeface="Calibri"/>
                <a:cs typeface="Calibri"/>
              </a:rPr>
              <a:t> </a:t>
            </a:r>
            <a:r>
              <a:rPr dirty="0" sz="2800">
                <a:latin typeface="Calibri"/>
                <a:cs typeface="Calibri"/>
              </a:rPr>
              <a:t>our</a:t>
            </a:r>
            <a:r>
              <a:rPr dirty="0" sz="2800" spc="-55">
                <a:latin typeface="Calibri"/>
                <a:cs typeface="Calibri"/>
              </a:rPr>
              <a:t> </a:t>
            </a:r>
            <a:r>
              <a:rPr dirty="0" sz="2800" spc="-10">
                <a:latin typeface="Calibri"/>
                <a:cs typeface="Calibri"/>
              </a:rPr>
              <a:t>convolutional</a:t>
            </a:r>
            <a:r>
              <a:rPr dirty="0" sz="2800" spc="-35">
                <a:latin typeface="Calibri"/>
                <a:cs typeface="Calibri"/>
              </a:rPr>
              <a:t> </a:t>
            </a:r>
            <a:r>
              <a:rPr dirty="0" sz="2800">
                <a:latin typeface="Calibri"/>
                <a:cs typeface="Calibri"/>
              </a:rPr>
              <a:t>layer</a:t>
            </a:r>
            <a:r>
              <a:rPr dirty="0" sz="2800" spc="-70">
                <a:latin typeface="Calibri"/>
                <a:cs typeface="Calibri"/>
              </a:rPr>
              <a:t> </a:t>
            </a:r>
            <a:r>
              <a:rPr dirty="0" u="heavy" sz="2800">
                <a:uFill>
                  <a:solidFill>
                    <a:srgbClr val="D20000"/>
                  </a:solidFill>
                </a:uFill>
                <a:latin typeface="Calibri"/>
                <a:cs typeface="Calibri"/>
              </a:rPr>
              <a:t>output</a:t>
            </a:r>
            <a:r>
              <a:rPr dirty="0" u="heavy" sz="2800" spc="-35">
                <a:uFill>
                  <a:solidFill>
                    <a:srgbClr val="D20000"/>
                  </a:solidFill>
                </a:uFill>
                <a:latin typeface="Calibri"/>
                <a:cs typeface="Calibri"/>
              </a:rPr>
              <a:t> </a:t>
            </a:r>
            <a:r>
              <a:rPr dirty="0" u="heavy" sz="2800">
                <a:uFill>
                  <a:solidFill>
                    <a:srgbClr val="D20000"/>
                  </a:solidFill>
                </a:uFill>
                <a:latin typeface="Calibri"/>
                <a:cs typeface="Calibri"/>
              </a:rPr>
              <a:t>will</a:t>
            </a:r>
            <a:r>
              <a:rPr dirty="0" u="heavy" sz="2800" spc="-70">
                <a:uFill>
                  <a:solidFill>
                    <a:srgbClr val="D20000"/>
                  </a:solidFill>
                </a:uFill>
                <a:latin typeface="Calibri"/>
                <a:cs typeface="Calibri"/>
              </a:rPr>
              <a:t> </a:t>
            </a:r>
            <a:r>
              <a:rPr dirty="0" u="heavy" sz="2800">
                <a:uFill>
                  <a:solidFill>
                    <a:srgbClr val="D20000"/>
                  </a:solidFill>
                </a:uFill>
                <a:latin typeface="Calibri"/>
                <a:cs typeface="Calibri"/>
              </a:rPr>
              <a:t>be</a:t>
            </a:r>
            <a:r>
              <a:rPr dirty="0" u="heavy" sz="2800" spc="-50">
                <a:uFill>
                  <a:solidFill>
                    <a:srgbClr val="D20000"/>
                  </a:solidFill>
                </a:uFill>
                <a:latin typeface="Calibri"/>
                <a:cs typeface="Calibri"/>
              </a:rPr>
              <a:t> </a:t>
            </a:r>
            <a:r>
              <a:rPr dirty="0" u="heavy" sz="2800" spc="-25">
                <a:uFill>
                  <a:solidFill>
                    <a:srgbClr val="D20000"/>
                  </a:solidFill>
                </a:uFill>
                <a:latin typeface="Calibri"/>
                <a:cs typeface="Calibri"/>
              </a:rPr>
              <a:t>of</a:t>
            </a:r>
            <a:endParaRPr sz="2800">
              <a:latin typeface="Calibri"/>
              <a:cs typeface="Calibri"/>
            </a:endParaRPr>
          </a:p>
          <a:p>
            <a:pPr marL="355600">
              <a:lnSpc>
                <a:spcPct val="100000"/>
              </a:lnSpc>
            </a:pPr>
            <a:r>
              <a:rPr dirty="0" sz="2800">
                <a:latin typeface="Calibri"/>
                <a:cs typeface="Calibri"/>
              </a:rPr>
              <a:t>size</a:t>
            </a:r>
            <a:r>
              <a:rPr dirty="0" sz="2800" spc="-95">
                <a:latin typeface="Calibri"/>
                <a:cs typeface="Calibri"/>
              </a:rPr>
              <a:t> </a:t>
            </a:r>
            <a:r>
              <a:rPr dirty="0" sz="2800" spc="-10">
                <a:latin typeface="Calibri"/>
                <a:cs typeface="Calibri"/>
              </a:rPr>
              <a:t>(N−m+1)x(N−m+1).</a:t>
            </a:r>
            <a:endParaRPr sz="2800">
              <a:latin typeface="Calibri"/>
              <a:cs typeface="Calibri"/>
            </a:endParaRPr>
          </a:p>
        </p:txBody>
      </p:sp>
      <p:sp>
        <p:nvSpPr>
          <p:cNvPr id="4" name="object 4" descr=""/>
          <p:cNvSpPr txBox="1"/>
          <p:nvPr/>
        </p:nvSpPr>
        <p:spPr>
          <a:xfrm>
            <a:off x="529144" y="4298060"/>
            <a:ext cx="596900" cy="452120"/>
          </a:xfrm>
          <a:prstGeom prst="rect">
            <a:avLst/>
          </a:prstGeom>
        </p:spPr>
        <p:txBody>
          <a:bodyPr wrap="square" lIns="0" tIns="12065" rIns="0" bIns="0" rtlCol="0" vert="horz">
            <a:spAutoFit/>
          </a:bodyPr>
          <a:lstStyle/>
          <a:p>
            <a:pPr marL="12700">
              <a:lnSpc>
                <a:spcPct val="100000"/>
              </a:lnSpc>
              <a:spcBef>
                <a:spcPts val="95"/>
              </a:spcBef>
            </a:pPr>
            <a:r>
              <a:rPr dirty="0" sz="2800" spc="-20">
                <a:latin typeface="Calibri"/>
                <a:cs typeface="Calibri"/>
              </a:rPr>
              <a:t>unit</a:t>
            </a:r>
            <a:endParaRPr sz="2800">
              <a:latin typeface="Calibri"/>
              <a:cs typeface="Calibri"/>
            </a:endParaRPr>
          </a:p>
        </p:txBody>
      </p:sp>
      <p:sp>
        <p:nvSpPr>
          <p:cNvPr id="5" name="object 5" descr=""/>
          <p:cNvSpPr txBox="1"/>
          <p:nvPr/>
        </p:nvSpPr>
        <p:spPr>
          <a:xfrm>
            <a:off x="1589803" y="4298060"/>
            <a:ext cx="7132320"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in</a:t>
            </a:r>
            <a:r>
              <a:rPr dirty="0" sz="2800" spc="-35">
                <a:latin typeface="Calibri"/>
                <a:cs typeface="Calibri"/>
              </a:rPr>
              <a:t> </a:t>
            </a:r>
            <a:r>
              <a:rPr dirty="0" sz="2800">
                <a:latin typeface="Calibri"/>
                <a:cs typeface="Calibri"/>
              </a:rPr>
              <a:t>our</a:t>
            </a:r>
            <a:r>
              <a:rPr dirty="0" sz="2800" spc="-35">
                <a:latin typeface="Calibri"/>
                <a:cs typeface="Calibri"/>
              </a:rPr>
              <a:t> </a:t>
            </a:r>
            <a:r>
              <a:rPr dirty="0" sz="2800" spc="-50">
                <a:latin typeface="Calibri"/>
                <a:cs typeface="Calibri"/>
              </a:rPr>
              <a:t>layer,</a:t>
            </a:r>
            <a:r>
              <a:rPr dirty="0" sz="2800" spc="-40">
                <a:latin typeface="Calibri"/>
                <a:cs typeface="Calibri"/>
              </a:rPr>
              <a:t> </a:t>
            </a:r>
            <a:r>
              <a:rPr dirty="0" sz="2800">
                <a:latin typeface="Calibri"/>
                <a:cs typeface="Calibri"/>
              </a:rPr>
              <a:t>we</a:t>
            </a:r>
            <a:r>
              <a:rPr dirty="0" sz="2800" spc="-45">
                <a:latin typeface="Calibri"/>
                <a:cs typeface="Calibri"/>
              </a:rPr>
              <a:t> </a:t>
            </a:r>
            <a:r>
              <a:rPr dirty="0" sz="2800">
                <a:latin typeface="Calibri"/>
                <a:cs typeface="Calibri"/>
              </a:rPr>
              <a:t>need</a:t>
            </a:r>
            <a:r>
              <a:rPr dirty="0" sz="2800" spc="-30">
                <a:latin typeface="Calibri"/>
                <a:cs typeface="Calibri"/>
              </a:rPr>
              <a:t> </a:t>
            </a:r>
            <a:r>
              <a:rPr dirty="0" sz="2800">
                <a:latin typeface="Calibri"/>
                <a:cs typeface="Calibri"/>
              </a:rPr>
              <a:t>to</a:t>
            </a:r>
            <a:r>
              <a:rPr dirty="0" sz="2800" spc="-45">
                <a:latin typeface="Calibri"/>
                <a:cs typeface="Calibri"/>
              </a:rPr>
              <a:t> </a:t>
            </a:r>
            <a:r>
              <a:rPr dirty="0" sz="2800">
                <a:latin typeface="Calibri"/>
                <a:cs typeface="Calibri"/>
              </a:rPr>
              <a:t>sum</a:t>
            </a:r>
            <a:r>
              <a:rPr dirty="0" sz="2800" spc="-25">
                <a:latin typeface="Calibri"/>
                <a:cs typeface="Calibri"/>
              </a:rPr>
              <a:t> </a:t>
            </a:r>
            <a:r>
              <a:rPr dirty="0" sz="2800">
                <a:latin typeface="Calibri"/>
                <a:cs typeface="Calibri"/>
              </a:rPr>
              <a:t>up</a:t>
            </a:r>
            <a:r>
              <a:rPr dirty="0" sz="2800" spc="-20">
                <a:latin typeface="Calibri"/>
                <a:cs typeface="Calibri"/>
              </a:rPr>
              <a:t> </a:t>
            </a:r>
            <a:r>
              <a:rPr dirty="0" sz="2800">
                <a:latin typeface="Calibri"/>
                <a:cs typeface="Calibri"/>
              </a:rPr>
              <a:t>the</a:t>
            </a:r>
            <a:r>
              <a:rPr dirty="0" sz="2800" spc="-30">
                <a:latin typeface="Calibri"/>
                <a:cs typeface="Calibri"/>
              </a:rPr>
              <a:t> </a:t>
            </a:r>
            <a:r>
              <a:rPr dirty="0" sz="2800" spc="-10">
                <a:latin typeface="Calibri"/>
                <a:cs typeface="Calibri"/>
              </a:rPr>
              <a:t>contributions</a:t>
            </a:r>
            <a:endParaRPr sz="2800">
              <a:latin typeface="Calibri"/>
              <a:cs typeface="Calibri"/>
            </a:endParaRPr>
          </a:p>
        </p:txBody>
      </p:sp>
      <p:sp>
        <p:nvSpPr>
          <p:cNvPr id="6" name="object 6" descr=""/>
          <p:cNvSpPr txBox="1"/>
          <p:nvPr/>
        </p:nvSpPr>
        <p:spPr>
          <a:xfrm>
            <a:off x="529144" y="4724880"/>
            <a:ext cx="7872730" cy="878840"/>
          </a:xfrm>
          <a:prstGeom prst="rect">
            <a:avLst/>
          </a:prstGeom>
        </p:spPr>
        <p:txBody>
          <a:bodyPr wrap="square" lIns="0" tIns="12065" rIns="0" bIns="0" rtlCol="0" vert="horz">
            <a:spAutoFit/>
          </a:bodyPr>
          <a:lstStyle/>
          <a:p>
            <a:pPr marL="12700" marR="5080">
              <a:lnSpc>
                <a:spcPct val="100000"/>
              </a:lnSpc>
              <a:spcBef>
                <a:spcPts val="95"/>
              </a:spcBef>
            </a:pPr>
            <a:r>
              <a:rPr dirty="0" sz="2800" spc="-10">
                <a:latin typeface="Calibri"/>
                <a:cs typeface="Calibri"/>
              </a:rPr>
              <a:t>(weighted</a:t>
            </a:r>
            <a:r>
              <a:rPr dirty="0" sz="2800" spc="-70">
                <a:latin typeface="Calibri"/>
                <a:cs typeface="Calibri"/>
              </a:rPr>
              <a:t> </a:t>
            </a:r>
            <a:r>
              <a:rPr dirty="0" sz="2800">
                <a:latin typeface="Calibri"/>
                <a:cs typeface="Calibri"/>
              </a:rPr>
              <a:t>by</a:t>
            </a:r>
            <a:r>
              <a:rPr dirty="0" sz="2800" spc="-60">
                <a:latin typeface="Calibri"/>
                <a:cs typeface="Calibri"/>
              </a:rPr>
              <a:t> </a:t>
            </a:r>
            <a:r>
              <a:rPr dirty="0" sz="2800">
                <a:latin typeface="Calibri"/>
                <a:cs typeface="Calibri"/>
              </a:rPr>
              <a:t>the</a:t>
            </a:r>
            <a:r>
              <a:rPr dirty="0" sz="2800" spc="-50">
                <a:latin typeface="Calibri"/>
                <a:cs typeface="Calibri"/>
              </a:rPr>
              <a:t> </a:t>
            </a:r>
            <a:r>
              <a:rPr dirty="0" sz="2800">
                <a:latin typeface="Calibri"/>
                <a:cs typeface="Calibri"/>
              </a:rPr>
              <a:t>filter</a:t>
            </a:r>
            <a:r>
              <a:rPr dirty="0" sz="2800" spc="-75">
                <a:latin typeface="Calibri"/>
                <a:cs typeface="Calibri"/>
              </a:rPr>
              <a:t> </a:t>
            </a:r>
            <a:r>
              <a:rPr dirty="0" sz="2800" spc="-10">
                <a:latin typeface="Calibri"/>
                <a:cs typeface="Calibri"/>
              </a:rPr>
              <a:t>components)</a:t>
            </a:r>
            <a:r>
              <a:rPr dirty="0" sz="2800" spc="-20">
                <a:latin typeface="Calibri"/>
                <a:cs typeface="Calibri"/>
              </a:rPr>
              <a:t> </a:t>
            </a:r>
            <a:r>
              <a:rPr dirty="0" sz="2800">
                <a:latin typeface="Calibri"/>
                <a:cs typeface="Calibri"/>
              </a:rPr>
              <a:t>from</a:t>
            </a:r>
            <a:r>
              <a:rPr dirty="0" sz="2800" spc="-65">
                <a:latin typeface="Calibri"/>
                <a:cs typeface="Calibri"/>
              </a:rPr>
              <a:t> </a:t>
            </a:r>
            <a:r>
              <a:rPr dirty="0" sz="2800">
                <a:latin typeface="Calibri"/>
                <a:cs typeface="Calibri"/>
              </a:rPr>
              <a:t>the</a:t>
            </a:r>
            <a:r>
              <a:rPr dirty="0" sz="2800" spc="-50">
                <a:latin typeface="Calibri"/>
                <a:cs typeface="Calibri"/>
              </a:rPr>
              <a:t> </a:t>
            </a:r>
            <a:r>
              <a:rPr dirty="0" sz="2800" spc="-10">
                <a:latin typeface="Calibri"/>
                <a:cs typeface="Calibri"/>
              </a:rPr>
              <a:t>previous </a:t>
            </a:r>
            <a:r>
              <a:rPr dirty="0" sz="2800">
                <a:latin typeface="Calibri"/>
                <a:cs typeface="Calibri"/>
              </a:rPr>
              <a:t>layer</a:t>
            </a:r>
            <a:r>
              <a:rPr dirty="0" sz="2800" spc="-114">
                <a:latin typeface="Calibri"/>
                <a:cs typeface="Calibri"/>
              </a:rPr>
              <a:t> </a:t>
            </a:r>
            <a:r>
              <a:rPr dirty="0" sz="2800" spc="-10">
                <a:latin typeface="Calibri"/>
                <a:cs typeface="Calibri"/>
              </a:rPr>
              <a:t>cells:</a:t>
            </a:r>
            <a:endParaRPr sz="2800">
              <a:latin typeface="Calibri"/>
              <a:cs typeface="Calibri"/>
            </a:endParaRPr>
          </a:p>
        </p:txBody>
      </p:sp>
      <p:sp>
        <p:nvSpPr>
          <p:cNvPr id="7" name="object 7" descr=""/>
          <p:cNvSpPr txBox="1"/>
          <p:nvPr/>
        </p:nvSpPr>
        <p:spPr>
          <a:xfrm>
            <a:off x="186244" y="3871239"/>
            <a:ext cx="8340725" cy="645795"/>
          </a:xfrm>
          <a:prstGeom prst="rect">
            <a:avLst/>
          </a:prstGeom>
        </p:spPr>
        <p:txBody>
          <a:bodyPr wrap="square" lIns="0" tIns="12065" rIns="0" bIns="0" rtlCol="0" vert="horz">
            <a:spAutoFit/>
          </a:bodyPr>
          <a:lstStyle/>
          <a:p>
            <a:pPr marL="354965" indent="-342265">
              <a:lnSpc>
                <a:spcPts val="3160"/>
              </a:lnSpc>
              <a:spcBef>
                <a:spcPts val="95"/>
              </a:spcBef>
              <a:buFont typeface="Arial MT"/>
              <a:buChar char="•"/>
              <a:tabLst>
                <a:tab pos="354965" algn="l"/>
              </a:tabLst>
            </a:pPr>
            <a:r>
              <a:rPr dirty="0" sz="2800">
                <a:latin typeface="Calibri"/>
                <a:cs typeface="Calibri"/>
              </a:rPr>
              <a:t>In</a:t>
            </a:r>
            <a:r>
              <a:rPr dirty="0" sz="2800" spc="-85">
                <a:latin typeface="Calibri"/>
                <a:cs typeface="Calibri"/>
              </a:rPr>
              <a:t> </a:t>
            </a:r>
            <a:r>
              <a:rPr dirty="0" sz="2800">
                <a:latin typeface="Calibri"/>
                <a:cs typeface="Calibri"/>
              </a:rPr>
              <a:t>order</a:t>
            </a:r>
            <a:r>
              <a:rPr dirty="0" sz="2800" spc="-65">
                <a:latin typeface="Calibri"/>
                <a:cs typeface="Calibri"/>
              </a:rPr>
              <a:t> </a:t>
            </a:r>
            <a:r>
              <a:rPr dirty="0" sz="2800">
                <a:latin typeface="Calibri"/>
                <a:cs typeface="Calibri"/>
              </a:rPr>
              <a:t>to</a:t>
            </a:r>
            <a:r>
              <a:rPr dirty="0" sz="2800" spc="-75">
                <a:latin typeface="Calibri"/>
                <a:cs typeface="Calibri"/>
              </a:rPr>
              <a:t> </a:t>
            </a:r>
            <a:r>
              <a:rPr dirty="0" sz="2800">
                <a:latin typeface="Calibri"/>
                <a:cs typeface="Calibri"/>
              </a:rPr>
              <a:t>compute</a:t>
            </a:r>
            <a:r>
              <a:rPr dirty="0" sz="2800" spc="-55">
                <a:latin typeface="Calibri"/>
                <a:cs typeface="Calibri"/>
              </a:rPr>
              <a:t> </a:t>
            </a:r>
            <a:r>
              <a:rPr dirty="0" sz="2800">
                <a:latin typeface="Calibri"/>
                <a:cs typeface="Calibri"/>
              </a:rPr>
              <a:t>the</a:t>
            </a:r>
            <a:r>
              <a:rPr dirty="0" sz="2800" spc="-60">
                <a:latin typeface="Calibri"/>
                <a:cs typeface="Calibri"/>
              </a:rPr>
              <a:t> </a:t>
            </a:r>
            <a:r>
              <a:rPr dirty="0" sz="2800" spc="-30">
                <a:latin typeface="Calibri"/>
                <a:cs typeface="Calibri"/>
              </a:rPr>
              <a:t>pre-</a:t>
            </a:r>
            <a:r>
              <a:rPr dirty="0" sz="2800">
                <a:latin typeface="Calibri"/>
                <a:cs typeface="Calibri"/>
              </a:rPr>
              <a:t>nonlinearity</a:t>
            </a:r>
            <a:r>
              <a:rPr dirty="0" sz="2800" spc="-40">
                <a:latin typeface="Calibri"/>
                <a:cs typeface="Calibri"/>
              </a:rPr>
              <a:t> </a:t>
            </a:r>
            <a:r>
              <a:rPr dirty="0" sz="2800">
                <a:latin typeface="Calibri"/>
                <a:cs typeface="Calibri"/>
              </a:rPr>
              <a:t>input</a:t>
            </a:r>
            <a:r>
              <a:rPr dirty="0" sz="2800" spc="-45">
                <a:latin typeface="Calibri"/>
                <a:cs typeface="Calibri"/>
              </a:rPr>
              <a:t> </a:t>
            </a:r>
            <a:r>
              <a:rPr dirty="0" sz="2800">
                <a:latin typeface="Calibri"/>
                <a:cs typeface="Calibri"/>
              </a:rPr>
              <a:t>to</a:t>
            </a:r>
            <a:r>
              <a:rPr dirty="0" sz="2800" spc="-75">
                <a:latin typeface="Calibri"/>
                <a:cs typeface="Calibri"/>
              </a:rPr>
              <a:t> </a:t>
            </a:r>
            <a:r>
              <a:rPr dirty="0" sz="2800" spc="-20">
                <a:latin typeface="Calibri"/>
                <a:cs typeface="Calibri"/>
              </a:rPr>
              <a:t>some</a:t>
            </a:r>
            <a:endParaRPr sz="2800">
              <a:latin typeface="Calibri"/>
              <a:cs typeface="Calibri"/>
            </a:endParaRPr>
          </a:p>
          <a:p>
            <a:pPr marL="1179195">
              <a:lnSpc>
                <a:spcPts val="1720"/>
              </a:lnSpc>
            </a:pPr>
            <a:r>
              <a:rPr dirty="0" sz="1600" spc="-50">
                <a:latin typeface="SimSun"/>
                <a:cs typeface="SimSun"/>
              </a:rPr>
              <a:t>l</a:t>
            </a:r>
            <a:endParaRPr sz="1600">
              <a:latin typeface="SimSun"/>
              <a:cs typeface="SimSun"/>
            </a:endParaRPr>
          </a:p>
        </p:txBody>
      </p:sp>
      <p:sp>
        <p:nvSpPr>
          <p:cNvPr id="8" name="object 8" descr=""/>
          <p:cNvSpPr txBox="1"/>
          <p:nvPr/>
        </p:nvSpPr>
        <p:spPr>
          <a:xfrm>
            <a:off x="1329692" y="4477801"/>
            <a:ext cx="221615" cy="273685"/>
          </a:xfrm>
          <a:prstGeom prst="rect">
            <a:avLst/>
          </a:prstGeom>
        </p:spPr>
        <p:txBody>
          <a:bodyPr wrap="square" lIns="0" tIns="15875" rIns="0" bIns="0" rtlCol="0" vert="horz">
            <a:spAutoFit/>
          </a:bodyPr>
          <a:lstStyle/>
          <a:p>
            <a:pPr marL="12700">
              <a:lnSpc>
                <a:spcPct val="100000"/>
              </a:lnSpc>
              <a:spcBef>
                <a:spcPts val="125"/>
              </a:spcBef>
            </a:pPr>
            <a:r>
              <a:rPr dirty="0" sz="1600" spc="-25">
                <a:latin typeface="SimSun"/>
                <a:cs typeface="SimSun"/>
              </a:rPr>
              <a:t>ij</a:t>
            </a:r>
            <a:endParaRPr sz="1600">
              <a:latin typeface="SimSun"/>
              <a:cs typeface="SimSun"/>
            </a:endParaRPr>
          </a:p>
        </p:txBody>
      </p:sp>
      <p:sp>
        <p:nvSpPr>
          <p:cNvPr id="9" name="object 9" descr=""/>
          <p:cNvSpPr txBox="1"/>
          <p:nvPr/>
        </p:nvSpPr>
        <p:spPr>
          <a:xfrm>
            <a:off x="1143153" y="4246483"/>
            <a:ext cx="193675" cy="450215"/>
          </a:xfrm>
          <a:prstGeom prst="rect">
            <a:avLst/>
          </a:prstGeom>
        </p:spPr>
        <p:txBody>
          <a:bodyPr wrap="square" lIns="0" tIns="17145" rIns="0" bIns="0" rtlCol="0" vert="horz">
            <a:spAutoFit/>
          </a:bodyPr>
          <a:lstStyle/>
          <a:p>
            <a:pPr marL="12700">
              <a:lnSpc>
                <a:spcPct val="100000"/>
              </a:lnSpc>
              <a:spcBef>
                <a:spcPts val="135"/>
              </a:spcBef>
            </a:pPr>
            <a:r>
              <a:rPr dirty="0" sz="2750" spc="-50">
                <a:latin typeface="SimSun"/>
                <a:cs typeface="SimSun"/>
              </a:rPr>
              <a:t>x</a:t>
            </a:r>
            <a:endParaRPr sz="2750">
              <a:latin typeface="SimSun"/>
              <a:cs typeface="SimSun"/>
            </a:endParaRPr>
          </a:p>
        </p:txBody>
      </p:sp>
      <p:grpSp>
        <p:nvGrpSpPr>
          <p:cNvPr id="10" name="object 10" descr=""/>
          <p:cNvGrpSpPr/>
          <p:nvPr/>
        </p:nvGrpSpPr>
        <p:grpSpPr>
          <a:xfrm>
            <a:off x="2843783" y="5121280"/>
            <a:ext cx="6120130" cy="1661160"/>
            <a:chOff x="2843783" y="5121280"/>
            <a:chExt cx="6120130" cy="1661160"/>
          </a:xfrm>
        </p:grpSpPr>
        <p:pic>
          <p:nvPicPr>
            <p:cNvPr id="11" name="object 11" descr=""/>
            <p:cNvPicPr/>
            <p:nvPr/>
          </p:nvPicPr>
          <p:blipFill>
            <a:blip r:embed="rId2" cstate="print"/>
            <a:stretch>
              <a:fillRect/>
            </a:stretch>
          </p:blipFill>
          <p:spPr>
            <a:xfrm>
              <a:off x="2843783" y="5466588"/>
              <a:ext cx="3384804" cy="1062227"/>
            </a:xfrm>
            <a:prstGeom prst="rect">
              <a:avLst/>
            </a:prstGeom>
          </p:spPr>
        </p:pic>
        <p:pic>
          <p:nvPicPr>
            <p:cNvPr id="12" name="object 12" descr=""/>
            <p:cNvPicPr/>
            <p:nvPr/>
          </p:nvPicPr>
          <p:blipFill>
            <a:blip r:embed="rId3" cstate="print"/>
            <a:stretch>
              <a:fillRect/>
            </a:stretch>
          </p:blipFill>
          <p:spPr>
            <a:xfrm>
              <a:off x="6307107" y="5555677"/>
              <a:ext cx="388249" cy="253312"/>
            </a:xfrm>
            <a:prstGeom prst="rect">
              <a:avLst/>
            </a:prstGeom>
          </p:spPr>
        </p:pic>
        <p:pic>
          <p:nvPicPr>
            <p:cNvPr id="13" name="object 13" descr=""/>
            <p:cNvPicPr/>
            <p:nvPr/>
          </p:nvPicPr>
          <p:blipFill>
            <a:blip r:embed="rId4" cstate="print"/>
            <a:stretch>
              <a:fillRect/>
            </a:stretch>
          </p:blipFill>
          <p:spPr>
            <a:xfrm>
              <a:off x="6114489" y="5121280"/>
              <a:ext cx="2849062" cy="1660651"/>
            </a:xfrm>
            <a:prstGeom prst="rect">
              <a:avLst/>
            </a:prstGeom>
          </p:spPr>
        </p:pic>
      </p:grpSp>
      <p:sp>
        <p:nvSpPr>
          <p:cNvPr id="14" name="object 14" descr=""/>
          <p:cNvSpPr/>
          <p:nvPr/>
        </p:nvSpPr>
        <p:spPr>
          <a:xfrm>
            <a:off x="590852" y="3339394"/>
            <a:ext cx="3280410" cy="0"/>
          </a:xfrm>
          <a:custGeom>
            <a:avLst/>
            <a:gdLst/>
            <a:ahLst/>
            <a:cxnLst/>
            <a:rect l="l" t="t" r="r" b="b"/>
            <a:pathLst>
              <a:path w="3280410" h="0">
                <a:moveTo>
                  <a:pt x="0" y="0"/>
                </a:moveTo>
                <a:lnTo>
                  <a:pt x="3279898" y="0"/>
                </a:lnTo>
              </a:path>
            </a:pathLst>
          </a:custGeom>
          <a:ln w="14400">
            <a:solidFill>
              <a:srgbClr val="D20000"/>
            </a:solidFill>
          </a:ln>
        </p:spPr>
        <p:txBody>
          <a:bodyPr wrap="square" lIns="0" tIns="0" rIns="0" bIns="0" rtlCol="0"/>
          <a:lstStyle/>
          <a:p/>
        </p:txBody>
      </p:sp>
      <p:pic>
        <p:nvPicPr>
          <p:cNvPr id="15" name="object 15" descr=""/>
          <p:cNvPicPr/>
          <p:nvPr/>
        </p:nvPicPr>
        <p:blipFill>
          <a:blip r:embed="rId5" cstate="print"/>
          <a:stretch>
            <a:fillRect/>
          </a:stretch>
        </p:blipFill>
        <p:spPr>
          <a:xfrm>
            <a:off x="4173921" y="2967944"/>
            <a:ext cx="281548" cy="297326"/>
          </a:xfrm>
          <a:prstGeom prst="rect">
            <a:avLst/>
          </a:prstGeom>
        </p:spPr>
      </p:pic>
      <p:pic>
        <p:nvPicPr>
          <p:cNvPr id="16" name="object 16" descr=""/>
          <p:cNvPicPr/>
          <p:nvPr/>
        </p:nvPicPr>
        <p:blipFill>
          <a:blip r:embed="rId6" cstate="print"/>
          <a:stretch>
            <a:fillRect/>
          </a:stretch>
        </p:blipFill>
        <p:spPr>
          <a:xfrm>
            <a:off x="4566329" y="2927692"/>
            <a:ext cx="1349590" cy="342177"/>
          </a:xfrm>
          <a:prstGeom prst="rect">
            <a:avLst/>
          </a:prstGeom>
        </p:spPr>
      </p:pic>
      <p:pic>
        <p:nvPicPr>
          <p:cNvPr id="17" name="object 17" descr=""/>
          <p:cNvPicPr/>
          <p:nvPr/>
        </p:nvPicPr>
        <p:blipFill>
          <a:blip r:embed="rId7" cstate="print"/>
          <a:stretch>
            <a:fillRect/>
          </a:stretch>
        </p:blipFill>
        <p:spPr>
          <a:xfrm>
            <a:off x="6030071" y="2923179"/>
            <a:ext cx="924505" cy="288979"/>
          </a:xfrm>
          <a:prstGeom prst="rect">
            <a:avLst/>
          </a:prstGeom>
        </p:spPr>
      </p:pic>
      <p:pic>
        <p:nvPicPr>
          <p:cNvPr id="18" name="object 18" descr=""/>
          <p:cNvPicPr/>
          <p:nvPr/>
        </p:nvPicPr>
        <p:blipFill>
          <a:blip r:embed="rId8" cstate="print"/>
          <a:stretch>
            <a:fillRect/>
          </a:stretch>
        </p:blipFill>
        <p:spPr>
          <a:xfrm>
            <a:off x="7037142" y="3025436"/>
            <a:ext cx="511102" cy="135044"/>
          </a:xfrm>
          <a:prstGeom prst="rect">
            <a:avLst/>
          </a:prstGeom>
        </p:spPr>
      </p:pic>
      <p:pic>
        <p:nvPicPr>
          <p:cNvPr id="19" name="object 19" descr=""/>
          <p:cNvPicPr/>
          <p:nvPr/>
        </p:nvPicPr>
        <p:blipFill>
          <a:blip r:embed="rId9" cstate="print"/>
          <a:stretch>
            <a:fillRect/>
          </a:stretch>
        </p:blipFill>
        <p:spPr>
          <a:xfrm>
            <a:off x="7647103" y="2938670"/>
            <a:ext cx="273287" cy="257770"/>
          </a:xfrm>
          <a:prstGeom prst="rect">
            <a:avLst/>
          </a:prstGeom>
        </p:spPr>
      </p:pic>
      <p:pic>
        <p:nvPicPr>
          <p:cNvPr id="20" name="object 20" descr=""/>
          <p:cNvPicPr/>
          <p:nvPr/>
        </p:nvPicPr>
        <p:blipFill>
          <a:blip r:embed="rId10" cstate="print"/>
          <a:stretch>
            <a:fillRect/>
          </a:stretch>
        </p:blipFill>
        <p:spPr>
          <a:xfrm>
            <a:off x="7997063" y="2918338"/>
            <a:ext cx="807583" cy="314567"/>
          </a:xfrm>
          <a:prstGeom prst="rect">
            <a:avLst/>
          </a:prstGeom>
        </p:spPr>
      </p:pic>
      <p:pic>
        <p:nvPicPr>
          <p:cNvPr id="21" name="object 21" descr=""/>
          <p:cNvPicPr/>
          <p:nvPr/>
        </p:nvPicPr>
        <p:blipFill>
          <a:blip r:embed="rId11" cstate="print"/>
          <a:stretch>
            <a:fillRect/>
          </a:stretch>
        </p:blipFill>
        <p:spPr>
          <a:xfrm>
            <a:off x="4068569" y="3334410"/>
            <a:ext cx="825707" cy="348862"/>
          </a:xfrm>
          <a:prstGeom prst="rect">
            <a:avLst/>
          </a:prstGeom>
        </p:spPr>
      </p:pic>
      <p:pic>
        <p:nvPicPr>
          <p:cNvPr id="22" name="object 22" descr=""/>
          <p:cNvPicPr/>
          <p:nvPr/>
        </p:nvPicPr>
        <p:blipFill>
          <a:blip r:embed="rId12" cstate="print"/>
          <a:stretch>
            <a:fillRect/>
          </a:stretch>
        </p:blipFill>
        <p:spPr>
          <a:xfrm>
            <a:off x="4974009" y="3339931"/>
            <a:ext cx="710476" cy="334843"/>
          </a:xfrm>
          <a:prstGeom prst="rect">
            <a:avLst/>
          </a:prstGeom>
        </p:spPr>
      </p:pic>
      <p:pic>
        <p:nvPicPr>
          <p:cNvPr id="23" name="object 23" descr=""/>
          <p:cNvPicPr/>
          <p:nvPr/>
        </p:nvPicPr>
        <p:blipFill>
          <a:blip r:embed="rId13" cstate="print"/>
          <a:stretch>
            <a:fillRect/>
          </a:stretch>
        </p:blipFill>
        <p:spPr>
          <a:xfrm>
            <a:off x="5762015" y="3345069"/>
            <a:ext cx="1081991" cy="3058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5795" y="109210"/>
            <a:ext cx="5028565" cy="696595"/>
          </a:xfrm>
          <a:prstGeom prst="rect"/>
        </p:spPr>
        <p:txBody>
          <a:bodyPr wrap="square" lIns="0" tIns="12700" rIns="0" bIns="0" rtlCol="0" vert="horz">
            <a:spAutoFit/>
          </a:bodyPr>
          <a:lstStyle/>
          <a:p>
            <a:pPr marL="12700">
              <a:lnSpc>
                <a:spcPct val="100000"/>
              </a:lnSpc>
              <a:spcBef>
                <a:spcPts val="100"/>
              </a:spcBef>
            </a:pPr>
            <a:r>
              <a:rPr dirty="0" sz="4400"/>
              <a:t>Convolution</a:t>
            </a:r>
            <a:r>
              <a:rPr dirty="0" sz="4400" spc="-75"/>
              <a:t> </a:t>
            </a:r>
            <a:r>
              <a:rPr dirty="0" sz="4400"/>
              <a:t>in</a:t>
            </a:r>
            <a:r>
              <a:rPr dirty="0" sz="4400" spc="-55"/>
              <a:t> </a:t>
            </a:r>
            <a:r>
              <a:rPr dirty="0" sz="4400" spc="-25"/>
              <a:t>2D</a:t>
            </a:r>
            <a:endParaRPr sz="4400"/>
          </a:p>
        </p:txBody>
      </p:sp>
      <p:sp>
        <p:nvSpPr>
          <p:cNvPr id="3" name="object 3" descr=""/>
          <p:cNvSpPr txBox="1"/>
          <p:nvPr/>
        </p:nvSpPr>
        <p:spPr>
          <a:xfrm>
            <a:off x="485019" y="864606"/>
            <a:ext cx="4339590" cy="452120"/>
          </a:xfrm>
          <a:prstGeom prst="rect">
            <a:avLst/>
          </a:prstGeom>
        </p:spPr>
        <p:txBody>
          <a:bodyPr wrap="square" lIns="0" tIns="12065" rIns="0" bIns="0" rtlCol="0" vert="horz">
            <a:spAutoFit/>
          </a:bodyPr>
          <a:lstStyle/>
          <a:p>
            <a:pPr marL="12700">
              <a:lnSpc>
                <a:spcPct val="100000"/>
              </a:lnSpc>
              <a:spcBef>
                <a:spcPts val="95"/>
              </a:spcBef>
              <a:tabLst>
                <a:tab pos="2755265" algn="l"/>
              </a:tabLst>
            </a:pPr>
            <a:r>
              <a:rPr dirty="0" sz="2800" b="1">
                <a:latin typeface="Calibri"/>
                <a:cs typeface="Calibri"/>
              </a:rPr>
              <a:t>Input</a:t>
            </a:r>
            <a:r>
              <a:rPr dirty="0" sz="2800" spc="-25" b="1">
                <a:latin typeface="Calibri"/>
                <a:cs typeface="Calibri"/>
              </a:rPr>
              <a:t> </a:t>
            </a:r>
            <a:r>
              <a:rPr dirty="0" sz="2800" spc="-10" b="1">
                <a:latin typeface="Calibri"/>
                <a:cs typeface="Calibri"/>
              </a:rPr>
              <a:t>“image”</a:t>
            </a:r>
            <a:r>
              <a:rPr dirty="0" sz="2800" b="1">
                <a:latin typeface="Calibri"/>
                <a:cs typeface="Calibri"/>
              </a:rPr>
              <a:t>	Filter</a:t>
            </a:r>
            <a:r>
              <a:rPr dirty="0" sz="2800" spc="-90" b="1">
                <a:latin typeface="Calibri"/>
                <a:cs typeface="Calibri"/>
              </a:rPr>
              <a:t> </a:t>
            </a:r>
            <a:r>
              <a:rPr dirty="0" sz="2800" spc="-20" b="1">
                <a:latin typeface="Calibri"/>
                <a:cs typeface="Calibri"/>
              </a:rPr>
              <a:t>bank</a:t>
            </a:r>
            <a:endParaRPr sz="2800">
              <a:latin typeface="Calibri"/>
              <a:cs typeface="Calibri"/>
            </a:endParaRPr>
          </a:p>
        </p:txBody>
      </p:sp>
      <p:sp>
        <p:nvSpPr>
          <p:cNvPr id="4" name="object 4" descr=""/>
          <p:cNvSpPr txBox="1"/>
          <p:nvPr/>
        </p:nvSpPr>
        <p:spPr>
          <a:xfrm>
            <a:off x="5514835" y="898432"/>
            <a:ext cx="1567180" cy="391160"/>
          </a:xfrm>
          <a:prstGeom prst="rect">
            <a:avLst/>
          </a:prstGeom>
        </p:spPr>
        <p:txBody>
          <a:bodyPr wrap="square" lIns="0" tIns="12700" rIns="0" bIns="0" rtlCol="0" vert="horz">
            <a:spAutoFit/>
          </a:bodyPr>
          <a:lstStyle/>
          <a:p>
            <a:pPr marL="12700">
              <a:lnSpc>
                <a:spcPct val="100000"/>
              </a:lnSpc>
              <a:spcBef>
                <a:spcPts val="100"/>
              </a:spcBef>
            </a:pPr>
            <a:r>
              <a:rPr dirty="0" sz="2400" b="1">
                <a:latin typeface="Calibri"/>
                <a:cs typeface="Calibri"/>
              </a:rPr>
              <a:t>Output</a:t>
            </a:r>
            <a:r>
              <a:rPr dirty="0" sz="2400" spc="-50" b="1">
                <a:latin typeface="Calibri"/>
                <a:cs typeface="Calibri"/>
              </a:rPr>
              <a:t> </a:t>
            </a:r>
            <a:r>
              <a:rPr dirty="0" sz="2400" spc="-25" b="1">
                <a:latin typeface="Calibri"/>
                <a:cs typeface="Calibri"/>
              </a:rPr>
              <a:t>map</a:t>
            </a:r>
            <a:endParaRPr sz="2400">
              <a:latin typeface="Calibri"/>
              <a:cs typeface="Calibri"/>
            </a:endParaRPr>
          </a:p>
        </p:txBody>
      </p:sp>
      <p:pic>
        <p:nvPicPr>
          <p:cNvPr id="5" name="object 5" descr=""/>
          <p:cNvPicPr/>
          <p:nvPr/>
        </p:nvPicPr>
        <p:blipFill>
          <a:blip r:embed="rId2" cstate="print"/>
          <a:stretch>
            <a:fillRect/>
          </a:stretch>
        </p:blipFill>
        <p:spPr>
          <a:xfrm>
            <a:off x="5265432" y="1275588"/>
            <a:ext cx="2395715" cy="2447544"/>
          </a:xfrm>
          <a:prstGeom prst="rect">
            <a:avLst/>
          </a:prstGeom>
        </p:spPr>
      </p:pic>
      <p:pic>
        <p:nvPicPr>
          <p:cNvPr id="6" name="object 6" descr=""/>
          <p:cNvPicPr/>
          <p:nvPr/>
        </p:nvPicPr>
        <p:blipFill>
          <a:blip r:embed="rId3" cstate="print"/>
          <a:stretch>
            <a:fillRect/>
          </a:stretch>
        </p:blipFill>
        <p:spPr>
          <a:xfrm>
            <a:off x="5234789" y="4160357"/>
            <a:ext cx="3468461" cy="2511563"/>
          </a:xfrm>
          <a:prstGeom prst="rect">
            <a:avLst/>
          </a:prstGeom>
        </p:spPr>
      </p:pic>
      <p:pic>
        <p:nvPicPr>
          <p:cNvPr id="7" name="object 7" descr=""/>
          <p:cNvPicPr/>
          <p:nvPr/>
        </p:nvPicPr>
        <p:blipFill>
          <a:blip r:embed="rId4" cstate="print"/>
          <a:stretch>
            <a:fillRect/>
          </a:stretch>
        </p:blipFill>
        <p:spPr>
          <a:xfrm>
            <a:off x="367421" y="1484757"/>
            <a:ext cx="2188257" cy="2239746"/>
          </a:xfrm>
          <a:prstGeom prst="rect">
            <a:avLst/>
          </a:prstGeom>
        </p:spPr>
      </p:pic>
      <p:grpSp>
        <p:nvGrpSpPr>
          <p:cNvPr id="8" name="object 8" descr=""/>
          <p:cNvGrpSpPr/>
          <p:nvPr/>
        </p:nvGrpSpPr>
        <p:grpSpPr>
          <a:xfrm>
            <a:off x="3250692" y="1289303"/>
            <a:ext cx="1242060" cy="3019425"/>
            <a:chOff x="3250692" y="1289303"/>
            <a:chExt cx="1242060" cy="3019425"/>
          </a:xfrm>
        </p:grpSpPr>
        <p:pic>
          <p:nvPicPr>
            <p:cNvPr id="9" name="object 9" descr=""/>
            <p:cNvPicPr/>
            <p:nvPr/>
          </p:nvPicPr>
          <p:blipFill>
            <a:blip r:embed="rId5" cstate="print"/>
            <a:stretch>
              <a:fillRect/>
            </a:stretch>
          </p:blipFill>
          <p:spPr>
            <a:xfrm>
              <a:off x="3250692" y="1289303"/>
              <a:ext cx="1033271" cy="1159764"/>
            </a:xfrm>
            <a:prstGeom prst="rect">
              <a:avLst/>
            </a:prstGeom>
          </p:spPr>
        </p:pic>
        <p:pic>
          <p:nvPicPr>
            <p:cNvPr id="10" name="object 10" descr=""/>
            <p:cNvPicPr/>
            <p:nvPr/>
          </p:nvPicPr>
          <p:blipFill>
            <a:blip r:embed="rId6" cstate="print"/>
            <a:stretch>
              <a:fillRect/>
            </a:stretch>
          </p:blipFill>
          <p:spPr>
            <a:xfrm>
              <a:off x="3326892" y="2148841"/>
              <a:ext cx="1037843" cy="1124710"/>
            </a:xfrm>
            <a:prstGeom prst="rect">
              <a:avLst/>
            </a:prstGeom>
          </p:spPr>
        </p:pic>
        <p:pic>
          <p:nvPicPr>
            <p:cNvPr id="11" name="object 11" descr=""/>
            <p:cNvPicPr/>
            <p:nvPr/>
          </p:nvPicPr>
          <p:blipFill>
            <a:blip r:embed="rId6" cstate="print"/>
            <a:stretch>
              <a:fillRect/>
            </a:stretch>
          </p:blipFill>
          <p:spPr>
            <a:xfrm>
              <a:off x="3328416" y="3044952"/>
              <a:ext cx="1164336" cy="1263396"/>
            </a:xfrm>
            <a:prstGeom prst="rect">
              <a:avLst/>
            </a:prstGeom>
          </p:spPr>
        </p:pic>
      </p:grpSp>
      <p:sp>
        <p:nvSpPr>
          <p:cNvPr id="12" name="object 12" descr=""/>
          <p:cNvSpPr txBox="1"/>
          <p:nvPr/>
        </p:nvSpPr>
        <p:spPr>
          <a:xfrm>
            <a:off x="223674" y="3994776"/>
            <a:ext cx="4017645" cy="1310005"/>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0000FF"/>
                </a:solidFill>
                <a:latin typeface="Calibri"/>
                <a:cs typeface="Calibri"/>
              </a:rPr>
              <a:t>Convolutional</a:t>
            </a:r>
            <a:r>
              <a:rPr dirty="0" sz="2400" spc="-55" b="1">
                <a:solidFill>
                  <a:srgbClr val="0000FF"/>
                </a:solidFill>
                <a:latin typeface="Calibri"/>
                <a:cs typeface="Calibri"/>
              </a:rPr>
              <a:t> </a:t>
            </a:r>
            <a:r>
              <a:rPr dirty="0" sz="2400" spc="-10" b="1">
                <a:solidFill>
                  <a:srgbClr val="0000FF"/>
                </a:solidFill>
                <a:latin typeface="Calibri"/>
                <a:cs typeface="Calibri"/>
              </a:rPr>
              <a:t>layers</a:t>
            </a:r>
            <a:r>
              <a:rPr dirty="0" sz="2400" spc="-60" b="1">
                <a:solidFill>
                  <a:srgbClr val="0000FF"/>
                </a:solidFill>
                <a:latin typeface="Calibri"/>
                <a:cs typeface="Calibri"/>
              </a:rPr>
              <a:t> </a:t>
            </a:r>
            <a:r>
              <a:rPr dirty="0" sz="2400" spc="-50" b="1">
                <a:solidFill>
                  <a:srgbClr val="0000FF"/>
                </a:solidFill>
                <a:latin typeface="Calibri"/>
                <a:cs typeface="Calibri"/>
              </a:rPr>
              <a:t>:</a:t>
            </a:r>
            <a:endParaRPr sz="2400">
              <a:latin typeface="Calibri"/>
              <a:cs typeface="Calibri"/>
            </a:endParaRPr>
          </a:p>
          <a:p>
            <a:pPr marL="12700">
              <a:lnSpc>
                <a:spcPct val="100000"/>
              </a:lnSpc>
              <a:spcBef>
                <a:spcPts val="25"/>
              </a:spcBef>
            </a:pPr>
            <a:r>
              <a:rPr dirty="0" sz="2000">
                <a:latin typeface="Calibri"/>
                <a:cs typeface="Calibri"/>
              </a:rPr>
              <a:t>a</a:t>
            </a:r>
            <a:r>
              <a:rPr dirty="0" sz="2000" spc="-20">
                <a:latin typeface="Calibri"/>
                <a:cs typeface="Calibri"/>
              </a:rPr>
              <a:t> </a:t>
            </a:r>
            <a:r>
              <a:rPr dirty="0" sz="2000" spc="-10">
                <a:latin typeface="Calibri"/>
                <a:cs typeface="Calibri"/>
              </a:rPr>
              <a:t>rectangular</a:t>
            </a:r>
            <a:r>
              <a:rPr dirty="0" sz="2000" spc="-25">
                <a:latin typeface="Calibri"/>
                <a:cs typeface="Calibri"/>
              </a:rPr>
              <a:t> </a:t>
            </a:r>
            <a:r>
              <a:rPr dirty="0" sz="2000">
                <a:latin typeface="Calibri"/>
                <a:cs typeface="Calibri"/>
              </a:rPr>
              <a:t>grid</a:t>
            </a:r>
            <a:r>
              <a:rPr dirty="0" sz="2000" spc="-20">
                <a:latin typeface="Calibri"/>
                <a:cs typeface="Calibri"/>
              </a:rPr>
              <a:t> </a:t>
            </a:r>
            <a:r>
              <a:rPr dirty="0" sz="2000">
                <a:latin typeface="Calibri"/>
                <a:cs typeface="Calibri"/>
              </a:rPr>
              <a:t>of</a:t>
            </a:r>
            <a:r>
              <a:rPr dirty="0" sz="2000" spc="-25">
                <a:latin typeface="Calibri"/>
                <a:cs typeface="Calibri"/>
              </a:rPr>
              <a:t> </a:t>
            </a:r>
            <a:r>
              <a:rPr dirty="0" sz="2000" spc="-10">
                <a:latin typeface="Calibri"/>
                <a:cs typeface="Calibri"/>
              </a:rPr>
              <a:t>neurons.</a:t>
            </a:r>
            <a:endParaRPr sz="2000">
              <a:latin typeface="Calibri"/>
              <a:cs typeface="Calibri"/>
            </a:endParaRPr>
          </a:p>
          <a:p>
            <a:pPr marL="12700" marR="5080">
              <a:lnSpc>
                <a:spcPct val="100000"/>
              </a:lnSpc>
            </a:pPr>
            <a:r>
              <a:rPr dirty="0" sz="2000">
                <a:latin typeface="Calibri"/>
                <a:cs typeface="Calibri"/>
              </a:rPr>
              <a:t>The</a:t>
            </a:r>
            <a:r>
              <a:rPr dirty="0" sz="2000" spc="-60">
                <a:latin typeface="Calibri"/>
                <a:cs typeface="Calibri"/>
              </a:rPr>
              <a:t> </a:t>
            </a:r>
            <a:r>
              <a:rPr dirty="0" sz="2000">
                <a:latin typeface="Calibri"/>
                <a:cs typeface="Calibri"/>
              </a:rPr>
              <a:t>previous</a:t>
            </a:r>
            <a:r>
              <a:rPr dirty="0" sz="2000" spc="-60">
                <a:latin typeface="Calibri"/>
                <a:cs typeface="Calibri"/>
              </a:rPr>
              <a:t> </a:t>
            </a:r>
            <a:r>
              <a:rPr dirty="0" sz="2000">
                <a:latin typeface="Calibri"/>
                <a:cs typeface="Calibri"/>
              </a:rPr>
              <a:t>layer</a:t>
            </a:r>
            <a:r>
              <a:rPr dirty="0" sz="2000" spc="-45">
                <a:latin typeface="Calibri"/>
                <a:cs typeface="Calibri"/>
              </a:rPr>
              <a:t> </a:t>
            </a:r>
            <a:r>
              <a:rPr dirty="0" sz="2000">
                <a:latin typeface="Calibri"/>
                <a:cs typeface="Calibri"/>
              </a:rPr>
              <a:t>is</a:t>
            </a:r>
            <a:r>
              <a:rPr dirty="0" sz="2000" spc="-35">
                <a:latin typeface="Calibri"/>
                <a:cs typeface="Calibri"/>
              </a:rPr>
              <a:t> </a:t>
            </a:r>
            <a:r>
              <a:rPr dirty="0" sz="2000">
                <a:latin typeface="Calibri"/>
                <a:cs typeface="Calibri"/>
              </a:rPr>
              <a:t>also</a:t>
            </a:r>
            <a:r>
              <a:rPr dirty="0" sz="2000" spc="-45">
                <a:latin typeface="Calibri"/>
                <a:cs typeface="Calibri"/>
              </a:rPr>
              <a:t> </a:t>
            </a:r>
            <a:r>
              <a:rPr dirty="0" sz="2000">
                <a:latin typeface="Calibri"/>
                <a:cs typeface="Calibri"/>
              </a:rPr>
              <a:t>a</a:t>
            </a:r>
            <a:r>
              <a:rPr dirty="0" sz="2000" spc="-45">
                <a:latin typeface="Calibri"/>
                <a:cs typeface="Calibri"/>
              </a:rPr>
              <a:t> </a:t>
            </a:r>
            <a:r>
              <a:rPr dirty="0" sz="2000" spc="-10">
                <a:latin typeface="Calibri"/>
                <a:cs typeface="Calibri"/>
              </a:rPr>
              <a:t>rectangular </a:t>
            </a:r>
            <a:r>
              <a:rPr dirty="0" sz="2000">
                <a:latin typeface="Calibri"/>
                <a:cs typeface="Calibri"/>
              </a:rPr>
              <a:t>grid</a:t>
            </a:r>
            <a:r>
              <a:rPr dirty="0" sz="2000" spc="-25">
                <a:latin typeface="Calibri"/>
                <a:cs typeface="Calibri"/>
              </a:rPr>
              <a:t> </a:t>
            </a:r>
            <a:r>
              <a:rPr dirty="0" sz="2000">
                <a:latin typeface="Calibri"/>
                <a:cs typeface="Calibri"/>
              </a:rPr>
              <a:t>of</a:t>
            </a:r>
            <a:r>
              <a:rPr dirty="0" sz="2000" spc="-25">
                <a:latin typeface="Calibri"/>
                <a:cs typeface="Calibri"/>
              </a:rPr>
              <a:t> </a:t>
            </a:r>
            <a:r>
              <a:rPr dirty="0" sz="2000" spc="-10">
                <a:latin typeface="Calibri"/>
                <a:cs typeface="Calibri"/>
              </a:rPr>
              <a:t>neurons.</a:t>
            </a:r>
            <a:endParaRPr sz="2000">
              <a:latin typeface="Calibri"/>
              <a:cs typeface="Calibri"/>
            </a:endParaRPr>
          </a:p>
        </p:txBody>
      </p:sp>
      <p:sp>
        <p:nvSpPr>
          <p:cNvPr id="13" name="object 13" descr=""/>
          <p:cNvSpPr txBox="1"/>
          <p:nvPr/>
        </p:nvSpPr>
        <p:spPr>
          <a:xfrm>
            <a:off x="190588" y="5506325"/>
            <a:ext cx="4749800" cy="1245870"/>
          </a:xfrm>
          <a:prstGeom prst="rect">
            <a:avLst/>
          </a:prstGeom>
        </p:spPr>
        <p:txBody>
          <a:bodyPr wrap="square" lIns="0" tIns="12700" rIns="0" bIns="0" rtlCol="0" vert="horz">
            <a:spAutoFit/>
          </a:bodyPr>
          <a:lstStyle/>
          <a:p>
            <a:pPr marL="12700" marR="5080">
              <a:lnSpc>
                <a:spcPct val="100000"/>
              </a:lnSpc>
              <a:spcBef>
                <a:spcPts val="100"/>
              </a:spcBef>
            </a:pPr>
            <a:r>
              <a:rPr dirty="0" sz="2000">
                <a:latin typeface="Calibri"/>
                <a:cs typeface="Calibri"/>
              </a:rPr>
              <a:t>Each</a:t>
            </a:r>
            <a:r>
              <a:rPr dirty="0" sz="2000" spc="-55">
                <a:latin typeface="Calibri"/>
                <a:cs typeface="Calibri"/>
              </a:rPr>
              <a:t> </a:t>
            </a:r>
            <a:r>
              <a:rPr dirty="0" sz="2000">
                <a:latin typeface="Calibri"/>
                <a:cs typeface="Calibri"/>
              </a:rPr>
              <a:t>neuron</a:t>
            </a:r>
            <a:r>
              <a:rPr dirty="0" sz="2000" spc="-70">
                <a:latin typeface="Calibri"/>
                <a:cs typeface="Calibri"/>
              </a:rPr>
              <a:t> </a:t>
            </a:r>
            <a:r>
              <a:rPr dirty="0" sz="2000" spc="-10">
                <a:latin typeface="Calibri"/>
                <a:cs typeface="Calibri"/>
              </a:rPr>
              <a:t>takes</a:t>
            </a:r>
            <a:r>
              <a:rPr dirty="0" sz="2000" spc="-40">
                <a:latin typeface="Calibri"/>
                <a:cs typeface="Calibri"/>
              </a:rPr>
              <a:t> </a:t>
            </a:r>
            <a:r>
              <a:rPr dirty="0" sz="2000">
                <a:latin typeface="Calibri"/>
                <a:cs typeface="Calibri"/>
              </a:rPr>
              <a:t>inputs</a:t>
            </a:r>
            <a:r>
              <a:rPr dirty="0" sz="2000" spc="-65">
                <a:latin typeface="Calibri"/>
                <a:cs typeface="Calibri"/>
              </a:rPr>
              <a:t> </a:t>
            </a:r>
            <a:r>
              <a:rPr dirty="0" sz="2000">
                <a:latin typeface="Calibri"/>
                <a:cs typeface="Calibri"/>
              </a:rPr>
              <a:t>from</a:t>
            </a:r>
            <a:r>
              <a:rPr dirty="0" sz="2000" spc="-55">
                <a:latin typeface="Calibri"/>
                <a:cs typeface="Calibri"/>
              </a:rPr>
              <a:t> </a:t>
            </a:r>
            <a:r>
              <a:rPr dirty="0" sz="2000">
                <a:latin typeface="Calibri"/>
                <a:cs typeface="Calibri"/>
              </a:rPr>
              <a:t>a</a:t>
            </a:r>
            <a:r>
              <a:rPr dirty="0" sz="2000" spc="-50">
                <a:latin typeface="Calibri"/>
                <a:cs typeface="Calibri"/>
              </a:rPr>
              <a:t> </a:t>
            </a:r>
            <a:r>
              <a:rPr dirty="0" sz="2000" spc="-10">
                <a:latin typeface="Calibri"/>
                <a:cs typeface="Calibri"/>
              </a:rPr>
              <a:t>rectangular </a:t>
            </a:r>
            <a:r>
              <a:rPr dirty="0" sz="2000">
                <a:latin typeface="Calibri"/>
                <a:cs typeface="Calibri"/>
              </a:rPr>
              <a:t>section</a:t>
            </a:r>
            <a:r>
              <a:rPr dirty="0" sz="2000" spc="-50">
                <a:latin typeface="Calibri"/>
                <a:cs typeface="Calibri"/>
              </a:rPr>
              <a:t> </a:t>
            </a:r>
            <a:r>
              <a:rPr dirty="0" sz="2000">
                <a:latin typeface="Calibri"/>
                <a:cs typeface="Calibri"/>
              </a:rPr>
              <a:t>of</a:t>
            </a:r>
            <a:r>
              <a:rPr dirty="0" sz="2000" spc="-65">
                <a:latin typeface="Calibri"/>
                <a:cs typeface="Calibri"/>
              </a:rPr>
              <a:t> </a:t>
            </a:r>
            <a:r>
              <a:rPr dirty="0" sz="2000">
                <a:latin typeface="Calibri"/>
                <a:cs typeface="Calibri"/>
              </a:rPr>
              <a:t>the</a:t>
            </a:r>
            <a:r>
              <a:rPr dirty="0" sz="2000" spc="-50">
                <a:latin typeface="Calibri"/>
                <a:cs typeface="Calibri"/>
              </a:rPr>
              <a:t> </a:t>
            </a:r>
            <a:r>
              <a:rPr dirty="0" sz="2000">
                <a:latin typeface="Calibri"/>
                <a:cs typeface="Calibri"/>
              </a:rPr>
              <a:t>previous</a:t>
            </a:r>
            <a:r>
              <a:rPr dirty="0" sz="2000" spc="-55">
                <a:latin typeface="Calibri"/>
                <a:cs typeface="Calibri"/>
              </a:rPr>
              <a:t> </a:t>
            </a:r>
            <a:r>
              <a:rPr dirty="0" sz="2000" spc="-10">
                <a:latin typeface="Calibri"/>
                <a:cs typeface="Calibri"/>
              </a:rPr>
              <a:t>layer;</a:t>
            </a:r>
            <a:r>
              <a:rPr dirty="0" sz="2000" spc="-55">
                <a:latin typeface="Calibri"/>
                <a:cs typeface="Calibri"/>
              </a:rPr>
              <a:t> </a:t>
            </a:r>
            <a:r>
              <a:rPr dirty="0" sz="2000">
                <a:latin typeface="Calibri"/>
                <a:cs typeface="Calibri"/>
              </a:rPr>
              <a:t>the</a:t>
            </a:r>
            <a:r>
              <a:rPr dirty="0" sz="2000" spc="-55">
                <a:latin typeface="Calibri"/>
                <a:cs typeface="Calibri"/>
              </a:rPr>
              <a:t> </a:t>
            </a:r>
            <a:r>
              <a:rPr dirty="0" sz="2000">
                <a:latin typeface="Calibri"/>
                <a:cs typeface="Calibri"/>
              </a:rPr>
              <a:t>weights</a:t>
            </a:r>
            <a:r>
              <a:rPr dirty="0" sz="2000" spc="-65">
                <a:latin typeface="Calibri"/>
                <a:cs typeface="Calibri"/>
              </a:rPr>
              <a:t> </a:t>
            </a:r>
            <a:r>
              <a:rPr dirty="0" sz="2000" spc="-25">
                <a:latin typeface="Calibri"/>
                <a:cs typeface="Calibri"/>
              </a:rPr>
              <a:t>for </a:t>
            </a:r>
            <a:r>
              <a:rPr dirty="0" sz="2000">
                <a:latin typeface="Calibri"/>
                <a:cs typeface="Calibri"/>
              </a:rPr>
              <a:t>this</a:t>
            </a:r>
            <a:r>
              <a:rPr dirty="0" sz="2000" spc="-45">
                <a:latin typeface="Calibri"/>
                <a:cs typeface="Calibri"/>
              </a:rPr>
              <a:t> </a:t>
            </a:r>
            <a:r>
              <a:rPr dirty="0" sz="2000" spc="-10">
                <a:latin typeface="Calibri"/>
                <a:cs typeface="Calibri"/>
              </a:rPr>
              <a:t>rectangular</a:t>
            </a:r>
            <a:r>
              <a:rPr dirty="0" sz="2000" spc="-45">
                <a:latin typeface="Calibri"/>
                <a:cs typeface="Calibri"/>
              </a:rPr>
              <a:t> </a:t>
            </a:r>
            <a:r>
              <a:rPr dirty="0" sz="2000">
                <a:latin typeface="Calibri"/>
                <a:cs typeface="Calibri"/>
              </a:rPr>
              <a:t>section</a:t>
            </a:r>
            <a:r>
              <a:rPr dirty="0" sz="2000" spc="-40">
                <a:latin typeface="Calibri"/>
                <a:cs typeface="Calibri"/>
              </a:rPr>
              <a:t> </a:t>
            </a:r>
            <a:r>
              <a:rPr dirty="0" sz="2000">
                <a:latin typeface="Calibri"/>
                <a:cs typeface="Calibri"/>
              </a:rPr>
              <a:t>are</a:t>
            </a:r>
            <a:r>
              <a:rPr dirty="0" sz="2000" spc="-40">
                <a:latin typeface="Calibri"/>
                <a:cs typeface="Calibri"/>
              </a:rPr>
              <a:t> </a:t>
            </a:r>
            <a:r>
              <a:rPr dirty="0" sz="2000">
                <a:latin typeface="Calibri"/>
                <a:cs typeface="Calibri"/>
              </a:rPr>
              <a:t>the</a:t>
            </a:r>
            <a:r>
              <a:rPr dirty="0" sz="2000" spc="-45">
                <a:latin typeface="Calibri"/>
                <a:cs typeface="Calibri"/>
              </a:rPr>
              <a:t> </a:t>
            </a:r>
            <a:r>
              <a:rPr dirty="0" sz="2000">
                <a:latin typeface="Calibri"/>
                <a:cs typeface="Calibri"/>
              </a:rPr>
              <a:t>same</a:t>
            </a:r>
            <a:r>
              <a:rPr dirty="0" sz="2000" spc="-35">
                <a:latin typeface="Calibri"/>
                <a:cs typeface="Calibri"/>
              </a:rPr>
              <a:t> </a:t>
            </a:r>
            <a:r>
              <a:rPr dirty="0" sz="2000">
                <a:latin typeface="Calibri"/>
                <a:cs typeface="Calibri"/>
              </a:rPr>
              <a:t>for</a:t>
            </a:r>
            <a:r>
              <a:rPr dirty="0" sz="2000" spc="-55">
                <a:latin typeface="Calibri"/>
                <a:cs typeface="Calibri"/>
              </a:rPr>
              <a:t> </a:t>
            </a:r>
            <a:r>
              <a:rPr dirty="0" sz="2000" spc="-20">
                <a:latin typeface="Calibri"/>
                <a:cs typeface="Calibri"/>
              </a:rPr>
              <a:t>each </a:t>
            </a:r>
            <a:r>
              <a:rPr dirty="0" sz="2000">
                <a:latin typeface="Calibri"/>
                <a:cs typeface="Calibri"/>
              </a:rPr>
              <a:t>neuron</a:t>
            </a:r>
            <a:r>
              <a:rPr dirty="0" sz="2000" spc="-55">
                <a:latin typeface="Calibri"/>
                <a:cs typeface="Calibri"/>
              </a:rPr>
              <a:t> </a:t>
            </a:r>
            <a:r>
              <a:rPr dirty="0" sz="2000">
                <a:latin typeface="Calibri"/>
                <a:cs typeface="Calibri"/>
              </a:rPr>
              <a:t>in</a:t>
            </a:r>
            <a:r>
              <a:rPr dirty="0" sz="2000" spc="-25">
                <a:latin typeface="Calibri"/>
                <a:cs typeface="Calibri"/>
              </a:rPr>
              <a:t> </a:t>
            </a:r>
            <a:r>
              <a:rPr dirty="0" sz="2000">
                <a:latin typeface="Calibri"/>
                <a:cs typeface="Calibri"/>
              </a:rPr>
              <a:t>the</a:t>
            </a:r>
            <a:r>
              <a:rPr dirty="0" sz="2000" spc="-30">
                <a:latin typeface="Calibri"/>
                <a:cs typeface="Calibri"/>
              </a:rPr>
              <a:t> </a:t>
            </a:r>
            <a:r>
              <a:rPr dirty="0" sz="2000" spc="-10">
                <a:latin typeface="Calibri"/>
                <a:cs typeface="Calibri"/>
              </a:rPr>
              <a:t>convolutional</a:t>
            </a:r>
            <a:r>
              <a:rPr dirty="0" sz="2000" spc="-55">
                <a:latin typeface="Calibri"/>
                <a:cs typeface="Calibri"/>
              </a:rPr>
              <a:t> </a:t>
            </a:r>
            <a:r>
              <a:rPr dirty="0" sz="2000" spc="-10">
                <a:latin typeface="Calibri"/>
                <a:cs typeface="Calibri"/>
              </a:rPr>
              <a:t>layer</a:t>
            </a:r>
            <a:endParaRPr sz="2000">
              <a:latin typeface="Calibri"/>
              <a:cs typeface="Calibri"/>
            </a:endParaRPr>
          </a:p>
        </p:txBody>
      </p:sp>
      <p:sp>
        <p:nvSpPr>
          <p:cNvPr id="14" name="object 14" descr=""/>
          <p:cNvSpPr txBox="1"/>
          <p:nvPr/>
        </p:nvSpPr>
        <p:spPr>
          <a:xfrm>
            <a:off x="8425688" y="6594623"/>
            <a:ext cx="18097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898989"/>
                </a:solidFill>
                <a:latin typeface="Calibri"/>
                <a:cs typeface="Calibri"/>
              </a:rPr>
              <a:t>26</a:t>
            </a:r>
            <a:endParaRPr sz="1200">
              <a:latin typeface="Calibri"/>
              <a:cs typeface="Calibri"/>
            </a:endParaRPr>
          </a:p>
        </p:txBody>
      </p:sp>
      <p:pic>
        <p:nvPicPr>
          <p:cNvPr id="15" name="object 15" descr=""/>
          <p:cNvPicPr/>
          <p:nvPr/>
        </p:nvPicPr>
        <p:blipFill>
          <a:blip r:embed="rId7" cstate="print"/>
          <a:stretch>
            <a:fillRect/>
          </a:stretch>
        </p:blipFill>
        <p:spPr>
          <a:xfrm>
            <a:off x="1125908" y="3776331"/>
            <a:ext cx="465366" cy="213526"/>
          </a:xfrm>
          <a:prstGeom prst="rect">
            <a:avLst/>
          </a:prstGeom>
        </p:spPr>
      </p:pic>
      <p:pic>
        <p:nvPicPr>
          <p:cNvPr id="16" name="object 16" descr=""/>
          <p:cNvPicPr/>
          <p:nvPr/>
        </p:nvPicPr>
        <p:blipFill>
          <a:blip r:embed="rId8" cstate="print"/>
          <a:stretch>
            <a:fillRect/>
          </a:stretch>
        </p:blipFill>
        <p:spPr>
          <a:xfrm>
            <a:off x="170547" y="32005"/>
            <a:ext cx="1749765" cy="1017612"/>
          </a:xfrm>
          <a:prstGeom prst="rect">
            <a:avLst/>
          </a:prstGeom>
        </p:spPr>
      </p:pic>
      <p:pic>
        <p:nvPicPr>
          <p:cNvPr id="17" name="object 17" descr=""/>
          <p:cNvPicPr/>
          <p:nvPr/>
        </p:nvPicPr>
        <p:blipFill>
          <a:blip r:embed="rId9" cstate="print"/>
          <a:stretch>
            <a:fillRect/>
          </a:stretch>
        </p:blipFill>
        <p:spPr>
          <a:xfrm>
            <a:off x="7214970" y="53722"/>
            <a:ext cx="1863025" cy="689716"/>
          </a:xfrm>
          <a:prstGeom prst="rect">
            <a:avLst/>
          </a:prstGeom>
        </p:spPr>
      </p:pic>
      <p:pic>
        <p:nvPicPr>
          <p:cNvPr id="18" name="object 18" descr=""/>
          <p:cNvPicPr/>
          <p:nvPr/>
        </p:nvPicPr>
        <p:blipFill>
          <a:blip r:embed="rId10" cstate="print"/>
          <a:stretch>
            <a:fillRect/>
          </a:stretch>
        </p:blipFill>
        <p:spPr>
          <a:xfrm>
            <a:off x="1893923" y="4985267"/>
            <a:ext cx="3076788" cy="60302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1692" rIns="0" bIns="0" rtlCol="0" vert="horz">
            <a:spAutoFit/>
          </a:bodyPr>
          <a:lstStyle/>
          <a:p>
            <a:pPr marL="448945">
              <a:lnSpc>
                <a:spcPct val="100000"/>
              </a:lnSpc>
              <a:spcBef>
                <a:spcPts val="95"/>
              </a:spcBef>
            </a:pPr>
            <a:r>
              <a:rPr dirty="0"/>
              <a:t>Convolutional</a:t>
            </a:r>
            <a:r>
              <a:rPr dirty="0" spc="-165"/>
              <a:t> </a:t>
            </a:r>
            <a:r>
              <a:rPr dirty="0"/>
              <a:t>Neural</a:t>
            </a:r>
            <a:r>
              <a:rPr dirty="0" spc="-175"/>
              <a:t> </a:t>
            </a:r>
            <a:r>
              <a:rPr dirty="0" spc="-10"/>
              <a:t>Networks</a:t>
            </a:r>
          </a:p>
        </p:txBody>
      </p:sp>
      <p:grpSp>
        <p:nvGrpSpPr>
          <p:cNvPr id="3" name="object 3" descr=""/>
          <p:cNvGrpSpPr/>
          <p:nvPr/>
        </p:nvGrpSpPr>
        <p:grpSpPr>
          <a:xfrm>
            <a:off x="296862" y="941433"/>
            <a:ext cx="2503170" cy="5731510"/>
            <a:chOff x="296862" y="941433"/>
            <a:chExt cx="2503170" cy="5731510"/>
          </a:xfrm>
        </p:grpSpPr>
        <p:pic>
          <p:nvPicPr>
            <p:cNvPr id="4" name="object 4" descr=""/>
            <p:cNvPicPr/>
            <p:nvPr/>
          </p:nvPicPr>
          <p:blipFill>
            <a:blip r:embed="rId2" cstate="print"/>
            <a:stretch>
              <a:fillRect/>
            </a:stretch>
          </p:blipFill>
          <p:spPr>
            <a:xfrm>
              <a:off x="328758" y="941433"/>
              <a:ext cx="2429383" cy="5731411"/>
            </a:xfrm>
            <a:prstGeom prst="rect">
              <a:avLst/>
            </a:prstGeom>
          </p:spPr>
        </p:pic>
        <p:sp>
          <p:nvSpPr>
            <p:cNvPr id="5" name="object 5" descr=""/>
            <p:cNvSpPr/>
            <p:nvPr/>
          </p:nvSpPr>
          <p:spPr>
            <a:xfrm>
              <a:off x="323850" y="5026915"/>
              <a:ext cx="2449195" cy="719455"/>
            </a:xfrm>
            <a:custGeom>
              <a:avLst/>
              <a:gdLst/>
              <a:ahLst/>
              <a:cxnLst/>
              <a:rect l="l" t="t" r="r" b="b"/>
              <a:pathLst>
                <a:path w="2449195" h="719454">
                  <a:moveTo>
                    <a:pt x="0" y="119887"/>
                  </a:moveTo>
                  <a:lnTo>
                    <a:pt x="9422" y="73219"/>
                  </a:lnTo>
                  <a:lnTo>
                    <a:pt x="35117" y="35112"/>
                  </a:lnTo>
                  <a:lnTo>
                    <a:pt x="73225" y="9420"/>
                  </a:lnTo>
                  <a:lnTo>
                    <a:pt x="119888" y="0"/>
                  </a:lnTo>
                  <a:lnTo>
                    <a:pt x="2329180" y="0"/>
                  </a:lnTo>
                  <a:lnTo>
                    <a:pt x="2375842" y="9420"/>
                  </a:lnTo>
                  <a:lnTo>
                    <a:pt x="2413950" y="35112"/>
                  </a:lnTo>
                  <a:lnTo>
                    <a:pt x="2439645" y="73219"/>
                  </a:lnTo>
                  <a:lnTo>
                    <a:pt x="2449068" y="119887"/>
                  </a:lnTo>
                  <a:lnTo>
                    <a:pt x="2449068" y="599439"/>
                  </a:lnTo>
                  <a:lnTo>
                    <a:pt x="2439645" y="646102"/>
                  </a:lnTo>
                  <a:lnTo>
                    <a:pt x="2413950" y="684210"/>
                  </a:lnTo>
                  <a:lnTo>
                    <a:pt x="2375842" y="709905"/>
                  </a:lnTo>
                  <a:lnTo>
                    <a:pt x="2329180" y="719327"/>
                  </a:lnTo>
                  <a:lnTo>
                    <a:pt x="119888" y="719327"/>
                  </a:lnTo>
                  <a:lnTo>
                    <a:pt x="73225" y="709905"/>
                  </a:lnTo>
                  <a:lnTo>
                    <a:pt x="35117" y="684210"/>
                  </a:lnTo>
                  <a:lnTo>
                    <a:pt x="9422" y="646102"/>
                  </a:lnTo>
                  <a:lnTo>
                    <a:pt x="0" y="599439"/>
                  </a:lnTo>
                  <a:lnTo>
                    <a:pt x="0" y="119887"/>
                  </a:lnTo>
                  <a:close/>
                </a:path>
              </a:pathLst>
            </a:custGeom>
            <a:ln w="53975">
              <a:solidFill>
                <a:srgbClr val="FF0000"/>
              </a:solidFill>
            </a:ln>
          </p:spPr>
          <p:txBody>
            <a:bodyPr wrap="square" lIns="0" tIns="0" rIns="0" bIns="0" rtlCol="0"/>
            <a:lstStyle/>
            <a:p/>
          </p:txBody>
        </p:sp>
      </p:grpSp>
      <p:grpSp>
        <p:nvGrpSpPr>
          <p:cNvPr id="6" name="object 6" descr=""/>
          <p:cNvGrpSpPr/>
          <p:nvPr/>
        </p:nvGrpSpPr>
        <p:grpSpPr>
          <a:xfrm>
            <a:off x="4140708" y="1025652"/>
            <a:ext cx="3655060" cy="2437130"/>
            <a:chOff x="4140708" y="1025652"/>
            <a:chExt cx="3655060" cy="2437130"/>
          </a:xfrm>
        </p:grpSpPr>
        <p:pic>
          <p:nvPicPr>
            <p:cNvPr id="7" name="object 7" descr=""/>
            <p:cNvPicPr/>
            <p:nvPr/>
          </p:nvPicPr>
          <p:blipFill>
            <a:blip r:embed="rId3" cstate="print"/>
            <a:stretch>
              <a:fillRect/>
            </a:stretch>
          </p:blipFill>
          <p:spPr>
            <a:xfrm>
              <a:off x="4140708" y="1025652"/>
              <a:ext cx="3654551" cy="2436876"/>
            </a:xfrm>
            <a:prstGeom prst="rect">
              <a:avLst/>
            </a:prstGeom>
          </p:spPr>
        </p:pic>
        <p:pic>
          <p:nvPicPr>
            <p:cNvPr id="8" name="object 8" descr=""/>
            <p:cNvPicPr/>
            <p:nvPr/>
          </p:nvPicPr>
          <p:blipFill>
            <a:blip r:embed="rId4" cstate="print"/>
            <a:stretch>
              <a:fillRect/>
            </a:stretch>
          </p:blipFill>
          <p:spPr>
            <a:xfrm>
              <a:off x="4174236" y="1650492"/>
              <a:ext cx="885443" cy="923543"/>
            </a:xfrm>
            <a:prstGeom prst="rect">
              <a:avLst/>
            </a:prstGeom>
          </p:spPr>
        </p:pic>
        <p:sp>
          <p:nvSpPr>
            <p:cNvPr id="9" name="object 9" descr=""/>
            <p:cNvSpPr/>
            <p:nvPr/>
          </p:nvSpPr>
          <p:spPr>
            <a:xfrm>
              <a:off x="4161536" y="1637792"/>
              <a:ext cx="911225" cy="949325"/>
            </a:xfrm>
            <a:custGeom>
              <a:avLst/>
              <a:gdLst/>
              <a:ahLst/>
              <a:cxnLst/>
              <a:rect l="l" t="t" r="r" b="b"/>
              <a:pathLst>
                <a:path w="911225" h="949325">
                  <a:moveTo>
                    <a:pt x="0" y="948944"/>
                  </a:moveTo>
                  <a:lnTo>
                    <a:pt x="910843" y="948944"/>
                  </a:lnTo>
                  <a:lnTo>
                    <a:pt x="910843" y="0"/>
                  </a:lnTo>
                  <a:lnTo>
                    <a:pt x="0" y="0"/>
                  </a:lnTo>
                  <a:lnTo>
                    <a:pt x="0" y="948944"/>
                  </a:lnTo>
                  <a:close/>
                </a:path>
              </a:pathLst>
            </a:custGeom>
            <a:ln w="25400">
              <a:solidFill>
                <a:srgbClr val="00B050"/>
              </a:solidFill>
            </a:ln>
          </p:spPr>
          <p:txBody>
            <a:bodyPr wrap="square" lIns="0" tIns="0" rIns="0" bIns="0" rtlCol="0"/>
            <a:lstStyle/>
            <a:p/>
          </p:txBody>
        </p:sp>
      </p:grpSp>
      <p:grpSp>
        <p:nvGrpSpPr>
          <p:cNvPr id="10" name="object 10" descr=""/>
          <p:cNvGrpSpPr/>
          <p:nvPr/>
        </p:nvGrpSpPr>
        <p:grpSpPr>
          <a:xfrm>
            <a:off x="3194811" y="3827271"/>
            <a:ext cx="2654300" cy="2336800"/>
            <a:chOff x="3194811" y="3827271"/>
            <a:chExt cx="2654300" cy="2336800"/>
          </a:xfrm>
        </p:grpSpPr>
        <p:pic>
          <p:nvPicPr>
            <p:cNvPr id="11" name="object 11" descr=""/>
            <p:cNvPicPr/>
            <p:nvPr/>
          </p:nvPicPr>
          <p:blipFill>
            <a:blip r:embed="rId5" cstate="print"/>
            <a:stretch>
              <a:fillRect/>
            </a:stretch>
          </p:blipFill>
          <p:spPr>
            <a:xfrm>
              <a:off x="3220211" y="3852672"/>
              <a:ext cx="2602991" cy="2285999"/>
            </a:xfrm>
            <a:prstGeom prst="rect">
              <a:avLst/>
            </a:prstGeom>
          </p:spPr>
        </p:pic>
        <p:sp>
          <p:nvSpPr>
            <p:cNvPr id="12" name="object 12" descr=""/>
            <p:cNvSpPr/>
            <p:nvPr/>
          </p:nvSpPr>
          <p:spPr>
            <a:xfrm>
              <a:off x="3207511" y="3839971"/>
              <a:ext cx="2628900" cy="2311400"/>
            </a:xfrm>
            <a:custGeom>
              <a:avLst/>
              <a:gdLst/>
              <a:ahLst/>
              <a:cxnLst/>
              <a:rect l="l" t="t" r="r" b="b"/>
              <a:pathLst>
                <a:path w="2628900" h="2311400">
                  <a:moveTo>
                    <a:pt x="0" y="2311400"/>
                  </a:moveTo>
                  <a:lnTo>
                    <a:pt x="2628391" y="2311400"/>
                  </a:lnTo>
                  <a:lnTo>
                    <a:pt x="2628391" y="0"/>
                  </a:lnTo>
                  <a:lnTo>
                    <a:pt x="0" y="0"/>
                  </a:lnTo>
                  <a:lnTo>
                    <a:pt x="0" y="2311400"/>
                  </a:lnTo>
                  <a:close/>
                </a:path>
              </a:pathLst>
            </a:custGeom>
            <a:ln w="25400">
              <a:solidFill>
                <a:srgbClr val="00B050"/>
              </a:solidFill>
            </a:ln>
          </p:spPr>
          <p:txBody>
            <a:bodyPr wrap="square" lIns="0" tIns="0" rIns="0" bIns="0" rtlCol="0"/>
            <a:lstStyle/>
            <a:p/>
          </p:txBody>
        </p:sp>
      </p:grpSp>
      <p:grpSp>
        <p:nvGrpSpPr>
          <p:cNvPr id="13" name="object 13" descr=""/>
          <p:cNvGrpSpPr/>
          <p:nvPr/>
        </p:nvGrpSpPr>
        <p:grpSpPr>
          <a:xfrm>
            <a:off x="6116320" y="3827271"/>
            <a:ext cx="2710180" cy="2336800"/>
            <a:chOff x="6116320" y="3827271"/>
            <a:chExt cx="2710180" cy="2336800"/>
          </a:xfrm>
        </p:grpSpPr>
        <p:pic>
          <p:nvPicPr>
            <p:cNvPr id="14" name="object 14" descr=""/>
            <p:cNvPicPr/>
            <p:nvPr/>
          </p:nvPicPr>
          <p:blipFill>
            <a:blip r:embed="rId6" cstate="print"/>
            <a:stretch>
              <a:fillRect/>
            </a:stretch>
          </p:blipFill>
          <p:spPr>
            <a:xfrm>
              <a:off x="6141720" y="3852672"/>
              <a:ext cx="2659379" cy="2285987"/>
            </a:xfrm>
            <a:prstGeom prst="rect">
              <a:avLst/>
            </a:prstGeom>
          </p:spPr>
        </p:pic>
        <p:sp>
          <p:nvSpPr>
            <p:cNvPr id="15" name="object 15" descr=""/>
            <p:cNvSpPr/>
            <p:nvPr/>
          </p:nvSpPr>
          <p:spPr>
            <a:xfrm>
              <a:off x="6129020" y="3839971"/>
              <a:ext cx="2684780" cy="2311400"/>
            </a:xfrm>
            <a:custGeom>
              <a:avLst/>
              <a:gdLst/>
              <a:ahLst/>
              <a:cxnLst/>
              <a:rect l="l" t="t" r="r" b="b"/>
              <a:pathLst>
                <a:path w="2684779" h="2311400">
                  <a:moveTo>
                    <a:pt x="0" y="2311400"/>
                  </a:moveTo>
                  <a:lnTo>
                    <a:pt x="2684779" y="2311400"/>
                  </a:lnTo>
                  <a:lnTo>
                    <a:pt x="2684779" y="0"/>
                  </a:lnTo>
                  <a:lnTo>
                    <a:pt x="0" y="0"/>
                  </a:lnTo>
                  <a:lnTo>
                    <a:pt x="0" y="2311400"/>
                  </a:lnTo>
                  <a:close/>
                </a:path>
              </a:pathLst>
            </a:custGeom>
            <a:ln w="25400">
              <a:solidFill>
                <a:srgbClr val="FF0000"/>
              </a:solidFill>
            </a:ln>
          </p:spPr>
          <p:txBody>
            <a:bodyPr wrap="square" lIns="0" tIns="0" rIns="0" bIns="0" rtlCol="0"/>
            <a:lstStyle/>
            <a:p/>
          </p:txBody>
        </p:sp>
      </p:grpSp>
      <p:sp>
        <p:nvSpPr>
          <p:cNvPr id="16" name="object 16"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27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384611" y="110738"/>
            <a:ext cx="2794940" cy="6502966"/>
          </a:xfrm>
          <a:prstGeom prst="rect">
            <a:avLst/>
          </a:prstGeom>
        </p:spPr>
      </p:pic>
      <p:grpSp>
        <p:nvGrpSpPr>
          <p:cNvPr id="3" name="object 3" descr=""/>
          <p:cNvGrpSpPr/>
          <p:nvPr/>
        </p:nvGrpSpPr>
        <p:grpSpPr>
          <a:xfrm>
            <a:off x="4323422" y="2857902"/>
            <a:ext cx="4481830" cy="3793490"/>
            <a:chOff x="4323422" y="2857902"/>
            <a:chExt cx="4481830" cy="3793490"/>
          </a:xfrm>
        </p:grpSpPr>
        <p:pic>
          <p:nvPicPr>
            <p:cNvPr id="4" name="object 4" descr=""/>
            <p:cNvPicPr/>
            <p:nvPr/>
          </p:nvPicPr>
          <p:blipFill>
            <a:blip r:embed="rId3" cstate="print"/>
            <a:stretch>
              <a:fillRect/>
            </a:stretch>
          </p:blipFill>
          <p:spPr>
            <a:xfrm>
              <a:off x="4323422" y="2857902"/>
              <a:ext cx="3414708" cy="2997985"/>
            </a:xfrm>
            <a:prstGeom prst="rect">
              <a:avLst/>
            </a:prstGeom>
          </p:spPr>
        </p:pic>
        <p:sp>
          <p:nvSpPr>
            <p:cNvPr id="5" name="object 5" descr=""/>
            <p:cNvSpPr/>
            <p:nvPr/>
          </p:nvSpPr>
          <p:spPr>
            <a:xfrm>
              <a:off x="6910324" y="3140745"/>
              <a:ext cx="802005" cy="0"/>
            </a:xfrm>
            <a:custGeom>
              <a:avLst/>
              <a:gdLst/>
              <a:ahLst/>
              <a:cxnLst/>
              <a:rect l="l" t="t" r="r" b="b"/>
              <a:pathLst>
                <a:path w="802004" h="0">
                  <a:moveTo>
                    <a:pt x="0" y="0"/>
                  </a:moveTo>
                  <a:lnTo>
                    <a:pt x="801899" y="0"/>
                  </a:lnTo>
                </a:path>
              </a:pathLst>
            </a:custGeom>
            <a:ln w="14400">
              <a:solidFill>
                <a:srgbClr val="000000"/>
              </a:solidFill>
            </a:ln>
          </p:spPr>
          <p:txBody>
            <a:bodyPr wrap="square" lIns="0" tIns="0" rIns="0" bIns="0" rtlCol="0"/>
            <a:lstStyle/>
            <a:p/>
          </p:txBody>
        </p:sp>
        <p:pic>
          <p:nvPicPr>
            <p:cNvPr id="6" name="object 6" descr=""/>
            <p:cNvPicPr/>
            <p:nvPr/>
          </p:nvPicPr>
          <p:blipFill>
            <a:blip r:embed="rId4" cstate="print"/>
            <a:stretch>
              <a:fillRect/>
            </a:stretch>
          </p:blipFill>
          <p:spPr>
            <a:xfrm>
              <a:off x="4557890" y="5848443"/>
              <a:ext cx="4247076" cy="802626"/>
            </a:xfrm>
            <a:prstGeom prst="rect">
              <a:avLst/>
            </a:prstGeom>
          </p:spPr>
        </p:pic>
      </p:grpSp>
      <p:sp>
        <p:nvSpPr>
          <p:cNvPr id="7" name="object 7"/>
          <p:cNvSpPr txBox="1">
            <a:spLocks noGrp="1"/>
          </p:cNvSpPr>
          <p:nvPr>
            <p:ph type="ctrTitle"/>
          </p:nvPr>
        </p:nvSpPr>
        <p:spPr>
          <a:prstGeom prst="rect"/>
        </p:spPr>
        <p:txBody>
          <a:bodyPr wrap="square" lIns="0" tIns="12700" rIns="0" bIns="0" rtlCol="0" vert="horz">
            <a:spAutoFit/>
          </a:bodyPr>
          <a:lstStyle/>
          <a:p>
            <a:pPr marL="12700">
              <a:lnSpc>
                <a:spcPct val="100000"/>
              </a:lnSpc>
              <a:spcBef>
                <a:spcPts val="100"/>
              </a:spcBef>
            </a:pPr>
            <a:r>
              <a:rPr dirty="0" sz="2400" spc="-10" b="0">
                <a:solidFill>
                  <a:srgbClr val="000000"/>
                </a:solidFill>
                <a:latin typeface="Calibri"/>
                <a:cs typeface="Calibri"/>
              </a:rPr>
              <a:t>Non-</a:t>
            </a:r>
            <a:r>
              <a:rPr dirty="0" sz="2400" b="0">
                <a:solidFill>
                  <a:srgbClr val="000000"/>
                </a:solidFill>
                <a:latin typeface="Calibri"/>
                <a:cs typeface="Calibri"/>
              </a:rPr>
              <a:t>saturating</a:t>
            </a:r>
            <a:r>
              <a:rPr dirty="0" sz="2400" spc="-135" b="0">
                <a:solidFill>
                  <a:srgbClr val="000000"/>
                </a:solidFill>
                <a:latin typeface="Calibri"/>
                <a:cs typeface="Calibri"/>
              </a:rPr>
              <a:t> </a:t>
            </a:r>
            <a:r>
              <a:rPr dirty="0" sz="2400" spc="-10" b="0">
                <a:solidFill>
                  <a:srgbClr val="000000"/>
                </a:solidFill>
                <a:latin typeface="Calibri"/>
                <a:cs typeface="Calibri"/>
              </a:rPr>
              <a:t>function</a:t>
            </a:r>
            <a:endParaRPr sz="2400">
              <a:latin typeface="Calibri"/>
              <a:cs typeface="Calibri"/>
            </a:endParaRPr>
          </a:p>
        </p:txBody>
      </p:sp>
      <p:sp>
        <p:nvSpPr>
          <p:cNvPr id="8" name="object 8" descr=""/>
          <p:cNvSpPr/>
          <p:nvPr/>
        </p:nvSpPr>
        <p:spPr>
          <a:xfrm>
            <a:off x="397002" y="3717800"/>
            <a:ext cx="2735580" cy="576580"/>
          </a:xfrm>
          <a:custGeom>
            <a:avLst/>
            <a:gdLst/>
            <a:ahLst/>
            <a:cxnLst/>
            <a:rect l="l" t="t" r="r" b="b"/>
            <a:pathLst>
              <a:path w="2735580" h="576579">
                <a:moveTo>
                  <a:pt x="0" y="96012"/>
                </a:moveTo>
                <a:lnTo>
                  <a:pt x="7545" y="58641"/>
                </a:lnTo>
                <a:lnTo>
                  <a:pt x="28122" y="28122"/>
                </a:lnTo>
                <a:lnTo>
                  <a:pt x="58641" y="7545"/>
                </a:lnTo>
                <a:lnTo>
                  <a:pt x="96012" y="0"/>
                </a:lnTo>
                <a:lnTo>
                  <a:pt x="2639568" y="0"/>
                </a:lnTo>
                <a:lnTo>
                  <a:pt x="2676938" y="7545"/>
                </a:lnTo>
                <a:lnTo>
                  <a:pt x="2707457" y="28122"/>
                </a:lnTo>
                <a:lnTo>
                  <a:pt x="2728034" y="58641"/>
                </a:lnTo>
                <a:lnTo>
                  <a:pt x="2735580" y="96012"/>
                </a:lnTo>
                <a:lnTo>
                  <a:pt x="2735580" y="480060"/>
                </a:lnTo>
                <a:lnTo>
                  <a:pt x="2728034" y="517430"/>
                </a:lnTo>
                <a:lnTo>
                  <a:pt x="2707457" y="547949"/>
                </a:lnTo>
                <a:lnTo>
                  <a:pt x="2676938" y="568526"/>
                </a:lnTo>
                <a:lnTo>
                  <a:pt x="2639568" y="576072"/>
                </a:lnTo>
                <a:lnTo>
                  <a:pt x="96012" y="576072"/>
                </a:lnTo>
                <a:lnTo>
                  <a:pt x="58641" y="568526"/>
                </a:lnTo>
                <a:lnTo>
                  <a:pt x="28122" y="547949"/>
                </a:lnTo>
                <a:lnTo>
                  <a:pt x="7545" y="517430"/>
                </a:lnTo>
                <a:lnTo>
                  <a:pt x="0" y="480060"/>
                </a:lnTo>
                <a:lnTo>
                  <a:pt x="0" y="96012"/>
                </a:lnTo>
                <a:close/>
              </a:path>
            </a:pathLst>
          </a:custGeom>
          <a:ln w="53975">
            <a:solidFill>
              <a:srgbClr val="FF0000"/>
            </a:solidFill>
          </a:ln>
        </p:spPr>
        <p:txBody>
          <a:bodyPr wrap="square" lIns="0" tIns="0" rIns="0" bIns="0" rtlCol="0"/>
          <a:lstStyle/>
          <a:p/>
        </p:txBody>
      </p:sp>
      <p:sp>
        <p:nvSpPr>
          <p:cNvPr id="9" name="object 9" descr=""/>
          <p:cNvSpPr txBox="1"/>
          <p:nvPr/>
        </p:nvSpPr>
        <p:spPr>
          <a:xfrm>
            <a:off x="4866763" y="1464187"/>
            <a:ext cx="2330450" cy="452120"/>
          </a:xfrm>
          <a:prstGeom prst="rect">
            <a:avLst/>
          </a:prstGeom>
        </p:spPr>
        <p:txBody>
          <a:bodyPr wrap="square" lIns="0" tIns="12065" rIns="0" bIns="0" rtlCol="0" vert="horz">
            <a:spAutoFit/>
          </a:bodyPr>
          <a:lstStyle/>
          <a:p>
            <a:pPr marL="12700">
              <a:lnSpc>
                <a:spcPct val="100000"/>
              </a:lnSpc>
              <a:spcBef>
                <a:spcPts val="95"/>
              </a:spcBef>
            </a:pPr>
            <a:r>
              <a:rPr dirty="0" sz="2800" i="1">
                <a:latin typeface="Calibri"/>
                <a:cs typeface="Calibri"/>
              </a:rPr>
              <a:t>f</a:t>
            </a:r>
            <a:r>
              <a:rPr dirty="0" sz="2800">
                <a:latin typeface="Calibri"/>
                <a:cs typeface="Calibri"/>
              </a:rPr>
              <a:t>(</a:t>
            </a:r>
            <a:r>
              <a:rPr dirty="0" sz="2800" i="1">
                <a:latin typeface="Calibri"/>
                <a:cs typeface="Calibri"/>
              </a:rPr>
              <a:t>x</a:t>
            </a:r>
            <a:r>
              <a:rPr dirty="0" sz="2800">
                <a:latin typeface="Calibri"/>
                <a:cs typeface="Calibri"/>
              </a:rPr>
              <a:t>)</a:t>
            </a:r>
            <a:r>
              <a:rPr dirty="0" sz="2800">
                <a:latin typeface="Cambria Math"/>
                <a:cs typeface="Cambria Math"/>
              </a:rPr>
              <a:t>=</a:t>
            </a:r>
            <a:r>
              <a:rPr dirty="0" sz="2800" spc="140">
                <a:latin typeface="Cambria Math"/>
                <a:cs typeface="Cambria Math"/>
              </a:rPr>
              <a:t> </a:t>
            </a:r>
            <a:r>
              <a:rPr dirty="0" sz="2800" spc="-10">
                <a:latin typeface="Cambria Math"/>
                <a:cs typeface="Cambria Math"/>
              </a:rPr>
              <a:t>max(0,</a:t>
            </a:r>
            <a:r>
              <a:rPr dirty="0" sz="2800" spc="-160">
                <a:latin typeface="Cambria Math"/>
                <a:cs typeface="Cambria Math"/>
              </a:rPr>
              <a:t> </a:t>
            </a:r>
            <a:r>
              <a:rPr dirty="0" sz="2800" spc="-25">
                <a:latin typeface="Cambria Math"/>
                <a:cs typeface="Cambria Math"/>
              </a:rPr>
              <a:t>𝑥)</a:t>
            </a:r>
            <a:endParaRPr sz="2800">
              <a:latin typeface="Cambria Math"/>
              <a:cs typeface="Cambria Math"/>
            </a:endParaRPr>
          </a:p>
        </p:txBody>
      </p:sp>
      <p:pic>
        <p:nvPicPr>
          <p:cNvPr id="10" name="object 10" descr=""/>
          <p:cNvPicPr/>
          <p:nvPr/>
        </p:nvPicPr>
        <p:blipFill>
          <a:blip r:embed="rId5" cstate="print"/>
          <a:stretch>
            <a:fillRect/>
          </a:stretch>
        </p:blipFill>
        <p:spPr>
          <a:xfrm>
            <a:off x="7556486" y="1044239"/>
            <a:ext cx="1328698" cy="426268"/>
          </a:xfrm>
          <a:prstGeom prst="rect">
            <a:avLst/>
          </a:prstGeom>
        </p:spPr>
      </p:pic>
      <p:sp>
        <p:nvSpPr>
          <p:cNvPr id="11" name="object 11"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28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29</a:t>
            </a:r>
          </a:p>
        </p:txBody>
      </p:sp>
      <p:sp>
        <p:nvSpPr>
          <p:cNvPr id="2" name="object 2" descr=""/>
          <p:cNvSpPr txBox="1"/>
          <p:nvPr/>
        </p:nvSpPr>
        <p:spPr>
          <a:xfrm>
            <a:off x="435254" y="136428"/>
            <a:ext cx="8094980" cy="225425"/>
          </a:xfrm>
          <a:prstGeom prst="rect">
            <a:avLst/>
          </a:prstGeom>
        </p:spPr>
        <p:txBody>
          <a:bodyPr wrap="square" lIns="0" tIns="13970" rIns="0" bIns="0" rtlCol="0" vert="horz">
            <a:spAutoFit/>
          </a:bodyPr>
          <a:lstStyle/>
          <a:p>
            <a:pPr marL="12700">
              <a:lnSpc>
                <a:spcPct val="100000"/>
              </a:lnSpc>
              <a:spcBef>
                <a:spcPts val="110"/>
              </a:spcBef>
            </a:pPr>
            <a:r>
              <a:rPr dirty="0" sz="1300" spc="-5">
                <a:latin typeface="Microsoft YaHei UI"/>
                <a:cs typeface="Microsoft YaHei UI"/>
              </a:rPr>
              <a:t>计算速度快 </a:t>
            </a:r>
            <a:r>
              <a:rPr dirty="0" sz="1300" spc="-10">
                <a:latin typeface="Trebuchet MS"/>
                <a:cs typeface="Trebuchet MS"/>
              </a:rPr>
              <a:t>(Computationally</a:t>
            </a:r>
            <a:r>
              <a:rPr dirty="0" sz="1300" spc="-15">
                <a:latin typeface="Trebuchet MS"/>
                <a:cs typeface="Trebuchet MS"/>
              </a:rPr>
              <a:t> </a:t>
            </a:r>
            <a:r>
              <a:rPr dirty="0" sz="1300" spc="-35">
                <a:latin typeface="Trebuchet MS"/>
                <a:cs typeface="Trebuchet MS"/>
              </a:rPr>
              <a:t>simpler):</a:t>
            </a:r>
            <a:r>
              <a:rPr dirty="0" sz="1300" spc="-15">
                <a:latin typeface="Trebuchet MS"/>
                <a:cs typeface="Trebuchet MS"/>
              </a:rPr>
              <a:t> </a:t>
            </a:r>
            <a:r>
              <a:rPr dirty="0" sz="1300" spc="70">
                <a:latin typeface="Trebuchet MS"/>
                <a:cs typeface="Trebuchet MS"/>
              </a:rPr>
              <a:t>ReLU</a:t>
            </a:r>
            <a:r>
              <a:rPr dirty="0" sz="1300" spc="-5">
                <a:latin typeface="Microsoft YaHei UI"/>
                <a:cs typeface="Microsoft YaHei UI"/>
              </a:rPr>
              <a:t>的前向和后向传播都只是⼀个简单的 </a:t>
            </a:r>
            <a:r>
              <a:rPr dirty="0" sz="1300" spc="-90">
                <a:latin typeface="Trebuchet MS"/>
                <a:cs typeface="Trebuchet MS"/>
              </a:rPr>
              <a:t>if</a:t>
            </a:r>
            <a:r>
              <a:rPr dirty="0" sz="1300" spc="-20">
                <a:latin typeface="Trebuchet MS"/>
                <a:cs typeface="Trebuchet MS"/>
              </a:rPr>
              <a:t> </a:t>
            </a:r>
            <a:r>
              <a:rPr dirty="0" sz="1300" spc="-5">
                <a:latin typeface="Microsoft YaHei UI"/>
                <a:cs typeface="Microsoft YaHei UI"/>
              </a:rPr>
              <a:t>判断 </a:t>
            </a:r>
            <a:r>
              <a:rPr dirty="0" sz="1300" spc="-114">
                <a:latin typeface="Trebuchet MS"/>
                <a:cs typeface="Trebuchet MS"/>
              </a:rPr>
              <a:t>(if</a:t>
            </a:r>
            <a:r>
              <a:rPr dirty="0" sz="1300" spc="-15">
                <a:latin typeface="Trebuchet MS"/>
                <a:cs typeface="Trebuchet MS"/>
              </a:rPr>
              <a:t> </a:t>
            </a:r>
            <a:r>
              <a:rPr dirty="0" sz="1300">
                <a:latin typeface="Trebuchet MS"/>
                <a:cs typeface="Trebuchet MS"/>
              </a:rPr>
              <a:t>x</a:t>
            </a:r>
            <a:r>
              <a:rPr dirty="0" sz="1300" spc="20">
                <a:latin typeface="Trebuchet MS"/>
                <a:cs typeface="Trebuchet MS"/>
              </a:rPr>
              <a:t> &gt; </a:t>
            </a:r>
            <a:r>
              <a:rPr dirty="0" sz="1300">
                <a:latin typeface="Trebuchet MS"/>
                <a:cs typeface="Trebuchet MS"/>
              </a:rPr>
              <a:t>0</a:t>
            </a:r>
            <a:r>
              <a:rPr dirty="0" sz="1300" spc="-15">
                <a:latin typeface="Trebuchet MS"/>
                <a:cs typeface="Trebuchet MS"/>
              </a:rPr>
              <a:t> </a:t>
            </a:r>
            <a:r>
              <a:rPr dirty="0" sz="1300" spc="-10">
                <a:latin typeface="Trebuchet MS"/>
                <a:cs typeface="Trebuchet MS"/>
              </a:rPr>
              <a:t>then</a:t>
            </a:r>
            <a:r>
              <a:rPr dirty="0" sz="1300" spc="-15">
                <a:latin typeface="Trebuchet MS"/>
                <a:cs typeface="Trebuchet MS"/>
              </a:rPr>
              <a:t> </a:t>
            </a:r>
            <a:r>
              <a:rPr dirty="0" sz="1300">
                <a:latin typeface="Trebuchet MS"/>
                <a:cs typeface="Trebuchet MS"/>
              </a:rPr>
              <a:t>y=x</a:t>
            </a:r>
            <a:r>
              <a:rPr dirty="0" sz="1300" spc="-15">
                <a:latin typeface="Trebuchet MS"/>
                <a:cs typeface="Trebuchet MS"/>
              </a:rPr>
              <a:t> </a:t>
            </a:r>
            <a:r>
              <a:rPr dirty="0" sz="1300" spc="-20">
                <a:latin typeface="Trebuchet MS"/>
                <a:cs typeface="Trebuchet MS"/>
              </a:rPr>
              <a:t>else</a:t>
            </a:r>
            <a:endParaRPr sz="1300">
              <a:latin typeface="Trebuchet MS"/>
              <a:cs typeface="Trebuchet MS"/>
            </a:endParaRPr>
          </a:p>
        </p:txBody>
      </p:sp>
      <p:sp>
        <p:nvSpPr>
          <p:cNvPr id="3" name="object 3" descr=""/>
          <p:cNvSpPr txBox="1"/>
          <p:nvPr/>
        </p:nvSpPr>
        <p:spPr>
          <a:xfrm>
            <a:off x="435254" y="369185"/>
            <a:ext cx="7830184" cy="225425"/>
          </a:xfrm>
          <a:prstGeom prst="rect">
            <a:avLst/>
          </a:prstGeom>
        </p:spPr>
        <p:txBody>
          <a:bodyPr wrap="square" lIns="0" tIns="13970" rIns="0" bIns="0" rtlCol="0" vert="horz">
            <a:spAutoFit/>
          </a:bodyPr>
          <a:lstStyle/>
          <a:p>
            <a:pPr marL="12700">
              <a:lnSpc>
                <a:spcPct val="100000"/>
              </a:lnSpc>
              <a:spcBef>
                <a:spcPts val="110"/>
              </a:spcBef>
            </a:pPr>
            <a:r>
              <a:rPr dirty="0" sz="1300">
                <a:latin typeface="Trebuchet MS"/>
                <a:cs typeface="Trebuchet MS"/>
              </a:rPr>
              <a:t>y=0)</a:t>
            </a:r>
            <a:r>
              <a:rPr dirty="0" sz="1300" spc="15">
                <a:latin typeface="Microsoft YaHei UI"/>
                <a:cs typeface="Microsoft YaHei UI"/>
              </a:rPr>
              <a:t>。⽽像 </a:t>
            </a:r>
            <a:r>
              <a:rPr dirty="0" sz="1300">
                <a:latin typeface="Trebuchet MS"/>
                <a:cs typeface="Trebuchet MS"/>
              </a:rPr>
              <a:t>sigmoid</a:t>
            </a:r>
            <a:r>
              <a:rPr dirty="0" sz="1300" spc="65">
                <a:latin typeface="Trebuchet MS"/>
                <a:cs typeface="Trebuchet MS"/>
              </a:rPr>
              <a:t> </a:t>
            </a:r>
            <a:r>
              <a:rPr dirty="0" sz="1300">
                <a:latin typeface="Microsoft YaHei UI"/>
                <a:cs typeface="Microsoft YaHei UI"/>
              </a:rPr>
              <a:t>这样的函数需要计算复杂的指数 </a:t>
            </a:r>
            <a:r>
              <a:rPr dirty="0" sz="1300">
                <a:latin typeface="Trebuchet MS"/>
                <a:cs typeface="Trebuchet MS"/>
              </a:rPr>
              <a:t>e^x</a:t>
            </a:r>
            <a:r>
              <a:rPr dirty="0" sz="1300" spc="-5">
                <a:latin typeface="Microsoft YaHei UI"/>
                <a:cs typeface="Microsoft YaHei UI"/>
              </a:rPr>
              <a:t>，这在拥有数百万神经元的⼤型⽹络中会慢得多。</a:t>
            </a:r>
            <a:endParaRPr sz="1300">
              <a:latin typeface="Microsoft YaHei UI"/>
              <a:cs typeface="Microsoft YaHei UI"/>
            </a:endParaRPr>
          </a:p>
        </p:txBody>
      </p:sp>
      <p:sp>
        <p:nvSpPr>
          <p:cNvPr id="4" name="object 4" descr=""/>
          <p:cNvSpPr txBox="1"/>
          <p:nvPr/>
        </p:nvSpPr>
        <p:spPr>
          <a:xfrm>
            <a:off x="186244" y="495109"/>
            <a:ext cx="8808085" cy="6017260"/>
          </a:xfrm>
          <a:prstGeom prst="rect">
            <a:avLst/>
          </a:prstGeom>
        </p:spPr>
        <p:txBody>
          <a:bodyPr wrap="square" lIns="0" tIns="13335" rIns="0" bIns="0" rtlCol="0" vert="horz">
            <a:spAutoFit/>
          </a:bodyPr>
          <a:lstStyle/>
          <a:p>
            <a:pPr marL="361950">
              <a:lnSpc>
                <a:spcPct val="100000"/>
              </a:lnSpc>
              <a:spcBef>
                <a:spcPts val="105"/>
              </a:spcBef>
            </a:pPr>
            <a:r>
              <a:rPr dirty="0" sz="4400" b="1">
                <a:solidFill>
                  <a:srgbClr val="800000"/>
                </a:solidFill>
                <a:latin typeface="Tahoma"/>
                <a:cs typeface="Tahoma"/>
              </a:rPr>
              <a:t>Benefits</a:t>
            </a:r>
            <a:r>
              <a:rPr dirty="0" sz="4400" spc="-55" b="1">
                <a:solidFill>
                  <a:srgbClr val="800000"/>
                </a:solidFill>
                <a:latin typeface="Tahoma"/>
                <a:cs typeface="Tahoma"/>
              </a:rPr>
              <a:t> </a:t>
            </a:r>
            <a:r>
              <a:rPr dirty="0" sz="4400" b="1">
                <a:solidFill>
                  <a:srgbClr val="800000"/>
                </a:solidFill>
                <a:latin typeface="Tahoma"/>
                <a:cs typeface="Tahoma"/>
              </a:rPr>
              <a:t>of</a:t>
            </a:r>
            <a:r>
              <a:rPr dirty="0" sz="4400" spc="-30" b="1">
                <a:solidFill>
                  <a:srgbClr val="800000"/>
                </a:solidFill>
                <a:latin typeface="Tahoma"/>
                <a:cs typeface="Tahoma"/>
              </a:rPr>
              <a:t> </a:t>
            </a:r>
            <a:r>
              <a:rPr dirty="0" sz="4400" b="1">
                <a:solidFill>
                  <a:srgbClr val="800000"/>
                </a:solidFill>
                <a:latin typeface="Tahoma"/>
                <a:cs typeface="Tahoma"/>
              </a:rPr>
              <a:t>using</a:t>
            </a:r>
            <a:r>
              <a:rPr dirty="0" sz="4400" spc="-40" b="1">
                <a:solidFill>
                  <a:srgbClr val="800000"/>
                </a:solidFill>
                <a:latin typeface="Tahoma"/>
                <a:cs typeface="Tahoma"/>
              </a:rPr>
              <a:t> </a:t>
            </a:r>
            <a:r>
              <a:rPr dirty="0" sz="4400" spc="-20" b="1">
                <a:solidFill>
                  <a:srgbClr val="800000"/>
                </a:solidFill>
                <a:latin typeface="Tahoma"/>
                <a:cs typeface="Tahoma"/>
              </a:rPr>
              <a:t>ReLU</a:t>
            </a:r>
            <a:endParaRPr sz="4400">
              <a:latin typeface="Tahoma"/>
              <a:cs typeface="Tahoma"/>
            </a:endParaRPr>
          </a:p>
          <a:p>
            <a:pPr marL="354965" indent="-342265">
              <a:lnSpc>
                <a:spcPct val="100000"/>
              </a:lnSpc>
              <a:spcBef>
                <a:spcPts val="3135"/>
              </a:spcBef>
              <a:buFont typeface="Arial MT"/>
              <a:buChar char="•"/>
              <a:tabLst>
                <a:tab pos="354965" algn="l"/>
              </a:tabLst>
            </a:pPr>
            <a:r>
              <a:rPr dirty="0" sz="3200">
                <a:latin typeface="Calibri"/>
                <a:cs typeface="Calibri"/>
              </a:rPr>
              <a:t>ReLUs</a:t>
            </a:r>
            <a:r>
              <a:rPr dirty="0" sz="3200" spc="-85">
                <a:latin typeface="Calibri"/>
                <a:cs typeface="Calibri"/>
              </a:rPr>
              <a:t> </a:t>
            </a:r>
            <a:r>
              <a:rPr dirty="0" sz="3200">
                <a:latin typeface="Calibri"/>
                <a:cs typeface="Calibri"/>
              </a:rPr>
              <a:t>are</a:t>
            </a:r>
            <a:r>
              <a:rPr dirty="0" sz="3200" spc="-95">
                <a:latin typeface="Calibri"/>
                <a:cs typeface="Calibri"/>
              </a:rPr>
              <a:t> </a:t>
            </a:r>
            <a:r>
              <a:rPr dirty="0" sz="3200">
                <a:latin typeface="Calibri"/>
                <a:cs typeface="Calibri"/>
              </a:rPr>
              <a:t>much</a:t>
            </a:r>
            <a:r>
              <a:rPr dirty="0" sz="3200" spc="-80">
                <a:latin typeface="Calibri"/>
                <a:cs typeface="Calibri"/>
              </a:rPr>
              <a:t> </a:t>
            </a:r>
            <a:r>
              <a:rPr dirty="0" sz="3200">
                <a:latin typeface="Calibri"/>
                <a:cs typeface="Calibri"/>
              </a:rPr>
              <a:t>simpler</a:t>
            </a:r>
            <a:r>
              <a:rPr dirty="0" sz="3200" spc="-65">
                <a:latin typeface="Calibri"/>
                <a:cs typeface="Calibri"/>
              </a:rPr>
              <a:t> </a:t>
            </a:r>
            <a:r>
              <a:rPr dirty="0" sz="3200" spc="-10">
                <a:latin typeface="Calibri"/>
                <a:cs typeface="Calibri"/>
              </a:rPr>
              <a:t>computationally</a:t>
            </a:r>
            <a:endParaRPr sz="3200">
              <a:latin typeface="Calibri"/>
              <a:cs typeface="Calibri"/>
            </a:endParaRPr>
          </a:p>
          <a:p>
            <a:pPr lvl="1" marL="755015" marR="662940" indent="-285750">
              <a:lnSpc>
                <a:spcPct val="100000"/>
              </a:lnSpc>
              <a:spcBef>
                <a:spcPts val="685"/>
              </a:spcBef>
              <a:buFont typeface="Arial MT"/>
              <a:buChar char="–"/>
              <a:tabLst>
                <a:tab pos="756285" algn="l"/>
              </a:tabLst>
            </a:pPr>
            <a:r>
              <a:rPr dirty="0" sz="2800">
                <a:latin typeface="Calibri"/>
                <a:cs typeface="Calibri"/>
              </a:rPr>
              <a:t>The</a:t>
            </a:r>
            <a:r>
              <a:rPr dirty="0" sz="2800" spc="-85">
                <a:latin typeface="Calibri"/>
                <a:cs typeface="Calibri"/>
              </a:rPr>
              <a:t> </a:t>
            </a:r>
            <a:r>
              <a:rPr dirty="0" sz="2800" spc="-10">
                <a:latin typeface="Calibri"/>
                <a:cs typeface="Calibri"/>
              </a:rPr>
              <a:t>forward</a:t>
            </a:r>
            <a:r>
              <a:rPr dirty="0" sz="2800" spc="-80">
                <a:latin typeface="Calibri"/>
                <a:cs typeface="Calibri"/>
              </a:rPr>
              <a:t> </a:t>
            </a:r>
            <a:r>
              <a:rPr dirty="0" sz="2800">
                <a:latin typeface="Calibri"/>
                <a:cs typeface="Calibri"/>
              </a:rPr>
              <a:t>and</a:t>
            </a:r>
            <a:r>
              <a:rPr dirty="0" sz="2800" spc="-65">
                <a:latin typeface="Calibri"/>
                <a:cs typeface="Calibri"/>
              </a:rPr>
              <a:t> </a:t>
            </a:r>
            <a:r>
              <a:rPr dirty="0" sz="2800">
                <a:latin typeface="Calibri"/>
                <a:cs typeface="Calibri"/>
              </a:rPr>
              <a:t>backward</a:t>
            </a:r>
            <a:r>
              <a:rPr dirty="0" sz="2800" spc="-75">
                <a:latin typeface="Calibri"/>
                <a:cs typeface="Calibri"/>
              </a:rPr>
              <a:t> </a:t>
            </a:r>
            <a:r>
              <a:rPr dirty="0" sz="2800">
                <a:latin typeface="Calibri"/>
                <a:cs typeface="Calibri"/>
              </a:rPr>
              <a:t>passes</a:t>
            </a:r>
            <a:r>
              <a:rPr dirty="0" sz="2800" spc="-65">
                <a:latin typeface="Calibri"/>
                <a:cs typeface="Calibri"/>
              </a:rPr>
              <a:t> </a:t>
            </a:r>
            <a:r>
              <a:rPr dirty="0" sz="2800">
                <a:latin typeface="Calibri"/>
                <a:cs typeface="Calibri"/>
              </a:rPr>
              <a:t>through</a:t>
            </a:r>
            <a:r>
              <a:rPr dirty="0" sz="2800" spc="-60">
                <a:latin typeface="Calibri"/>
                <a:cs typeface="Calibri"/>
              </a:rPr>
              <a:t> </a:t>
            </a:r>
            <a:r>
              <a:rPr dirty="0" sz="2800">
                <a:latin typeface="Calibri"/>
                <a:cs typeface="Calibri"/>
              </a:rPr>
              <a:t>an</a:t>
            </a:r>
            <a:r>
              <a:rPr dirty="0" sz="2800" spc="-80">
                <a:latin typeface="Calibri"/>
                <a:cs typeface="Calibri"/>
              </a:rPr>
              <a:t> </a:t>
            </a:r>
            <a:r>
              <a:rPr dirty="0" sz="2800" spc="-20">
                <a:latin typeface="Calibri"/>
                <a:cs typeface="Calibri"/>
              </a:rPr>
              <a:t>ReLU </a:t>
            </a:r>
            <a:r>
              <a:rPr dirty="0" sz="2800" spc="-20">
                <a:latin typeface="Calibri"/>
                <a:cs typeface="Calibri"/>
              </a:rPr>
              <a:t>	</a:t>
            </a:r>
            <a:r>
              <a:rPr dirty="0" sz="2800">
                <a:latin typeface="Calibri"/>
                <a:cs typeface="Calibri"/>
              </a:rPr>
              <a:t>are</a:t>
            </a:r>
            <a:r>
              <a:rPr dirty="0" sz="2800" spc="-60">
                <a:latin typeface="Calibri"/>
                <a:cs typeface="Calibri"/>
              </a:rPr>
              <a:t> </a:t>
            </a:r>
            <a:r>
              <a:rPr dirty="0" sz="2800">
                <a:latin typeface="Calibri"/>
                <a:cs typeface="Calibri"/>
              </a:rPr>
              <a:t>both</a:t>
            </a:r>
            <a:r>
              <a:rPr dirty="0" sz="2800" spc="-30">
                <a:latin typeface="Calibri"/>
                <a:cs typeface="Calibri"/>
              </a:rPr>
              <a:t> </a:t>
            </a:r>
            <a:r>
              <a:rPr dirty="0" sz="2800">
                <a:latin typeface="Calibri"/>
                <a:cs typeface="Calibri"/>
              </a:rPr>
              <a:t>just</a:t>
            </a:r>
            <a:r>
              <a:rPr dirty="0" sz="2800" spc="-15">
                <a:latin typeface="Calibri"/>
                <a:cs typeface="Calibri"/>
              </a:rPr>
              <a:t> </a:t>
            </a:r>
            <a:r>
              <a:rPr dirty="0" sz="2800">
                <a:latin typeface="Calibri"/>
                <a:cs typeface="Calibri"/>
              </a:rPr>
              <a:t>a</a:t>
            </a:r>
            <a:r>
              <a:rPr dirty="0" sz="2800" spc="-55">
                <a:latin typeface="Calibri"/>
                <a:cs typeface="Calibri"/>
              </a:rPr>
              <a:t> </a:t>
            </a:r>
            <a:r>
              <a:rPr dirty="0" sz="2800">
                <a:latin typeface="Calibri"/>
                <a:cs typeface="Calibri"/>
              </a:rPr>
              <a:t>simple</a:t>
            </a:r>
            <a:r>
              <a:rPr dirty="0" sz="2800" spc="-15">
                <a:latin typeface="Calibri"/>
                <a:cs typeface="Calibri"/>
              </a:rPr>
              <a:t> </a:t>
            </a:r>
            <a:r>
              <a:rPr dirty="0" sz="2800" i="1">
                <a:solidFill>
                  <a:srgbClr val="FF0000"/>
                </a:solidFill>
                <a:latin typeface="Calibri"/>
                <a:cs typeface="Calibri"/>
              </a:rPr>
              <a:t>if</a:t>
            </a:r>
            <a:r>
              <a:rPr dirty="0" sz="2800" spc="-35" i="1">
                <a:solidFill>
                  <a:srgbClr val="FF0000"/>
                </a:solidFill>
                <a:latin typeface="Calibri"/>
                <a:cs typeface="Calibri"/>
              </a:rPr>
              <a:t> </a:t>
            </a:r>
            <a:r>
              <a:rPr dirty="0" sz="2800" spc="-10">
                <a:latin typeface="Calibri"/>
                <a:cs typeface="Calibri"/>
              </a:rPr>
              <a:t>statement</a:t>
            </a:r>
            <a:endParaRPr sz="2800">
              <a:latin typeface="Calibri"/>
              <a:cs typeface="Calibri"/>
            </a:endParaRPr>
          </a:p>
          <a:p>
            <a:pPr lvl="1" marL="755015" marR="1468120" indent="-285750">
              <a:lnSpc>
                <a:spcPct val="100000"/>
              </a:lnSpc>
              <a:spcBef>
                <a:spcPts val="675"/>
              </a:spcBef>
              <a:buFont typeface="Arial MT"/>
              <a:buChar char="–"/>
              <a:tabLst>
                <a:tab pos="756285" algn="l"/>
              </a:tabLst>
            </a:pPr>
            <a:r>
              <a:rPr dirty="0" sz="2800">
                <a:latin typeface="Calibri"/>
                <a:cs typeface="Calibri"/>
              </a:rPr>
              <a:t>The</a:t>
            </a:r>
            <a:r>
              <a:rPr dirty="0" sz="2800" spc="-125">
                <a:latin typeface="Calibri"/>
                <a:cs typeface="Calibri"/>
              </a:rPr>
              <a:t> </a:t>
            </a:r>
            <a:r>
              <a:rPr dirty="0" sz="2800">
                <a:latin typeface="Calibri"/>
                <a:cs typeface="Calibri"/>
              </a:rPr>
              <a:t>sigmoid</a:t>
            </a:r>
            <a:r>
              <a:rPr dirty="0" sz="2800" spc="-105">
                <a:latin typeface="Calibri"/>
                <a:cs typeface="Calibri"/>
              </a:rPr>
              <a:t> </a:t>
            </a:r>
            <a:r>
              <a:rPr dirty="0" sz="2800">
                <a:latin typeface="Calibri"/>
                <a:cs typeface="Calibri"/>
              </a:rPr>
              <a:t>activation</a:t>
            </a:r>
            <a:r>
              <a:rPr dirty="0" sz="2800" spc="-130">
                <a:latin typeface="Calibri"/>
                <a:cs typeface="Calibri"/>
              </a:rPr>
              <a:t> </a:t>
            </a:r>
            <a:r>
              <a:rPr dirty="0" sz="2800">
                <a:latin typeface="Calibri"/>
                <a:cs typeface="Calibri"/>
              </a:rPr>
              <a:t>requires</a:t>
            </a:r>
            <a:r>
              <a:rPr dirty="0" sz="2800" spc="-100">
                <a:latin typeface="Calibri"/>
                <a:cs typeface="Calibri"/>
              </a:rPr>
              <a:t> </a:t>
            </a:r>
            <a:r>
              <a:rPr dirty="0" sz="2800">
                <a:latin typeface="Calibri"/>
                <a:cs typeface="Calibri"/>
              </a:rPr>
              <a:t>computing</a:t>
            </a:r>
            <a:r>
              <a:rPr dirty="0" sz="2800" spc="-90">
                <a:latin typeface="Calibri"/>
                <a:cs typeface="Calibri"/>
              </a:rPr>
              <a:t> </a:t>
            </a:r>
            <a:r>
              <a:rPr dirty="0" sz="2800" spc="-25">
                <a:latin typeface="Calibri"/>
                <a:cs typeface="Calibri"/>
              </a:rPr>
              <a:t>an </a:t>
            </a:r>
            <a:r>
              <a:rPr dirty="0" sz="2800" spc="-25">
                <a:latin typeface="Calibri"/>
                <a:cs typeface="Calibri"/>
              </a:rPr>
              <a:t>	</a:t>
            </a:r>
            <a:r>
              <a:rPr dirty="0" sz="2800" spc="-10">
                <a:latin typeface="Calibri"/>
                <a:cs typeface="Calibri"/>
              </a:rPr>
              <a:t>exponent</a:t>
            </a:r>
            <a:endParaRPr sz="2800">
              <a:latin typeface="Calibri"/>
              <a:cs typeface="Calibri"/>
            </a:endParaRPr>
          </a:p>
          <a:p>
            <a:pPr lvl="1" marL="755015" marR="754380" indent="-285750">
              <a:lnSpc>
                <a:spcPct val="100000"/>
              </a:lnSpc>
              <a:spcBef>
                <a:spcPts val="670"/>
              </a:spcBef>
              <a:buFont typeface="Arial MT"/>
              <a:buChar char="–"/>
              <a:tabLst>
                <a:tab pos="756285" algn="l"/>
              </a:tabLst>
            </a:pPr>
            <a:r>
              <a:rPr dirty="0" sz="2800">
                <a:latin typeface="Calibri"/>
                <a:cs typeface="Calibri"/>
              </a:rPr>
              <a:t>This</a:t>
            </a:r>
            <a:r>
              <a:rPr dirty="0" sz="2800" spc="-55">
                <a:latin typeface="Calibri"/>
                <a:cs typeface="Calibri"/>
              </a:rPr>
              <a:t> </a:t>
            </a:r>
            <a:r>
              <a:rPr dirty="0" sz="2800" spc="-10">
                <a:latin typeface="Calibri"/>
                <a:cs typeface="Calibri"/>
              </a:rPr>
              <a:t>advantage</a:t>
            </a:r>
            <a:r>
              <a:rPr dirty="0" sz="2800" spc="-60">
                <a:latin typeface="Calibri"/>
                <a:cs typeface="Calibri"/>
              </a:rPr>
              <a:t> </a:t>
            </a:r>
            <a:r>
              <a:rPr dirty="0" sz="2800">
                <a:latin typeface="Calibri"/>
                <a:cs typeface="Calibri"/>
              </a:rPr>
              <a:t>is</a:t>
            </a:r>
            <a:r>
              <a:rPr dirty="0" sz="2800" spc="-55">
                <a:latin typeface="Calibri"/>
                <a:cs typeface="Calibri"/>
              </a:rPr>
              <a:t> </a:t>
            </a:r>
            <a:r>
              <a:rPr dirty="0" sz="2800">
                <a:latin typeface="Calibri"/>
                <a:cs typeface="Calibri"/>
              </a:rPr>
              <a:t>huge</a:t>
            </a:r>
            <a:r>
              <a:rPr dirty="0" sz="2800" spc="-45">
                <a:latin typeface="Calibri"/>
                <a:cs typeface="Calibri"/>
              </a:rPr>
              <a:t> </a:t>
            </a:r>
            <a:r>
              <a:rPr dirty="0" sz="2800">
                <a:latin typeface="Calibri"/>
                <a:cs typeface="Calibri"/>
              </a:rPr>
              <a:t>when</a:t>
            </a:r>
            <a:r>
              <a:rPr dirty="0" sz="2800" spc="-55">
                <a:latin typeface="Calibri"/>
                <a:cs typeface="Calibri"/>
              </a:rPr>
              <a:t> </a:t>
            </a:r>
            <a:r>
              <a:rPr dirty="0" sz="2800">
                <a:latin typeface="Calibri"/>
                <a:cs typeface="Calibri"/>
              </a:rPr>
              <a:t>dealing</a:t>
            </a:r>
            <a:r>
              <a:rPr dirty="0" sz="2800" spc="-40">
                <a:latin typeface="Calibri"/>
                <a:cs typeface="Calibri"/>
              </a:rPr>
              <a:t> </a:t>
            </a:r>
            <a:r>
              <a:rPr dirty="0" sz="2800">
                <a:latin typeface="Calibri"/>
                <a:cs typeface="Calibri"/>
              </a:rPr>
              <a:t>with</a:t>
            </a:r>
            <a:r>
              <a:rPr dirty="0" sz="2800" spc="-55">
                <a:latin typeface="Calibri"/>
                <a:cs typeface="Calibri"/>
              </a:rPr>
              <a:t> </a:t>
            </a:r>
            <a:r>
              <a:rPr dirty="0" sz="2800" spc="-25">
                <a:latin typeface="Calibri"/>
                <a:cs typeface="Calibri"/>
              </a:rPr>
              <a:t>big </a:t>
            </a:r>
            <a:r>
              <a:rPr dirty="0" sz="2800" spc="-25">
                <a:latin typeface="Calibri"/>
                <a:cs typeface="Calibri"/>
              </a:rPr>
              <a:t>	</a:t>
            </a:r>
            <a:r>
              <a:rPr dirty="0" sz="2800" spc="-10">
                <a:latin typeface="Calibri"/>
                <a:cs typeface="Calibri"/>
              </a:rPr>
              <a:t>networks</a:t>
            </a:r>
            <a:r>
              <a:rPr dirty="0" sz="2800" spc="-80">
                <a:latin typeface="Calibri"/>
                <a:cs typeface="Calibri"/>
              </a:rPr>
              <a:t> </a:t>
            </a:r>
            <a:r>
              <a:rPr dirty="0" sz="2800">
                <a:latin typeface="Calibri"/>
                <a:cs typeface="Calibri"/>
              </a:rPr>
              <a:t>with</a:t>
            </a:r>
            <a:r>
              <a:rPr dirty="0" sz="2800" spc="-80">
                <a:latin typeface="Calibri"/>
                <a:cs typeface="Calibri"/>
              </a:rPr>
              <a:t> </a:t>
            </a:r>
            <a:r>
              <a:rPr dirty="0" sz="2800">
                <a:latin typeface="Calibri"/>
                <a:cs typeface="Calibri"/>
              </a:rPr>
              <a:t>many</a:t>
            </a:r>
            <a:r>
              <a:rPr dirty="0" sz="2800" spc="-75">
                <a:latin typeface="Calibri"/>
                <a:cs typeface="Calibri"/>
              </a:rPr>
              <a:t> </a:t>
            </a:r>
            <a:r>
              <a:rPr dirty="0" sz="2800">
                <a:latin typeface="Calibri"/>
                <a:cs typeface="Calibri"/>
              </a:rPr>
              <a:t>neurons,</a:t>
            </a:r>
            <a:r>
              <a:rPr dirty="0" sz="2800" spc="-45">
                <a:latin typeface="Calibri"/>
                <a:cs typeface="Calibri"/>
              </a:rPr>
              <a:t> </a:t>
            </a:r>
            <a:r>
              <a:rPr dirty="0" sz="2800">
                <a:latin typeface="Calibri"/>
                <a:cs typeface="Calibri"/>
              </a:rPr>
              <a:t>and</a:t>
            </a:r>
            <a:r>
              <a:rPr dirty="0" sz="2800" spc="-80">
                <a:latin typeface="Calibri"/>
                <a:cs typeface="Calibri"/>
              </a:rPr>
              <a:t> </a:t>
            </a:r>
            <a:r>
              <a:rPr dirty="0" sz="2800">
                <a:latin typeface="Calibri"/>
                <a:cs typeface="Calibri"/>
              </a:rPr>
              <a:t>can</a:t>
            </a:r>
            <a:r>
              <a:rPr dirty="0" sz="2800" spc="-80">
                <a:latin typeface="Calibri"/>
                <a:cs typeface="Calibri"/>
              </a:rPr>
              <a:t> </a:t>
            </a:r>
            <a:r>
              <a:rPr dirty="0" sz="2800" spc="-10">
                <a:latin typeface="Calibri"/>
                <a:cs typeface="Calibri"/>
              </a:rPr>
              <a:t>significantly </a:t>
            </a:r>
            <a:r>
              <a:rPr dirty="0" sz="2800" spc="-10">
                <a:latin typeface="Calibri"/>
                <a:cs typeface="Calibri"/>
              </a:rPr>
              <a:t>	</a:t>
            </a:r>
            <a:r>
              <a:rPr dirty="0" sz="2800">
                <a:latin typeface="Calibri"/>
                <a:cs typeface="Calibri"/>
              </a:rPr>
              <a:t>reduce</a:t>
            </a:r>
            <a:r>
              <a:rPr dirty="0" sz="2800" spc="-85">
                <a:latin typeface="Calibri"/>
                <a:cs typeface="Calibri"/>
              </a:rPr>
              <a:t> </a:t>
            </a:r>
            <a:r>
              <a:rPr dirty="0" sz="2800">
                <a:latin typeface="Calibri"/>
                <a:cs typeface="Calibri"/>
              </a:rPr>
              <a:t>both</a:t>
            </a:r>
            <a:r>
              <a:rPr dirty="0" sz="2800" spc="-75">
                <a:latin typeface="Calibri"/>
                <a:cs typeface="Calibri"/>
              </a:rPr>
              <a:t> </a:t>
            </a:r>
            <a:r>
              <a:rPr dirty="0" sz="2800">
                <a:latin typeface="Calibri"/>
                <a:cs typeface="Calibri"/>
              </a:rPr>
              <a:t>training</a:t>
            </a:r>
            <a:r>
              <a:rPr dirty="0" sz="2800" spc="-75">
                <a:latin typeface="Calibri"/>
                <a:cs typeface="Calibri"/>
              </a:rPr>
              <a:t> </a:t>
            </a:r>
            <a:r>
              <a:rPr dirty="0" sz="2800">
                <a:latin typeface="Calibri"/>
                <a:cs typeface="Calibri"/>
              </a:rPr>
              <a:t>and</a:t>
            </a:r>
            <a:r>
              <a:rPr dirty="0" sz="2800" spc="-85">
                <a:latin typeface="Calibri"/>
                <a:cs typeface="Calibri"/>
              </a:rPr>
              <a:t> </a:t>
            </a:r>
            <a:r>
              <a:rPr dirty="0" sz="2800">
                <a:latin typeface="Calibri"/>
                <a:cs typeface="Calibri"/>
              </a:rPr>
              <a:t>evaluation</a:t>
            </a:r>
            <a:r>
              <a:rPr dirty="0" sz="2800" spc="-85">
                <a:latin typeface="Calibri"/>
                <a:cs typeface="Calibri"/>
              </a:rPr>
              <a:t> </a:t>
            </a:r>
            <a:r>
              <a:rPr dirty="0" sz="2800" spc="-10">
                <a:latin typeface="Calibri"/>
                <a:cs typeface="Calibri"/>
              </a:rPr>
              <a:t>times</a:t>
            </a:r>
            <a:endParaRPr sz="2800">
              <a:latin typeface="Calibri"/>
              <a:cs typeface="Calibri"/>
            </a:endParaRPr>
          </a:p>
          <a:p>
            <a:pPr marL="130810" marR="5080">
              <a:lnSpc>
                <a:spcPct val="117500"/>
              </a:lnSpc>
              <a:spcBef>
                <a:spcPts val="200"/>
              </a:spcBef>
            </a:pPr>
            <a:r>
              <a:rPr dirty="0" sz="1300" spc="5">
                <a:latin typeface="Microsoft YaHei UI"/>
                <a:cs typeface="Microsoft YaHei UI"/>
              </a:rPr>
              <a:t>缓解梯度消失问题 </a:t>
            </a:r>
            <a:r>
              <a:rPr dirty="0" sz="1300">
                <a:latin typeface="Trebuchet MS"/>
                <a:cs typeface="Trebuchet MS"/>
              </a:rPr>
              <a:t>(Avoiding</a:t>
            </a:r>
            <a:r>
              <a:rPr dirty="0" sz="1300" spc="65">
                <a:latin typeface="Trebuchet MS"/>
                <a:cs typeface="Trebuchet MS"/>
              </a:rPr>
              <a:t> </a:t>
            </a:r>
            <a:r>
              <a:rPr dirty="0" sz="1300" spc="-40">
                <a:latin typeface="Trebuchet MS"/>
                <a:cs typeface="Trebuchet MS"/>
              </a:rPr>
              <a:t>saturation):</a:t>
            </a:r>
            <a:r>
              <a:rPr dirty="0" sz="1300">
                <a:latin typeface="Microsoft YaHei UI"/>
                <a:cs typeface="Microsoft YaHei UI"/>
              </a:rPr>
              <a:t>这是更重要的⼀个优势。</a:t>
            </a:r>
            <a:r>
              <a:rPr dirty="0" sz="1300">
                <a:latin typeface="Trebuchet MS"/>
                <a:cs typeface="Trebuchet MS"/>
              </a:rPr>
              <a:t>Sigmoid</a:t>
            </a:r>
            <a:r>
              <a:rPr dirty="0" sz="1300" spc="65">
                <a:latin typeface="Trebuchet MS"/>
                <a:cs typeface="Trebuchet MS"/>
              </a:rPr>
              <a:t> </a:t>
            </a:r>
            <a:r>
              <a:rPr dirty="0" sz="1300" spc="-5">
                <a:latin typeface="Microsoft YaHei UI"/>
                <a:cs typeface="Microsoft YaHei UI"/>
              </a:rPr>
              <a:t>函数在输⼊值很⼤或很⼩时，曲线会变得⾮</a:t>
            </a:r>
            <a:r>
              <a:rPr dirty="0" sz="1300">
                <a:latin typeface="Microsoft YaHei UI"/>
                <a:cs typeface="Microsoft YaHei UI"/>
              </a:rPr>
              <a:t>常平坦（饱和区）。在这些区域，它的导数（梯度）⼏乎为</a:t>
            </a:r>
            <a:r>
              <a:rPr dirty="0" sz="1300">
                <a:latin typeface="Trebuchet MS"/>
                <a:cs typeface="Trebuchet MS"/>
              </a:rPr>
              <a:t>0</a:t>
            </a:r>
            <a:r>
              <a:rPr dirty="0" sz="1300">
                <a:latin typeface="Microsoft YaHei UI"/>
                <a:cs typeface="Microsoft YaHei UI"/>
              </a:rPr>
              <a:t>。在深度⽹络中，反向传播需要将梯度连乘，很多个接近</a:t>
            </a:r>
            <a:r>
              <a:rPr dirty="0" sz="1300" spc="-50">
                <a:latin typeface="Trebuchet MS"/>
                <a:cs typeface="Trebuchet MS"/>
              </a:rPr>
              <a:t>0</a:t>
            </a:r>
            <a:r>
              <a:rPr dirty="0" sz="1300">
                <a:latin typeface="Microsoft YaHei UI"/>
                <a:cs typeface="Microsoft YaHei UI"/>
              </a:rPr>
              <a:t>的数乘在⼀起，梯度就会很快</a:t>
            </a:r>
            <a:r>
              <a:rPr dirty="0" sz="1300" spc="-140">
                <a:latin typeface="Trebuchet MS"/>
                <a:cs typeface="Trebuchet MS"/>
              </a:rPr>
              <a:t>“</a:t>
            </a:r>
            <a:r>
              <a:rPr dirty="0" sz="1300">
                <a:latin typeface="Microsoft YaHei UI"/>
                <a:cs typeface="Microsoft YaHei UI"/>
              </a:rPr>
              <a:t>消失</a:t>
            </a:r>
            <a:r>
              <a:rPr dirty="0" sz="1300" spc="-75">
                <a:latin typeface="Trebuchet MS"/>
                <a:cs typeface="Trebuchet MS"/>
              </a:rPr>
              <a:t>”</a:t>
            </a:r>
            <a:r>
              <a:rPr dirty="0" sz="1300" spc="-25">
                <a:latin typeface="Microsoft YaHei UI"/>
                <a:cs typeface="Microsoft YaHei UI"/>
              </a:rPr>
              <a:t>，导致⽹络前端的层⽆法有效学习。</a:t>
            </a:r>
            <a:endParaRPr sz="1300">
              <a:latin typeface="Microsoft YaHei UI"/>
              <a:cs typeface="Microsoft YaHei UI"/>
            </a:endParaRPr>
          </a:p>
          <a:p>
            <a:pPr marL="130810" marR="254000">
              <a:lnSpc>
                <a:spcPct val="117500"/>
              </a:lnSpc>
            </a:pPr>
            <a:r>
              <a:rPr dirty="0" sz="1300">
                <a:latin typeface="Microsoft YaHei UI"/>
                <a:cs typeface="Microsoft YaHei UI"/>
              </a:rPr>
              <a:t>⽽ </a:t>
            </a:r>
            <a:r>
              <a:rPr dirty="0" sz="1300" spc="70">
                <a:latin typeface="Trebuchet MS"/>
                <a:cs typeface="Trebuchet MS"/>
              </a:rPr>
              <a:t>ReLU</a:t>
            </a:r>
            <a:r>
              <a:rPr dirty="0" sz="1300" spc="-5">
                <a:latin typeface="Trebuchet MS"/>
                <a:cs typeface="Trebuchet MS"/>
              </a:rPr>
              <a:t> </a:t>
            </a:r>
            <a:r>
              <a:rPr dirty="0" sz="1300">
                <a:latin typeface="Microsoft YaHei UI"/>
                <a:cs typeface="Microsoft YaHei UI"/>
              </a:rPr>
              <a:t>对于所有正数输⼊，梯度恒为</a:t>
            </a:r>
            <a:r>
              <a:rPr dirty="0" sz="1300">
                <a:latin typeface="Trebuchet MS"/>
                <a:cs typeface="Trebuchet MS"/>
              </a:rPr>
              <a:t>1</a:t>
            </a:r>
            <a:r>
              <a:rPr dirty="0" sz="1300" spc="-5">
                <a:latin typeface="Microsoft YaHei UI"/>
                <a:cs typeface="Microsoft YaHei UI"/>
              </a:rPr>
              <a:t>，这使得梯度可以很顺畅地在⽹络中传播，从⽽让训练⾮常深的⽹络成为可</a:t>
            </a:r>
            <a:r>
              <a:rPr dirty="0" sz="1300" spc="-25">
                <a:latin typeface="Microsoft YaHei UI"/>
                <a:cs typeface="Microsoft YaHei UI"/>
              </a:rPr>
              <a:t>能。</a:t>
            </a:r>
            <a:endParaRPr sz="1300">
              <a:latin typeface="Microsoft YaHei UI"/>
              <a:cs typeface="Microsoft YaHei U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30</a:t>
            </a:r>
          </a:p>
        </p:txBody>
      </p:sp>
      <p:sp>
        <p:nvSpPr>
          <p:cNvPr id="2" name="object 2"/>
          <p:cNvSpPr txBox="1">
            <a:spLocks noGrp="1"/>
          </p:cNvSpPr>
          <p:nvPr>
            <p:ph type="title"/>
          </p:nvPr>
        </p:nvSpPr>
        <p:spPr>
          <a:xfrm>
            <a:off x="1107754" y="311196"/>
            <a:ext cx="6372225" cy="696595"/>
          </a:xfrm>
          <a:prstGeom prst="rect"/>
        </p:spPr>
        <p:txBody>
          <a:bodyPr wrap="square" lIns="0" tIns="12700" rIns="0" bIns="0" rtlCol="0" vert="horz">
            <a:spAutoFit/>
          </a:bodyPr>
          <a:lstStyle/>
          <a:p>
            <a:pPr marL="12700">
              <a:lnSpc>
                <a:spcPct val="100000"/>
              </a:lnSpc>
              <a:spcBef>
                <a:spcPts val="100"/>
              </a:spcBef>
            </a:pPr>
            <a:r>
              <a:rPr dirty="0" sz="4400"/>
              <a:t>Benefits</a:t>
            </a:r>
            <a:r>
              <a:rPr dirty="0" sz="4400" spc="-55"/>
              <a:t> </a:t>
            </a:r>
            <a:r>
              <a:rPr dirty="0" sz="4400"/>
              <a:t>of</a:t>
            </a:r>
            <a:r>
              <a:rPr dirty="0" sz="4400" spc="-30"/>
              <a:t> </a:t>
            </a:r>
            <a:r>
              <a:rPr dirty="0" sz="4400"/>
              <a:t>using</a:t>
            </a:r>
            <a:r>
              <a:rPr dirty="0" sz="4400" spc="-40"/>
              <a:t> </a:t>
            </a:r>
            <a:r>
              <a:rPr dirty="0" sz="4400" spc="-20"/>
              <a:t>ReLU</a:t>
            </a:r>
            <a:endParaRPr sz="4400"/>
          </a:p>
        </p:txBody>
      </p:sp>
      <p:sp>
        <p:nvSpPr>
          <p:cNvPr id="3" name="object 3" descr=""/>
          <p:cNvSpPr txBox="1">
            <a:spLocks noGrp="1"/>
          </p:cNvSpPr>
          <p:nvPr>
            <p:ph type="body" idx="1"/>
          </p:nvPr>
        </p:nvSpPr>
        <p:spPr>
          <a:prstGeom prst="rect"/>
        </p:spPr>
        <p:txBody>
          <a:bodyPr wrap="square" lIns="0" tIns="101600" rIns="0" bIns="0" rtlCol="0" vert="horz">
            <a:spAutoFit/>
          </a:bodyPr>
          <a:lstStyle/>
          <a:p>
            <a:pPr marL="378460" indent="-342265">
              <a:lnSpc>
                <a:spcPct val="100000"/>
              </a:lnSpc>
              <a:spcBef>
                <a:spcPts val="800"/>
              </a:spcBef>
              <a:buFont typeface="Arial MT"/>
              <a:buChar char="•"/>
              <a:tabLst>
                <a:tab pos="379095" algn="l"/>
              </a:tabLst>
            </a:pPr>
            <a:r>
              <a:rPr dirty="0"/>
              <a:t>Sigmoid</a:t>
            </a:r>
            <a:r>
              <a:rPr dirty="0" spc="-65"/>
              <a:t> </a:t>
            </a:r>
            <a:r>
              <a:rPr dirty="0"/>
              <a:t>activations</a:t>
            </a:r>
            <a:r>
              <a:rPr dirty="0" spc="-65"/>
              <a:t> </a:t>
            </a:r>
            <a:r>
              <a:rPr dirty="0"/>
              <a:t>are</a:t>
            </a:r>
            <a:r>
              <a:rPr dirty="0" spc="-80"/>
              <a:t> </a:t>
            </a:r>
            <a:r>
              <a:rPr dirty="0"/>
              <a:t>easier</a:t>
            </a:r>
            <a:r>
              <a:rPr dirty="0" spc="-75"/>
              <a:t> </a:t>
            </a:r>
            <a:r>
              <a:rPr dirty="0"/>
              <a:t>to</a:t>
            </a:r>
            <a:r>
              <a:rPr dirty="0" spc="-70"/>
              <a:t> </a:t>
            </a:r>
            <a:r>
              <a:rPr dirty="0" spc="-10"/>
              <a:t>saturate</a:t>
            </a:r>
          </a:p>
          <a:p>
            <a:pPr lvl="1" marL="777875" marR="242570" indent="-285115">
              <a:lnSpc>
                <a:spcPct val="100000"/>
              </a:lnSpc>
              <a:spcBef>
                <a:spcPts val="605"/>
              </a:spcBef>
              <a:buFont typeface="Arial MT"/>
              <a:buChar char="–"/>
              <a:tabLst>
                <a:tab pos="780415" algn="l"/>
              </a:tabLst>
            </a:pPr>
            <a:r>
              <a:rPr dirty="0" sz="2400">
                <a:latin typeface="Calibri"/>
                <a:cs typeface="Calibri"/>
              </a:rPr>
              <a:t>There</a:t>
            </a:r>
            <a:r>
              <a:rPr dirty="0" sz="2400" spc="-45">
                <a:latin typeface="Calibri"/>
                <a:cs typeface="Calibri"/>
              </a:rPr>
              <a:t> </a:t>
            </a:r>
            <a:r>
              <a:rPr dirty="0" sz="2400">
                <a:latin typeface="Calibri"/>
                <a:cs typeface="Calibri"/>
              </a:rPr>
              <a:t>is</a:t>
            </a:r>
            <a:r>
              <a:rPr dirty="0" sz="2400" spc="-70">
                <a:latin typeface="Calibri"/>
                <a:cs typeface="Calibri"/>
              </a:rPr>
              <a:t> </a:t>
            </a:r>
            <a:r>
              <a:rPr dirty="0" sz="2400">
                <a:latin typeface="Calibri"/>
                <a:cs typeface="Calibri"/>
              </a:rPr>
              <a:t>a</a:t>
            </a:r>
            <a:r>
              <a:rPr dirty="0" sz="2400" spc="-70">
                <a:latin typeface="Calibri"/>
                <a:cs typeface="Calibri"/>
              </a:rPr>
              <a:t> </a:t>
            </a:r>
            <a:r>
              <a:rPr dirty="0" sz="2400" spc="-10">
                <a:latin typeface="Calibri"/>
                <a:cs typeface="Calibri"/>
              </a:rPr>
              <a:t>comparatively</a:t>
            </a:r>
            <a:r>
              <a:rPr dirty="0" sz="2400" spc="-65">
                <a:latin typeface="Calibri"/>
                <a:cs typeface="Calibri"/>
              </a:rPr>
              <a:t> </a:t>
            </a:r>
            <a:r>
              <a:rPr dirty="0" sz="2400">
                <a:latin typeface="Calibri"/>
                <a:cs typeface="Calibri"/>
              </a:rPr>
              <a:t>narrow</a:t>
            </a:r>
            <a:r>
              <a:rPr dirty="0" sz="2400" spc="-75">
                <a:latin typeface="Calibri"/>
                <a:cs typeface="Calibri"/>
              </a:rPr>
              <a:t> </a:t>
            </a:r>
            <a:r>
              <a:rPr dirty="0" sz="2400">
                <a:latin typeface="Calibri"/>
                <a:cs typeface="Calibri"/>
              </a:rPr>
              <a:t>interval</a:t>
            </a:r>
            <a:r>
              <a:rPr dirty="0" sz="2400" spc="-60">
                <a:latin typeface="Calibri"/>
                <a:cs typeface="Calibri"/>
              </a:rPr>
              <a:t> </a:t>
            </a:r>
            <a:r>
              <a:rPr dirty="0" sz="2400">
                <a:latin typeface="Calibri"/>
                <a:cs typeface="Calibri"/>
              </a:rPr>
              <a:t>of</a:t>
            </a:r>
            <a:r>
              <a:rPr dirty="0" sz="2400" spc="-65">
                <a:latin typeface="Calibri"/>
                <a:cs typeface="Calibri"/>
              </a:rPr>
              <a:t> </a:t>
            </a:r>
            <a:r>
              <a:rPr dirty="0" sz="2400">
                <a:latin typeface="Calibri"/>
                <a:cs typeface="Calibri"/>
              </a:rPr>
              <a:t>inputs</a:t>
            </a:r>
            <a:r>
              <a:rPr dirty="0" sz="2400" spc="-65">
                <a:latin typeface="Calibri"/>
                <a:cs typeface="Calibri"/>
              </a:rPr>
              <a:t> </a:t>
            </a:r>
            <a:r>
              <a:rPr dirty="0" sz="2400">
                <a:latin typeface="Calibri"/>
                <a:cs typeface="Calibri"/>
              </a:rPr>
              <a:t>for</a:t>
            </a:r>
            <a:r>
              <a:rPr dirty="0" sz="2400" spc="-60">
                <a:latin typeface="Calibri"/>
                <a:cs typeface="Calibri"/>
              </a:rPr>
              <a:t> </a:t>
            </a:r>
            <a:r>
              <a:rPr dirty="0" sz="2400" spc="-10">
                <a:latin typeface="Calibri"/>
                <a:cs typeface="Calibri"/>
              </a:rPr>
              <a:t>which </a:t>
            </a:r>
            <a:r>
              <a:rPr dirty="0" sz="2400" spc="-10">
                <a:latin typeface="Calibri"/>
                <a:cs typeface="Calibri"/>
              </a:rPr>
              <a:t>	</a:t>
            </a:r>
            <a:r>
              <a:rPr dirty="0" sz="2400">
                <a:latin typeface="Calibri"/>
                <a:cs typeface="Calibri"/>
              </a:rPr>
              <a:t>the</a:t>
            </a:r>
            <a:r>
              <a:rPr dirty="0" sz="2400" spc="-55">
                <a:latin typeface="Calibri"/>
                <a:cs typeface="Calibri"/>
              </a:rPr>
              <a:t> </a:t>
            </a:r>
            <a:r>
              <a:rPr dirty="0" sz="2400">
                <a:latin typeface="Calibri"/>
                <a:cs typeface="Calibri"/>
              </a:rPr>
              <a:t>sigmoid's</a:t>
            </a:r>
            <a:r>
              <a:rPr dirty="0" sz="2400" spc="-70">
                <a:latin typeface="Calibri"/>
                <a:cs typeface="Calibri"/>
              </a:rPr>
              <a:t> </a:t>
            </a:r>
            <a:r>
              <a:rPr dirty="0" sz="2400" spc="-10">
                <a:latin typeface="Calibri"/>
                <a:cs typeface="Calibri"/>
              </a:rPr>
              <a:t>derivative</a:t>
            </a:r>
            <a:r>
              <a:rPr dirty="0" sz="2400" spc="-50">
                <a:latin typeface="Calibri"/>
                <a:cs typeface="Calibri"/>
              </a:rPr>
              <a:t> </a:t>
            </a:r>
            <a:r>
              <a:rPr dirty="0" sz="2400">
                <a:latin typeface="Calibri"/>
                <a:cs typeface="Calibri"/>
              </a:rPr>
              <a:t>is</a:t>
            </a:r>
            <a:r>
              <a:rPr dirty="0" sz="2400" spc="-65">
                <a:latin typeface="Calibri"/>
                <a:cs typeface="Calibri"/>
              </a:rPr>
              <a:t> </a:t>
            </a:r>
            <a:r>
              <a:rPr dirty="0" sz="2400" i="1">
                <a:latin typeface="Calibri"/>
                <a:cs typeface="Calibri"/>
              </a:rPr>
              <a:t>sufficiently</a:t>
            </a:r>
            <a:r>
              <a:rPr dirty="0" sz="2400" spc="-50" i="1">
                <a:latin typeface="Calibri"/>
                <a:cs typeface="Calibri"/>
              </a:rPr>
              <a:t> </a:t>
            </a:r>
            <a:r>
              <a:rPr dirty="0" sz="2400" spc="-10" i="1">
                <a:latin typeface="Calibri"/>
                <a:cs typeface="Calibri"/>
              </a:rPr>
              <a:t>nonzero</a:t>
            </a:r>
            <a:endParaRPr sz="2400">
              <a:latin typeface="Calibri"/>
              <a:cs typeface="Calibri"/>
            </a:endParaRPr>
          </a:p>
          <a:p>
            <a:pPr lvl="1" marL="777875" marR="5080" indent="-285115">
              <a:lnSpc>
                <a:spcPct val="100000"/>
              </a:lnSpc>
              <a:spcBef>
                <a:spcPts val="575"/>
              </a:spcBef>
              <a:buFont typeface="Arial MT"/>
              <a:buChar char="–"/>
              <a:tabLst>
                <a:tab pos="780415" algn="l"/>
              </a:tabLst>
            </a:pPr>
            <a:r>
              <a:rPr dirty="0" sz="2400">
                <a:latin typeface="Calibri"/>
                <a:cs typeface="Calibri"/>
              </a:rPr>
              <a:t>In</a:t>
            </a:r>
            <a:r>
              <a:rPr dirty="0" sz="2400" spc="-50">
                <a:latin typeface="Calibri"/>
                <a:cs typeface="Calibri"/>
              </a:rPr>
              <a:t> </a:t>
            </a:r>
            <a:r>
              <a:rPr dirty="0" sz="2400">
                <a:latin typeface="Calibri"/>
                <a:cs typeface="Calibri"/>
              </a:rPr>
              <a:t>other</a:t>
            </a:r>
            <a:r>
              <a:rPr dirty="0" sz="2400" spc="-40">
                <a:latin typeface="Calibri"/>
                <a:cs typeface="Calibri"/>
              </a:rPr>
              <a:t> </a:t>
            </a:r>
            <a:r>
              <a:rPr dirty="0" sz="2400">
                <a:latin typeface="Calibri"/>
                <a:cs typeface="Calibri"/>
              </a:rPr>
              <a:t>words,</a:t>
            </a:r>
            <a:r>
              <a:rPr dirty="0" sz="2400" spc="-50">
                <a:latin typeface="Calibri"/>
                <a:cs typeface="Calibri"/>
              </a:rPr>
              <a:t> </a:t>
            </a:r>
            <a:r>
              <a:rPr dirty="0" sz="2400">
                <a:latin typeface="Calibri"/>
                <a:cs typeface="Calibri"/>
              </a:rPr>
              <a:t>once</a:t>
            </a:r>
            <a:r>
              <a:rPr dirty="0" sz="2400" spc="-50">
                <a:latin typeface="Calibri"/>
                <a:cs typeface="Calibri"/>
              </a:rPr>
              <a:t> </a:t>
            </a:r>
            <a:r>
              <a:rPr dirty="0" sz="2400">
                <a:latin typeface="Calibri"/>
                <a:cs typeface="Calibri"/>
              </a:rPr>
              <a:t>a</a:t>
            </a:r>
            <a:r>
              <a:rPr dirty="0" sz="2400" spc="-45">
                <a:latin typeface="Calibri"/>
                <a:cs typeface="Calibri"/>
              </a:rPr>
              <a:t> </a:t>
            </a:r>
            <a:r>
              <a:rPr dirty="0" sz="2400">
                <a:latin typeface="Calibri"/>
                <a:cs typeface="Calibri"/>
              </a:rPr>
              <a:t>sigmoid</a:t>
            </a:r>
            <a:r>
              <a:rPr dirty="0" sz="2400" spc="-65">
                <a:latin typeface="Calibri"/>
                <a:cs typeface="Calibri"/>
              </a:rPr>
              <a:t> </a:t>
            </a:r>
            <a:r>
              <a:rPr dirty="0" sz="2400">
                <a:latin typeface="Calibri"/>
                <a:cs typeface="Calibri"/>
              </a:rPr>
              <a:t>reaches</a:t>
            </a:r>
            <a:r>
              <a:rPr dirty="0" sz="2400" spc="-50">
                <a:latin typeface="Calibri"/>
                <a:cs typeface="Calibri"/>
              </a:rPr>
              <a:t> </a:t>
            </a:r>
            <a:r>
              <a:rPr dirty="0" sz="2400">
                <a:latin typeface="Calibri"/>
                <a:cs typeface="Calibri"/>
              </a:rPr>
              <a:t>either</a:t>
            </a:r>
            <a:r>
              <a:rPr dirty="0" sz="2400" spc="-55">
                <a:latin typeface="Calibri"/>
                <a:cs typeface="Calibri"/>
              </a:rPr>
              <a:t> </a:t>
            </a:r>
            <a:r>
              <a:rPr dirty="0" sz="2400">
                <a:latin typeface="Calibri"/>
                <a:cs typeface="Calibri"/>
              </a:rPr>
              <a:t>the</a:t>
            </a:r>
            <a:r>
              <a:rPr dirty="0" sz="2400" spc="-45">
                <a:latin typeface="Calibri"/>
                <a:cs typeface="Calibri"/>
              </a:rPr>
              <a:t> </a:t>
            </a:r>
            <a:r>
              <a:rPr dirty="0" sz="2400">
                <a:latin typeface="Calibri"/>
                <a:cs typeface="Calibri"/>
              </a:rPr>
              <a:t>left</a:t>
            </a:r>
            <a:r>
              <a:rPr dirty="0" sz="2400" spc="-45">
                <a:latin typeface="Calibri"/>
                <a:cs typeface="Calibri"/>
              </a:rPr>
              <a:t> </a:t>
            </a:r>
            <a:r>
              <a:rPr dirty="0" sz="2400">
                <a:latin typeface="Calibri"/>
                <a:cs typeface="Calibri"/>
              </a:rPr>
              <a:t>or</a:t>
            </a:r>
            <a:r>
              <a:rPr dirty="0" sz="2400" spc="-55">
                <a:latin typeface="Calibri"/>
                <a:cs typeface="Calibri"/>
              </a:rPr>
              <a:t> </a:t>
            </a:r>
            <a:r>
              <a:rPr dirty="0" sz="2400" spc="-10">
                <a:latin typeface="Calibri"/>
                <a:cs typeface="Calibri"/>
              </a:rPr>
              <a:t>right 	plateau,</a:t>
            </a:r>
            <a:r>
              <a:rPr dirty="0" sz="2400" spc="-55">
                <a:latin typeface="Calibri"/>
                <a:cs typeface="Calibri"/>
              </a:rPr>
              <a:t> </a:t>
            </a:r>
            <a:r>
              <a:rPr dirty="0" sz="2400">
                <a:latin typeface="Calibri"/>
                <a:cs typeface="Calibri"/>
              </a:rPr>
              <a:t>it</a:t>
            </a:r>
            <a:r>
              <a:rPr dirty="0" sz="2400" spc="-40">
                <a:latin typeface="Calibri"/>
                <a:cs typeface="Calibri"/>
              </a:rPr>
              <a:t> </a:t>
            </a:r>
            <a:r>
              <a:rPr dirty="0" sz="2400">
                <a:latin typeface="Calibri"/>
                <a:cs typeface="Calibri"/>
              </a:rPr>
              <a:t>is</a:t>
            </a:r>
            <a:r>
              <a:rPr dirty="0" sz="2400" spc="-55">
                <a:latin typeface="Calibri"/>
                <a:cs typeface="Calibri"/>
              </a:rPr>
              <a:t> </a:t>
            </a:r>
            <a:r>
              <a:rPr dirty="0" sz="2400">
                <a:latin typeface="Calibri"/>
                <a:cs typeface="Calibri"/>
              </a:rPr>
              <a:t>almost</a:t>
            </a:r>
            <a:r>
              <a:rPr dirty="0" sz="2400" spc="-50">
                <a:latin typeface="Calibri"/>
                <a:cs typeface="Calibri"/>
              </a:rPr>
              <a:t> </a:t>
            </a:r>
            <a:r>
              <a:rPr dirty="0" sz="2400">
                <a:latin typeface="Calibri"/>
                <a:cs typeface="Calibri"/>
              </a:rPr>
              <a:t>meaningless</a:t>
            </a:r>
            <a:r>
              <a:rPr dirty="0" sz="2400" spc="-55">
                <a:latin typeface="Calibri"/>
                <a:cs typeface="Calibri"/>
              </a:rPr>
              <a:t> </a:t>
            </a:r>
            <a:r>
              <a:rPr dirty="0" sz="2400">
                <a:latin typeface="Calibri"/>
                <a:cs typeface="Calibri"/>
              </a:rPr>
              <a:t>to</a:t>
            </a:r>
            <a:r>
              <a:rPr dirty="0" sz="2400" spc="-45">
                <a:latin typeface="Calibri"/>
                <a:cs typeface="Calibri"/>
              </a:rPr>
              <a:t> </a:t>
            </a:r>
            <a:r>
              <a:rPr dirty="0" sz="2400">
                <a:latin typeface="Calibri"/>
                <a:cs typeface="Calibri"/>
              </a:rPr>
              <a:t>make</a:t>
            </a:r>
            <a:r>
              <a:rPr dirty="0" sz="2400" spc="-60">
                <a:latin typeface="Calibri"/>
                <a:cs typeface="Calibri"/>
              </a:rPr>
              <a:t> </a:t>
            </a:r>
            <a:r>
              <a:rPr dirty="0" sz="2400">
                <a:latin typeface="Calibri"/>
                <a:cs typeface="Calibri"/>
              </a:rPr>
              <a:t>a</a:t>
            </a:r>
            <a:r>
              <a:rPr dirty="0" sz="2400" spc="-40">
                <a:latin typeface="Calibri"/>
                <a:cs typeface="Calibri"/>
              </a:rPr>
              <a:t> </a:t>
            </a:r>
            <a:r>
              <a:rPr dirty="0" sz="2400" spc="-10">
                <a:latin typeface="Calibri"/>
                <a:cs typeface="Calibri"/>
              </a:rPr>
              <a:t>backward</a:t>
            </a:r>
            <a:r>
              <a:rPr dirty="0" sz="2400" spc="-65">
                <a:latin typeface="Calibri"/>
                <a:cs typeface="Calibri"/>
              </a:rPr>
              <a:t> </a:t>
            </a:r>
            <a:r>
              <a:rPr dirty="0" sz="2400" spc="-20">
                <a:latin typeface="Calibri"/>
                <a:cs typeface="Calibri"/>
              </a:rPr>
              <a:t>pass </a:t>
            </a:r>
            <a:r>
              <a:rPr dirty="0" sz="2400" spc="-20">
                <a:latin typeface="Calibri"/>
                <a:cs typeface="Calibri"/>
              </a:rPr>
              <a:t>	</a:t>
            </a:r>
            <a:r>
              <a:rPr dirty="0" sz="2400">
                <a:latin typeface="Calibri"/>
                <a:cs typeface="Calibri"/>
              </a:rPr>
              <a:t>through</a:t>
            </a:r>
            <a:r>
              <a:rPr dirty="0" sz="2400" spc="-40">
                <a:latin typeface="Calibri"/>
                <a:cs typeface="Calibri"/>
              </a:rPr>
              <a:t> </a:t>
            </a:r>
            <a:r>
              <a:rPr dirty="0" sz="2400">
                <a:latin typeface="Calibri"/>
                <a:cs typeface="Calibri"/>
              </a:rPr>
              <a:t>it,</a:t>
            </a:r>
            <a:r>
              <a:rPr dirty="0" sz="2400" spc="-45">
                <a:latin typeface="Calibri"/>
                <a:cs typeface="Calibri"/>
              </a:rPr>
              <a:t> </a:t>
            </a:r>
            <a:r>
              <a:rPr dirty="0" sz="2400">
                <a:latin typeface="Calibri"/>
                <a:cs typeface="Calibri"/>
              </a:rPr>
              <a:t>since</a:t>
            </a:r>
            <a:r>
              <a:rPr dirty="0" sz="2400" spc="-40">
                <a:latin typeface="Calibri"/>
                <a:cs typeface="Calibri"/>
              </a:rPr>
              <a:t> </a:t>
            </a:r>
            <a:r>
              <a:rPr dirty="0" sz="2400">
                <a:latin typeface="Calibri"/>
                <a:cs typeface="Calibri"/>
              </a:rPr>
              <a:t>the</a:t>
            </a:r>
            <a:r>
              <a:rPr dirty="0" sz="2400" spc="-30">
                <a:latin typeface="Calibri"/>
                <a:cs typeface="Calibri"/>
              </a:rPr>
              <a:t> </a:t>
            </a:r>
            <a:r>
              <a:rPr dirty="0" sz="2400" spc="-10">
                <a:latin typeface="Calibri"/>
                <a:cs typeface="Calibri"/>
              </a:rPr>
              <a:t>derivative</a:t>
            </a:r>
            <a:r>
              <a:rPr dirty="0" sz="2400" spc="-35">
                <a:latin typeface="Calibri"/>
                <a:cs typeface="Calibri"/>
              </a:rPr>
              <a:t> </a:t>
            </a:r>
            <a:r>
              <a:rPr dirty="0" sz="2400">
                <a:latin typeface="Calibri"/>
                <a:cs typeface="Calibri"/>
              </a:rPr>
              <a:t>is</a:t>
            </a:r>
            <a:r>
              <a:rPr dirty="0" sz="2400" spc="-40">
                <a:latin typeface="Calibri"/>
                <a:cs typeface="Calibri"/>
              </a:rPr>
              <a:t> </a:t>
            </a:r>
            <a:r>
              <a:rPr dirty="0" sz="2400">
                <a:latin typeface="Calibri"/>
                <a:cs typeface="Calibri"/>
              </a:rPr>
              <a:t>very</a:t>
            </a:r>
            <a:r>
              <a:rPr dirty="0" sz="2400" spc="-30">
                <a:latin typeface="Calibri"/>
                <a:cs typeface="Calibri"/>
              </a:rPr>
              <a:t> </a:t>
            </a:r>
            <a:r>
              <a:rPr dirty="0" sz="2400">
                <a:latin typeface="Calibri"/>
                <a:cs typeface="Calibri"/>
              </a:rPr>
              <a:t>close</a:t>
            </a:r>
            <a:r>
              <a:rPr dirty="0" sz="2400" spc="-40">
                <a:latin typeface="Calibri"/>
                <a:cs typeface="Calibri"/>
              </a:rPr>
              <a:t> </a:t>
            </a:r>
            <a:r>
              <a:rPr dirty="0" sz="2400">
                <a:latin typeface="Calibri"/>
                <a:cs typeface="Calibri"/>
              </a:rPr>
              <a:t>to</a:t>
            </a:r>
            <a:r>
              <a:rPr dirty="0" sz="2400" spc="-40">
                <a:latin typeface="Calibri"/>
                <a:cs typeface="Calibri"/>
              </a:rPr>
              <a:t> </a:t>
            </a:r>
            <a:r>
              <a:rPr dirty="0" sz="2400" spc="-50">
                <a:latin typeface="Calibri"/>
                <a:cs typeface="Calibri"/>
              </a:rPr>
              <a:t>0</a:t>
            </a:r>
            <a:endParaRPr sz="2400">
              <a:latin typeface="Calibri"/>
              <a:cs typeface="Calibri"/>
            </a:endParaRPr>
          </a:p>
          <a:p>
            <a:pPr marL="378460" indent="-342265">
              <a:lnSpc>
                <a:spcPct val="100000"/>
              </a:lnSpc>
              <a:spcBef>
                <a:spcPts val="645"/>
              </a:spcBef>
              <a:buFont typeface="Arial MT"/>
              <a:buChar char="•"/>
              <a:tabLst>
                <a:tab pos="379095" algn="l"/>
              </a:tabLst>
            </a:pPr>
            <a:r>
              <a:rPr dirty="0" spc="-10"/>
              <a:t>ReLUs</a:t>
            </a:r>
            <a:r>
              <a:rPr dirty="0" spc="-60"/>
              <a:t> </a:t>
            </a:r>
            <a:r>
              <a:rPr dirty="0"/>
              <a:t>only</a:t>
            </a:r>
            <a:r>
              <a:rPr dirty="0" spc="-45"/>
              <a:t> </a:t>
            </a:r>
            <a:r>
              <a:rPr dirty="0" spc="-10"/>
              <a:t>saturate</a:t>
            </a:r>
            <a:r>
              <a:rPr dirty="0" spc="-55"/>
              <a:t> </a:t>
            </a:r>
            <a:r>
              <a:rPr dirty="0"/>
              <a:t>when</a:t>
            </a:r>
            <a:r>
              <a:rPr dirty="0" spc="-50"/>
              <a:t> </a:t>
            </a:r>
            <a:r>
              <a:rPr dirty="0"/>
              <a:t>the</a:t>
            </a:r>
            <a:r>
              <a:rPr dirty="0" spc="-45"/>
              <a:t> </a:t>
            </a:r>
            <a:r>
              <a:rPr dirty="0"/>
              <a:t>input</a:t>
            </a:r>
            <a:r>
              <a:rPr dirty="0" spc="-25"/>
              <a:t> </a:t>
            </a:r>
            <a:r>
              <a:rPr dirty="0"/>
              <a:t>is</a:t>
            </a:r>
            <a:r>
              <a:rPr dirty="0" spc="-50"/>
              <a:t> </a:t>
            </a:r>
            <a:r>
              <a:rPr dirty="0"/>
              <a:t>less</a:t>
            </a:r>
            <a:r>
              <a:rPr dirty="0" spc="-50"/>
              <a:t> </a:t>
            </a:r>
            <a:r>
              <a:rPr dirty="0"/>
              <a:t>than</a:t>
            </a:r>
            <a:r>
              <a:rPr dirty="0" spc="-45"/>
              <a:t> </a:t>
            </a:r>
            <a:r>
              <a:rPr dirty="0" spc="-50"/>
              <a:t>0</a:t>
            </a:r>
          </a:p>
          <a:p>
            <a:pPr lvl="1" marL="778510" indent="-285115">
              <a:lnSpc>
                <a:spcPct val="100000"/>
              </a:lnSpc>
              <a:spcBef>
                <a:spcPts val="600"/>
              </a:spcBef>
              <a:buFont typeface="Arial MT"/>
              <a:buChar char="–"/>
              <a:tabLst>
                <a:tab pos="779145" algn="l"/>
              </a:tabLst>
            </a:pPr>
            <a:r>
              <a:rPr dirty="0" sz="2400">
                <a:latin typeface="Calibri"/>
                <a:cs typeface="Calibri"/>
              </a:rPr>
              <a:t>Even</a:t>
            </a:r>
            <a:r>
              <a:rPr dirty="0" sz="2400" spc="-50">
                <a:latin typeface="Calibri"/>
                <a:cs typeface="Calibri"/>
              </a:rPr>
              <a:t> </a:t>
            </a:r>
            <a:r>
              <a:rPr dirty="0" sz="2400">
                <a:latin typeface="Calibri"/>
                <a:cs typeface="Calibri"/>
              </a:rPr>
              <a:t>this</a:t>
            </a:r>
            <a:r>
              <a:rPr dirty="0" sz="2400" spc="-70">
                <a:latin typeface="Calibri"/>
                <a:cs typeface="Calibri"/>
              </a:rPr>
              <a:t> </a:t>
            </a:r>
            <a:r>
              <a:rPr dirty="0" sz="2400" spc="-10">
                <a:latin typeface="Calibri"/>
                <a:cs typeface="Calibri"/>
              </a:rPr>
              <a:t>saturation</a:t>
            </a:r>
            <a:r>
              <a:rPr dirty="0" sz="2400" spc="-60">
                <a:latin typeface="Calibri"/>
                <a:cs typeface="Calibri"/>
              </a:rPr>
              <a:t> </a:t>
            </a:r>
            <a:r>
              <a:rPr dirty="0" sz="2400">
                <a:latin typeface="Calibri"/>
                <a:cs typeface="Calibri"/>
              </a:rPr>
              <a:t>can</a:t>
            </a:r>
            <a:r>
              <a:rPr dirty="0" sz="2400" spc="-70">
                <a:latin typeface="Calibri"/>
                <a:cs typeface="Calibri"/>
              </a:rPr>
              <a:t> </a:t>
            </a:r>
            <a:r>
              <a:rPr dirty="0" sz="2400">
                <a:latin typeface="Calibri"/>
                <a:cs typeface="Calibri"/>
              </a:rPr>
              <a:t>be</a:t>
            </a:r>
            <a:r>
              <a:rPr dirty="0" sz="2400" spc="-50">
                <a:latin typeface="Calibri"/>
                <a:cs typeface="Calibri"/>
              </a:rPr>
              <a:t> </a:t>
            </a:r>
            <a:r>
              <a:rPr dirty="0" sz="2400">
                <a:latin typeface="Calibri"/>
                <a:cs typeface="Calibri"/>
              </a:rPr>
              <a:t>eliminated</a:t>
            </a:r>
            <a:r>
              <a:rPr dirty="0" sz="2400" spc="-70">
                <a:latin typeface="Calibri"/>
                <a:cs typeface="Calibri"/>
              </a:rPr>
              <a:t> </a:t>
            </a:r>
            <a:r>
              <a:rPr dirty="0" sz="2400">
                <a:latin typeface="Calibri"/>
                <a:cs typeface="Calibri"/>
              </a:rPr>
              <a:t>using</a:t>
            </a:r>
            <a:r>
              <a:rPr dirty="0" sz="2400" spc="-60">
                <a:latin typeface="Calibri"/>
                <a:cs typeface="Calibri"/>
              </a:rPr>
              <a:t> </a:t>
            </a:r>
            <a:r>
              <a:rPr dirty="0" sz="2400">
                <a:latin typeface="Calibri"/>
                <a:cs typeface="Calibri"/>
              </a:rPr>
              <a:t>leaky</a:t>
            </a:r>
            <a:r>
              <a:rPr dirty="0" sz="2400" spc="-65">
                <a:latin typeface="Calibri"/>
                <a:cs typeface="Calibri"/>
              </a:rPr>
              <a:t> </a:t>
            </a:r>
            <a:r>
              <a:rPr dirty="0" sz="2400" spc="-10">
                <a:latin typeface="Calibri"/>
                <a:cs typeface="Calibri"/>
              </a:rPr>
              <a:t>ReLUs</a:t>
            </a:r>
            <a:endParaRPr sz="2400">
              <a:latin typeface="Calibri"/>
              <a:cs typeface="Calibri"/>
            </a:endParaRPr>
          </a:p>
          <a:p>
            <a:pPr marL="378460" marR="269240" indent="-342900">
              <a:lnSpc>
                <a:spcPct val="100000"/>
              </a:lnSpc>
              <a:spcBef>
                <a:spcPts val="645"/>
              </a:spcBef>
              <a:buFont typeface="Arial MT"/>
              <a:buChar char="•"/>
              <a:tabLst>
                <a:tab pos="379095" algn="l"/>
              </a:tabLst>
            </a:pPr>
            <a:r>
              <a:rPr dirty="0"/>
              <a:t>For</a:t>
            </a:r>
            <a:r>
              <a:rPr dirty="0" spc="-95"/>
              <a:t> </a:t>
            </a:r>
            <a:r>
              <a:rPr dirty="0"/>
              <a:t>very</a:t>
            </a:r>
            <a:r>
              <a:rPr dirty="0" spc="-75"/>
              <a:t> </a:t>
            </a:r>
            <a:r>
              <a:rPr dirty="0"/>
              <a:t>deep</a:t>
            </a:r>
            <a:r>
              <a:rPr dirty="0" spc="-75"/>
              <a:t> </a:t>
            </a:r>
            <a:r>
              <a:rPr dirty="0" spc="-10"/>
              <a:t>networks,</a:t>
            </a:r>
            <a:r>
              <a:rPr dirty="0" spc="-75"/>
              <a:t> </a:t>
            </a:r>
            <a:r>
              <a:rPr dirty="0" spc="-10"/>
              <a:t>saturation</a:t>
            </a:r>
            <a:r>
              <a:rPr dirty="0" spc="-70"/>
              <a:t> </a:t>
            </a:r>
            <a:r>
              <a:rPr dirty="0"/>
              <a:t>hampers</a:t>
            </a:r>
            <a:r>
              <a:rPr dirty="0" spc="-55"/>
              <a:t> </a:t>
            </a:r>
            <a:r>
              <a:rPr dirty="0" spc="-10"/>
              <a:t>learning, </a:t>
            </a:r>
            <a:r>
              <a:rPr dirty="0"/>
              <a:t>and</a:t>
            </a:r>
            <a:r>
              <a:rPr dirty="0" spc="-60"/>
              <a:t> </a:t>
            </a:r>
            <a:r>
              <a:rPr dirty="0"/>
              <a:t>so</a:t>
            </a:r>
            <a:r>
              <a:rPr dirty="0" spc="-55"/>
              <a:t> </a:t>
            </a:r>
            <a:r>
              <a:rPr dirty="0" spc="-10"/>
              <a:t>ReLUs</a:t>
            </a:r>
            <a:r>
              <a:rPr dirty="0" spc="-70"/>
              <a:t> </a:t>
            </a:r>
            <a:r>
              <a:rPr dirty="0"/>
              <a:t>provide</a:t>
            </a:r>
            <a:r>
              <a:rPr dirty="0" spc="-35"/>
              <a:t> </a:t>
            </a:r>
            <a:r>
              <a:rPr dirty="0"/>
              <a:t>a</a:t>
            </a:r>
            <a:r>
              <a:rPr dirty="0" spc="-75"/>
              <a:t> </a:t>
            </a:r>
            <a:r>
              <a:rPr dirty="0"/>
              <a:t>nice</a:t>
            </a:r>
            <a:r>
              <a:rPr dirty="0" spc="-60"/>
              <a:t> </a:t>
            </a:r>
            <a:r>
              <a:rPr dirty="0" spc="-10"/>
              <a:t>workaround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1347" y="337103"/>
            <a:ext cx="6614159" cy="696595"/>
          </a:xfrm>
          <a:prstGeom prst="rect"/>
        </p:spPr>
        <p:txBody>
          <a:bodyPr wrap="square" lIns="0" tIns="12700" rIns="0" bIns="0" rtlCol="0" vert="horz">
            <a:spAutoFit/>
          </a:bodyPr>
          <a:lstStyle/>
          <a:p>
            <a:pPr marL="12700">
              <a:lnSpc>
                <a:spcPct val="100000"/>
              </a:lnSpc>
              <a:spcBef>
                <a:spcPts val="100"/>
              </a:spcBef>
            </a:pPr>
            <a:r>
              <a:rPr dirty="0" sz="4400"/>
              <a:t>Local</a:t>
            </a:r>
            <a:r>
              <a:rPr dirty="0" sz="4400" spc="-90"/>
              <a:t> </a:t>
            </a:r>
            <a:r>
              <a:rPr dirty="0" sz="4400"/>
              <a:t>pooling</a:t>
            </a:r>
            <a:r>
              <a:rPr dirty="0" sz="4400" spc="-90"/>
              <a:t> </a:t>
            </a:r>
            <a:r>
              <a:rPr dirty="0" sz="4400" spc="-10"/>
              <a:t>operation</a:t>
            </a:r>
            <a:endParaRPr sz="4400"/>
          </a:p>
        </p:txBody>
      </p:sp>
      <p:sp>
        <p:nvSpPr>
          <p:cNvPr id="3" name="object 3" descr=""/>
          <p:cNvSpPr txBox="1"/>
          <p:nvPr/>
        </p:nvSpPr>
        <p:spPr>
          <a:xfrm>
            <a:off x="319915" y="1165889"/>
            <a:ext cx="8049895" cy="1122680"/>
          </a:xfrm>
          <a:prstGeom prst="rect">
            <a:avLst/>
          </a:prstGeom>
        </p:spPr>
        <p:txBody>
          <a:bodyPr wrap="square" lIns="0" tIns="12700" rIns="0" bIns="0" rtlCol="0" vert="horz">
            <a:spAutoFit/>
          </a:bodyPr>
          <a:lstStyle/>
          <a:p>
            <a:pPr algn="just" marL="12700" marR="5080">
              <a:lnSpc>
                <a:spcPct val="100000"/>
              </a:lnSpc>
              <a:spcBef>
                <a:spcPts val="100"/>
              </a:spcBef>
            </a:pPr>
            <a:r>
              <a:rPr dirty="0" sz="2400">
                <a:latin typeface="Calibri"/>
                <a:cs typeface="Calibri"/>
              </a:rPr>
              <a:t>In</a:t>
            </a:r>
            <a:r>
              <a:rPr dirty="0" sz="2400" spc="-65">
                <a:latin typeface="Calibri"/>
                <a:cs typeface="Calibri"/>
              </a:rPr>
              <a:t> </a:t>
            </a:r>
            <a:r>
              <a:rPr dirty="0" sz="2400">
                <a:latin typeface="Calibri"/>
                <a:cs typeface="Calibri"/>
              </a:rPr>
              <a:t>order</a:t>
            </a:r>
            <a:r>
              <a:rPr dirty="0" sz="2400" spc="-60">
                <a:latin typeface="Calibri"/>
                <a:cs typeface="Calibri"/>
              </a:rPr>
              <a:t> </a:t>
            </a:r>
            <a:r>
              <a:rPr dirty="0" sz="2400">
                <a:latin typeface="Calibri"/>
                <a:cs typeface="Calibri"/>
              </a:rPr>
              <a:t>to</a:t>
            </a:r>
            <a:r>
              <a:rPr dirty="0" sz="2400" spc="-70">
                <a:latin typeface="Calibri"/>
                <a:cs typeface="Calibri"/>
              </a:rPr>
              <a:t> </a:t>
            </a:r>
            <a:r>
              <a:rPr dirty="0" sz="2400">
                <a:latin typeface="Calibri"/>
                <a:cs typeface="Calibri"/>
              </a:rPr>
              <a:t>reduce</a:t>
            </a:r>
            <a:r>
              <a:rPr dirty="0" sz="2400" spc="-60">
                <a:latin typeface="Calibri"/>
                <a:cs typeface="Calibri"/>
              </a:rPr>
              <a:t> </a:t>
            </a:r>
            <a:r>
              <a:rPr dirty="0" sz="2400">
                <a:latin typeface="Calibri"/>
                <a:cs typeface="Calibri"/>
              </a:rPr>
              <a:t>variance,</a:t>
            </a:r>
            <a:r>
              <a:rPr dirty="0" sz="2400" spc="-70">
                <a:latin typeface="Calibri"/>
                <a:cs typeface="Calibri"/>
              </a:rPr>
              <a:t> </a:t>
            </a:r>
            <a:r>
              <a:rPr dirty="0" sz="2400">
                <a:latin typeface="Calibri"/>
                <a:cs typeface="Calibri"/>
              </a:rPr>
              <a:t>pooling</a:t>
            </a:r>
            <a:r>
              <a:rPr dirty="0" sz="2400" spc="-65">
                <a:latin typeface="Calibri"/>
                <a:cs typeface="Calibri"/>
              </a:rPr>
              <a:t> </a:t>
            </a:r>
            <a:r>
              <a:rPr dirty="0" sz="2400" spc="-10">
                <a:latin typeface="Calibri"/>
                <a:cs typeface="Calibri"/>
              </a:rPr>
              <a:t>layers</a:t>
            </a:r>
            <a:r>
              <a:rPr dirty="0" sz="2400" spc="-85">
                <a:latin typeface="Calibri"/>
                <a:cs typeface="Calibri"/>
              </a:rPr>
              <a:t> </a:t>
            </a:r>
            <a:r>
              <a:rPr dirty="0" sz="2400">
                <a:latin typeface="Calibri"/>
                <a:cs typeface="Calibri"/>
              </a:rPr>
              <a:t>compute</a:t>
            </a:r>
            <a:r>
              <a:rPr dirty="0" sz="2400" spc="-70">
                <a:latin typeface="Calibri"/>
                <a:cs typeface="Calibri"/>
              </a:rPr>
              <a:t> </a:t>
            </a:r>
            <a:r>
              <a:rPr dirty="0" sz="2400">
                <a:latin typeface="Calibri"/>
                <a:cs typeface="Calibri"/>
              </a:rPr>
              <a:t>the</a:t>
            </a:r>
            <a:r>
              <a:rPr dirty="0" sz="2400" spc="-60">
                <a:latin typeface="Calibri"/>
                <a:cs typeface="Calibri"/>
              </a:rPr>
              <a:t> </a:t>
            </a:r>
            <a:r>
              <a:rPr dirty="0" sz="2400">
                <a:latin typeface="Calibri"/>
                <a:cs typeface="Calibri"/>
              </a:rPr>
              <a:t>max</a:t>
            </a:r>
            <a:r>
              <a:rPr dirty="0" sz="2400" spc="-70">
                <a:latin typeface="Calibri"/>
                <a:cs typeface="Calibri"/>
              </a:rPr>
              <a:t> </a:t>
            </a:r>
            <a:r>
              <a:rPr dirty="0" sz="2400" spc="-25">
                <a:latin typeface="Calibri"/>
                <a:cs typeface="Calibri"/>
              </a:rPr>
              <a:t>or </a:t>
            </a:r>
            <a:r>
              <a:rPr dirty="0" sz="2400" spc="-20">
                <a:latin typeface="Calibri"/>
                <a:cs typeface="Calibri"/>
              </a:rPr>
              <a:t>average</a:t>
            </a:r>
            <a:r>
              <a:rPr dirty="0" sz="2400" spc="-55">
                <a:latin typeface="Calibri"/>
                <a:cs typeface="Calibri"/>
              </a:rPr>
              <a:t> </a:t>
            </a:r>
            <a:r>
              <a:rPr dirty="0" sz="2400">
                <a:latin typeface="Calibri"/>
                <a:cs typeface="Calibri"/>
              </a:rPr>
              <a:t>value</a:t>
            </a:r>
            <a:r>
              <a:rPr dirty="0" sz="2400" spc="-50">
                <a:latin typeface="Calibri"/>
                <a:cs typeface="Calibri"/>
              </a:rPr>
              <a:t> </a:t>
            </a:r>
            <a:r>
              <a:rPr dirty="0" sz="2400">
                <a:latin typeface="Calibri"/>
                <a:cs typeface="Calibri"/>
              </a:rPr>
              <a:t>of</a:t>
            </a:r>
            <a:r>
              <a:rPr dirty="0" sz="2400" spc="-55">
                <a:latin typeface="Calibri"/>
                <a:cs typeface="Calibri"/>
              </a:rPr>
              <a:t> </a:t>
            </a:r>
            <a:r>
              <a:rPr dirty="0" sz="2400">
                <a:latin typeface="Calibri"/>
                <a:cs typeface="Calibri"/>
              </a:rPr>
              <a:t>a</a:t>
            </a:r>
            <a:r>
              <a:rPr dirty="0" sz="2400" spc="-55">
                <a:latin typeface="Calibri"/>
                <a:cs typeface="Calibri"/>
              </a:rPr>
              <a:t> </a:t>
            </a:r>
            <a:r>
              <a:rPr dirty="0" sz="2400">
                <a:latin typeface="Calibri"/>
                <a:cs typeface="Calibri"/>
              </a:rPr>
              <a:t>particular</a:t>
            </a:r>
            <a:r>
              <a:rPr dirty="0" sz="2400" spc="-75">
                <a:latin typeface="Calibri"/>
                <a:cs typeface="Calibri"/>
              </a:rPr>
              <a:t> </a:t>
            </a:r>
            <a:r>
              <a:rPr dirty="0" sz="2400" spc="-10">
                <a:latin typeface="Calibri"/>
                <a:cs typeface="Calibri"/>
              </a:rPr>
              <a:t>feature</a:t>
            </a:r>
            <a:r>
              <a:rPr dirty="0" sz="2400" spc="-50">
                <a:latin typeface="Calibri"/>
                <a:cs typeface="Calibri"/>
              </a:rPr>
              <a:t> </a:t>
            </a:r>
            <a:r>
              <a:rPr dirty="0" sz="2400">
                <a:latin typeface="Calibri"/>
                <a:cs typeface="Calibri"/>
              </a:rPr>
              <a:t>over</a:t>
            </a:r>
            <a:r>
              <a:rPr dirty="0" sz="2400" spc="-45">
                <a:latin typeface="Calibri"/>
                <a:cs typeface="Calibri"/>
              </a:rPr>
              <a:t> </a:t>
            </a:r>
            <a:r>
              <a:rPr dirty="0" sz="2400">
                <a:latin typeface="Calibri"/>
                <a:cs typeface="Calibri"/>
              </a:rPr>
              <a:t>a</a:t>
            </a:r>
            <a:r>
              <a:rPr dirty="0" sz="2400" spc="-55">
                <a:latin typeface="Calibri"/>
                <a:cs typeface="Calibri"/>
              </a:rPr>
              <a:t> </a:t>
            </a:r>
            <a:r>
              <a:rPr dirty="0" sz="2400">
                <a:latin typeface="Calibri"/>
                <a:cs typeface="Calibri"/>
              </a:rPr>
              <a:t>region</a:t>
            </a:r>
            <a:r>
              <a:rPr dirty="0" sz="2400" spc="-55">
                <a:latin typeface="Calibri"/>
                <a:cs typeface="Calibri"/>
              </a:rPr>
              <a:t> </a:t>
            </a:r>
            <a:r>
              <a:rPr dirty="0" sz="2400">
                <a:latin typeface="Calibri"/>
                <a:cs typeface="Calibri"/>
              </a:rPr>
              <a:t>of</a:t>
            </a:r>
            <a:r>
              <a:rPr dirty="0" sz="2400" spc="-55">
                <a:latin typeface="Calibri"/>
                <a:cs typeface="Calibri"/>
              </a:rPr>
              <a:t> </a:t>
            </a:r>
            <a:r>
              <a:rPr dirty="0" sz="2400">
                <a:latin typeface="Calibri"/>
                <a:cs typeface="Calibri"/>
              </a:rPr>
              <a:t>the</a:t>
            </a:r>
            <a:r>
              <a:rPr dirty="0" sz="2400" spc="-55">
                <a:latin typeface="Calibri"/>
                <a:cs typeface="Calibri"/>
              </a:rPr>
              <a:t> </a:t>
            </a:r>
            <a:r>
              <a:rPr dirty="0" sz="2400" spc="-10">
                <a:latin typeface="Calibri"/>
                <a:cs typeface="Calibri"/>
              </a:rPr>
              <a:t>image. </a:t>
            </a:r>
            <a:r>
              <a:rPr dirty="0" sz="2400">
                <a:latin typeface="Calibri"/>
                <a:cs typeface="Calibri"/>
              </a:rPr>
              <a:t>This</a:t>
            </a:r>
            <a:r>
              <a:rPr dirty="0" sz="2400" spc="-50">
                <a:latin typeface="Calibri"/>
                <a:cs typeface="Calibri"/>
              </a:rPr>
              <a:t> </a:t>
            </a:r>
            <a:r>
              <a:rPr dirty="0" sz="2400">
                <a:latin typeface="Calibri"/>
                <a:cs typeface="Calibri"/>
              </a:rPr>
              <a:t>will</a:t>
            </a:r>
            <a:r>
              <a:rPr dirty="0" sz="2400" spc="-60">
                <a:latin typeface="Calibri"/>
                <a:cs typeface="Calibri"/>
              </a:rPr>
              <a:t> </a:t>
            </a:r>
            <a:r>
              <a:rPr dirty="0" sz="2400">
                <a:latin typeface="Calibri"/>
                <a:cs typeface="Calibri"/>
              </a:rPr>
              <a:t>ensure</a:t>
            </a:r>
            <a:r>
              <a:rPr dirty="0" sz="2400" spc="-50">
                <a:latin typeface="Calibri"/>
                <a:cs typeface="Calibri"/>
              </a:rPr>
              <a:t> </a:t>
            </a:r>
            <a:r>
              <a:rPr dirty="0" sz="2400">
                <a:latin typeface="Calibri"/>
                <a:cs typeface="Calibri"/>
              </a:rPr>
              <a:t>that</a:t>
            </a:r>
            <a:r>
              <a:rPr dirty="0" sz="2400" spc="-55">
                <a:latin typeface="Calibri"/>
                <a:cs typeface="Calibri"/>
              </a:rPr>
              <a:t> </a:t>
            </a:r>
            <a:r>
              <a:rPr dirty="0" sz="2400">
                <a:latin typeface="Calibri"/>
                <a:cs typeface="Calibri"/>
              </a:rPr>
              <a:t>the</a:t>
            </a:r>
            <a:r>
              <a:rPr dirty="0" sz="2400" spc="-60">
                <a:latin typeface="Calibri"/>
                <a:cs typeface="Calibri"/>
              </a:rPr>
              <a:t> </a:t>
            </a:r>
            <a:r>
              <a:rPr dirty="0" sz="2400">
                <a:latin typeface="Calibri"/>
                <a:cs typeface="Calibri"/>
              </a:rPr>
              <a:t>same</a:t>
            </a:r>
            <a:r>
              <a:rPr dirty="0" sz="2400" spc="-60">
                <a:latin typeface="Calibri"/>
                <a:cs typeface="Calibri"/>
              </a:rPr>
              <a:t> </a:t>
            </a:r>
            <a:r>
              <a:rPr dirty="0" sz="2400">
                <a:latin typeface="Calibri"/>
                <a:cs typeface="Calibri"/>
              </a:rPr>
              <a:t>result</a:t>
            </a:r>
            <a:r>
              <a:rPr dirty="0" sz="2400" spc="-55">
                <a:latin typeface="Calibri"/>
                <a:cs typeface="Calibri"/>
              </a:rPr>
              <a:t> </a:t>
            </a:r>
            <a:r>
              <a:rPr dirty="0" sz="2400">
                <a:latin typeface="Calibri"/>
                <a:cs typeface="Calibri"/>
              </a:rPr>
              <a:t>will</a:t>
            </a:r>
            <a:r>
              <a:rPr dirty="0" sz="2400" spc="-65">
                <a:latin typeface="Calibri"/>
                <a:cs typeface="Calibri"/>
              </a:rPr>
              <a:t> </a:t>
            </a:r>
            <a:r>
              <a:rPr dirty="0" sz="2400">
                <a:latin typeface="Calibri"/>
                <a:cs typeface="Calibri"/>
              </a:rPr>
              <a:t>be</a:t>
            </a:r>
            <a:r>
              <a:rPr dirty="0" sz="2400" spc="-50">
                <a:latin typeface="Calibri"/>
                <a:cs typeface="Calibri"/>
              </a:rPr>
              <a:t> </a:t>
            </a:r>
            <a:r>
              <a:rPr dirty="0" sz="2400">
                <a:latin typeface="Calibri"/>
                <a:cs typeface="Calibri"/>
              </a:rPr>
              <a:t>obtained,</a:t>
            </a:r>
            <a:r>
              <a:rPr dirty="0" sz="2400" spc="-55">
                <a:latin typeface="Calibri"/>
                <a:cs typeface="Calibri"/>
              </a:rPr>
              <a:t> </a:t>
            </a:r>
            <a:r>
              <a:rPr dirty="0" sz="2400">
                <a:latin typeface="Calibri"/>
                <a:cs typeface="Calibri"/>
              </a:rPr>
              <a:t>even</a:t>
            </a:r>
            <a:r>
              <a:rPr dirty="0" sz="2400" spc="-45">
                <a:latin typeface="Calibri"/>
                <a:cs typeface="Calibri"/>
              </a:rPr>
              <a:t> </a:t>
            </a:r>
            <a:r>
              <a:rPr dirty="0" sz="2400" spc="-20">
                <a:latin typeface="Calibri"/>
                <a:cs typeface="Calibri"/>
              </a:rPr>
              <a:t>when</a:t>
            </a:r>
            <a:endParaRPr sz="2400">
              <a:latin typeface="Calibri"/>
              <a:cs typeface="Calibri"/>
            </a:endParaRPr>
          </a:p>
        </p:txBody>
      </p:sp>
      <p:sp>
        <p:nvSpPr>
          <p:cNvPr id="4" name="object 4" descr=""/>
          <p:cNvSpPr txBox="1"/>
          <p:nvPr/>
        </p:nvSpPr>
        <p:spPr>
          <a:xfrm>
            <a:off x="319915" y="2263169"/>
            <a:ext cx="4756785"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image</a:t>
            </a:r>
            <a:r>
              <a:rPr dirty="0" sz="2400" spc="-75">
                <a:latin typeface="Calibri"/>
                <a:cs typeface="Calibri"/>
              </a:rPr>
              <a:t> </a:t>
            </a:r>
            <a:r>
              <a:rPr dirty="0" sz="2400" spc="-10">
                <a:latin typeface="Calibri"/>
                <a:cs typeface="Calibri"/>
              </a:rPr>
              <a:t>features</a:t>
            </a:r>
            <a:r>
              <a:rPr dirty="0" sz="2400" spc="-75">
                <a:latin typeface="Calibri"/>
                <a:cs typeface="Calibri"/>
              </a:rPr>
              <a:t> </a:t>
            </a:r>
            <a:r>
              <a:rPr dirty="0" sz="2400">
                <a:latin typeface="Calibri"/>
                <a:cs typeface="Calibri"/>
              </a:rPr>
              <a:t>have</a:t>
            </a:r>
            <a:r>
              <a:rPr dirty="0" sz="2400" spc="-70">
                <a:latin typeface="Calibri"/>
                <a:cs typeface="Calibri"/>
              </a:rPr>
              <a:t> </a:t>
            </a:r>
            <a:r>
              <a:rPr dirty="0" sz="2400">
                <a:latin typeface="Calibri"/>
                <a:cs typeface="Calibri"/>
              </a:rPr>
              <a:t>small</a:t>
            </a:r>
            <a:r>
              <a:rPr dirty="0" sz="2400" spc="-75">
                <a:latin typeface="Calibri"/>
                <a:cs typeface="Calibri"/>
              </a:rPr>
              <a:t> </a:t>
            </a:r>
            <a:r>
              <a:rPr dirty="0" sz="2400" spc="-10">
                <a:latin typeface="Calibri"/>
                <a:cs typeface="Calibri"/>
              </a:rPr>
              <a:t>translations</a:t>
            </a:r>
            <a:endParaRPr sz="2400">
              <a:latin typeface="Calibri"/>
              <a:cs typeface="Calibri"/>
            </a:endParaRPr>
          </a:p>
        </p:txBody>
      </p:sp>
      <p:pic>
        <p:nvPicPr>
          <p:cNvPr id="5" name="object 5" descr=""/>
          <p:cNvPicPr/>
          <p:nvPr/>
        </p:nvPicPr>
        <p:blipFill>
          <a:blip r:embed="rId2" cstate="print"/>
          <a:stretch>
            <a:fillRect/>
          </a:stretch>
        </p:blipFill>
        <p:spPr>
          <a:xfrm>
            <a:off x="695481" y="3022905"/>
            <a:ext cx="7499096" cy="3262697"/>
          </a:xfrm>
          <a:prstGeom prst="rect">
            <a:avLst/>
          </a:prstGeom>
        </p:spPr>
      </p:pic>
      <p:sp>
        <p:nvSpPr>
          <p:cNvPr id="6" name="object 6" descr=""/>
          <p:cNvSpPr txBox="1"/>
          <p:nvPr/>
        </p:nvSpPr>
        <p:spPr>
          <a:xfrm>
            <a:off x="8425688" y="6425628"/>
            <a:ext cx="18097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898989"/>
                </a:solidFill>
                <a:latin typeface="Calibri"/>
                <a:cs typeface="Calibri"/>
              </a:rPr>
              <a:t>31</a:t>
            </a:r>
            <a:endParaRPr sz="1200">
              <a:latin typeface="Calibri"/>
              <a:cs typeface="Calibri"/>
            </a:endParaRPr>
          </a:p>
        </p:txBody>
      </p:sp>
      <p:sp>
        <p:nvSpPr>
          <p:cNvPr id="7" name="object 7" descr=""/>
          <p:cNvSpPr txBox="1"/>
          <p:nvPr/>
        </p:nvSpPr>
        <p:spPr>
          <a:xfrm>
            <a:off x="5354620" y="2325847"/>
            <a:ext cx="3426460" cy="1189355"/>
          </a:xfrm>
          <a:prstGeom prst="rect">
            <a:avLst/>
          </a:prstGeom>
        </p:spPr>
        <p:txBody>
          <a:bodyPr wrap="square" lIns="0" tIns="12065" rIns="0" bIns="0" rtlCol="0" vert="horz">
            <a:spAutoFit/>
          </a:bodyPr>
          <a:lstStyle/>
          <a:p>
            <a:pPr marL="12700" marR="5080">
              <a:lnSpc>
                <a:spcPct val="117500"/>
              </a:lnSpc>
              <a:spcBef>
                <a:spcPts val="95"/>
              </a:spcBef>
            </a:pPr>
            <a:r>
              <a:rPr dirty="0" sz="1300">
                <a:latin typeface="Microsoft YaHei UI"/>
                <a:cs typeface="Microsoft YaHei UI"/>
              </a:rPr>
              <a:t>池化层通过</a:t>
            </a:r>
            <a:r>
              <a:rPr dirty="0" sz="1300" spc="-140">
                <a:latin typeface="Trebuchet MS"/>
                <a:cs typeface="Trebuchet MS"/>
              </a:rPr>
              <a:t>“</a:t>
            </a:r>
            <a:r>
              <a:rPr dirty="0" sz="1300" spc="-5">
                <a:latin typeface="Microsoft YaHei UI"/>
                <a:cs typeface="Microsoft YaHei UI"/>
              </a:rPr>
              <a:t>计算⼀个区域内某个特征的最⼤值或平均值 </a:t>
            </a:r>
            <a:r>
              <a:rPr dirty="0" sz="1300">
                <a:latin typeface="Trebuchet MS"/>
                <a:cs typeface="Trebuchet MS"/>
              </a:rPr>
              <a:t>(compute</a:t>
            </a:r>
            <a:r>
              <a:rPr dirty="0" sz="1300" spc="-30">
                <a:latin typeface="Trebuchet MS"/>
                <a:cs typeface="Trebuchet MS"/>
              </a:rPr>
              <a:t> </a:t>
            </a:r>
            <a:r>
              <a:rPr dirty="0" sz="1300" spc="-20">
                <a:latin typeface="Trebuchet MS"/>
                <a:cs typeface="Trebuchet MS"/>
              </a:rPr>
              <a:t>the</a:t>
            </a:r>
            <a:r>
              <a:rPr dirty="0" sz="1300" spc="-30">
                <a:latin typeface="Trebuchet MS"/>
                <a:cs typeface="Trebuchet MS"/>
              </a:rPr>
              <a:t> </a:t>
            </a:r>
            <a:r>
              <a:rPr dirty="0" sz="1300">
                <a:latin typeface="Trebuchet MS"/>
                <a:cs typeface="Trebuchet MS"/>
              </a:rPr>
              <a:t>max</a:t>
            </a:r>
            <a:r>
              <a:rPr dirty="0" sz="1300" spc="-30">
                <a:latin typeface="Trebuchet MS"/>
                <a:cs typeface="Trebuchet MS"/>
              </a:rPr>
              <a:t> </a:t>
            </a:r>
            <a:r>
              <a:rPr dirty="0" sz="1300">
                <a:latin typeface="Trebuchet MS"/>
                <a:cs typeface="Trebuchet MS"/>
              </a:rPr>
              <a:t>or</a:t>
            </a:r>
            <a:r>
              <a:rPr dirty="0" sz="1300" spc="-30">
                <a:latin typeface="Trebuchet MS"/>
                <a:cs typeface="Trebuchet MS"/>
              </a:rPr>
              <a:t> </a:t>
            </a:r>
            <a:r>
              <a:rPr dirty="0" sz="1300">
                <a:latin typeface="Trebuchet MS"/>
                <a:cs typeface="Trebuchet MS"/>
              </a:rPr>
              <a:t>average</a:t>
            </a:r>
            <a:r>
              <a:rPr dirty="0" sz="1300" spc="-30">
                <a:latin typeface="Trebuchet MS"/>
                <a:cs typeface="Trebuchet MS"/>
              </a:rPr>
              <a:t> </a:t>
            </a:r>
            <a:r>
              <a:rPr dirty="0" sz="1300" spc="-10">
                <a:latin typeface="Trebuchet MS"/>
                <a:cs typeface="Trebuchet MS"/>
              </a:rPr>
              <a:t>value </a:t>
            </a:r>
            <a:r>
              <a:rPr dirty="0" sz="1300">
                <a:latin typeface="Trebuchet MS"/>
                <a:cs typeface="Trebuchet MS"/>
              </a:rPr>
              <a:t>of</a:t>
            </a:r>
            <a:r>
              <a:rPr dirty="0" sz="1300" spc="-30">
                <a:latin typeface="Trebuchet MS"/>
                <a:cs typeface="Trebuchet MS"/>
              </a:rPr>
              <a:t> </a:t>
            </a:r>
            <a:r>
              <a:rPr dirty="0" sz="1300">
                <a:latin typeface="Trebuchet MS"/>
                <a:cs typeface="Trebuchet MS"/>
              </a:rPr>
              <a:t>a</a:t>
            </a:r>
            <a:r>
              <a:rPr dirty="0" sz="1300" spc="-30">
                <a:latin typeface="Trebuchet MS"/>
                <a:cs typeface="Trebuchet MS"/>
              </a:rPr>
              <a:t> particular </a:t>
            </a:r>
            <a:r>
              <a:rPr dirty="0" sz="1300" spc="-40">
                <a:latin typeface="Trebuchet MS"/>
                <a:cs typeface="Trebuchet MS"/>
              </a:rPr>
              <a:t>feature </a:t>
            </a:r>
            <a:r>
              <a:rPr dirty="0" sz="1300">
                <a:latin typeface="Trebuchet MS"/>
                <a:cs typeface="Trebuchet MS"/>
              </a:rPr>
              <a:t>over</a:t>
            </a:r>
            <a:r>
              <a:rPr dirty="0" sz="1300" spc="-30">
                <a:latin typeface="Trebuchet MS"/>
                <a:cs typeface="Trebuchet MS"/>
              </a:rPr>
              <a:t> </a:t>
            </a:r>
            <a:r>
              <a:rPr dirty="0" sz="1300">
                <a:latin typeface="Trebuchet MS"/>
                <a:cs typeface="Trebuchet MS"/>
              </a:rPr>
              <a:t>a</a:t>
            </a:r>
            <a:r>
              <a:rPr dirty="0" sz="1300" spc="-30">
                <a:latin typeface="Trebuchet MS"/>
                <a:cs typeface="Trebuchet MS"/>
              </a:rPr>
              <a:t> </a:t>
            </a:r>
            <a:r>
              <a:rPr dirty="0" sz="1300" spc="-45">
                <a:latin typeface="Trebuchet MS"/>
                <a:cs typeface="Trebuchet MS"/>
              </a:rPr>
              <a:t>region)”</a:t>
            </a:r>
            <a:r>
              <a:rPr dirty="0" sz="1300" spc="-15">
                <a:latin typeface="Microsoft YaHei UI"/>
                <a:cs typeface="Microsoft YaHei UI"/>
              </a:rPr>
              <a:t>来⼯作。</a:t>
            </a:r>
            <a:r>
              <a:rPr dirty="0" sz="1300">
                <a:latin typeface="Microsoft YaHei UI"/>
                <a:cs typeface="Microsoft YaHei UI"/>
              </a:rPr>
              <a:t>从⽽“减少⽅差 (reduce variance)”，</a:t>
            </a:r>
            <a:r>
              <a:rPr dirty="0" sz="1300" spc="-15">
                <a:latin typeface="Microsoft YaHei UI"/>
                <a:cs typeface="Microsoft YaHei UI"/>
              </a:rPr>
              <a:t>使特征表</a:t>
            </a:r>
            <a:r>
              <a:rPr dirty="0" sz="1300" spc="-10">
                <a:latin typeface="Microsoft YaHei UI"/>
                <a:cs typeface="Microsoft YaHei UI"/>
              </a:rPr>
              <a:t>示更加精炼和紧凑。</a:t>
            </a:r>
            <a:endParaRPr sz="1300">
              <a:latin typeface="Microsoft YaHei UI"/>
              <a:cs typeface="Microsoft YaHei UI"/>
            </a:endParaRPr>
          </a:p>
        </p:txBody>
      </p:sp>
      <p:sp>
        <p:nvSpPr>
          <p:cNvPr id="8" name="object 8" descr=""/>
          <p:cNvSpPr txBox="1"/>
          <p:nvPr/>
        </p:nvSpPr>
        <p:spPr>
          <a:xfrm>
            <a:off x="4242066" y="5958716"/>
            <a:ext cx="4418965" cy="491490"/>
          </a:xfrm>
          <a:prstGeom prst="rect">
            <a:avLst/>
          </a:prstGeom>
        </p:spPr>
        <p:txBody>
          <a:bodyPr wrap="square" lIns="0" tIns="12065" rIns="0" bIns="0" rtlCol="0" vert="horz">
            <a:spAutoFit/>
          </a:bodyPr>
          <a:lstStyle/>
          <a:p>
            <a:pPr marL="12700" marR="5080">
              <a:lnSpc>
                <a:spcPct val="117500"/>
              </a:lnSpc>
              <a:spcBef>
                <a:spcPts val="95"/>
              </a:spcBef>
            </a:pPr>
            <a:r>
              <a:rPr dirty="0" sz="1300">
                <a:latin typeface="Microsoft YaHei UI"/>
                <a:cs typeface="Microsoft YaHei UI"/>
              </a:rPr>
              <a:t>池化操作</a:t>
            </a:r>
            <a:r>
              <a:rPr dirty="0" sz="1300" spc="-140">
                <a:latin typeface="Trebuchet MS"/>
                <a:cs typeface="Trebuchet MS"/>
              </a:rPr>
              <a:t>“</a:t>
            </a:r>
            <a:r>
              <a:rPr dirty="0" sz="1300" spc="-5">
                <a:latin typeface="Microsoft YaHei UI"/>
                <a:cs typeface="Microsoft YaHei UI"/>
              </a:rPr>
              <a:t>将确保即使图像特征有微⼩的平移，也能获得相同的结果 </a:t>
            </a:r>
            <a:r>
              <a:rPr dirty="0" sz="1300" spc="-85">
                <a:latin typeface="Trebuchet MS"/>
                <a:cs typeface="Trebuchet MS"/>
              </a:rPr>
              <a:t>(will</a:t>
            </a:r>
            <a:r>
              <a:rPr dirty="0" sz="1300" spc="-15">
                <a:latin typeface="Trebuchet MS"/>
                <a:cs typeface="Trebuchet MS"/>
              </a:rPr>
              <a:t> </a:t>
            </a:r>
            <a:r>
              <a:rPr dirty="0" sz="1300">
                <a:latin typeface="Trebuchet MS"/>
                <a:cs typeface="Trebuchet MS"/>
              </a:rPr>
              <a:t>ensure</a:t>
            </a:r>
            <a:r>
              <a:rPr dirty="0" sz="1300" spc="-10">
                <a:latin typeface="Trebuchet MS"/>
                <a:cs typeface="Trebuchet MS"/>
              </a:rPr>
              <a:t> </a:t>
            </a:r>
            <a:r>
              <a:rPr dirty="0" sz="1300" spc="-35">
                <a:latin typeface="Trebuchet MS"/>
                <a:cs typeface="Trebuchet MS"/>
              </a:rPr>
              <a:t>that</a:t>
            </a:r>
            <a:r>
              <a:rPr dirty="0" sz="1300" spc="-15">
                <a:latin typeface="Trebuchet MS"/>
                <a:cs typeface="Trebuchet MS"/>
              </a:rPr>
              <a:t> </a:t>
            </a:r>
            <a:r>
              <a:rPr dirty="0" sz="1300" spc="-20">
                <a:latin typeface="Trebuchet MS"/>
                <a:cs typeface="Trebuchet MS"/>
              </a:rPr>
              <a:t>the</a:t>
            </a:r>
            <a:r>
              <a:rPr dirty="0" sz="1300" spc="-10">
                <a:latin typeface="Trebuchet MS"/>
                <a:cs typeface="Trebuchet MS"/>
              </a:rPr>
              <a:t> </a:t>
            </a:r>
            <a:r>
              <a:rPr dirty="0" sz="1300">
                <a:latin typeface="Trebuchet MS"/>
                <a:cs typeface="Trebuchet MS"/>
              </a:rPr>
              <a:t>same</a:t>
            </a:r>
            <a:r>
              <a:rPr dirty="0" sz="1300" spc="-15">
                <a:latin typeface="Trebuchet MS"/>
                <a:cs typeface="Trebuchet MS"/>
              </a:rPr>
              <a:t> </a:t>
            </a:r>
            <a:r>
              <a:rPr dirty="0" sz="1300" spc="-25">
                <a:latin typeface="Trebuchet MS"/>
                <a:cs typeface="Trebuchet MS"/>
              </a:rPr>
              <a:t>result</a:t>
            </a:r>
            <a:r>
              <a:rPr dirty="0" sz="1300" spc="-15">
                <a:latin typeface="Trebuchet MS"/>
                <a:cs typeface="Trebuchet MS"/>
              </a:rPr>
              <a:t> </a:t>
            </a:r>
            <a:r>
              <a:rPr dirty="0" sz="1300" spc="-65">
                <a:latin typeface="Trebuchet MS"/>
                <a:cs typeface="Trebuchet MS"/>
              </a:rPr>
              <a:t>will</a:t>
            </a:r>
            <a:r>
              <a:rPr dirty="0" sz="1300" spc="-10">
                <a:latin typeface="Trebuchet MS"/>
                <a:cs typeface="Trebuchet MS"/>
              </a:rPr>
              <a:t> </a:t>
            </a:r>
            <a:r>
              <a:rPr dirty="0" sz="1300">
                <a:latin typeface="Trebuchet MS"/>
                <a:cs typeface="Trebuchet MS"/>
              </a:rPr>
              <a:t>be</a:t>
            </a:r>
            <a:r>
              <a:rPr dirty="0" sz="1300" spc="-15">
                <a:latin typeface="Trebuchet MS"/>
                <a:cs typeface="Trebuchet MS"/>
              </a:rPr>
              <a:t> </a:t>
            </a:r>
            <a:r>
              <a:rPr dirty="0" sz="1300" spc="-10">
                <a:latin typeface="Trebuchet MS"/>
                <a:cs typeface="Trebuchet MS"/>
              </a:rPr>
              <a:t>obtained,</a:t>
            </a:r>
            <a:endParaRPr sz="1300">
              <a:latin typeface="Trebuchet MS"/>
              <a:cs typeface="Trebuchet MS"/>
            </a:endParaRPr>
          </a:p>
        </p:txBody>
      </p:sp>
      <p:sp>
        <p:nvSpPr>
          <p:cNvPr id="9" name="object 9" descr=""/>
          <p:cNvSpPr txBox="1"/>
          <p:nvPr/>
        </p:nvSpPr>
        <p:spPr>
          <a:xfrm>
            <a:off x="4242066" y="6457480"/>
            <a:ext cx="3988435" cy="225425"/>
          </a:xfrm>
          <a:prstGeom prst="rect">
            <a:avLst/>
          </a:prstGeom>
        </p:spPr>
        <p:txBody>
          <a:bodyPr wrap="square" lIns="0" tIns="13970" rIns="0" bIns="0" rtlCol="0" vert="horz">
            <a:spAutoFit/>
          </a:bodyPr>
          <a:lstStyle/>
          <a:p>
            <a:pPr marL="12700">
              <a:lnSpc>
                <a:spcPct val="100000"/>
              </a:lnSpc>
              <a:spcBef>
                <a:spcPts val="110"/>
              </a:spcBef>
            </a:pPr>
            <a:r>
              <a:rPr dirty="0" sz="1300">
                <a:latin typeface="Trebuchet MS"/>
                <a:cs typeface="Trebuchet MS"/>
              </a:rPr>
              <a:t>even</a:t>
            </a:r>
            <a:r>
              <a:rPr dirty="0" sz="1300" spc="-10">
                <a:latin typeface="Trebuchet MS"/>
                <a:cs typeface="Trebuchet MS"/>
              </a:rPr>
              <a:t> </a:t>
            </a:r>
            <a:r>
              <a:rPr dirty="0" sz="1300">
                <a:latin typeface="Trebuchet MS"/>
                <a:cs typeface="Trebuchet MS"/>
              </a:rPr>
              <a:t>when</a:t>
            </a:r>
            <a:r>
              <a:rPr dirty="0" sz="1300" spc="-5">
                <a:latin typeface="Trebuchet MS"/>
                <a:cs typeface="Trebuchet MS"/>
              </a:rPr>
              <a:t> </a:t>
            </a:r>
            <a:r>
              <a:rPr dirty="0" sz="1300">
                <a:latin typeface="Trebuchet MS"/>
                <a:cs typeface="Trebuchet MS"/>
              </a:rPr>
              <a:t>image</a:t>
            </a:r>
            <a:r>
              <a:rPr dirty="0" sz="1300" spc="-5">
                <a:latin typeface="Trebuchet MS"/>
                <a:cs typeface="Trebuchet MS"/>
              </a:rPr>
              <a:t> </a:t>
            </a:r>
            <a:r>
              <a:rPr dirty="0" sz="1300" spc="-20">
                <a:latin typeface="Trebuchet MS"/>
                <a:cs typeface="Trebuchet MS"/>
              </a:rPr>
              <a:t>features</a:t>
            </a:r>
            <a:r>
              <a:rPr dirty="0" sz="1300" spc="-5">
                <a:latin typeface="Trebuchet MS"/>
                <a:cs typeface="Trebuchet MS"/>
              </a:rPr>
              <a:t> </a:t>
            </a:r>
            <a:r>
              <a:rPr dirty="0" sz="1300">
                <a:latin typeface="Trebuchet MS"/>
                <a:cs typeface="Trebuchet MS"/>
              </a:rPr>
              <a:t>have</a:t>
            </a:r>
            <a:r>
              <a:rPr dirty="0" sz="1300" spc="-5">
                <a:latin typeface="Trebuchet MS"/>
                <a:cs typeface="Trebuchet MS"/>
              </a:rPr>
              <a:t> </a:t>
            </a:r>
            <a:r>
              <a:rPr dirty="0" sz="1300">
                <a:latin typeface="Trebuchet MS"/>
                <a:cs typeface="Trebuchet MS"/>
              </a:rPr>
              <a:t>small</a:t>
            </a:r>
            <a:r>
              <a:rPr dirty="0" sz="1300" spc="-5">
                <a:latin typeface="Trebuchet MS"/>
                <a:cs typeface="Trebuchet MS"/>
              </a:rPr>
              <a:t> </a:t>
            </a:r>
            <a:r>
              <a:rPr dirty="0" sz="1300" spc="-35">
                <a:latin typeface="Trebuchet MS"/>
                <a:cs typeface="Trebuchet MS"/>
              </a:rPr>
              <a:t>translations)”</a:t>
            </a:r>
            <a:r>
              <a:rPr dirty="0" sz="1300" spc="-50">
                <a:latin typeface="Microsoft YaHei UI"/>
                <a:cs typeface="Microsoft YaHei UI"/>
              </a:rPr>
              <a:t>。</a:t>
            </a:r>
            <a:endParaRPr sz="1300">
              <a:latin typeface="Microsoft YaHei UI"/>
              <a:cs typeface="Microsoft YaHei U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290323"/>
            <a:ext cx="7449184" cy="696595"/>
          </a:xfrm>
          <a:prstGeom prst="rect"/>
        </p:spPr>
        <p:txBody>
          <a:bodyPr wrap="square" lIns="0" tIns="12700" rIns="0" bIns="0" rtlCol="0" vert="horz">
            <a:spAutoFit/>
          </a:bodyPr>
          <a:lstStyle/>
          <a:p>
            <a:pPr marL="12700">
              <a:lnSpc>
                <a:spcPct val="100000"/>
              </a:lnSpc>
              <a:spcBef>
                <a:spcPts val="100"/>
              </a:spcBef>
            </a:pPr>
            <a:r>
              <a:rPr dirty="0" sz="4400"/>
              <a:t>More</a:t>
            </a:r>
            <a:r>
              <a:rPr dirty="0" sz="4400" spc="-45"/>
              <a:t> </a:t>
            </a:r>
            <a:r>
              <a:rPr dirty="0" sz="4400"/>
              <a:t>on</a:t>
            </a:r>
            <a:r>
              <a:rPr dirty="0" sz="4400" spc="-55"/>
              <a:t> </a:t>
            </a:r>
            <a:r>
              <a:rPr dirty="0" sz="4400"/>
              <a:t>Pooling</a:t>
            </a:r>
            <a:r>
              <a:rPr dirty="0" sz="4400" spc="-55"/>
              <a:t> </a:t>
            </a:r>
            <a:r>
              <a:rPr dirty="0" sz="4400" spc="-10"/>
              <a:t>operation</a:t>
            </a:r>
            <a:endParaRPr sz="4400"/>
          </a:p>
        </p:txBody>
      </p:sp>
      <p:pic>
        <p:nvPicPr>
          <p:cNvPr id="3" name="object 3" descr=""/>
          <p:cNvPicPr/>
          <p:nvPr/>
        </p:nvPicPr>
        <p:blipFill>
          <a:blip r:embed="rId2" cstate="print"/>
          <a:stretch>
            <a:fillRect/>
          </a:stretch>
        </p:blipFill>
        <p:spPr>
          <a:xfrm>
            <a:off x="1982613" y="2709684"/>
            <a:ext cx="5836484" cy="4148315"/>
          </a:xfrm>
          <a:prstGeom prst="rect">
            <a:avLst/>
          </a:prstGeom>
        </p:spPr>
      </p:pic>
      <p:sp>
        <p:nvSpPr>
          <p:cNvPr id="4" name="object 4" descr=""/>
          <p:cNvSpPr txBox="1"/>
          <p:nvPr/>
        </p:nvSpPr>
        <p:spPr>
          <a:xfrm>
            <a:off x="307340" y="1209959"/>
            <a:ext cx="8196580" cy="1854200"/>
          </a:xfrm>
          <a:prstGeom prst="rect">
            <a:avLst/>
          </a:prstGeom>
        </p:spPr>
        <p:txBody>
          <a:bodyPr wrap="square" lIns="0" tIns="12700" rIns="0" bIns="0" rtlCol="0" vert="horz">
            <a:spAutoFit/>
          </a:bodyPr>
          <a:lstStyle/>
          <a:p>
            <a:pPr marL="12700">
              <a:lnSpc>
                <a:spcPct val="100000"/>
              </a:lnSpc>
              <a:spcBef>
                <a:spcPts val="100"/>
              </a:spcBef>
            </a:pPr>
            <a:r>
              <a:rPr dirty="0" sz="2400" b="1">
                <a:latin typeface="Calibri"/>
                <a:cs typeface="Calibri"/>
              </a:rPr>
              <a:t>Subsampling</a:t>
            </a:r>
            <a:r>
              <a:rPr dirty="0" sz="2400" spc="-70" b="1">
                <a:latin typeface="Calibri"/>
                <a:cs typeface="Calibri"/>
              </a:rPr>
              <a:t> </a:t>
            </a:r>
            <a:r>
              <a:rPr dirty="0" sz="2400" b="1">
                <a:latin typeface="Calibri"/>
                <a:cs typeface="Calibri"/>
              </a:rPr>
              <a:t>(pooling)</a:t>
            </a:r>
            <a:r>
              <a:rPr dirty="0" sz="2400" spc="-70" b="1">
                <a:latin typeface="Calibri"/>
                <a:cs typeface="Calibri"/>
              </a:rPr>
              <a:t> </a:t>
            </a:r>
            <a:r>
              <a:rPr dirty="0" sz="2400" spc="-10" b="1">
                <a:latin typeface="Calibri"/>
                <a:cs typeface="Calibri"/>
              </a:rPr>
              <a:t>Mechanism</a:t>
            </a:r>
            <a:endParaRPr sz="2400">
              <a:latin typeface="Calibri"/>
              <a:cs typeface="Calibri"/>
            </a:endParaRPr>
          </a:p>
          <a:p>
            <a:pPr marL="354965" indent="-342265">
              <a:lnSpc>
                <a:spcPct val="100000"/>
              </a:lnSpc>
              <a:buFont typeface="Wingdings"/>
              <a:buChar char=""/>
              <a:tabLst>
                <a:tab pos="354965" algn="l"/>
              </a:tabLst>
            </a:pPr>
            <a:r>
              <a:rPr dirty="0" sz="2400">
                <a:latin typeface="Calibri"/>
                <a:cs typeface="Calibri"/>
              </a:rPr>
              <a:t>The</a:t>
            </a:r>
            <a:r>
              <a:rPr dirty="0" sz="2400" spc="-40">
                <a:latin typeface="Calibri"/>
                <a:cs typeface="Calibri"/>
              </a:rPr>
              <a:t> </a:t>
            </a:r>
            <a:r>
              <a:rPr dirty="0" sz="2400">
                <a:latin typeface="Calibri"/>
                <a:cs typeface="Calibri"/>
              </a:rPr>
              <a:t>exact</a:t>
            </a:r>
            <a:r>
              <a:rPr dirty="0" sz="2400" spc="-80">
                <a:latin typeface="Calibri"/>
                <a:cs typeface="Calibri"/>
              </a:rPr>
              <a:t> </a:t>
            </a:r>
            <a:r>
              <a:rPr dirty="0" sz="2400">
                <a:latin typeface="Calibri"/>
                <a:cs typeface="Calibri"/>
              </a:rPr>
              <a:t>positions</a:t>
            </a:r>
            <a:r>
              <a:rPr dirty="0" sz="2400" spc="-45">
                <a:latin typeface="Calibri"/>
                <a:cs typeface="Calibri"/>
              </a:rPr>
              <a:t> </a:t>
            </a:r>
            <a:r>
              <a:rPr dirty="0" sz="2400">
                <a:latin typeface="Calibri"/>
                <a:cs typeface="Calibri"/>
              </a:rPr>
              <a:t>of</a:t>
            </a:r>
            <a:r>
              <a:rPr dirty="0" sz="2400" spc="-55">
                <a:latin typeface="Calibri"/>
                <a:cs typeface="Calibri"/>
              </a:rPr>
              <a:t> </a:t>
            </a:r>
            <a:r>
              <a:rPr dirty="0" sz="2400">
                <a:latin typeface="Calibri"/>
                <a:cs typeface="Calibri"/>
              </a:rPr>
              <a:t>the</a:t>
            </a:r>
            <a:r>
              <a:rPr dirty="0" sz="2400" spc="-50">
                <a:latin typeface="Calibri"/>
                <a:cs typeface="Calibri"/>
              </a:rPr>
              <a:t> </a:t>
            </a:r>
            <a:r>
              <a:rPr dirty="0" sz="2400" spc="-10">
                <a:latin typeface="Calibri"/>
                <a:cs typeface="Calibri"/>
              </a:rPr>
              <a:t>extracted</a:t>
            </a:r>
            <a:r>
              <a:rPr dirty="0" sz="2400" spc="-90">
                <a:latin typeface="Calibri"/>
                <a:cs typeface="Calibri"/>
              </a:rPr>
              <a:t> </a:t>
            </a:r>
            <a:r>
              <a:rPr dirty="0" sz="2400" spc="-10">
                <a:latin typeface="Calibri"/>
                <a:cs typeface="Calibri"/>
              </a:rPr>
              <a:t>features</a:t>
            </a:r>
            <a:r>
              <a:rPr dirty="0" sz="2400" spc="-60">
                <a:latin typeface="Calibri"/>
                <a:cs typeface="Calibri"/>
              </a:rPr>
              <a:t> </a:t>
            </a:r>
            <a:r>
              <a:rPr dirty="0" sz="2400">
                <a:latin typeface="Calibri"/>
                <a:cs typeface="Calibri"/>
              </a:rPr>
              <a:t>are</a:t>
            </a:r>
            <a:r>
              <a:rPr dirty="0" sz="2400" spc="-50">
                <a:latin typeface="Calibri"/>
                <a:cs typeface="Calibri"/>
              </a:rPr>
              <a:t> </a:t>
            </a:r>
            <a:r>
              <a:rPr dirty="0" sz="2400">
                <a:latin typeface="Calibri"/>
                <a:cs typeface="Calibri"/>
              </a:rPr>
              <a:t>not</a:t>
            </a:r>
            <a:r>
              <a:rPr dirty="0" sz="2400" spc="-55">
                <a:latin typeface="Calibri"/>
                <a:cs typeface="Calibri"/>
              </a:rPr>
              <a:t> </a:t>
            </a:r>
            <a:r>
              <a:rPr dirty="0" sz="2400" spc="-10">
                <a:latin typeface="Calibri"/>
                <a:cs typeface="Calibri"/>
              </a:rPr>
              <a:t>important</a:t>
            </a:r>
            <a:endParaRPr sz="2400">
              <a:latin typeface="Calibri"/>
              <a:cs typeface="Calibri"/>
            </a:endParaRPr>
          </a:p>
          <a:p>
            <a:pPr marL="354965" indent="-342265">
              <a:lnSpc>
                <a:spcPct val="100000"/>
              </a:lnSpc>
              <a:buFont typeface="Wingdings"/>
              <a:buChar char=""/>
              <a:tabLst>
                <a:tab pos="354965" algn="l"/>
              </a:tabLst>
            </a:pPr>
            <a:r>
              <a:rPr dirty="0" sz="2400">
                <a:latin typeface="Calibri"/>
                <a:cs typeface="Calibri"/>
              </a:rPr>
              <a:t>Only</a:t>
            </a:r>
            <a:r>
              <a:rPr dirty="0" sz="2400" spc="-50">
                <a:latin typeface="Calibri"/>
                <a:cs typeface="Calibri"/>
              </a:rPr>
              <a:t> </a:t>
            </a:r>
            <a:r>
              <a:rPr dirty="0" sz="2400" spc="-10">
                <a:latin typeface="Calibri"/>
                <a:cs typeface="Calibri"/>
              </a:rPr>
              <a:t>relative</a:t>
            </a:r>
            <a:r>
              <a:rPr dirty="0" sz="2400" spc="-45">
                <a:latin typeface="Calibri"/>
                <a:cs typeface="Calibri"/>
              </a:rPr>
              <a:t> </a:t>
            </a:r>
            <a:r>
              <a:rPr dirty="0" sz="2400">
                <a:latin typeface="Calibri"/>
                <a:cs typeface="Calibri"/>
              </a:rPr>
              <a:t>position</a:t>
            </a:r>
            <a:r>
              <a:rPr dirty="0" sz="2400" spc="-50">
                <a:latin typeface="Calibri"/>
                <a:cs typeface="Calibri"/>
              </a:rPr>
              <a:t> </a:t>
            </a:r>
            <a:r>
              <a:rPr dirty="0" sz="2400">
                <a:latin typeface="Calibri"/>
                <a:cs typeface="Calibri"/>
              </a:rPr>
              <a:t>of</a:t>
            </a:r>
            <a:r>
              <a:rPr dirty="0" sz="2400" spc="-50">
                <a:latin typeface="Calibri"/>
                <a:cs typeface="Calibri"/>
              </a:rPr>
              <a:t> </a:t>
            </a:r>
            <a:r>
              <a:rPr dirty="0" sz="2400">
                <a:latin typeface="Calibri"/>
                <a:cs typeface="Calibri"/>
              </a:rPr>
              <a:t>a</a:t>
            </a:r>
            <a:r>
              <a:rPr dirty="0" sz="2400" spc="-50">
                <a:latin typeface="Calibri"/>
                <a:cs typeface="Calibri"/>
              </a:rPr>
              <a:t> </a:t>
            </a:r>
            <a:r>
              <a:rPr dirty="0" sz="2400" spc="-10">
                <a:latin typeface="Calibri"/>
                <a:cs typeface="Calibri"/>
              </a:rPr>
              <a:t>feature</a:t>
            </a:r>
            <a:r>
              <a:rPr dirty="0" sz="2400" spc="-50">
                <a:latin typeface="Calibri"/>
                <a:cs typeface="Calibri"/>
              </a:rPr>
              <a:t> </a:t>
            </a:r>
            <a:r>
              <a:rPr dirty="0" sz="2400">
                <a:latin typeface="Calibri"/>
                <a:cs typeface="Calibri"/>
              </a:rPr>
              <a:t>to</a:t>
            </a:r>
            <a:r>
              <a:rPr dirty="0" sz="2400" spc="-55">
                <a:latin typeface="Calibri"/>
                <a:cs typeface="Calibri"/>
              </a:rPr>
              <a:t> </a:t>
            </a:r>
            <a:r>
              <a:rPr dirty="0" sz="2400">
                <a:latin typeface="Calibri"/>
                <a:cs typeface="Calibri"/>
              </a:rPr>
              <a:t>another</a:t>
            </a:r>
            <a:r>
              <a:rPr dirty="0" sz="2400" spc="-45">
                <a:latin typeface="Calibri"/>
                <a:cs typeface="Calibri"/>
              </a:rPr>
              <a:t> </a:t>
            </a:r>
            <a:r>
              <a:rPr dirty="0" sz="2400" spc="-10">
                <a:latin typeface="Calibri"/>
                <a:cs typeface="Calibri"/>
              </a:rPr>
              <a:t>feature</a:t>
            </a:r>
            <a:r>
              <a:rPr dirty="0" sz="2400" spc="-45">
                <a:latin typeface="Calibri"/>
                <a:cs typeface="Calibri"/>
              </a:rPr>
              <a:t> </a:t>
            </a:r>
            <a:r>
              <a:rPr dirty="0" sz="2400">
                <a:latin typeface="Calibri"/>
                <a:cs typeface="Calibri"/>
              </a:rPr>
              <a:t>is</a:t>
            </a:r>
            <a:r>
              <a:rPr dirty="0" sz="2400" spc="-55">
                <a:latin typeface="Calibri"/>
                <a:cs typeface="Calibri"/>
              </a:rPr>
              <a:t> </a:t>
            </a:r>
            <a:r>
              <a:rPr dirty="0" sz="2400" spc="-10">
                <a:latin typeface="Calibri"/>
                <a:cs typeface="Calibri"/>
              </a:rPr>
              <a:t>relevant</a:t>
            </a:r>
            <a:endParaRPr sz="2400">
              <a:latin typeface="Calibri"/>
              <a:cs typeface="Calibri"/>
            </a:endParaRPr>
          </a:p>
          <a:p>
            <a:pPr marL="355600" marR="730250" indent="-342900">
              <a:lnSpc>
                <a:spcPct val="100000"/>
              </a:lnSpc>
              <a:buFont typeface="Wingdings"/>
              <a:buChar char=""/>
              <a:tabLst>
                <a:tab pos="355600" algn="l"/>
              </a:tabLst>
            </a:pPr>
            <a:r>
              <a:rPr dirty="0" sz="2400">
                <a:latin typeface="Calibri"/>
                <a:cs typeface="Calibri"/>
              </a:rPr>
              <a:t>Reduce</a:t>
            </a:r>
            <a:r>
              <a:rPr dirty="0" sz="2400" spc="-85">
                <a:latin typeface="Calibri"/>
                <a:cs typeface="Calibri"/>
              </a:rPr>
              <a:t> </a:t>
            </a:r>
            <a:r>
              <a:rPr dirty="0" sz="2400">
                <a:latin typeface="Calibri"/>
                <a:cs typeface="Calibri"/>
              </a:rPr>
              <a:t>spatial</a:t>
            </a:r>
            <a:r>
              <a:rPr dirty="0" sz="2400" spc="-65">
                <a:latin typeface="Calibri"/>
                <a:cs typeface="Calibri"/>
              </a:rPr>
              <a:t> </a:t>
            </a:r>
            <a:r>
              <a:rPr dirty="0" sz="2400">
                <a:latin typeface="Calibri"/>
                <a:cs typeface="Calibri"/>
              </a:rPr>
              <a:t>resolution</a:t>
            </a:r>
            <a:r>
              <a:rPr dirty="0" sz="2400" spc="-70">
                <a:latin typeface="Calibri"/>
                <a:cs typeface="Calibri"/>
              </a:rPr>
              <a:t> </a:t>
            </a:r>
            <a:r>
              <a:rPr dirty="0" sz="2400">
                <a:latin typeface="Calibri"/>
                <a:cs typeface="Calibri"/>
              </a:rPr>
              <a:t>–</a:t>
            </a:r>
            <a:r>
              <a:rPr dirty="0" sz="2400" spc="-60">
                <a:latin typeface="Calibri"/>
                <a:cs typeface="Calibri"/>
              </a:rPr>
              <a:t> </a:t>
            </a:r>
            <a:r>
              <a:rPr dirty="0" sz="2400">
                <a:latin typeface="Calibri"/>
                <a:cs typeface="Calibri"/>
              </a:rPr>
              <a:t>Reduce</a:t>
            </a:r>
            <a:r>
              <a:rPr dirty="0" sz="2400" spc="-85">
                <a:latin typeface="Calibri"/>
                <a:cs typeface="Calibri"/>
              </a:rPr>
              <a:t> </a:t>
            </a:r>
            <a:r>
              <a:rPr dirty="0" sz="2400">
                <a:latin typeface="Calibri"/>
                <a:cs typeface="Calibri"/>
              </a:rPr>
              <a:t>sensitivity</a:t>
            </a:r>
            <a:r>
              <a:rPr dirty="0" sz="2400" spc="-70">
                <a:latin typeface="Calibri"/>
                <a:cs typeface="Calibri"/>
              </a:rPr>
              <a:t> </a:t>
            </a:r>
            <a:r>
              <a:rPr dirty="0" sz="2400">
                <a:latin typeface="Calibri"/>
                <a:cs typeface="Calibri"/>
              </a:rPr>
              <a:t>to</a:t>
            </a:r>
            <a:r>
              <a:rPr dirty="0" sz="2400" spc="-70">
                <a:latin typeface="Calibri"/>
                <a:cs typeface="Calibri"/>
              </a:rPr>
              <a:t> </a:t>
            </a:r>
            <a:r>
              <a:rPr dirty="0" sz="2400">
                <a:latin typeface="Calibri"/>
                <a:cs typeface="Calibri"/>
              </a:rPr>
              <a:t>shift</a:t>
            </a:r>
            <a:r>
              <a:rPr dirty="0" sz="2400" spc="-65">
                <a:latin typeface="Calibri"/>
                <a:cs typeface="Calibri"/>
              </a:rPr>
              <a:t> </a:t>
            </a:r>
            <a:r>
              <a:rPr dirty="0" sz="2400" spc="-25">
                <a:latin typeface="Calibri"/>
                <a:cs typeface="Calibri"/>
              </a:rPr>
              <a:t>and </a:t>
            </a:r>
            <a:r>
              <a:rPr dirty="0" sz="2400" spc="-10">
                <a:latin typeface="Calibri"/>
                <a:cs typeface="Calibri"/>
              </a:rPr>
              <a:t>distortion</a:t>
            </a:r>
            <a:endParaRPr sz="2400">
              <a:latin typeface="Calibri"/>
              <a:cs typeface="Calibri"/>
            </a:endParaRP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32</a:t>
            </a:r>
          </a:p>
        </p:txBody>
      </p:sp>
      <p:sp>
        <p:nvSpPr>
          <p:cNvPr id="5" name="object 5" descr=""/>
          <p:cNvSpPr txBox="1"/>
          <p:nvPr/>
        </p:nvSpPr>
        <p:spPr>
          <a:xfrm>
            <a:off x="207382" y="3128926"/>
            <a:ext cx="2552065" cy="646430"/>
          </a:xfrm>
          <a:prstGeom prst="rect">
            <a:avLst/>
          </a:prstGeom>
        </p:spPr>
        <p:txBody>
          <a:bodyPr wrap="square" lIns="0" tIns="37465" rIns="0" bIns="0" rtlCol="0" vert="horz">
            <a:spAutoFit/>
          </a:bodyPr>
          <a:lstStyle/>
          <a:p>
            <a:pPr marL="12700">
              <a:lnSpc>
                <a:spcPct val="100000"/>
              </a:lnSpc>
              <a:spcBef>
                <a:spcPts val="295"/>
              </a:spcBef>
            </a:pPr>
            <a:r>
              <a:rPr dirty="0" sz="850">
                <a:latin typeface="Microsoft YaHei UI"/>
                <a:cs typeface="Microsoft YaHei UI"/>
              </a:rPr>
              <a:t>它体现了CNN</a:t>
            </a:r>
            <a:r>
              <a:rPr dirty="0" sz="850" spc="-5">
                <a:latin typeface="Microsoft YaHei UI"/>
                <a:cs typeface="Microsoft YaHei UI"/>
              </a:rPr>
              <a:t>的⼀个核⼼设计哲学：在物体识别</a:t>
            </a:r>
            <a:endParaRPr sz="850">
              <a:latin typeface="Microsoft YaHei UI"/>
              <a:cs typeface="Microsoft YaHei UI"/>
            </a:endParaRPr>
          </a:p>
          <a:p>
            <a:pPr marL="12700" marR="5080">
              <a:lnSpc>
                <a:spcPct val="119800"/>
              </a:lnSpc>
            </a:pPr>
            <a:r>
              <a:rPr dirty="0" sz="850" spc="10">
                <a:latin typeface="Microsoft YaHei UI"/>
                <a:cs typeface="Microsoft YaHei UI"/>
              </a:rPr>
              <a:t>中，“提取出的特征的精确位置并不重要 </a:t>
            </a:r>
            <a:r>
              <a:rPr dirty="0" sz="850">
                <a:latin typeface="Microsoft YaHei UI"/>
                <a:cs typeface="Microsoft YaHei UI"/>
              </a:rPr>
              <a:t>(The</a:t>
            </a:r>
            <a:r>
              <a:rPr dirty="0" sz="850" spc="254">
                <a:latin typeface="Microsoft YaHei UI"/>
                <a:cs typeface="Microsoft YaHei UI"/>
              </a:rPr>
              <a:t> </a:t>
            </a:r>
            <a:r>
              <a:rPr dirty="0" sz="850" spc="-10">
                <a:latin typeface="Microsoft YaHei UI"/>
                <a:cs typeface="Microsoft YaHei UI"/>
              </a:rPr>
              <a:t>exact </a:t>
            </a:r>
            <a:r>
              <a:rPr dirty="0" sz="850">
                <a:latin typeface="Microsoft YaHei UI"/>
                <a:cs typeface="Microsoft YaHei UI"/>
              </a:rPr>
              <a:t>positions</a:t>
            </a:r>
            <a:r>
              <a:rPr dirty="0" sz="850" spc="30">
                <a:latin typeface="Microsoft YaHei UI"/>
                <a:cs typeface="Microsoft YaHei UI"/>
              </a:rPr>
              <a:t> </a:t>
            </a:r>
            <a:r>
              <a:rPr dirty="0" sz="850">
                <a:latin typeface="Microsoft YaHei UI"/>
                <a:cs typeface="Microsoft YaHei UI"/>
              </a:rPr>
              <a:t>of</a:t>
            </a:r>
            <a:r>
              <a:rPr dirty="0" sz="850" spc="30">
                <a:latin typeface="Microsoft YaHei UI"/>
                <a:cs typeface="Microsoft YaHei UI"/>
              </a:rPr>
              <a:t> </a:t>
            </a:r>
            <a:r>
              <a:rPr dirty="0" sz="850">
                <a:latin typeface="Microsoft YaHei UI"/>
                <a:cs typeface="Microsoft YaHei UI"/>
              </a:rPr>
              <a:t>the</a:t>
            </a:r>
            <a:r>
              <a:rPr dirty="0" sz="850" spc="30">
                <a:latin typeface="Microsoft YaHei UI"/>
                <a:cs typeface="Microsoft YaHei UI"/>
              </a:rPr>
              <a:t> </a:t>
            </a:r>
            <a:r>
              <a:rPr dirty="0" sz="850">
                <a:latin typeface="Microsoft YaHei UI"/>
                <a:cs typeface="Microsoft YaHei UI"/>
              </a:rPr>
              <a:t>extracted</a:t>
            </a:r>
            <a:r>
              <a:rPr dirty="0" sz="850" spc="30">
                <a:latin typeface="Microsoft YaHei UI"/>
                <a:cs typeface="Microsoft YaHei UI"/>
              </a:rPr>
              <a:t> </a:t>
            </a:r>
            <a:r>
              <a:rPr dirty="0" sz="850">
                <a:latin typeface="Microsoft YaHei UI"/>
                <a:cs typeface="Microsoft YaHei UI"/>
              </a:rPr>
              <a:t>features</a:t>
            </a:r>
            <a:r>
              <a:rPr dirty="0" sz="850" spc="30">
                <a:latin typeface="Microsoft YaHei UI"/>
                <a:cs typeface="Microsoft YaHei UI"/>
              </a:rPr>
              <a:t> </a:t>
            </a:r>
            <a:r>
              <a:rPr dirty="0" sz="850">
                <a:latin typeface="Microsoft YaHei UI"/>
                <a:cs typeface="Microsoft YaHei UI"/>
              </a:rPr>
              <a:t>are</a:t>
            </a:r>
            <a:r>
              <a:rPr dirty="0" sz="850" spc="30">
                <a:latin typeface="Microsoft YaHei UI"/>
                <a:cs typeface="Microsoft YaHei UI"/>
              </a:rPr>
              <a:t> </a:t>
            </a:r>
            <a:r>
              <a:rPr dirty="0" sz="850" spc="-25">
                <a:latin typeface="Microsoft YaHei UI"/>
                <a:cs typeface="Microsoft YaHei UI"/>
              </a:rPr>
              <a:t>not </a:t>
            </a:r>
            <a:r>
              <a:rPr dirty="0" sz="850">
                <a:latin typeface="Microsoft YaHei UI"/>
                <a:cs typeface="Microsoft YaHei UI"/>
              </a:rPr>
              <a:t>important)”</a:t>
            </a:r>
            <a:r>
              <a:rPr dirty="0" sz="850" spc="-50">
                <a:latin typeface="Microsoft YaHei UI"/>
                <a:cs typeface="Microsoft YaHei UI"/>
              </a:rPr>
              <a:t>。</a:t>
            </a:r>
            <a:endParaRPr sz="850">
              <a:latin typeface="Microsoft YaHei UI"/>
              <a:cs typeface="Microsoft YaHei UI"/>
            </a:endParaRPr>
          </a:p>
        </p:txBody>
      </p:sp>
      <p:sp>
        <p:nvSpPr>
          <p:cNvPr id="6" name="object 6" descr=""/>
          <p:cNvSpPr txBox="1"/>
          <p:nvPr/>
        </p:nvSpPr>
        <p:spPr>
          <a:xfrm>
            <a:off x="219640" y="3856006"/>
            <a:ext cx="1814195" cy="1266825"/>
          </a:xfrm>
          <a:prstGeom prst="rect">
            <a:avLst/>
          </a:prstGeom>
        </p:spPr>
        <p:txBody>
          <a:bodyPr wrap="square" lIns="0" tIns="12065" rIns="0" bIns="0" rtlCol="0" vert="horz">
            <a:spAutoFit/>
          </a:bodyPr>
          <a:lstStyle/>
          <a:p>
            <a:pPr marL="12700" marR="5080">
              <a:lnSpc>
                <a:spcPct val="119800"/>
              </a:lnSpc>
              <a:spcBef>
                <a:spcPts val="95"/>
              </a:spcBef>
            </a:pPr>
            <a:r>
              <a:rPr dirty="0" sz="850" spc="-5">
                <a:latin typeface="Microsoft YaHei UI"/>
                <a:cs typeface="Microsoft YaHei UI"/>
              </a:rPr>
              <a:t>它关注的是相对关系: 更重要的是“⼀个特征相对于另⼀个特征的相对位置</a:t>
            </a:r>
            <a:r>
              <a:rPr dirty="0" sz="850" spc="-10">
                <a:latin typeface="Microsoft YaHei UI"/>
                <a:cs typeface="Microsoft YaHei UI"/>
              </a:rPr>
              <a:t> (Only</a:t>
            </a:r>
            <a:r>
              <a:rPr dirty="0" sz="850" spc="5">
                <a:latin typeface="Microsoft YaHei UI"/>
                <a:cs typeface="Microsoft YaHei UI"/>
              </a:rPr>
              <a:t> </a:t>
            </a:r>
            <a:r>
              <a:rPr dirty="0" sz="850">
                <a:latin typeface="Microsoft YaHei UI"/>
                <a:cs typeface="Microsoft YaHei UI"/>
              </a:rPr>
              <a:t>relative</a:t>
            </a:r>
            <a:r>
              <a:rPr dirty="0" sz="850" spc="10">
                <a:latin typeface="Microsoft YaHei UI"/>
                <a:cs typeface="Microsoft YaHei UI"/>
              </a:rPr>
              <a:t> </a:t>
            </a:r>
            <a:r>
              <a:rPr dirty="0" sz="850" spc="-10">
                <a:latin typeface="Microsoft YaHei UI"/>
                <a:cs typeface="Microsoft YaHei UI"/>
              </a:rPr>
              <a:t>position</a:t>
            </a:r>
            <a:r>
              <a:rPr dirty="0" sz="850" spc="5">
                <a:latin typeface="Microsoft YaHei UI"/>
                <a:cs typeface="Microsoft YaHei UI"/>
              </a:rPr>
              <a:t> </a:t>
            </a:r>
            <a:r>
              <a:rPr dirty="0" sz="850">
                <a:latin typeface="Microsoft YaHei UI"/>
                <a:cs typeface="Microsoft YaHei UI"/>
              </a:rPr>
              <a:t>of</a:t>
            </a:r>
            <a:r>
              <a:rPr dirty="0" sz="850" spc="10">
                <a:latin typeface="Microsoft YaHei UI"/>
                <a:cs typeface="Microsoft YaHei UI"/>
              </a:rPr>
              <a:t> </a:t>
            </a:r>
            <a:r>
              <a:rPr dirty="0" sz="850">
                <a:latin typeface="Microsoft YaHei UI"/>
                <a:cs typeface="Microsoft YaHei UI"/>
              </a:rPr>
              <a:t>a</a:t>
            </a:r>
            <a:r>
              <a:rPr dirty="0" sz="850" spc="5">
                <a:latin typeface="Microsoft YaHei UI"/>
                <a:cs typeface="Microsoft YaHei UI"/>
              </a:rPr>
              <a:t> </a:t>
            </a:r>
            <a:r>
              <a:rPr dirty="0" sz="850" spc="-10">
                <a:latin typeface="Microsoft YaHei UI"/>
                <a:cs typeface="Microsoft YaHei UI"/>
              </a:rPr>
              <a:t>feature </a:t>
            </a:r>
            <a:r>
              <a:rPr dirty="0" sz="850">
                <a:latin typeface="Microsoft YaHei UI"/>
                <a:cs typeface="Microsoft YaHei UI"/>
              </a:rPr>
              <a:t>to</a:t>
            </a:r>
            <a:r>
              <a:rPr dirty="0" sz="850" spc="25">
                <a:latin typeface="Microsoft YaHei UI"/>
                <a:cs typeface="Microsoft YaHei UI"/>
              </a:rPr>
              <a:t> </a:t>
            </a:r>
            <a:r>
              <a:rPr dirty="0" sz="850" spc="-10">
                <a:latin typeface="Microsoft YaHei UI"/>
                <a:cs typeface="Microsoft YaHei UI"/>
              </a:rPr>
              <a:t>another</a:t>
            </a:r>
            <a:r>
              <a:rPr dirty="0" sz="850" spc="25">
                <a:latin typeface="Microsoft YaHei UI"/>
                <a:cs typeface="Microsoft YaHei UI"/>
              </a:rPr>
              <a:t> </a:t>
            </a:r>
            <a:r>
              <a:rPr dirty="0" sz="850">
                <a:latin typeface="Microsoft YaHei UI"/>
                <a:cs typeface="Microsoft YaHei UI"/>
              </a:rPr>
              <a:t>feature</a:t>
            </a:r>
            <a:r>
              <a:rPr dirty="0" sz="850" spc="25">
                <a:latin typeface="Microsoft YaHei UI"/>
                <a:cs typeface="Microsoft YaHei UI"/>
              </a:rPr>
              <a:t> </a:t>
            </a:r>
            <a:r>
              <a:rPr dirty="0" sz="850">
                <a:latin typeface="Microsoft YaHei UI"/>
                <a:cs typeface="Microsoft YaHei UI"/>
              </a:rPr>
              <a:t>is</a:t>
            </a:r>
            <a:r>
              <a:rPr dirty="0" sz="850" spc="25">
                <a:latin typeface="Microsoft YaHei UI"/>
                <a:cs typeface="Microsoft YaHei UI"/>
              </a:rPr>
              <a:t> </a:t>
            </a:r>
            <a:r>
              <a:rPr dirty="0" sz="850">
                <a:latin typeface="Microsoft YaHei UI"/>
                <a:cs typeface="Microsoft YaHei UI"/>
              </a:rPr>
              <a:t>relevant)”</a:t>
            </a:r>
            <a:r>
              <a:rPr dirty="0" sz="850" spc="-50">
                <a:latin typeface="Microsoft YaHei UI"/>
                <a:cs typeface="Microsoft YaHei UI"/>
              </a:rPr>
              <a:t>。</a:t>
            </a:r>
            <a:r>
              <a:rPr dirty="0" sz="850">
                <a:latin typeface="Microsoft YaHei UI"/>
                <a:cs typeface="Microsoft YaHei UI"/>
              </a:rPr>
              <a:t>例如，对于字⺟"A"，</a:t>
            </a:r>
            <a:r>
              <a:rPr dirty="0" sz="850" spc="-10">
                <a:latin typeface="Microsoft YaHei UI"/>
                <a:cs typeface="Microsoft YaHei UI"/>
              </a:rPr>
              <a:t>重要的是“顶部</a:t>
            </a:r>
            <a:r>
              <a:rPr dirty="0" sz="850" spc="-5">
                <a:latin typeface="Microsoft YaHei UI"/>
                <a:cs typeface="Microsoft YaHei UI"/>
              </a:rPr>
              <a:t>交叉点”特征在两个“斜线”特征的上</a:t>
            </a:r>
            <a:endParaRPr sz="850">
              <a:latin typeface="Microsoft YaHei UI"/>
              <a:cs typeface="Microsoft YaHei UI"/>
            </a:endParaRPr>
          </a:p>
          <a:p>
            <a:pPr marL="12700" marR="19685">
              <a:lnSpc>
                <a:spcPct val="119800"/>
              </a:lnSpc>
            </a:pPr>
            <a:r>
              <a:rPr dirty="0" sz="850" spc="-5">
                <a:latin typeface="Microsoft YaHei UI"/>
                <a:cs typeface="Microsoft YaHei UI"/>
              </a:rPr>
              <a:t>⽅，⽽不是它们各⾃在图⽚中的像素</a:t>
            </a:r>
            <a:r>
              <a:rPr dirty="0" sz="850" spc="-20">
                <a:latin typeface="Microsoft YaHei UI"/>
                <a:cs typeface="Microsoft YaHei UI"/>
              </a:rPr>
              <a:t>坐标。</a:t>
            </a:r>
            <a:endParaRPr sz="850">
              <a:latin typeface="Microsoft YaHei UI"/>
              <a:cs typeface="Microsoft YaHei UI"/>
            </a:endParaRPr>
          </a:p>
        </p:txBody>
      </p:sp>
      <p:sp>
        <p:nvSpPr>
          <p:cNvPr id="7" name="object 7" descr=""/>
          <p:cNvSpPr txBox="1"/>
          <p:nvPr/>
        </p:nvSpPr>
        <p:spPr>
          <a:xfrm>
            <a:off x="6663769" y="4995057"/>
            <a:ext cx="2257425" cy="801370"/>
          </a:xfrm>
          <a:prstGeom prst="rect">
            <a:avLst/>
          </a:prstGeom>
        </p:spPr>
        <p:txBody>
          <a:bodyPr wrap="square" lIns="0" tIns="12065" rIns="0" bIns="0" rtlCol="0" vert="horz">
            <a:spAutoFit/>
          </a:bodyPr>
          <a:lstStyle/>
          <a:p>
            <a:pPr marL="12700" marR="5080">
              <a:lnSpc>
                <a:spcPct val="119800"/>
              </a:lnSpc>
              <a:spcBef>
                <a:spcPts val="95"/>
              </a:spcBef>
            </a:pPr>
            <a:r>
              <a:rPr dirty="0" sz="850">
                <a:latin typeface="Microsoft YaHei UI"/>
                <a:cs typeface="Microsoft YaHei UI"/>
              </a:rPr>
              <a:t>它通过降低空间分辨率来实现鲁棒性: 通过“降</a:t>
            </a:r>
            <a:r>
              <a:rPr dirty="0" sz="850" spc="10">
                <a:latin typeface="Microsoft YaHei UI"/>
                <a:cs typeface="Microsoft YaHei UI"/>
              </a:rPr>
              <a:t>低空间分辨率 </a:t>
            </a:r>
            <a:r>
              <a:rPr dirty="0" sz="850">
                <a:latin typeface="Microsoft YaHei UI"/>
                <a:cs typeface="Microsoft YaHei UI"/>
              </a:rPr>
              <a:t>(Reduce</a:t>
            </a:r>
            <a:r>
              <a:rPr dirty="0" sz="850" spc="85">
                <a:latin typeface="Microsoft YaHei UI"/>
                <a:cs typeface="Microsoft YaHei UI"/>
              </a:rPr>
              <a:t> </a:t>
            </a:r>
            <a:r>
              <a:rPr dirty="0" sz="850" spc="-10">
                <a:latin typeface="Microsoft YaHei UI"/>
                <a:cs typeface="Microsoft YaHei UI"/>
              </a:rPr>
              <a:t>spatial</a:t>
            </a:r>
            <a:r>
              <a:rPr dirty="0" sz="850" spc="500">
                <a:latin typeface="Microsoft YaHei UI"/>
                <a:cs typeface="Microsoft YaHei UI"/>
              </a:rPr>
              <a:t> </a:t>
            </a:r>
            <a:r>
              <a:rPr dirty="0" sz="850">
                <a:latin typeface="Microsoft YaHei UI"/>
                <a:cs typeface="Microsoft YaHei UI"/>
              </a:rPr>
              <a:t>resolution)”，</a:t>
            </a:r>
            <a:r>
              <a:rPr dirty="0" sz="850" spc="-5">
                <a:latin typeface="Microsoft YaHei UI"/>
                <a:cs typeface="Microsoft YaHei UI"/>
              </a:rPr>
              <a:t>⽹络可以“减少对位移和扭曲的</a:t>
            </a:r>
            <a:r>
              <a:rPr dirty="0" sz="850" spc="10">
                <a:latin typeface="Microsoft YaHei UI"/>
                <a:cs typeface="Microsoft YaHei UI"/>
              </a:rPr>
              <a:t>敏感度 </a:t>
            </a:r>
            <a:r>
              <a:rPr dirty="0" sz="850">
                <a:latin typeface="Microsoft YaHei UI"/>
                <a:cs typeface="Microsoft YaHei UI"/>
              </a:rPr>
              <a:t>(Reduce</a:t>
            </a:r>
            <a:r>
              <a:rPr dirty="0" sz="850" spc="40">
                <a:latin typeface="Microsoft YaHei UI"/>
                <a:cs typeface="Microsoft YaHei UI"/>
              </a:rPr>
              <a:t> </a:t>
            </a:r>
            <a:r>
              <a:rPr dirty="0" sz="850">
                <a:latin typeface="Microsoft YaHei UI"/>
                <a:cs typeface="Microsoft YaHei UI"/>
              </a:rPr>
              <a:t>sensitivity</a:t>
            </a:r>
            <a:r>
              <a:rPr dirty="0" sz="850" spc="45">
                <a:latin typeface="Microsoft YaHei UI"/>
                <a:cs typeface="Microsoft YaHei UI"/>
              </a:rPr>
              <a:t> </a:t>
            </a:r>
            <a:r>
              <a:rPr dirty="0" sz="850">
                <a:latin typeface="Microsoft YaHei UI"/>
                <a:cs typeface="Microsoft YaHei UI"/>
              </a:rPr>
              <a:t>to</a:t>
            </a:r>
            <a:r>
              <a:rPr dirty="0" sz="850" spc="40">
                <a:latin typeface="Microsoft YaHei UI"/>
                <a:cs typeface="Microsoft YaHei UI"/>
              </a:rPr>
              <a:t> </a:t>
            </a:r>
            <a:r>
              <a:rPr dirty="0" sz="850">
                <a:latin typeface="Microsoft YaHei UI"/>
                <a:cs typeface="Microsoft YaHei UI"/>
              </a:rPr>
              <a:t>shift</a:t>
            </a:r>
            <a:r>
              <a:rPr dirty="0" sz="850" spc="40">
                <a:latin typeface="Microsoft YaHei UI"/>
                <a:cs typeface="Microsoft YaHei UI"/>
              </a:rPr>
              <a:t> </a:t>
            </a:r>
            <a:r>
              <a:rPr dirty="0" sz="850" spc="-25">
                <a:latin typeface="Microsoft YaHei UI"/>
                <a:cs typeface="Microsoft YaHei UI"/>
              </a:rPr>
              <a:t>and </a:t>
            </a:r>
            <a:r>
              <a:rPr dirty="0" sz="850">
                <a:latin typeface="Microsoft YaHei UI"/>
                <a:cs typeface="Microsoft YaHei UI"/>
              </a:rPr>
              <a:t>distortion)”</a:t>
            </a:r>
            <a:r>
              <a:rPr dirty="0" sz="850" spc="-50">
                <a:latin typeface="Microsoft YaHei UI"/>
                <a:cs typeface="Microsoft YaHei UI"/>
              </a:rPr>
              <a:t>。</a:t>
            </a:r>
            <a:endParaRPr sz="850">
              <a:latin typeface="Microsoft YaHei UI"/>
              <a:cs typeface="Microsoft YaHei U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33</a:t>
            </a:r>
          </a:p>
        </p:txBody>
      </p:sp>
      <p:sp>
        <p:nvSpPr>
          <p:cNvPr id="2" name="object 2"/>
          <p:cNvSpPr txBox="1">
            <a:spLocks noGrp="1"/>
          </p:cNvSpPr>
          <p:nvPr>
            <p:ph type="title"/>
          </p:nvPr>
        </p:nvSpPr>
        <p:spPr>
          <a:xfrm>
            <a:off x="329565" y="409384"/>
            <a:ext cx="5339080" cy="696595"/>
          </a:xfrm>
          <a:prstGeom prst="rect"/>
        </p:spPr>
        <p:txBody>
          <a:bodyPr wrap="square" lIns="0" tIns="13335" rIns="0" bIns="0" rtlCol="0" vert="horz">
            <a:spAutoFit/>
          </a:bodyPr>
          <a:lstStyle/>
          <a:p>
            <a:pPr marL="12700">
              <a:lnSpc>
                <a:spcPct val="100000"/>
              </a:lnSpc>
              <a:spcBef>
                <a:spcPts val="105"/>
              </a:spcBef>
            </a:pPr>
            <a:r>
              <a:rPr dirty="0" sz="4400"/>
              <a:t>In</a:t>
            </a:r>
            <a:r>
              <a:rPr dirty="0" sz="4400" spc="-35"/>
              <a:t> </a:t>
            </a:r>
            <a:r>
              <a:rPr dirty="0" sz="4400"/>
              <a:t>another</a:t>
            </a:r>
            <a:r>
              <a:rPr dirty="0" sz="4400" spc="-55"/>
              <a:t> </a:t>
            </a:r>
            <a:r>
              <a:rPr dirty="0" sz="4400"/>
              <a:t>word</a:t>
            </a:r>
            <a:r>
              <a:rPr dirty="0" sz="4400" spc="-40"/>
              <a:t> </a:t>
            </a:r>
            <a:r>
              <a:rPr dirty="0" sz="4400" spc="-50"/>
              <a:t>…</a:t>
            </a:r>
            <a:endParaRPr sz="4400"/>
          </a:p>
        </p:txBody>
      </p:sp>
      <p:sp>
        <p:nvSpPr>
          <p:cNvPr id="3" name="object 3" descr=""/>
          <p:cNvSpPr txBox="1"/>
          <p:nvPr/>
        </p:nvSpPr>
        <p:spPr>
          <a:xfrm>
            <a:off x="459740" y="1610360"/>
            <a:ext cx="8108315" cy="4788535"/>
          </a:xfrm>
          <a:prstGeom prst="rect">
            <a:avLst/>
          </a:prstGeom>
        </p:spPr>
        <p:txBody>
          <a:bodyPr wrap="square" lIns="0" tIns="12065" rIns="0" bIns="0" rtlCol="0" vert="horz">
            <a:spAutoFit/>
          </a:bodyPr>
          <a:lstStyle/>
          <a:p>
            <a:pPr marL="12700" marR="50800" indent="351790">
              <a:lnSpc>
                <a:spcPct val="100000"/>
              </a:lnSpc>
              <a:spcBef>
                <a:spcPts val="95"/>
              </a:spcBef>
              <a:buAutoNum type="arabicPeriod"/>
              <a:tabLst>
                <a:tab pos="364490" algn="l"/>
              </a:tabLst>
            </a:pPr>
            <a:r>
              <a:rPr dirty="0" sz="2800">
                <a:latin typeface="Calibri"/>
                <a:cs typeface="Calibri"/>
              </a:rPr>
              <a:t>In</a:t>
            </a:r>
            <a:r>
              <a:rPr dirty="0" sz="2800" spc="-60">
                <a:latin typeface="Calibri"/>
                <a:cs typeface="Calibri"/>
              </a:rPr>
              <a:t> </a:t>
            </a:r>
            <a:r>
              <a:rPr dirty="0" sz="2800">
                <a:latin typeface="Calibri"/>
                <a:cs typeface="Calibri"/>
              </a:rPr>
              <a:t>general</a:t>
            </a:r>
            <a:r>
              <a:rPr dirty="0" sz="2800" spc="-75">
                <a:latin typeface="Calibri"/>
                <a:cs typeface="Calibri"/>
              </a:rPr>
              <a:t> </a:t>
            </a:r>
            <a:r>
              <a:rPr dirty="0" sz="2800">
                <a:latin typeface="Calibri"/>
                <a:cs typeface="Calibri"/>
              </a:rPr>
              <a:t>terms,</a:t>
            </a:r>
            <a:r>
              <a:rPr dirty="0" sz="2800" spc="-45">
                <a:latin typeface="Calibri"/>
                <a:cs typeface="Calibri"/>
              </a:rPr>
              <a:t> </a:t>
            </a:r>
            <a:r>
              <a:rPr dirty="0" sz="2800">
                <a:latin typeface="Calibri"/>
                <a:cs typeface="Calibri"/>
              </a:rPr>
              <a:t>the</a:t>
            </a:r>
            <a:r>
              <a:rPr dirty="0" sz="2800" spc="-65">
                <a:latin typeface="Calibri"/>
                <a:cs typeface="Calibri"/>
              </a:rPr>
              <a:t> </a:t>
            </a:r>
            <a:r>
              <a:rPr dirty="0" sz="2800">
                <a:latin typeface="Calibri"/>
                <a:cs typeface="Calibri"/>
              </a:rPr>
              <a:t>objective</a:t>
            </a:r>
            <a:r>
              <a:rPr dirty="0" sz="2800" spc="-50">
                <a:latin typeface="Calibri"/>
                <a:cs typeface="Calibri"/>
              </a:rPr>
              <a:t> </a:t>
            </a:r>
            <a:r>
              <a:rPr dirty="0" sz="2800">
                <a:latin typeface="Calibri"/>
                <a:cs typeface="Calibri"/>
              </a:rPr>
              <a:t>of</a:t>
            </a:r>
            <a:r>
              <a:rPr dirty="0" sz="2800" spc="-65">
                <a:latin typeface="Calibri"/>
                <a:cs typeface="Calibri"/>
              </a:rPr>
              <a:t> </a:t>
            </a:r>
            <a:r>
              <a:rPr dirty="0" sz="2800">
                <a:latin typeface="Calibri"/>
                <a:cs typeface="Calibri"/>
              </a:rPr>
              <a:t>pooling</a:t>
            </a:r>
            <a:r>
              <a:rPr dirty="0" sz="2800" spc="-45">
                <a:latin typeface="Calibri"/>
                <a:cs typeface="Calibri"/>
              </a:rPr>
              <a:t> </a:t>
            </a:r>
            <a:r>
              <a:rPr dirty="0" sz="2800">
                <a:latin typeface="Calibri"/>
                <a:cs typeface="Calibri"/>
              </a:rPr>
              <a:t>is</a:t>
            </a:r>
            <a:r>
              <a:rPr dirty="0" sz="2800" spc="-55">
                <a:latin typeface="Calibri"/>
                <a:cs typeface="Calibri"/>
              </a:rPr>
              <a:t> </a:t>
            </a:r>
            <a:r>
              <a:rPr dirty="0" sz="2800" spc="-25">
                <a:latin typeface="Calibri"/>
                <a:cs typeface="Calibri"/>
              </a:rPr>
              <a:t>to </a:t>
            </a:r>
            <a:r>
              <a:rPr dirty="0" sz="2800" spc="-10">
                <a:latin typeface="Calibri"/>
                <a:cs typeface="Calibri"/>
              </a:rPr>
              <a:t>transform</a:t>
            </a:r>
            <a:r>
              <a:rPr dirty="0" sz="2800" spc="-60">
                <a:latin typeface="Calibri"/>
                <a:cs typeface="Calibri"/>
              </a:rPr>
              <a:t> </a:t>
            </a:r>
            <a:r>
              <a:rPr dirty="0" sz="2800">
                <a:latin typeface="Calibri"/>
                <a:cs typeface="Calibri"/>
              </a:rPr>
              <a:t>the</a:t>
            </a:r>
            <a:r>
              <a:rPr dirty="0" sz="2800" spc="-70">
                <a:latin typeface="Calibri"/>
                <a:cs typeface="Calibri"/>
              </a:rPr>
              <a:t> </a:t>
            </a:r>
            <a:r>
              <a:rPr dirty="0" sz="2800">
                <a:latin typeface="Calibri"/>
                <a:cs typeface="Calibri"/>
              </a:rPr>
              <a:t>joint</a:t>
            </a:r>
            <a:r>
              <a:rPr dirty="0" sz="2800" spc="-65">
                <a:latin typeface="Calibri"/>
                <a:cs typeface="Calibri"/>
              </a:rPr>
              <a:t> </a:t>
            </a:r>
            <a:r>
              <a:rPr dirty="0" sz="2800" spc="-10">
                <a:latin typeface="Calibri"/>
                <a:cs typeface="Calibri"/>
              </a:rPr>
              <a:t>feature</a:t>
            </a:r>
            <a:r>
              <a:rPr dirty="0" sz="2800" spc="-80">
                <a:latin typeface="Calibri"/>
                <a:cs typeface="Calibri"/>
              </a:rPr>
              <a:t> </a:t>
            </a:r>
            <a:r>
              <a:rPr dirty="0" sz="2800" spc="-20">
                <a:latin typeface="Calibri"/>
                <a:cs typeface="Calibri"/>
              </a:rPr>
              <a:t>representation</a:t>
            </a:r>
            <a:r>
              <a:rPr dirty="0" sz="2800" spc="-65">
                <a:latin typeface="Calibri"/>
                <a:cs typeface="Calibri"/>
              </a:rPr>
              <a:t> </a:t>
            </a:r>
            <a:r>
              <a:rPr dirty="0" sz="2800">
                <a:latin typeface="Calibri"/>
                <a:cs typeface="Calibri"/>
              </a:rPr>
              <a:t>into</a:t>
            </a:r>
            <a:r>
              <a:rPr dirty="0" sz="2800" spc="-65">
                <a:latin typeface="Calibri"/>
                <a:cs typeface="Calibri"/>
              </a:rPr>
              <a:t> </a:t>
            </a:r>
            <a:r>
              <a:rPr dirty="0" sz="2800">
                <a:latin typeface="Calibri"/>
                <a:cs typeface="Calibri"/>
              </a:rPr>
              <a:t>a</a:t>
            </a:r>
            <a:r>
              <a:rPr dirty="0" sz="2800" spc="-75">
                <a:latin typeface="Calibri"/>
                <a:cs typeface="Calibri"/>
              </a:rPr>
              <a:t> </a:t>
            </a:r>
            <a:r>
              <a:rPr dirty="0" sz="2800" spc="-20">
                <a:latin typeface="Calibri"/>
                <a:cs typeface="Calibri"/>
              </a:rPr>
              <a:t>new, </a:t>
            </a:r>
            <a:r>
              <a:rPr dirty="0" sz="2800">
                <a:latin typeface="Calibri"/>
                <a:cs typeface="Calibri"/>
              </a:rPr>
              <a:t>more</a:t>
            </a:r>
            <a:r>
              <a:rPr dirty="0" sz="2800" spc="-65">
                <a:latin typeface="Calibri"/>
                <a:cs typeface="Calibri"/>
              </a:rPr>
              <a:t> </a:t>
            </a:r>
            <a:r>
              <a:rPr dirty="0" sz="2800">
                <a:latin typeface="Calibri"/>
                <a:cs typeface="Calibri"/>
              </a:rPr>
              <a:t>usable</a:t>
            </a:r>
            <a:r>
              <a:rPr dirty="0" sz="2800" spc="-45">
                <a:latin typeface="Calibri"/>
                <a:cs typeface="Calibri"/>
              </a:rPr>
              <a:t> </a:t>
            </a:r>
            <a:r>
              <a:rPr dirty="0" sz="2800">
                <a:latin typeface="Calibri"/>
                <a:cs typeface="Calibri"/>
              </a:rPr>
              <a:t>one</a:t>
            </a:r>
            <a:r>
              <a:rPr dirty="0" sz="2800" spc="-50">
                <a:latin typeface="Calibri"/>
                <a:cs typeface="Calibri"/>
              </a:rPr>
              <a:t> </a:t>
            </a:r>
            <a:r>
              <a:rPr dirty="0" sz="2800">
                <a:latin typeface="Calibri"/>
                <a:cs typeface="Calibri"/>
              </a:rPr>
              <a:t>that</a:t>
            </a:r>
            <a:r>
              <a:rPr dirty="0" sz="2800" spc="-65">
                <a:latin typeface="Calibri"/>
                <a:cs typeface="Calibri"/>
              </a:rPr>
              <a:t> </a:t>
            </a:r>
            <a:r>
              <a:rPr dirty="0" sz="2800" i="1">
                <a:solidFill>
                  <a:srgbClr val="FF0000"/>
                </a:solidFill>
                <a:latin typeface="Calibri"/>
                <a:cs typeface="Calibri"/>
              </a:rPr>
              <a:t>preserves</a:t>
            </a:r>
            <a:r>
              <a:rPr dirty="0" sz="2800" spc="-35" i="1">
                <a:solidFill>
                  <a:srgbClr val="FF0000"/>
                </a:solidFill>
                <a:latin typeface="Calibri"/>
                <a:cs typeface="Calibri"/>
              </a:rPr>
              <a:t> </a:t>
            </a:r>
            <a:r>
              <a:rPr dirty="0" sz="2800" spc="-10" i="1">
                <a:solidFill>
                  <a:srgbClr val="FF0000"/>
                </a:solidFill>
                <a:latin typeface="Calibri"/>
                <a:cs typeface="Calibri"/>
              </a:rPr>
              <a:t>important</a:t>
            </a:r>
            <a:r>
              <a:rPr dirty="0" sz="2800" spc="-75" i="1">
                <a:solidFill>
                  <a:srgbClr val="FF0000"/>
                </a:solidFill>
                <a:latin typeface="Calibri"/>
                <a:cs typeface="Calibri"/>
              </a:rPr>
              <a:t> </a:t>
            </a:r>
            <a:r>
              <a:rPr dirty="0" sz="2800" spc="-10" i="1">
                <a:solidFill>
                  <a:srgbClr val="FF0000"/>
                </a:solidFill>
                <a:latin typeface="Calibri"/>
                <a:cs typeface="Calibri"/>
              </a:rPr>
              <a:t>information </a:t>
            </a:r>
            <a:r>
              <a:rPr dirty="0" sz="2800" i="1">
                <a:solidFill>
                  <a:srgbClr val="FF0000"/>
                </a:solidFill>
                <a:latin typeface="Calibri"/>
                <a:cs typeface="Calibri"/>
              </a:rPr>
              <a:t>while</a:t>
            </a:r>
            <a:r>
              <a:rPr dirty="0" sz="2800" spc="-60" i="1">
                <a:solidFill>
                  <a:srgbClr val="FF0000"/>
                </a:solidFill>
                <a:latin typeface="Calibri"/>
                <a:cs typeface="Calibri"/>
              </a:rPr>
              <a:t> </a:t>
            </a:r>
            <a:r>
              <a:rPr dirty="0" sz="2800" i="1">
                <a:solidFill>
                  <a:srgbClr val="FF0000"/>
                </a:solidFill>
                <a:latin typeface="Calibri"/>
                <a:cs typeface="Calibri"/>
              </a:rPr>
              <a:t>discarding</a:t>
            </a:r>
            <a:r>
              <a:rPr dirty="0" sz="2800" spc="-65" i="1">
                <a:solidFill>
                  <a:srgbClr val="FF0000"/>
                </a:solidFill>
                <a:latin typeface="Calibri"/>
                <a:cs typeface="Calibri"/>
              </a:rPr>
              <a:t> </a:t>
            </a:r>
            <a:r>
              <a:rPr dirty="0" sz="2800" i="1">
                <a:solidFill>
                  <a:srgbClr val="FF0000"/>
                </a:solidFill>
                <a:latin typeface="Calibri"/>
                <a:cs typeface="Calibri"/>
              </a:rPr>
              <a:t>irrelevant</a:t>
            </a:r>
            <a:r>
              <a:rPr dirty="0" sz="2800" spc="-45" i="1">
                <a:solidFill>
                  <a:srgbClr val="FF0000"/>
                </a:solidFill>
                <a:latin typeface="Calibri"/>
                <a:cs typeface="Calibri"/>
              </a:rPr>
              <a:t> </a:t>
            </a:r>
            <a:r>
              <a:rPr dirty="0" sz="2800" i="1">
                <a:solidFill>
                  <a:srgbClr val="FF0000"/>
                </a:solidFill>
                <a:latin typeface="Calibri"/>
                <a:cs typeface="Calibri"/>
              </a:rPr>
              <a:t>detail</a:t>
            </a:r>
            <a:r>
              <a:rPr dirty="0" sz="2800">
                <a:latin typeface="Calibri"/>
                <a:cs typeface="Calibri"/>
              </a:rPr>
              <a:t>,</a:t>
            </a:r>
            <a:r>
              <a:rPr dirty="0" sz="2800" spc="-60">
                <a:latin typeface="Calibri"/>
                <a:cs typeface="Calibri"/>
              </a:rPr>
              <a:t> </a:t>
            </a:r>
            <a:r>
              <a:rPr dirty="0" sz="2800">
                <a:latin typeface="Calibri"/>
                <a:cs typeface="Calibri"/>
              </a:rPr>
              <a:t>the</a:t>
            </a:r>
            <a:r>
              <a:rPr dirty="0" sz="2800" spc="-40">
                <a:latin typeface="Calibri"/>
                <a:cs typeface="Calibri"/>
              </a:rPr>
              <a:t> </a:t>
            </a:r>
            <a:r>
              <a:rPr dirty="0" sz="2800">
                <a:latin typeface="Calibri"/>
                <a:cs typeface="Calibri"/>
              </a:rPr>
              <a:t>crux</a:t>
            </a:r>
            <a:r>
              <a:rPr dirty="0" sz="2800" spc="-45">
                <a:latin typeface="Calibri"/>
                <a:cs typeface="Calibri"/>
              </a:rPr>
              <a:t> </a:t>
            </a:r>
            <a:r>
              <a:rPr dirty="0" sz="2800">
                <a:latin typeface="Calibri"/>
                <a:cs typeface="Calibri"/>
              </a:rPr>
              <a:t>of</a:t>
            </a:r>
            <a:r>
              <a:rPr dirty="0" sz="2800" spc="-55">
                <a:latin typeface="Calibri"/>
                <a:cs typeface="Calibri"/>
              </a:rPr>
              <a:t> </a:t>
            </a:r>
            <a:r>
              <a:rPr dirty="0" sz="2800">
                <a:latin typeface="Calibri"/>
                <a:cs typeface="Calibri"/>
              </a:rPr>
              <a:t>the</a:t>
            </a:r>
            <a:r>
              <a:rPr dirty="0" sz="2800" spc="-45">
                <a:latin typeface="Calibri"/>
                <a:cs typeface="Calibri"/>
              </a:rPr>
              <a:t> </a:t>
            </a:r>
            <a:r>
              <a:rPr dirty="0" sz="2800" spc="-10">
                <a:latin typeface="Calibri"/>
                <a:cs typeface="Calibri"/>
              </a:rPr>
              <a:t>matter </a:t>
            </a:r>
            <a:r>
              <a:rPr dirty="0" sz="2800">
                <a:latin typeface="Calibri"/>
                <a:cs typeface="Calibri"/>
              </a:rPr>
              <a:t>being</a:t>
            </a:r>
            <a:r>
              <a:rPr dirty="0" sz="2800" spc="-75">
                <a:latin typeface="Calibri"/>
                <a:cs typeface="Calibri"/>
              </a:rPr>
              <a:t> </a:t>
            </a:r>
            <a:r>
              <a:rPr dirty="0" sz="2800">
                <a:latin typeface="Calibri"/>
                <a:cs typeface="Calibri"/>
              </a:rPr>
              <a:t>to</a:t>
            </a:r>
            <a:r>
              <a:rPr dirty="0" sz="2800" spc="-80">
                <a:latin typeface="Calibri"/>
                <a:cs typeface="Calibri"/>
              </a:rPr>
              <a:t> </a:t>
            </a:r>
            <a:r>
              <a:rPr dirty="0" sz="2800">
                <a:latin typeface="Calibri"/>
                <a:cs typeface="Calibri"/>
              </a:rPr>
              <a:t>determine</a:t>
            </a:r>
            <a:r>
              <a:rPr dirty="0" sz="2800" spc="-75">
                <a:latin typeface="Calibri"/>
                <a:cs typeface="Calibri"/>
              </a:rPr>
              <a:t> </a:t>
            </a:r>
            <a:r>
              <a:rPr dirty="0" sz="2800">
                <a:latin typeface="Calibri"/>
                <a:cs typeface="Calibri"/>
              </a:rPr>
              <a:t>what</a:t>
            </a:r>
            <a:r>
              <a:rPr dirty="0" sz="2800" spc="-85">
                <a:latin typeface="Calibri"/>
                <a:cs typeface="Calibri"/>
              </a:rPr>
              <a:t> </a:t>
            </a:r>
            <a:r>
              <a:rPr dirty="0" sz="2800">
                <a:latin typeface="Calibri"/>
                <a:cs typeface="Calibri"/>
              </a:rPr>
              <a:t>falls</a:t>
            </a:r>
            <a:r>
              <a:rPr dirty="0" sz="2800" spc="-75">
                <a:latin typeface="Calibri"/>
                <a:cs typeface="Calibri"/>
              </a:rPr>
              <a:t> </a:t>
            </a:r>
            <a:r>
              <a:rPr dirty="0" sz="2800">
                <a:latin typeface="Calibri"/>
                <a:cs typeface="Calibri"/>
              </a:rPr>
              <a:t>in</a:t>
            </a:r>
            <a:r>
              <a:rPr dirty="0" sz="2800" spc="-75">
                <a:latin typeface="Calibri"/>
                <a:cs typeface="Calibri"/>
              </a:rPr>
              <a:t> </a:t>
            </a:r>
            <a:r>
              <a:rPr dirty="0" sz="2800">
                <a:latin typeface="Calibri"/>
                <a:cs typeface="Calibri"/>
              </a:rPr>
              <a:t>which</a:t>
            </a:r>
            <a:r>
              <a:rPr dirty="0" sz="2800" spc="-70">
                <a:latin typeface="Calibri"/>
                <a:cs typeface="Calibri"/>
              </a:rPr>
              <a:t> </a:t>
            </a:r>
            <a:r>
              <a:rPr dirty="0" sz="2800" spc="-10">
                <a:latin typeface="Calibri"/>
                <a:cs typeface="Calibri"/>
              </a:rPr>
              <a:t>category</a:t>
            </a:r>
            <a:endParaRPr sz="2800">
              <a:latin typeface="Calibri"/>
              <a:cs typeface="Calibri"/>
            </a:endParaRPr>
          </a:p>
          <a:p>
            <a:pPr>
              <a:lnSpc>
                <a:spcPct val="100000"/>
              </a:lnSpc>
              <a:spcBef>
                <a:spcPts val="1285"/>
              </a:spcBef>
              <a:buFont typeface="Calibri"/>
              <a:buAutoNum type="arabicPeriod"/>
            </a:pPr>
            <a:endParaRPr sz="2800">
              <a:latin typeface="Calibri"/>
              <a:cs typeface="Calibri"/>
            </a:endParaRPr>
          </a:p>
          <a:p>
            <a:pPr marL="12700" marR="5080" indent="351790">
              <a:lnSpc>
                <a:spcPct val="100000"/>
              </a:lnSpc>
              <a:spcBef>
                <a:spcPts val="5"/>
              </a:spcBef>
              <a:buAutoNum type="arabicPeriod"/>
              <a:tabLst>
                <a:tab pos="364490" algn="l"/>
              </a:tabLst>
            </a:pPr>
            <a:r>
              <a:rPr dirty="0" sz="2800">
                <a:latin typeface="Calibri"/>
                <a:cs typeface="Calibri"/>
              </a:rPr>
              <a:t>Achieving</a:t>
            </a:r>
            <a:r>
              <a:rPr dirty="0" sz="2800" spc="-45">
                <a:latin typeface="Calibri"/>
                <a:cs typeface="Calibri"/>
              </a:rPr>
              <a:t> </a:t>
            </a:r>
            <a:r>
              <a:rPr dirty="0" sz="2800" spc="-10">
                <a:latin typeface="Calibri"/>
                <a:cs typeface="Calibri"/>
              </a:rPr>
              <a:t>invariance</a:t>
            </a:r>
            <a:r>
              <a:rPr dirty="0" sz="2800" spc="-60">
                <a:latin typeface="Calibri"/>
                <a:cs typeface="Calibri"/>
              </a:rPr>
              <a:t> </a:t>
            </a:r>
            <a:r>
              <a:rPr dirty="0" sz="2800">
                <a:latin typeface="Calibri"/>
                <a:cs typeface="Calibri"/>
              </a:rPr>
              <a:t>to</a:t>
            </a:r>
            <a:r>
              <a:rPr dirty="0" sz="2800" spc="-65">
                <a:latin typeface="Calibri"/>
                <a:cs typeface="Calibri"/>
              </a:rPr>
              <a:t> </a:t>
            </a:r>
            <a:r>
              <a:rPr dirty="0" sz="2800">
                <a:latin typeface="Calibri"/>
                <a:cs typeface="Calibri"/>
              </a:rPr>
              <a:t>changes</a:t>
            </a:r>
            <a:r>
              <a:rPr dirty="0" sz="2800" spc="-60">
                <a:latin typeface="Calibri"/>
                <a:cs typeface="Calibri"/>
              </a:rPr>
              <a:t> </a:t>
            </a:r>
            <a:r>
              <a:rPr dirty="0" sz="2800">
                <a:latin typeface="Calibri"/>
                <a:cs typeface="Calibri"/>
              </a:rPr>
              <a:t>in</a:t>
            </a:r>
            <a:r>
              <a:rPr dirty="0" sz="2800" spc="-60">
                <a:latin typeface="Calibri"/>
                <a:cs typeface="Calibri"/>
              </a:rPr>
              <a:t> </a:t>
            </a:r>
            <a:r>
              <a:rPr dirty="0" sz="2800">
                <a:latin typeface="Calibri"/>
                <a:cs typeface="Calibri"/>
              </a:rPr>
              <a:t>position</a:t>
            </a:r>
            <a:r>
              <a:rPr dirty="0" sz="2800" spc="-45">
                <a:latin typeface="Calibri"/>
                <a:cs typeface="Calibri"/>
              </a:rPr>
              <a:t> </a:t>
            </a:r>
            <a:r>
              <a:rPr dirty="0" sz="2800">
                <a:latin typeface="Calibri"/>
                <a:cs typeface="Calibri"/>
              </a:rPr>
              <a:t>or</a:t>
            </a:r>
            <a:r>
              <a:rPr dirty="0" sz="2800" spc="-75">
                <a:latin typeface="Calibri"/>
                <a:cs typeface="Calibri"/>
              </a:rPr>
              <a:t> </a:t>
            </a:r>
            <a:r>
              <a:rPr dirty="0" sz="2800" spc="-10">
                <a:latin typeface="Calibri"/>
                <a:cs typeface="Calibri"/>
              </a:rPr>
              <a:t>lighting </a:t>
            </a:r>
            <a:r>
              <a:rPr dirty="0" sz="2800">
                <a:latin typeface="Calibri"/>
                <a:cs typeface="Calibri"/>
              </a:rPr>
              <a:t>conditions,</a:t>
            </a:r>
            <a:r>
              <a:rPr dirty="0" sz="2800" spc="-75">
                <a:latin typeface="Calibri"/>
                <a:cs typeface="Calibri"/>
              </a:rPr>
              <a:t> </a:t>
            </a:r>
            <a:r>
              <a:rPr dirty="0" sz="2800" spc="-10">
                <a:latin typeface="Calibri"/>
                <a:cs typeface="Calibri"/>
              </a:rPr>
              <a:t>robustness</a:t>
            </a:r>
            <a:r>
              <a:rPr dirty="0" sz="2800" spc="-55">
                <a:latin typeface="Calibri"/>
                <a:cs typeface="Calibri"/>
              </a:rPr>
              <a:t> </a:t>
            </a:r>
            <a:r>
              <a:rPr dirty="0" sz="2800">
                <a:latin typeface="Calibri"/>
                <a:cs typeface="Calibri"/>
              </a:rPr>
              <a:t>to</a:t>
            </a:r>
            <a:r>
              <a:rPr dirty="0" sz="2800" spc="-120">
                <a:latin typeface="Calibri"/>
                <a:cs typeface="Calibri"/>
              </a:rPr>
              <a:t> </a:t>
            </a:r>
            <a:r>
              <a:rPr dirty="0" sz="2800" spc="-35">
                <a:latin typeface="Calibri"/>
                <a:cs typeface="Calibri"/>
              </a:rPr>
              <a:t>clutter,</a:t>
            </a:r>
            <a:r>
              <a:rPr dirty="0" sz="2800" spc="-100">
                <a:latin typeface="Calibri"/>
                <a:cs typeface="Calibri"/>
              </a:rPr>
              <a:t> </a:t>
            </a:r>
            <a:r>
              <a:rPr dirty="0" sz="2800">
                <a:latin typeface="Calibri"/>
                <a:cs typeface="Calibri"/>
              </a:rPr>
              <a:t>and</a:t>
            </a:r>
            <a:r>
              <a:rPr dirty="0" sz="2800" spc="-95">
                <a:latin typeface="Calibri"/>
                <a:cs typeface="Calibri"/>
              </a:rPr>
              <a:t> </a:t>
            </a:r>
            <a:r>
              <a:rPr dirty="0" sz="2800">
                <a:latin typeface="Calibri"/>
                <a:cs typeface="Calibri"/>
              </a:rPr>
              <a:t>compactness</a:t>
            </a:r>
            <a:r>
              <a:rPr dirty="0" sz="2800" spc="-90">
                <a:latin typeface="Calibri"/>
                <a:cs typeface="Calibri"/>
              </a:rPr>
              <a:t> </a:t>
            </a:r>
            <a:r>
              <a:rPr dirty="0" sz="2800" spc="-25">
                <a:latin typeface="Calibri"/>
                <a:cs typeface="Calibri"/>
              </a:rPr>
              <a:t>of </a:t>
            </a:r>
            <a:r>
              <a:rPr dirty="0" sz="2800" spc="-10">
                <a:latin typeface="Calibri"/>
                <a:cs typeface="Calibri"/>
              </a:rPr>
              <a:t>representation,</a:t>
            </a:r>
            <a:r>
              <a:rPr dirty="0" sz="2800" spc="-35">
                <a:latin typeface="Calibri"/>
                <a:cs typeface="Calibri"/>
              </a:rPr>
              <a:t> </a:t>
            </a:r>
            <a:r>
              <a:rPr dirty="0" sz="2800">
                <a:latin typeface="Calibri"/>
                <a:cs typeface="Calibri"/>
              </a:rPr>
              <a:t>are</a:t>
            </a:r>
            <a:r>
              <a:rPr dirty="0" sz="2800" spc="-75">
                <a:latin typeface="Calibri"/>
                <a:cs typeface="Calibri"/>
              </a:rPr>
              <a:t> </a:t>
            </a:r>
            <a:r>
              <a:rPr dirty="0" sz="2800">
                <a:latin typeface="Calibri"/>
                <a:cs typeface="Calibri"/>
              </a:rPr>
              <a:t>all</a:t>
            </a:r>
            <a:r>
              <a:rPr dirty="0" sz="2800" spc="-70">
                <a:latin typeface="Calibri"/>
                <a:cs typeface="Calibri"/>
              </a:rPr>
              <a:t> </a:t>
            </a:r>
            <a:r>
              <a:rPr dirty="0" sz="2800">
                <a:latin typeface="Calibri"/>
                <a:cs typeface="Calibri"/>
              </a:rPr>
              <a:t>common</a:t>
            </a:r>
            <a:r>
              <a:rPr dirty="0" sz="2800" spc="-45">
                <a:latin typeface="Calibri"/>
                <a:cs typeface="Calibri"/>
              </a:rPr>
              <a:t> </a:t>
            </a:r>
            <a:r>
              <a:rPr dirty="0" sz="2800">
                <a:latin typeface="Calibri"/>
                <a:cs typeface="Calibri"/>
              </a:rPr>
              <a:t>goals</a:t>
            </a:r>
            <a:r>
              <a:rPr dirty="0" sz="2800" spc="-65">
                <a:latin typeface="Calibri"/>
                <a:cs typeface="Calibri"/>
              </a:rPr>
              <a:t> </a:t>
            </a:r>
            <a:r>
              <a:rPr dirty="0" sz="2800">
                <a:latin typeface="Calibri"/>
                <a:cs typeface="Calibri"/>
              </a:rPr>
              <a:t>of</a:t>
            </a:r>
            <a:r>
              <a:rPr dirty="0" sz="2800" spc="-65">
                <a:latin typeface="Calibri"/>
                <a:cs typeface="Calibri"/>
              </a:rPr>
              <a:t> </a:t>
            </a:r>
            <a:r>
              <a:rPr dirty="0" sz="2800" spc="-10">
                <a:latin typeface="Calibri"/>
                <a:cs typeface="Calibri"/>
              </a:rPr>
              <a:t>pooling</a:t>
            </a:r>
            <a:endParaRPr sz="2800">
              <a:latin typeface="Calibri"/>
              <a:cs typeface="Calibri"/>
            </a:endParaRPr>
          </a:p>
          <a:p>
            <a:pPr algn="just" marL="930910" marR="1534795">
              <a:lnSpc>
                <a:spcPct val="117500"/>
              </a:lnSpc>
              <a:spcBef>
                <a:spcPts val="415"/>
              </a:spcBef>
            </a:pPr>
            <a:r>
              <a:rPr dirty="0" sz="1300" spc="5">
                <a:latin typeface="Microsoft YaHei UI"/>
                <a:cs typeface="Microsoft YaHei UI"/>
              </a:rPr>
              <a:t>池化的共同⽬标 </a:t>
            </a:r>
            <a:r>
              <a:rPr dirty="0" sz="1300">
                <a:latin typeface="Trebuchet MS"/>
                <a:cs typeface="Trebuchet MS"/>
              </a:rPr>
              <a:t>(Common</a:t>
            </a:r>
            <a:r>
              <a:rPr dirty="0" sz="1300" spc="35">
                <a:latin typeface="Trebuchet MS"/>
                <a:cs typeface="Trebuchet MS"/>
              </a:rPr>
              <a:t> </a:t>
            </a:r>
            <a:r>
              <a:rPr dirty="0" sz="1300">
                <a:latin typeface="Trebuchet MS"/>
                <a:cs typeface="Trebuchet MS"/>
              </a:rPr>
              <a:t>goals</a:t>
            </a:r>
            <a:r>
              <a:rPr dirty="0" sz="1300" spc="35">
                <a:latin typeface="Trebuchet MS"/>
                <a:cs typeface="Trebuchet MS"/>
              </a:rPr>
              <a:t> </a:t>
            </a:r>
            <a:r>
              <a:rPr dirty="0" sz="1300">
                <a:latin typeface="Trebuchet MS"/>
                <a:cs typeface="Trebuchet MS"/>
              </a:rPr>
              <a:t>of</a:t>
            </a:r>
            <a:r>
              <a:rPr dirty="0" sz="1300" spc="35">
                <a:latin typeface="Trebuchet MS"/>
                <a:cs typeface="Trebuchet MS"/>
              </a:rPr>
              <a:t> </a:t>
            </a:r>
            <a:r>
              <a:rPr dirty="0" sz="1300">
                <a:latin typeface="Trebuchet MS"/>
                <a:cs typeface="Trebuchet MS"/>
              </a:rPr>
              <a:t>pooling)</a:t>
            </a:r>
            <a:r>
              <a:rPr dirty="0" sz="1300" spc="40">
                <a:latin typeface="Trebuchet MS"/>
                <a:cs typeface="Trebuchet MS"/>
              </a:rPr>
              <a:t> </a:t>
            </a:r>
            <a:r>
              <a:rPr dirty="0" sz="1300">
                <a:latin typeface="Microsoft YaHei UI"/>
                <a:cs typeface="Microsoft YaHei UI"/>
              </a:rPr>
              <a:t>包括实现对</a:t>
            </a:r>
            <a:r>
              <a:rPr dirty="0" sz="1300" spc="-140">
                <a:latin typeface="Trebuchet MS"/>
                <a:cs typeface="Trebuchet MS"/>
              </a:rPr>
              <a:t>“</a:t>
            </a:r>
            <a:r>
              <a:rPr dirty="0" sz="1300">
                <a:latin typeface="Microsoft YaHei UI"/>
                <a:cs typeface="Microsoft YaHei UI"/>
              </a:rPr>
              <a:t>位置</a:t>
            </a:r>
            <a:r>
              <a:rPr dirty="0" sz="1300" spc="-120">
                <a:latin typeface="Trebuchet MS"/>
                <a:cs typeface="Trebuchet MS"/>
              </a:rPr>
              <a:t>...</a:t>
            </a:r>
            <a:r>
              <a:rPr dirty="0" sz="1300" spc="-10">
                <a:latin typeface="Microsoft YaHei UI"/>
                <a:cs typeface="Microsoft YaHei UI"/>
              </a:rPr>
              <a:t>变化的不变性</a:t>
            </a:r>
            <a:r>
              <a:rPr dirty="0" sz="1300" spc="-50">
                <a:latin typeface="Microsoft YaHei UI"/>
                <a:cs typeface="Microsoft YaHei UI"/>
              </a:rPr>
              <a:t> </a:t>
            </a:r>
            <a:r>
              <a:rPr dirty="0" sz="1300" spc="-25">
                <a:latin typeface="Trebuchet MS"/>
                <a:cs typeface="Trebuchet MS"/>
              </a:rPr>
              <a:t>(invariance</a:t>
            </a:r>
            <a:r>
              <a:rPr dirty="0" sz="1300" spc="80">
                <a:latin typeface="Trebuchet MS"/>
                <a:cs typeface="Trebuchet MS"/>
              </a:rPr>
              <a:t> </a:t>
            </a:r>
            <a:r>
              <a:rPr dirty="0" sz="1300">
                <a:latin typeface="Trebuchet MS"/>
                <a:cs typeface="Trebuchet MS"/>
              </a:rPr>
              <a:t>to</a:t>
            </a:r>
            <a:r>
              <a:rPr dirty="0" sz="1300" spc="80">
                <a:latin typeface="Trebuchet MS"/>
                <a:cs typeface="Trebuchet MS"/>
              </a:rPr>
              <a:t> </a:t>
            </a:r>
            <a:r>
              <a:rPr dirty="0" sz="1300">
                <a:latin typeface="Trebuchet MS"/>
                <a:cs typeface="Trebuchet MS"/>
              </a:rPr>
              <a:t>changes</a:t>
            </a:r>
            <a:r>
              <a:rPr dirty="0" sz="1300" spc="85">
                <a:latin typeface="Trebuchet MS"/>
                <a:cs typeface="Trebuchet MS"/>
              </a:rPr>
              <a:t> </a:t>
            </a:r>
            <a:r>
              <a:rPr dirty="0" sz="1300" spc="-10">
                <a:latin typeface="Trebuchet MS"/>
                <a:cs typeface="Trebuchet MS"/>
              </a:rPr>
              <a:t>in</a:t>
            </a:r>
            <a:r>
              <a:rPr dirty="0" sz="1300" spc="80">
                <a:latin typeface="Trebuchet MS"/>
                <a:cs typeface="Trebuchet MS"/>
              </a:rPr>
              <a:t> </a:t>
            </a:r>
            <a:r>
              <a:rPr dirty="0" sz="1300" spc="-50">
                <a:latin typeface="Trebuchet MS"/>
                <a:cs typeface="Trebuchet MS"/>
              </a:rPr>
              <a:t>position...)”</a:t>
            </a:r>
            <a:r>
              <a:rPr dirty="0" sz="1300" spc="-20">
                <a:latin typeface="Microsoft YaHei UI"/>
                <a:cs typeface="Microsoft YaHei UI"/>
              </a:rPr>
              <a:t>，获得</a:t>
            </a:r>
            <a:r>
              <a:rPr dirty="0" sz="1300" spc="-140">
                <a:latin typeface="Trebuchet MS"/>
                <a:cs typeface="Trebuchet MS"/>
              </a:rPr>
              <a:t>“</a:t>
            </a:r>
            <a:r>
              <a:rPr dirty="0" sz="1300" spc="10">
                <a:latin typeface="Microsoft YaHei UI"/>
                <a:cs typeface="Microsoft YaHei UI"/>
              </a:rPr>
              <a:t>表示的紧凑性 </a:t>
            </a:r>
            <a:r>
              <a:rPr dirty="0" sz="1300">
                <a:latin typeface="Trebuchet MS"/>
                <a:cs typeface="Trebuchet MS"/>
              </a:rPr>
              <a:t>(compactness</a:t>
            </a:r>
            <a:r>
              <a:rPr dirty="0" sz="1300" spc="80">
                <a:latin typeface="Trebuchet MS"/>
                <a:cs typeface="Trebuchet MS"/>
              </a:rPr>
              <a:t> </a:t>
            </a:r>
            <a:r>
              <a:rPr dirty="0" sz="1300" spc="-25">
                <a:latin typeface="Trebuchet MS"/>
                <a:cs typeface="Trebuchet MS"/>
              </a:rPr>
              <a:t>of </a:t>
            </a:r>
            <a:r>
              <a:rPr dirty="0" sz="1300" spc="-40">
                <a:latin typeface="Trebuchet MS"/>
                <a:cs typeface="Trebuchet MS"/>
              </a:rPr>
              <a:t>representation)”</a:t>
            </a:r>
            <a:r>
              <a:rPr dirty="0" sz="1300" spc="-50">
                <a:latin typeface="Microsoft YaHei UI"/>
                <a:cs typeface="Microsoft YaHei UI"/>
              </a:rPr>
              <a:t>。</a:t>
            </a:r>
            <a:endParaRPr sz="1300">
              <a:latin typeface="Microsoft YaHei UI"/>
              <a:cs typeface="Microsoft YaHei UI"/>
            </a:endParaRPr>
          </a:p>
        </p:txBody>
      </p:sp>
      <p:sp>
        <p:nvSpPr>
          <p:cNvPr id="4" name="object 4" descr=""/>
          <p:cNvSpPr txBox="1"/>
          <p:nvPr/>
        </p:nvSpPr>
        <p:spPr>
          <a:xfrm>
            <a:off x="5703131" y="179354"/>
            <a:ext cx="3255645" cy="1388110"/>
          </a:xfrm>
          <a:prstGeom prst="rect">
            <a:avLst/>
          </a:prstGeom>
        </p:spPr>
        <p:txBody>
          <a:bodyPr wrap="square" lIns="0" tIns="46990" rIns="0" bIns="0" rtlCol="0" vert="horz">
            <a:spAutoFit/>
          </a:bodyPr>
          <a:lstStyle/>
          <a:p>
            <a:pPr marL="12700">
              <a:lnSpc>
                <a:spcPct val="100000"/>
              </a:lnSpc>
              <a:spcBef>
                <a:spcPts val="370"/>
              </a:spcBef>
            </a:pPr>
            <a:r>
              <a:rPr dirty="0" sz="1300" spc="-10">
                <a:latin typeface="Microsoft YaHei UI"/>
                <a:cs typeface="Microsoft YaHei UI"/>
              </a:rPr>
              <a:t>池化的核⼼⽬标 </a:t>
            </a:r>
            <a:r>
              <a:rPr dirty="0" sz="1300" spc="-30">
                <a:latin typeface="Trebuchet MS"/>
                <a:cs typeface="Trebuchet MS"/>
              </a:rPr>
              <a:t>(Objective</a:t>
            </a:r>
            <a:r>
              <a:rPr dirty="0" sz="1300" spc="-55">
                <a:latin typeface="Trebuchet MS"/>
                <a:cs typeface="Trebuchet MS"/>
              </a:rPr>
              <a:t> </a:t>
            </a:r>
            <a:r>
              <a:rPr dirty="0" sz="1300">
                <a:latin typeface="Trebuchet MS"/>
                <a:cs typeface="Trebuchet MS"/>
              </a:rPr>
              <a:t>of</a:t>
            </a:r>
            <a:r>
              <a:rPr dirty="0" sz="1300" spc="-55">
                <a:latin typeface="Trebuchet MS"/>
                <a:cs typeface="Trebuchet MS"/>
              </a:rPr>
              <a:t> </a:t>
            </a:r>
            <a:r>
              <a:rPr dirty="0" sz="1300">
                <a:latin typeface="Trebuchet MS"/>
                <a:cs typeface="Trebuchet MS"/>
              </a:rPr>
              <a:t>pooling)</a:t>
            </a:r>
            <a:r>
              <a:rPr dirty="0" sz="1300" spc="-55">
                <a:latin typeface="Trebuchet MS"/>
                <a:cs typeface="Trebuchet MS"/>
              </a:rPr>
              <a:t> </a:t>
            </a:r>
            <a:r>
              <a:rPr dirty="0" sz="1300" spc="-25">
                <a:latin typeface="Microsoft YaHei UI"/>
                <a:cs typeface="Microsoft YaHei UI"/>
              </a:rPr>
              <a:t>是进</a:t>
            </a:r>
            <a:endParaRPr sz="1300">
              <a:latin typeface="Microsoft YaHei UI"/>
              <a:cs typeface="Microsoft YaHei UI"/>
            </a:endParaRPr>
          </a:p>
          <a:p>
            <a:pPr marL="12700" marR="5080">
              <a:lnSpc>
                <a:spcPct val="113100"/>
              </a:lnSpc>
              <a:spcBef>
                <a:spcPts val="70"/>
              </a:spcBef>
            </a:pPr>
            <a:r>
              <a:rPr dirty="0" sz="1300" spc="-10">
                <a:latin typeface="Microsoft YaHei UI"/>
                <a:cs typeface="Microsoft YaHei UI"/>
              </a:rPr>
              <a:t>⾏⼀次关键的转换：</a:t>
            </a:r>
            <a:r>
              <a:rPr dirty="0" sz="1300" spc="-75">
                <a:latin typeface="Trebuchet MS"/>
                <a:cs typeface="Trebuchet MS"/>
              </a:rPr>
              <a:t>“</a:t>
            </a:r>
            <a:r>
              <a:rPr dirty="0" sz="1300" spc="-5">
                <a:latin typeface="Microsoft YaHei UI"/>
                <a:cs typeface="Microsoft YaHei UI"/>
              </a:rPr>
              <a:t>将联合的特征表示转换成⼀个新的、更有⽤的表示，这个新的表示保留了重要信息，同时丢弃了不相关的细节</a:t>
            </a:r>
            <a:r>
              <a:rPr dirty="0" sz="1300" spc="-50">
                <a:latin typeface="Microsoft YaHei UI"/>
                <a:cs typeface="Microsoft YaHei UI"/>
              </a:rPr>
              <a:t> </a:t>
            </a:r>
            <a:r>
              <a:rPr dirty="0" sz="1300">
                <a:latin typeface="Trebuchet MS"/>
                <a:cs typeface="Trebuchet MS"/>
              </a:rPr>
              <a:t>(preserves</a:t>
            </a:r>
            <a:r>
              <a:rPr dirty="0" sz="1300" spc="-30">
                <a:latin typeface="Trebuchet MS"/>
                <a:cs typeface="Trebuchet MS"/>
              </a:rPr>
              <a:t> </a:t>
            </a:r>
            <a:r>
              <a:rPr dirty="0" sz="1300" spc="-20">
                <a:latin typeface="Trebuchet MS"/>
                <a:cs typeface="Trebuchet MS"/>
              </a:rPr>
              <a:t>important</a:t>
            </a:r>
            <a:r>
              <a:rPr dirty="0" sz="1300" spc="-30">
                <a:latin typeface="Trebuchet MS"/>
                <a:cs typeface="Trebuchet MS"/>
              </a:rPr>
              <a:t> </a:t>
            </a:r>
            <a:r>
              <a:rPr dirty="0" sz="1300" spc="-25">
                <a:latin typeface="Trebuchet MS"/>
                <a:cs typeface="Trebuchet MS"/>
              </a:rPr>
              <a:t>information</a:t>
            </a:r>
            <a:r>
              <a:rPr dirty="0" sz="1300" spc="-30">
                <a:latin typeface="Trebuchet MS"/>
                <a:cs typeface="Trebuchet MS"/>
              </a:rPr>
              <a:t> </a:t>
            </a:r>
            <a:r>
              <a:rPr dirty="0" sz="1300" spc="-10">
                <a:latin typeface="Trebuchet MS"/>
                <a:cs typeface="Trebuchet MS"/>
              </a:rPr>
              <a:t>while </a:t>
            </a:r>
            <a:r>
              <a:rPr dirty="0" sz="1300">
                <a:latin typeface="Trebuchet MS"/>
                <a:cs typeface="Trebuchet MS"/>
              </a:rPr>
              <a:t>discarding</a:t>
            </a:r>
            <a:r>
              <a:rPr dirty="0" sz="1300" spc="90">
                <a:latin typeface="Trebuchet MS"/>
                <a:cs typeface="Trebuchet MS"/>
              </a:rPr>
              <a:t> </a:t>
            </a:r>
            <a:r>
              <a:rPr dirty="0" sz="1300" spc="-45">
                <a:latin typeface="Trebuchet MS"/>
                <a:cs typeface="Trebuchet MS"/>
              </a:rPr>
              <a:t>irrelevant</a:t>
            </a:r>
            <a:r>
              <a:rPr dirty="0" sz="1300" spc="90">
                <a:latin typeface="Trebuchet MS"/>
                <a:cs typeface="Trebuchet MS"/>
              </a:rPr>
              <a:t> </a:t>
            </a:r>
            <a:r>
              <a:rPr dirty="0" sz="1300" spc="-70">
                <a:latin typeface="Trebuchet MS"/>
                <a:cs typeface="Trebuchet MS"/>
              </a:rPr>
              <a:t>detail)”</a:t>
            </a:r>
            <a:r>
              <a:rPr dirty="0" sz="1300" spc="-50">
                <a:latin typeface="Microsoft YaHei UI"/>
                <a:cs typeface="Microsoft YaHei UI"/>
              </a:rPr>
              <a:t>。</a:t>
            </a:r>
            <a:endParaRPr sz="1300">
              <a:latin typeface="Microsoft YaHei UI"/>
              <a:cs typeface="Microsoft YaHei U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34</a:t>
            </a:r>
          </a:p>
        </p:txBody>
      </p:sp>
      <p:sp>
        <p:nvSpPr>
          <p:cNvPr id="2" name="object 2"/>
          <p:cNvSpPr txBox="1">
            <a:spLocks noGrp="1"/>
          </p:cNvSpPr>
          <p:nvPr>
            <p:ph type="title"/>
          </p:nvPr>
        </p:nvSpPr>
        <p:spPr>
          <a:xfrm>
            <a:off x="3009875" y="252476"/>
            <a:ext cx="3150870" cy="635000"/>
          </a:xfrm>
          <a:prstGeom prst="rect"/>
        </p:spPr>
        <p:txBody>
          <a:bodyPr wrap="square" lIns="0" tIns="12065" rIns="0" bIns="0" rtlCol="0" vert="horz">
            <a:spAutoFit/>
          </a:bodyPr>
          <a:lstStyle/>
          <a:p>
            <a:pPr marL="12700">
              <a:lnSpc>
                <a:spcPct val="100000"/>
              </a:lnSpc>
              <a:spcBef>
                <a:spcPts val="95"/>
              </a:spcBef>
            </a:pPr>
            <a:r>
              <a:rPr dirty="0"/>
              <a:t>Max</a:t>
            </a:r>
            <a:r>
              <a:rPr dirty="0" spc="-80"/>
              <a:t> </a:t>
            </a:r>
            <a:r>
              <a:rPr dirty="0" spc="-10"/>
              <a:t>Pooling</a:t>
            </a:r>
          </a:p>
        </p:txBody>
      </p:sp>
      <p:sp>
        <p:nvSpPr>
          <p:cNvPr id="3" name="object 3" descr=""/>
          <p:cNvSpPr txBox="1"/>
          <p:nvPr/>
        </p:nvSpPr>
        <p:spPr>
          <a:xfrm>
            <a:off x="258251" y="1134904"/>
            <a:ext cx="8493125" cy="4853305"/>
          </a:xfrm>
          <a:prstGeom prst="rect">
            <a:avLst/>
          </a:prstGeom>
        </p:spPr>
        <p:txBody>
          <a:bodyPr wrap="square" lIns="0" tIns="12065" rIns="0" bIns="0" rtlCol="0" vert="horz">
            <a:spAutoFit/>
          </a:bodyPr>
          <a:lstStyle/>
          <a:p>
            <a:pPr marL="354965" marR="438150" indent="-342900">
              <a:lnSpc>
                <a:spcPct val="100000"/>
              </a:lnSpc>
              <a:spcBef>
                <a:spcPts val="95"/>
              </a:spcBef>
              <a:buFont typeface="Arial MT"/>
              <a:buChar char="•"/>
              <a:tabLst>
                <a:tab pos="356235" algn="l"/>
              </a:tabLst>
            </a:pPr>
            <a:r>
              <a:rPr dirty="0" sz="2800" b="1" i="1">
                <a:solidFill>
                  <a:srgbClr val="0000FF"/>
                </a:solidFill>
                <a:latin typeface="Calibri"/>
                <a:cs typeface="Calibri"/>
              </a:rPr>
              <a:t>Max</a:t>
            </a:r>
            <a:r>
              <a:rPr dirty="0" sz="2800" spc="-35" b="1" i="1">
                <a:solidFill>
                  <a:srgbClr val="0000FF"/>
                </a:solidFill>
                <a:latin typeface="Calibri"/>
                <a:cs typeface="Calibri"/>
              </a:rPr>
              <a:t> </a:t>
            </a:r>
            <a:r>
              <a:rPr dirty="0" sz="2800" b="1" i="1">
                <a:solidFill>
                  <a:srgbClr val="0000FF"/>
                </a:solidFill>
                <a:latin typeface="Calibri"/>
                <a:cs typeface="Calibri"/>
              </a:rPr>
              <a:t>pooling</a:t>
            </a:r>
            <a:r>
              <a:rPr dirty="0" sz="2800" spc="-15" b="1" i="1">
                <a:solidFill>
                  <a:srgbClr val="0000FF"/>
                </a:solidFill>
                <a:latin typeface="Calibri"/>
                <a:cs typeface="Calibri"/>
              </a:rPr>
              <a:t> </a:t>
            </a:r>
            <a:r>
              <a:rPr dirty="0" sz="2800">
                <a:latin typeface="Calibri"/>
                <a:cs typeface="Calibri"/>
              </a:rPr>
              <a:t>is</a:t>
            </a:r>
            <a:r>
              <a:rPr dirty="0" sz="2800" spc="-20">
                <a:latin typeface="Calibri"/>
                <a:cs typeface="Calibri"/>
              </a:rPr>
              <a:t> </a:t>
            </a:r>
            <a:r>
              <a:rPr dirty="0" sz="2800">
                <a:latin typeface="Calibri"/>
                <a:cs typeface="Calibri"/>
              </a:rPr>
              <a:t>a</a:t>
            </a:r>
            <a:r>
              <a:rPr dirty="0" sz="2800" spc="-35">
                <a:latin typeface="Calibri"/>
                <a:cs typeface="Calibri"/>
              </a:rPr>
              <a:t> </a:t>
            </a:r>
            <a:r>
              <a:rPr dirty="0" sz="2800">
                <a:latin typeface="Calibri"/>
                <a:cs typeface="Calibri"/>
              </a:rPr>
              <a:t>form</a:t>
            </a:r>
            <a:r>
              <a:rPr dirty="0" sz="2800" spc="-20">
                <a:latin typeface="Calibri"/>
                <a:cs typeface="Calibri"/>
              </a:rPr>
              <a:t> </a:t>
            </a:r>
            <a:r>
              <a:rPr dirty="0" sz="2800">
                <a:latin typeface="Calibri"/>
                <a:cs typeface="Calibri"/>
              </a:rPr>
              <a:t>of</a:t>
            </a:r>
            <a:r>
              <a:rPr dirty="0" sz="2800" spc="-35">
                <a:latin typeface="Calibri"/>
                <a:cs typeface="Calibri"/>
              </a:rPr>
              <a:t> </a:t>
            </a:r>
            <a:r>
              <a:rPr dirty="0" sz="2800" spc="-30">
                <a:latin typeface="Calibri"/>
                <a:cs typeface="Calibri"/>
              </a:rPr>
              <a:t>non-</a:t>
            </a:r>
            <a:r>
              <a:rPr dirty="0" sz="2800">
                <a:latin typeface="Calibri"/>
                <a:cs typeface="Calibri"/>
              </a:rPr>
              <a:t>linear</a:t>
            </a:r>
            <a:r>
              <a:rPr dirty="0" sz="2800" spc="5">
                <a:latin typeface="Calibri"/>
                <a:cs typeface="Calibri"/>
              </a:rPr>
              <a:t> </a:t>
            </a:r>
            <a:r>
              <a:rPr dirty="0" sz="2800" spc="-25">
                <a:latin typeface="Calibri"/>
                <a:cs typeface="Calibri"/>
              </a:rPr>
              <a:t>down-</a:t>
            </a:r>
            <a:r>
              <a:rPr dirty="0" sz="2800" spc="-10">
                <a:latin typeface="Calibri"/>
                <a:cs typeface="Calibri"/>
              </a:rPr>
              <a:t>sampling, </a:t>
            </a:r>
            <a:r>
              <a:rPr dirty="0" sz="2800" spc="-10">
                <a:latin typeface="Calibri"/>
                <a:cs typeface="Calibri"/>
              </a:rPr>
              <a:t>	</a:t>
            </a:r>
            <a:r>
              <a:rPr dirty="0" sz="2800">
                <a:latin typeface="Calibri"/>
                <a:cs typeface="Calibri"/>
              </a:rPr>
              <a:t>which</a:t>
            </a:r>
            <a:r>
              <a:rPr dirty="0" sz="2800" spc="-40">
                <a:latin typeface="Calibri"/>
                <a:cs typeface="Calibri"/>
              </a:rPr>
              <a:t> </a:t>
            </a:r>
            <a:r>
              <a:rPr dirty="0" sz="2800">
                <a:latin typeface="Calibri"/>
                <a:cs typeface="Calibri"/>
              </a:rPr>
              <a:t>partitions</a:t>
            </a:r>
            <a:r>
              <a:rPr dirty="0" sz="2800" spc="-40">
                <a:latin typeface="Calibri"/>
                <a:cs typeface="Calibri"/>
              </a:rPr>
              <a:t> </a:t>
            </a:r>
            <a:r>
              <a:rPr dirty="0" sz="2800">
                <a:latin typeface="Calibri"/>
                <a:cs typeface="Calibri"/>
              </a:rPr>
              <a:t>the</a:t>
            </a:r>
            <a:r>
              <a:rPr dirty="0" sz="2800" spc="-45">
                <a:latin typeface="Calibri"/>
                <a:cs typeface="Calibri"/>
              </a:rPr>
              <a:t> </a:t>
            </a:r>
            <a:r>
              <a:rPr dirty="0" sz="2800">
                <a:latin typeface="Calibri"/>
                <a:cs typeface="Calibri"/>
              </a:rPr>
              <a:t>input</a:t>
            </a:r>
            <a:r>
              <a:rPr dirty="0" sz="2800" spc="-25">
                <a:latin typeface="Calibri"/>
                <a:cs typeface="Calibri"/>
              </a:rPr>
              <a:t> </a:t>
            </a:r>
            <a:r>
              <a:rPr dirty="0" sz="2800">
                <a:latin typeface="Calibri"/>
                <a:cs typeface="Calibri"/>
              </a:rPr>
              <a:t>image</a:t>
            </a:r>
            <a:r>
              <a:rPr dirty="0" sz="2800" spc="-55">
                <a:latin typeface="Calibri"/>
                <a:cs typeface="Calibri"/>
              </a:rPr>
              <a:t> </a:t>
            </a:r>
            <a:r>
              <a:rPr dirty="0" sz="2800">
                <a:latin typeface="Calibri"/>
                <a:cs typeface="Calibri"/>
              </a:rPr>
              <a:t>into</a:t>
            </a:r>
            <a:r>
              <a:rPr dirty="0" sz="2800" spc="-55">
                <a:latin typeface="Calibri"/>
                <a:cs typeface="Calibri"/>
              </a:rPr>
              <a:t> </a:t>
            </a:r>
            <a:r>
              <a:rPr dirty="0" sz="2800">
                <a:latin typeface="Calibri"/>
                <a:cs typeface="Calibri"/>
              </a:rPr>
              <a:t>a</a:t>
            </a:r>
            <a:r>
              <a:rPr dirty="0" sz="2800" spc="-55">
                <a:latin typeface="Calibri"/>
                <a:cs typeface="Calibri"/>
              </a:rPr>
              <a:t> </a:t>
            </a:r>
            <a:r>
              <a:rPr dirty="0" sz="2800">
                <a:latin typeface="Calibri"/>
                <a:cs typeface="Calibri"/>
              </a:rPr>
              <a:t>set</a:t>
            </a:r>
            <a:r>
              <a:rPr dirty="0" sz="2800" spc="-55">
                <a:latin typeface="Calibri"/>
                <a:cs typeface="Calibri"/>
              </a:rPr>
              <a:t> </a:t>
            </a:r>
            <a:r>
              <a:rPr dirty="0" sz="2800">
                <a:latin typeface="Calibri"/>
                <a:cs typeface="Calibri"/>
              </a:rPr>
              <a:t>of</a:t>
            </a:r>
            <a:r>
              <a:rPr dirty="0" sz="2800" spc="-60">
                <a:latin typeface="Calibri"/>
                <a:cs typeface="Calibri"/>
              </a:rPr>
              <a:t> </a:t>
            </a:r>
            <a:r>
              <a:rPr dirty="0" sz="2800" spc="-20">
                <a:latin typeface="Calibri"/>
                <a:cs typeface="Calibri"/>
              </a:rPr>
              <a:t>non- </a:t>
            </a:r>
            <a:r>
              <a:rPr dirty="0" sz="2800" spc="-20">
                <a:latin typeface="Calibri"/>
                <a:cs typeface="Calibri"/>
              </a:rPr>
              <a:t>	</a:t>
            </a:r>
            <a:r>
              <a:rPr dirty="0" sz="2800">
                <a:latin typeface="Calibri"/>
                <a:cs typeface="Calibri"/>
              </a:rPr>
              <a:t>overlapping</a:t>
            </a:r>
            <a:r>
              <a:rPr dirty="0" sz="2800" spc="-60">
                <a:latin typeface="Calibri"/>
                <a:cs typeface="Calibri"/>
              </a:rPr>
              <a:t> </a:t>
            </a:r>
            <a:r>
              <a:rPr dirty="0" sz="2800">
                <a:latin typeface="Calibri"/>
                <a:cs typeface="Calibri"/>
              </a:rPr>
              <a:t>rectangles</a:t>
            </a:r>
            <a:r>
              <a:rPr dirty="0" sz="2800" spc="-85">
                <a:latin typeface="Calibri"/>
                <a:cs typeface="Calibri"/>
              </a:rPr>
              <a:t> </a:t>
            </a:r>
            <a:r>
              <a:rPr dirty="0" sz="2800">
                <a:latin typeface="Calibri"/>
                <a:cs typeface="Calibri"/>
              </a:rPr>
              <a:t>and,</a:t>
            </a:r>
            <a:r>
              <a:rPr dirty="0" sz="2800" spc="-65">
                <a:latin typeface="Calibri"/>
                <a:cs typeface="Calibri"/>
              </a:rPr>
              <a:t> </a:t>
            </a:r>
            <a:r>
              <a:rPr dirty="0" sz="2800">
                <a:latin typeface="Calibri"/>
                <a:cs typeface="Calibri"/>
              </a:rPr>
              <a:t>for</a:t>
            </a:r>
            <a:r>
              <a:rPr dirty="0" sz="2800" spc="-85">
                <a:latin typeface="Calibri"/>
                <a:cs typeface="Calibri"/>
              </a:rPr>
              <a:t> </a:t>
            </a:r>
            <a:r>
              <a:rPr dirty="0" sz="2800">
                <a:latin typeface="Calibri"/>
                <a:cs typeface="Calibri"/>
              </a:rPr>
              <a:t>each</a:t>
            </a:r>
            <a:r>
              <a:rPr dirty="0" sz="2800" spc="-90">
                <a:latin typeface="Calibri"/>
                <a:cs typeface="Calibri"/>
              </a:rPr>
              <a:t> </a:t>
            </a:r>
            <a:r>
              <a:rPr dirty="0" sz="2800">
                <a:latin typeface="Calibri"/>
                <a:cs typeface="Calibri"/>
              </a:rPr>
              <a:t>such</a:t>
            </a:r>
            <a:r>
              <a:rPr dirty="0" sz="2800" spc="-55">
                <a:latin typeface="Calibri"/>
                <a:cs typeface="Calibri"/>
              </a:rPr>
              <a:t> </a:t>
            </a:r>
            <a:r>
              <a:rPr dirty="0" sz="2800" spc="-20">
                <a:latin typeface="Calibri"/>
                <a:cs typeface="Calibri"/>
              </a:rPr>
              <a:t>sub-</a:t>
            </a:r>
            <a:r>
              <a:rPr dirty="0" sz="2800" spc="-10">
                <a:latin typeface="Calibri"/>
                <a:cs typeface="Calibri"/>
              </a:rPr>
              <a:t>region, </a:t>
            </a:r>
            <a:r>
              <a:rPr dirty="0" sz="2800" spc="-10">
                <a:latin typeface="Calibri"/>
                <a:cs typeface="Calibri"/>
              </a:rPr>
              <a:t>	</a:t>
            </a:r>
            <a:r>
              <a:rPr dirty="0" sz="2800">
                <a:latin typeface="Calibri"/>
                <a:cs typeface="Calibri"/>
              </a:rPr>
              <a:t>outputs</a:t>
            </a:r>
            <a:r>
              <a:rPr dirty="0" sz="2800" spc="-45">
                <a:latin typeface="Calibri"/>
                <a:cs typeface="Calibri"/>
              </a:rPr>
              <a:t> </a:t>
            </a:r>
            <a:r>
              <a:rPr dirty="0" sz="2800">
                <a:latin typeface="Calibri"/>
                <a:cs typeface="Calibri"/>
              </a:rPr>
              <a:t>the</a:t>
            </a:r>
            <a:r>
              <a:rPr dirty="0" sz="2800" spc="-80">
                <a:latin typeface="Calibri"/>
                <a:cs typeface="Calibri"/>
              </a:rPr>
              <a:t> </a:t>
            </a:r>
            <a:r>
              <a:rPr dirty="0" sz="2800">
                <a:latin typeface="Calibri"/>
                <a:cs typeface="Calibri"/>
              </a:rPr>
              <a:t>maximum</a:t>
            </a:r>
            <a:r>
              <a:rPr dirty="0" sz="2800" spc="-75">
                <a:latin typeface="Calibri"/>
                <a:cs typeface="Calibri"/>
              </a:rPr>
              <a:t> </a:t>
            </a:r>
            <a:r>
              <a:rPr dirty="0" sz="2800" spc="-10">
                <a:latin typeface="Calibri"/>
                <a:cs typeface="Calibri"/>
              </a:rPr>
              <a:t>value</a:t>
            </a:r>
            <a:endParaRPr sz="2800">
              <a:latin typeface="Calibri"/>
              <a:cs typeface="Calibri"/>
            </a:endParaRPr>
          </a:p>
          <a:p>
            <a:pPr marL="354965" indent="-342265">
              <a:lnSpc>
                <a:spcPct val="100000"/>
              </a:lnSpc>
              <a:spcBef>
                <a:spcPts val="670"/>
              </a:spcBef>
              <a:buFont typeface="Arial MT"/>
              <a:buChar char="•"/>
              <a:tabLst>
                <a:tab pos="354965" algn="l"/>
              </a:tabLst>
            </a:pPr>
            <a:r>
              <a:rPr dirty="0" sz="2800">
                <a:latin typeface="Calibri"/>
                <a:cs typeface="Calibri"/>
              </a:rPr>
              <a:t>Max</a:t>
            </a:r>
            <a:r>
              <a:rPr dirty="0" sz="2800" spc="-70">
                <a:latin typeface="Calibri"/>
                <a:cs typeface="Calibri"/>
              </a:rPr>
              <a:t> </a:t>
            </a:r>
            <a:r>
              <a:rPr dirty="0" sz="2800">
                <a:latin typeface="Calibri"/>
                <a:cs typeface="Calibri"/>
              </a:rPr>
              <a:t>pooling</a:t>
            </a:r>
            <a:r>
              <a:rPr dirty="0" sz="2800" spc="-45">
                <a:latin typeface="Calibri"/>
                <a:cs typeface="Calibri"/>
              </a:rPr>
              <a:t> </a:t>
            </a:r>
            <a:r>
              <a:rPr dirty="0" sz="2800">
                <a:latin typeface="Calibri"/>
                <a:cs typeface="Calibri"/>
              </a:rPr>
              <a:t>is</a:t>
            </a:r>
            <a:r>
              <a:rPr dirty="0" sz="2800" spc="-60">
                <a:latin typeface="Calibri"/>
                <a:cs typeface="Calibri"/>
              </a:rPr>
              <a:t> </a:t>
            </a:r>
            <a:r>
              <a:rPr dirty="0" sz="2800">
                <a:latin typeface="Calibri"/>
                <a:cs typeface="Calibri"/>
              </a:rPr>
              <a:t>useful</a:t>
            </a:r>
            <a:r>
              <a:rPr dirty="0" sz="2800" spc="-50">
                <a:latin typeface="Calibri"/>
                <a:cs typeface="Calibri"/>
              </a:rPr>
              <a:t> </a:t>
            </a:r>
            <a:r>
              <a:rPr dirty="0" sz="2800">
                <a:latin typeface="Calibri"/>
                <a:cs typeface="Calibri"/>
              </a:rPr>
              <a:t>in</a:t>
            </a:r>
            <a:r>
              <a:rPr dirty="0" sz="2800" spc="-60">
                <a:latin typeface="Calibri"/>
                <a:cs typeface="Calibri"/>
              </a:rPr>
              <a:t> </a:t>
            </a:r>
            <a:r>
              <a:rPr dirty="0" sz="2800">
                <a:latin typeface="Calibri"/>
                <a:cs typeface="Calibri"/>
              </a:rPr>
              <a:t>vision</a:t>
            </a:r>
            <a:r>
              <a:rPr dirty="0" sz="2800" spc="-50">
                <a:latin typeface="Calibri"/>
                <a:cs typeface="Calibri"/>
              </a:rPr>
              <a:t> </a:t>
            </a:r>
            <a:r>
              <a:rPr dirty="0" sz="2800">
                <a:latin typeface="Calibri"/>
                <a:cs typeface="Calibri"/>
              </a:rPr>
              <a:t>for</a:t>
            </a:r>
            <a:r>
              <a:rPr dirty="0" sz="2800" spc="-65">
                <a:latin typeface="Calibri"/>
                <a:cs typeface="Calibri"/>
              </a:rPr>
              <a:t> </a:t>
            </a:r>
            <a:r>
              <a:rPr dirty="0" sz="2800">
                <a:latin typeface="Calibri"/>
                <a:cs typeface="Calibri"/>
              </a:rPr>
              <a:t>two</a:t>
            </a:r>
            <a:r>
              <a:rPr dirty="0" sz="2800" spc="-70">
                <a:latin typeface="Calibri"/>
                <a:cs typeface="Calibri"/>
              </a:rPr>
              <a:t> </a:t>
            </a:r>
            <a:r>
              <a:rPr dirty="0" sz="2800" spc="-10">
                <a:latin typeface="Calibri"/>
                <a:cs typeface="Calibri"/>
              </a:rPr>
              <a:t>reasons</a:t>
            </a:r>
            <a:endParaRPr sz="2800">
              <a:latin typeface="Calibri"/>
              <a:cs typeface="Calibri"/>
            </a:endParaRPr>
          </a:p>
          <a:p>
            <a:pPr algn="just" lvl="1" marL="754380" marR="5080" indent="-285115">
              <a:lnSpc>
                <a:spcPct val="100000"/>
              </a:lnSpc>
              <a:spcBef>
                <a:spcPts val="605"/>
              </a:spcBef>
              <a:buFont typeface="Arial MT"/>
              <a:buChar char="–"/>
              <a:tabLst>
                <a:tab pos="756285" algn="l"/>
              </a:tabLst>
            </a:pPr>
            <a:r>
              <a:rPr dirty="0" sz="2400">
                <a:latin typeface="Calibri"/>
                <a:cs typeface="Calibri"/>
              </a:rPr>
              <a:t>By</a:t>
            </a:r>
            <a:r>
              <a:rPr dirty="0" sz="2400" spc="-55">
                <a:latin typeface="Calibri"/>
                <a:cs typeface="Calibri"/>
              </a:rPr>
              <a:t> </a:t>
            </a:r>
            <a:r>
              <a:rPr dirty="0" sz="2400">
                <a:latin typeface="Calibri"/>
                <a:cs typeface="Calibri"/>
              </a:rPr>
              <a:t>eliminating</a:t>
            </a:r>
            <a:r>
              <a:rPr dirty="0" sz="2400" spc="-70">
                <a:latin typeface="Calibri"/>
                <a:cs typeface="Calibri"/>
              </a:rPr>
              <a:t> </a:t>
            </a:r>
            <a:r>
              <a:rPr dirty="0" sz="2400" spc="-20">
                <a:latin typeface="Calibri"/>
                <a:cs typeface="Calibri"/>
              </a:rPr>
              <a:t>non-</a:t>
            </a:r>
            <a:r>
              <a:rPr dirty="0" sz="2400">
                <a:latin typeface="Calibri"/>
                <a:cs typeface="Calibri"/>
              </a:rPr>
              <a:t>maximal</a:t>
            </a:r>
            <a:r>
              <a:rPr dirty="0" sz="2400" spc="-60">
                <a:latin typeface="Calibri"/>
                <a:cs typeface="Calibri"/>
              </a:rPr>
              <a:t> </a:t>
            </a:r>
            <a:r>
              <a:rPr dirty="0" sz="2400">
                <a:latin typeface="Calibri"/>
                <a:cs typeface="Calibri"/>
              </a:rPr>
              <a:t>values,</a:t>
            </a:r>
            <a:r>
              <a:rPr dirty="0" sz="2400" spc="-50">
                <a:latin typeface="Calibri"/>
                <a:cs typeface="Calibri"/>
              </a:rPr>
              <a:t> </a:t>
            </a:r>
            <a:r>
              <a:rPr dirty="0" sz="2400">
                <a:latin typeface="Calibri"/>
                <a:cs typeface="Calibri"/>
              </a:rPr>
              <a:t>it</a:t>
            </a:r>
            <a:r>
              <a:rPr dirty="0" sz="2400" spc="-55">
                <a:latin typeface="Calibri"/>
                <a:cs typeface="Calibri"/>
              </a:rPr>
              <a:t> </a:t>
            </a:r>
            <a:r>
              <a:rPr dirty="0" sz="2400">
                <a:latin typeface="Calibri"/>
                <a:cs typeface="Calibri"/>
              </a:rPr>
              <a:t>reduces</a:t>
            </a:r>
            <a:r>
              <a:rPr dirty="0" sz="2400" spc="-55">
                <a:latin typeface="Calibri"/>
                <a:cs typeface="Calibri"/>
              </a:rPr>
              <a:t> </a:t>
            </a:r>
            <a:r>
              <a:rPr dirty="0" sz="2400" spc="-10">
                <a:latin typeface="Calibri"/>
                <a:cs typeface="Calibri"/>
              </a:rPr>
              <a:t>computation</a:t>
            </a:r>
            <a:r>
              <a:rPr dirty="0" sz="2400" spc="-60">
                <a:latin typeface="Calibri"/>
                <a:cs typeface="Calibri"/>
              </a:rPr>
              <a:t> </a:t>
            </a:r>
            <a:r>
              <a:rPr dirty="0" sz="2400" spc="-25">
                <a:latin typeface="Calibri"/>
                <a:cs typeface="Calibri"/>
              </a:rPr>
              <a:t>for </a:t>
            </a:r>
            <a:r>
              <a:rPr dirty="0" sz="2400" spc="-25">
                <a:latin typeface="Calibri"/>
                <a:cs typeface="Calibri"/>
              </a:rPr>
              <a:t>	</a:t>
            </a:r>
            <a:r>
              <a:rPr dirty="0" sz="2400">
                <a:latin typeface="Calibri"/>
                <a:cs typeface="Calibri"/>
              </a:rPr>
              <a:t>upper</a:t>
            </a:r>
            <a:r>
              <a:rPr dirty="0" sz="2400" spc="-55">
                <a:latin typeface="Calibri"/>
                <a:cs typeface="Calibri"/>
              </a:rPr>
              <a:t> </a:t>
            </a:r>
            <a:r>
              <a:rPr dirty="0" sz="2400" spc="-10">
                <a:latin typeface="Calibri"/>
                <a:cs typeface="Calibri"/>
              </a:rPr>
              <a:t>layers</a:t>
            </a:r>
            <a:endParaRPr sz="2400">
              <a:latin typeface="Calibri"/>
              <a:cs typeface="Calibri"/>
            </a:endParaRPr>
          </a:p>
          <a:p>
            <a:pPr algn="just" lvl="1" marL="755015" indent="-285115">
              <a:lnSpc>
                <a:spcPct val="100000"/>
              </a:lnSpc>
              <a:spcBef>
                <a:spcPts val="575"/>
              </a:spcBef>
              <a:buFont typeface="Arial MT"/>
              <a:buChar char="–"/>
              <a:tabLst>
                <a:tab pos="755015" algn="l"/>
              </a:tabLst>
            </a:pPr>
            <a:r>
              <a:rPr dirty="0" sz="2400">
                <a:latin typeface="Calibri"/>
                <a:cs typeface="Calibri"/>
              </a:rPr>
              <a:t>It</a:t>
            </a:r>
            <a:r>
              <a:rPr dirty="0" sz="2400" spc="-60">
                <a:latin typeface="Calibri"/>
                <a:cs typeface="Calibri"/>
              </a:rPr>
              <a:t> </a:t>
            </a:r>
            <a:r>
              <a:rPr dirty="0" sz="2400">
                <a:latin typeface="Calibri"/>
                <a:cs typeface="Calibri"/>
              </a:rPr>
              <a:t>provides</a:t>
            </a:r>
            <a:r>
              <a:rPr dirty="0" sz="2400" spc="-40">
                <a:latin typeface="Calibri"/>
                <a:cs typeface="Calibri"/>
              </a:rPr>
              <a:t> </a:t>
            </a:r>
            <a:r>
              <a:rPr dirty="0" sz="2400">
                <a:latin typeface="Calibri"/>
                <a:cs typeface="Calibri"/>
              </a:rPr>
              <a:t>a</a:t>
            </a:r>
            <a:r>
              <a:rPr dirty="0" sz="2400" spc="-50">
                <a:latin typeface="Calibri"/>
                <a:cs typeface="Calibri"/>
              </a:rPr>
              <a:t> </a:t>
            </a:r>
            <a:r>
              <a:rPr dirty="0" sz="2400">
                <a:latin typeface="Calibri"/>
                <a:cs typeface="Calibri"/>
              </a:rPr>
              <a:t>form</a:t>
            </a:r>
            <a:r>
              <a:rPr dirty="0" sz="2400" spc="-60">
                <a:latin typeface="Calibri"/>
                <a:cs typeface="Calibri"/>
              </a:rPr>
              <a:t> </a:t>
            </a:r>
            <a:r>
              <a:rPr dirty="0" sz="2400">
                <a:latin typeface="Calibri"/>
                <a:cs typeface="Calibri"/>
              </a:rPr>
              <a:t>of</a:t>
            </a:r>
            <a:r>
              <a:rPr dirty="0" sz="2400" spc="-40">
                <a:latin typeface="Calibri"/>
                <a:cs typeface="Calibri"/>
              </a:rPr>
              <a:t> </a:t>
            </a:r>
            <a:r>
              <a:rPr dirty="0" sz="2400" spc="-10">
                <a:latin typeface="Calibri"/>
                <a:cs typeface="Calibri"/>
              </a:rPr>
              <a:t>translation</a:t>
            </a:r>
            <a:r>
              <a:rPr dirty="0" sz="2400" spc="-65">
                <a:latin typeface="Calibri"/>
                <a:cs typeface="Calibri"/>
              </a:rPr>
              <a:t> </a:t>
            </a:r>
            <a:r>
              <a:rPr dirty="0" sz="2400" spc="-10">
                <a:latin typeface="Calibri"/>
                <a:cs typeface="Calibri"/>
              </a:rPr>
              <a:t>invariance</a:t>
            </a:r>
            <a:endParaRPr sz="2400">
              <a:latin typeface="Calibri"/>
              <a:cs typeface="Calibri"/>
            </a:endParaRPr>
          </a:p>
          <a:p>
            <a:pPr algn="just" marL="354330" marR="63500" indent="-341630">
              <a:lnSpc>
                <a:spcPct val="100000"/>
              </a:lnSpc>
              <a:spcBef>
                <a:spcPts val="645"/>
              </a:spcBef>
              <a:buFont typeface="Arial MT"/>
              <a:buChar char="•"/>
              <a:tabLst>
                <a:tab pos="355600" algn="l"/>
              </a:tabLst>
            </a:pPr>
            <a:r>
              <a:rPr dirty="0" sz="2800">
                <a:latin typeface="Calibri"/>
                <a:cs typeface="Calibri"/>
              </a:rPr>
              <a:t>Since</a:t>
            </a:r>
            <a:r>
              <a:rPr dirty="0" sz="2800" spc="-85">
                <a:latin typeface="Calibri"/>
                <a:cs typeface="Calibri"/>
              </a:rPr>
              <a:t> </a:t>
            </a:r>
            <a:r>
              <a:rPr dirty="0" sz="2800">
                <a:latin typeface="Calibri"/>
                <a:cs typeface="Calibri"/>
              </a:rPr>
              <a:t>it</a:t>
            </a:r>
            <a:r>
              <a:rPr dirty="0" sz="2800" spc="-100">
                <a:latin typeface="Calibri"/>
                <a:cs typeface="Calibri"/>
              </a:rPr>
              <a:t> </a:t>
            </a:r>
            <a:r>
              <a:rPr dirty="0" sz="2800">
                <a:latin typeface="Calibri"/>
                <a:cs typeface="Calibri"/>
              </a:rPr>
              <a:t>provides</a:t>
            </a:r>
            <a:r>
              <a:rPr dirty="0" sz="2800" spc="-65">
                <a:latin typeface="Calibri"/>
                <a:cs typeface="Calibri"/>
              </a:rPr>
              <a:t> </a:t>
            </a:r>
            <a:r>
              <a:rPr dirty="0" sz="2800">
                <a:latin typeface="Calibri"/>
                <a:cs typeface="Calibri"/>
              </a:rPr>
              <a:t>additional</a:t>
            </a:r>
            <a:r>
              <a:rPr dirty="0" sz="2800" spc="-75">
                <a:latin typeface="Calibri"/>
                <a:cs typeface="Calibri"/>
              </a:rPr>
              <a:t> </a:t>
            </a:r>
            <a:r>
              <a:rPr dirty="0" sz="2800" spc="-10">
                <a:latin typeface="Calibri"/>
                <a:cs typeface="Calibri"/>
              </a:rPr>
              <a:t>robustness</a:t>
            </a:r>
            <a:r>
              <a:rPr dirty="0" sz="2800" spc="-45">
                <a:latin typeface="Calibri"/>
                <a:cs typeface="Calibri"/>
              </a:rPr>
              <a:t> </a:t>
            </a:r>
            <a:r>
              <a:rPr dirty="0" sz="2800">
                <a:latin typeface="Calibri"/>
                <a:cs typeface="Calibri"/>
              </a:rPr>
              <a:t>to</a:t>
            </a:r>
            <a:r>
              <a:rPr dirty="0" sz="2800" spc="-100">
                <a:latin typeface="Calibri"/>
                <a:cs typeface="Calibri"/>
              </a:rPr>
              <a:t> </a:t>
            </a:r>
            <a:r>
              <a:rPr dirty="0" sz="2800">
                <a:latin typeface="Calibri"/>
                <a:cs typeface="Calibri"/>
              </a:rPr>
              <a:t>position,</a:t>
            </a:r>
            <a:r>
              <a:rPr dirty="0" sz="2800" spc="-65">
                <a:latin typeface="Calibri"/>
                <a:cs typeface="Calibri"/>
              </a:rPr>
              <a:t> </a:t>
            </a:r>
            <a:r>
              <a:rPr dirty="0" sz="2800" spc="-20">
                <a:latin typeface="Calibri"/>
                <a:cs typeface="Calibri"/>
              </a:rPr>
              <a:t>max- </a:t>
            </a:r>
            <a:r>
              <a:rPr dirty="0" sz="2800" spc="-20">
                <a:latin typeface="Calibri"/>
                <a:cs typeface="Calibri"/>
              </a:rPr>
              <a:t>	</a:t>
            </a:r>
            <a:r>
              <a:rPr dirty="0" sz="2800">
                <a:latin typeface="Calibri"/>
                <a:cs typeface="Calibri"/>
              </a:rPr>
              <a:t>pooling</a:t>
            </a:r>
            <a:r>
              <a:rPr dirty="0" sz="2800" spc="-50">
                <a:latin typeface="Calibri"/>
                <a:cs typeface="Calibri"/>
              </a:rPr>
              <a:t> </a:t>
            </a:r>
            <a:r>
              <a:rPr dirty="0" sz="2800">
                <a:latin typeface="Calibri"/>
                <a:cs typeface="Calibri"/>
              </a:rPr>
              <a:t>is</a:t>
            </a:r>
            <a:r>
              <a:rPr dirty="0" sz="2800" spc="-50">
                <a:latin typeface="Calibri"/>
                <a:cs typeface="Calibri"/>
              </a:rPr>
              <a:t> </a:t>
            </a:r>
            <a:r>
              <a:rPr dirty="0" sz="2800">
                <a:latin typeface="Calibri"/>
                <a:cs typeface="Calibri"/>
              </a:rPr>
              <a:t>a</a:t>
            </a:r>
            <a:r>
              <a:rPr dirty="0" sz="2800" spc="-55">
                <a:latin typeface="Calibri"/>
                <a:cs typeface="Calibri"/>
              </a:rPr>
              <a:t> </a:t>
            </a:r>
            <a:r>
              <a:rPr dirty="0" sz="2800">
                <a:latin typeface="Calibri"/>
                <a:cs typeface="Calibri"/>
              </a:rPr>
              <a:t>“smart”</a:t>
            </a:r>
            <a:r>
              <a:rPr dirty="0" sz="2800" spc="-40">
                <a:latin typeface="Calibri"/>
                <a:cs typeface="Calibri"/>
              </a:rPr>
              <a:t> </a:t>
            </a:r>
            <a:r>
              <a:rPr dirty="0" sz="2800">
                <a:latin typeface="Calibri"/>
                <a:cs typeface="Calibri"/>
              </a:rPr>
              <a:t>way</a:t>
            </a:r>
            <a:r>
              <a:rPr dirty="0" sz="2800" spc="-70">
                <a:latin typeface="Calibri"/>
                <a:cs typeface="Calibri"/>
              </a:rPr>
              <a:t> </a:t>
            </a:r>
            <a:r>
              <a:rPr dirty="0" sz="2800">
                <a:latin typeface="Calibri"/>
                <a:cs typeface="Calibri"/>
              </a:rPr>
              <a:t>of</a:t>
            </a:r>
            <a:r>
              <a:rPr dirty="0" sz="2800" spc="-60">
                <a:latin typeface="Calibri"/>
                <a:cs typeface="Calibri"/>
              </a:rPr>
              <a:t> </a:t>
            </a:r>
            <a:r>
              <a:rPr dirty="0" sz="2800">
                <a:latin typeface="Calibri"/>
                <a:cs typeface="Calibri"/>
              </a:rPr>
              <a:t>reducing</a:t>
            </a:r>
            <a:r>
              <a:rPr dirty="0" sz="2800" spc="-35">
                <a:latin typeface="Calibri"/>
                <a:cs typeface="Calibri"/>
              </a:rPr>
              <a:t> </a:t>
            </a:r>
            <a:r>
              <a:rPr dirty="0" sz="2800">
                <a:latin typeface="Calibri"/>
                <a:cs typeface="Calibri"/>
              </a:rPr>
              <a:t>the</a:t>
            </a:r>
            <a:r>
              <a:rPr dirty="0" sz="2800" spc="-50">
                <a:latin typeface="Calibri"/>
                <a:cs typeface="Calibri"/>
              </a:rPr>
              <a:t> </a:t>
            </a:r>
            <a:r>
              <a:rPr dirty="0" sz="2800" spc="-10">
                <a:latin typeface="Calibri"/>
                <a:cs typeface="Calibri"/>
              </a:rPr>
              <a:t>dimensionality </a:t>
            </a:r>
            <a:r>
              <a:rPr dirty="0" sz="2800" spc="-10">
                <a:latin typeface="Calibri"/>
                <a:cs typeface="Calibri"/>
              </a:rPr>
              <a:t>	</a:t>
            </a:r>
            <a:r>
              <a:rPr dirty="0" sz="2800">
                <a:latin typeface="Calibri"/>
                <a:cs typeface="Calibri"/>
              </a:rPr>
              <a:t>of</a:t>
            </a:r>
            <a:r>
              <a:rPr dirty="0" sz="2800" spc="-60">
                <a:latin typeface="Calibri"/>
                <a:cs typeface="Calibri"/>
              </a:rPr>
              <a:t> </a:t>
            </a:r>
            <a:r>
              <a:rPr dirty="0" sz="2800" spc="-10">
                <a:latin typeface="Calibri"/>
                <a:cs typeface="Calibri"/>
              </a:rPr>
              <a:t>intermediate</a:t>
            </a:r>
            <a:r>
              <a:rPr dirty="0" sz="2800" spc="-60">
                <a:latin typeface="Calibri"/>
                <a:cs typeface="Calibri"/>
              </a:rPr>
              <a:t> </a:t>
            </a:r>
            <a:r>
              <a:rPr dirty="0" sz="2800" spc="-10">
                <a:latin typeface="Calibri"/>
                <a:cs typeface="Calibri"/>
              </a:rPr>
              <a:t>representations</a:t>
            </a:r>
            <a:endParaRPr sz="28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txBox="1"/>
          <p:nvPr/>
        </p:nvSpPr>
        <p:spPr>
          <a:xfrm>
            <a:off x="243320" y="587671"/>
            <a:ext cx="5186680" cy="991869"/>
          </a:xfrm>
          <a:prstGeom prst="rect">
            <a:avLst/>
          </a:prstGeom>
        </p:spPr>
        <p:txBody>
          <a:bodyPr wrap="square" lIns="0" tIns="12065" rIns="0" bIns="0" rtlCol="0" vert="horz">
            <a:spAutoFit/>
          </a:bodyPr>
          <a:lstStyle/>
          <a:p>
            <a:pPr marL="12700" marR="249554">
              <a:lnSpc>
                <a:spcPct val="118700"/>
              </a:lnSpc>
              <a:spcBef>
                <a:spcPts val="95"/>
              </a:spcBef>
            </a:pPr>
            <a:r>
              <a:rPr dirty="0" sz="1100">
                <a:latin typeface="Microsoft YaHei UI"/>
                <a:cs typeface="Microsoft YaHei UI"/>
              </a:rPr>
              <a:t>最⼤池化</a:t>
            </a:r>
            <a:r>
              <a:rPr dirty="0" sz="1100" spc="60">
                <a:latin typeface="Microsoft YaHei UI"/>
                <a:cs typeface="Microsoft YaHei UI"/>
              </a:rPr>
              <a:t>（</a:t>
            </a:r>
            <a:r>
              <a:rPr dirty="0" sz="1100" spc="60">
                <a:latin typeface="Trebuchet MS"/>
                <a:cs typeface="Trebuchet MS"/>
              </a:rPr>
              <a:t>Max </a:t>
            </a:r>
            <a:r>
              <a:rPr dirty="0" sz="1100">
                <a:latin typeface="Trebuchet MS"/>
                <a:cs typeface="Trebuchet MS"/>
              </a:rPr>
              <a:t>Pooling</a:t>
            </a:r>
            <a:r>
              <a:rPr dirty="0" sz="1100">
                <a:latin typeface="Microsoft YaHei UI"/>
                <a:cs typeface="Microsoft YaHei UI"/>
              </a:rPr>
              <a:t>）：取局部区域的最⼤值（</a:t>
            </a:r>
            <a:r>
              <a:rPr dirty="0" sz="1100" spc="-5">
                <a:latin typeface="Microsoft YaHei UI"/>
                <a:cs typeface="Microsoft YaHei UI"/>
              </a:rPr>
              <a:t>保留最显著特征，如边缘强</a:t>
            </a:r>
            <a:r>
              <a:rPr dirty="0" sz="1100">
                <a:latin typeface="Microsoft YaHei UI"/>
                <a:cs typeface="Microsoft YaHei UI"/>
              </a:rPr>
              <a:t>度），例：</a:t>
            </a:r>
            <a:r>
              <a:rPr dirty="0" sz="1100">
                <a:latin typeface="Trebuchet MS"/>
                <a:cs typeface="Trebuchet MS"/>
              </a:rPr>
              <a:t>2×2</a:t>
            </a:r>
            <a:r>
              <a:rPr dirty="0" sz="1100" spc="125">
                <a:latin typeface="Trebuchet MS"/>
                <a:cs typeface="Trebuchet MS"/>
              </a:rPr>
              <a:t> </a:t>
            </a:r>
            <a:r>
              <a:rPr dirty="0" sz="1100">
                <a:latin typeface="Microsoft YaHei UI"/>
                <a:cs typeface="Microsoft YaHei UI"/>
              </a:rPr>
              <a:t>最⼤池化（</a:t>
            </a:r>
            <a:r>
              <a:rPr dirty="0" sz="1100" spc="45">
                <a:latin typeface="Microsoft YaHei UI"/>
                <a:cs typeface="Microsoft YaHei UI"/>
              </a:rPr>
              <a:t>步⻓ </a:t>
            </a:r>
            <a:r>
              <a:rPr dirty="0" sz="1100" spc="110">
                <a:latin typeface="Trebuchet MS"/>
                <a:cs typeface="Trebuchet MS"/>
              </a:rPr>
              <a:t>= </a:t>
            </a:r>
            <a:r>
              <a:rPr dirty="0" sz="1100">
                <a:latin typeface="Trebuchet MS"/>
                <a:cs typeface="Trebuchet MS"/>
              </a:rPr>
              <a:t>2</a:t>
            </a:r>
            <a:r>
              <a:rPr dirty="0" sz="1100">
                <a:latin typeface="Microsoft YaHei UI"/>
                <a:cs typeface="Microsoft YaHei UI"/>
              </a:rPr>
              <a:t>）</a:t>
            </a:r>
            <a:r>
              <a:rPr dirty="0" sz="1100" spc="-10">
                <a:latin typeface="Microsoft YaHei UI"/>
                <a:cs typeface="Microsoft YaHei UI"/>
              </a:rPr>
              <a:t>将特征图尺⼨减半。</a:t>
            </a:r>
            <a:endParaRPr sz="1100">
              <a:latin typeface="Microsoft YaHei UI"/>
              <a:cs typeface="Microsoft YaHei UI"/>
            </a:endParaRPr>
          </a:p>
          <a:p>
            <a:pPr marL="12700" marR="5080">
              <a:lnSpc>
                <a:spcPct val="118700"/>
              </a:lnSpc>
              <a:spcBef>
                <a:spcPts val="1335"/>
              </a:spcBef>
            </a:pPr>
            <a:r>
              <a:rPr dirty="0" sz="1100">
                <a:latin typeface="Microsoft YaHei UI"/>
                <a:cs typeface="Microsoft YaHei UI"/>
              </a:rPr>
              <a:t>平均池化（</a:t>
            </a:r>
            <a:r>
              <a:rPr dirty="0" sz="1100">
                <a:latin typeface="Trebuchet MS"/>
                <a:cs typeface="Trebuchet MS"/>
              </a:rPr>
              <a:t>Average Pooling</a:t>
            </a:r>
            <a:r>
              <a:rPr dirty="0" sz="1100">
                <a:latin typeface="Microsoft YaHei UI"/>
                <a:cs typeface="Microsoft YaHei UI"/>
              </a:rPr>
              <a:t>）：取局部区域的平均值（</a:t>
            </a:r>
            <a:r>
              <a:rPr dirty="0" sz="1100" spc="-5">
                <a:latin typeface="Microsoft YaHei UI"/>
                <a:cs typeface="Microsoft YaHei UI"/>
              </a:rPr>
              <a:t>保留整体趋势，常⽤于⽹络</a:t>
            </a:r>
            <a:r>
              <a:rPr dirty="0" sz="1100">
                <a:latin typeface="Microsoft YaHei UI"/>
                <a:cs typeface="Microsoft YaHei UI"/>
              </a:rPr>
              <a:t>末尾</a:t>
            </a:r>
            <a:r>
              <a:rPr dirty="0" sz="1100" spc="-50">
                <a:latin typeface="Microsoft YaHei UI"/>
                <a:cs typeface="Microsoft YaHei UI"/>
              </a:rPr>
              <a:t>）</a:t>
            </a:r>
            <a:endParaRPr sz="1100">
              <a:latin typeface="Microsoft YaHei UI"/>
              <a:cs typeface="Microsoft YaHei UI"/>
            </a:endParaRPr>
          </a:p>
        </p:txBody>
      </p:sp>
      <p:pic>
        <p:nvPicPr>
          <p:cNvPr id="3" name="object 3" descr=""/>
          <p:cNvPicPr/>
          <p:nvPr/>
        </p:nvPicPr>
        <p:blipFill>
          <a:blip r:embed="rId2" cstate="print"/>
          <a:stretch>
            <a:fillRect/>
          </a:stretch>
        </p:blipFill>
        <p:spPr>
          <a:xfrm>
            <a:off x="353205" y="160229"/>
            <a:ext cx="629653" cy="287171"/>
          </a:xfrm>
          <a:prstGeom prst="rect">
            <a:avLst/>
          </a:prstGeom>
        </p:spPr>
      </p:pic>
      <p:pic>
        <p:nvPicPr>
          <p:cNvPr id="4" name="object 4" descr=""/>
          <p:cNvPicPr/>
          <p:nvPr/>
        </p:nvPicPr>
        <p:blipFill>
          <a:blip r:embed="rId3" cstate="print"/>
          <a:stretch>
            <a:fillRect/>
          </a:stretch>
        </p:blipFill>
        <p:spPr>
          <a:xfrm>
            <a:off x="1191359" y="163747"/>
            <a:ext cx="595063" cy="373180"/>
          </a:xfrm>
          <a:prstGeom prst="rect">
            <a:avLst/>
          </a:prstGeom>
        </p:spPr>
      </p:pic>
      <p:pic>
        <p:nvPicPr>
          <p:cNvPr id="5" name="object 5" descr=""/>
          <p:cNvPicPr/>
          <p:nvPr/>
        </p:nvPicPr>
        <p:blipFill>
          <a:blip r:embed="rId4" cstate="print"/>
          <a:stretch>
            <a:fillRect/>
          </a:stretch>
        </p:blipFill>
        <p:spPr>
          <a:xfrm>
            <a:off x="1949954" y="164376"/>
            <a:ext cx="510810" cy="320685"/>
          </a:xfrm>
          <a:prstGeom prst="rect">
            <a:avLst/>
          </a:prstGeom>
        </p:spPr>
      </p:pic>
      <p:pic>
        <p:nvPicPr>
          <p:cNvPr id="6" name="object 6" descr=""/>
          <p:cNvPicPr/>
          <p:nvPr/>
        </p:nvPicPr>
        <p:blipFill>
          <a:blip r:embed="rId5" cstate="print"/>
          <a:stretch>
            <a:fillRect/>
          </a:stretch>
        </p:blipFill>
        <p:spPr>
          <a:xfrm>
            <a:off x="378537" y="2010628"/>
            <a:ext cx="4642156" cy="300315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377634" y="224472"/>
            <a:ext cx="2791460" cy="6427470"/>
            <a:chOff x="377634" y="224472"/>
            <a:chExt cx="2791460" cy="6427470"/>
          </a:xfrm>
        </p:grpSpPr>
        <p:pic>
          <p:nvPicPr>
            <p:cNvPr id="3" name="object 3" descr=""/>
            <p:cNvPicPr/>
            <p:nvPr/>
          </p:nvPicPr>
          <p:blipFill>
            <a:blip r:embed="rId2" cstate="print"/>
            <a:stretch>
              <a:fillRect/>
            </a:stretch>
          </p:blipFill>
          <p:spPr>
            <a:xfrm>
              <a:off x="425187" y="224472"/>
              <a:ext cx="2727515" cy="6427180"/>
            </a:xfrm>
            <a:prstGeom prst="rect">
              <a:avLst/>
            </a:prstGeom>
          </p:spPr>
        </p:pic>
        <p:sp>
          <p:nvSpPr>
            <p:cNvPr id="4" name="object 4" descr=""/>
            <p:cNvSpPr/>
            <p:nvPr/>
          </p:nvSpPr>
          <p:spPr>
            <a:xfrm>
              <a:off x="404622" y="2782064"/>
              <a:ext cx="2737485" cy="576580"/>
            </a:xfrm>
            <a:custGeom>
              <a:avLst/>
              <a:gdLst/>
              <a:ahLst/>
              <a:cxnLst/>
              <a:rect l="l" t="t" r="r" b="b"/>
              <a:pathLst>
                <a:path w="2737485" h="576579">
                  <a:moveTo>
                    <a:pt x="0" y="96012"/>
                  </a:moveTo>
                  <a:lnTo>
                    <a:pt x="7545" y="58641"/>
                  </a:lnTo>
                  <a:lnTo>
                    <a:pt x="28122" y="28122"/>
                  </a:lnTo>
                  <a:lnTo>
                    <a:pt x="58641" y="7545"/>
                  </a:lnTo>
                  <a:lnTo>
                    <a:pt x="96012" y="0"/>
                  </a:lnTo>
                  <a:lnTo>
                    <a:pt x="2641092" y="0"/>
                  </a:lnTo>
                  <a:lnTo>
                    <a:pt x="2678462" y="7545"/>
                  </a:lnTo>
                  <a:lnTo>
                    <a:pt x="2708981" y="28122"/>
                  </a:lnTo>
                  <a:lnTo>
                    <a:pt x="2729558" y="58641"/>
                  </a:lnTo>
                  <a:lnTo>
                    <a:pt x="2737104" y="96012"/>
                  </a:lnTo>
                  <a:lnTo>
                    <a:pt x="2737104" y="480059"/>
                  </a:lnTo>
                  <a:lnTo>
                    <a:pt x="2729558" y="517430"/>
                  </a:lnTo>
                  <a:lnTo>
                    <a:pt x="2708981" y="547949"/>
                  </a:lnTo>
                  <a:lnTo>
                    <a:pt x="2678462" y="568526"/>
                  </a:lnTo>
                  <a:lnTo>
                    <a:pt x="2641092" y="576072"/>
                  </a:lnTo>
                  <a:lnTo>
                    <a:pt x="96012" y="576072"/>
                  </a:lnTo>
                  <a:lnTo>
                    <a:pt x="58641" y="568526"/>
                  </a:lnTo>
                  <a:lnTo>
                    <a:pt x="28122" y="547949"/>
                  </a:lnTo>
                  <a:lnTo>
                    <a:pt x="7545" y="517430"/>
                  </a:lnTo>
                  <a:lnTo>
                    <a:pt x="0" y="480059"/>
                  </a:lnTo>
                  <a:lnTo>
                    <a:pt x="0" y="96012"/>
                  </a:lnTo>
                  <a:close/>
                </a:path>
              </a:pathLst>
            </a:custGeom>
            <a:ln w="53974">
              <a:solidFill>
                <a:srgbClr val="FF0000"/>
              </a:solidFill>
            </a:ln>
          </p:spPr>
          <p:txBody>
            <a:bodyPr wrap="square" lIns="0" tIns="0" rIns="0" bIns="0" rtlCol="0"/>
            <a:lstStyle/>
            <a:p/>
          </p:txBody>
        </p:sp>
      </p:grpSp>
      <p:sp>
        <p:nvSpPr>
          <p:cNvPr id="5" name="object 5" descr=""/>
          <p:cNvSpPr txBox="1"/>
          <p:nvPr/>
        </p:nvSpPr>
        <p:spPr>
          <a:xfrm>
            <a:off x="3518998" y="4649584"/>
            <a:ext cx="4175125" cy="1186815"/>
          </a:xfrm>
          <a:prstGeom prst="rect">
            <a:avLst/>
          </a:prstGeom>
        </p:spPr>
        <p:txBody>
          <a:bodyPr wrap="square" lIns="0" tIns="12065" rIns="0" bIns="0" rtlCol="0" vert="horz">
            <a:spAutoFit/>
          </a:bodyPr>
          <a:lstStyle/>
          <a:p>
            <a:pPr marL="12700">
              <a:lnSpc>
                <a:spcPct val="100000"/>
              </a:lnSpc>
              <a:spcBef>
                <a:spcPts val="95"/>
              </a:spcBef>
            </a:pPr>
            <a:r>
              <a:rPr dirty="0" sz="2800" b="1">
                <a:solidFill>
                  <a:srgbClr val="0000FF"/>
                </a:solidFill>
                <a:latin typeface="Calibri"/>
                <a:cs typeface="Calibri"/>
              </a:rPr>
              <a:t>Max</a:t>
            </a:r>
            <a:r>
              <a:rPr dirty="0" sz="2800" spc="-65" b="1">
                <a:solidFill>
                  <a:srgbClr val="0000FF"/>
                </a:solidFill>
                <a:latin typeface="Calibri"/>
                <a:cs typeface="Calibri"/>
              </a:rPr>
              <a:t> </a:t>
            </a:r>
            <a:r>
              <a:rPr dirty="0" sz="2800" spc="-10" b="1">
                <a:solidFill>
                  <a:srgbClr val="0000FF"/>
                </a:solidFill>
                <a:latin typeface="Calibri"/>
                <a:cs typeface="Calibri"/>
              </a:rPr>
              <a:t>pooling:</a:t>
            </a:r>
            <a:endParaRPr sz="2800">
              <a:latin typeface="Calibri"/>
              <a:cs typeface="Calibri"/>
            </a:endParaRPr>
          </a:p>
          <a:p>
            <a:pPr marL="354965" indent="-342265">
              <a:lnSpc>
                <a:spcPct val="100000"/>
              </a:lnSpc>
              <a:spcBef>
                <a:spcPts val="25"/>
              </a:spcBef>
              <a:buFont typeface="Arial MT"/>
              <a:buChar char="•"/>
              <a:tabLst>
                <a:tab pos="354965" algn="l"/>
              </a:tabLst>
            </a:pPr>
            <a:r>
              <a:rPr dirty="0" sz="2400" b="1">
                <a:latin typeface="Calibri"/>
                <a:cs typeface="Calibri"/>
              </a:rPr>
              <a:t>a</a:t>
            </a:r>
            <a:r>
              <a:rPr dirty="0" sz="2400" spc="-5" b="1">
                <a:latin typeface="Calibri"/>
                <a:cs typeface="Calibri"/>
              </a:rPr>
              <a:t> </a:t>
            </a:r>
            <a:r>
              <a:rPr dirty="0" sz="2400" spc="-10" b="1">
                <a:latin typeface="Calibri"/>
                <a:cs typeface="Calibri"/>
              </a:rPr>
              <a:t>non-</a:t>
            </a:r>
            <a:r>
              <a:rPr dirty="0" sz="2400" b="1">
                <a:latin typeface="Calibri"/>
                <a:cs typeface="Calibri"/>
              </a:rPr>
              <a:t>linear</a:t>
            </a:r>
            <a:r>
              <a:rPr dirty="0" sz="2400" spc="-5" b="1">
                <a:latin typeface="Calibri"/>
                <a:cs typeface="Calibri"/>
              </a:rPr>
              <a:t> </a:t>
            </a:r>
            <a:r>
              <a:rPr dirty="0" sz="2400" spc="-10" b="1">
                <a:latin typeface="Calibri"/>
                <a:cs typeface="Calibri"/>
              </a:rPr>
              <a:t>down-sampling</a:t>
            </a:r>
            <a:endParaRPr sz="2400">
              <a:latin typeface="Calibri"/>
              <a:cs typeface="Calibri"/>
            </a:endParaRPr>
          </a:p>
          <a:p>
            <a:pPr marL="354965" indent="-342265">
              <a:lnSpc>
                <a:spcPct val="100000"/>
              </a:lnSpc>
              <a:spcBef>
                <a:spcPts val="5"/>
              </a:spcBef>
              <a:buFont typeface="Arial MT"/>
              <a:buChar char="•"/>
              <a:tabLst>
                <a:tab pos="354965" algn="l"/>
              </a:tabLst>
            </a:pPr>
            <a:r>
              <a:rPr dirty="0" sz="2400" b="1">
                <a:latin typeface="Calibri"/>
                <a:cs typeface="Calibri"/>
              </a:rPr>
              <a:t>Provide</a:t>
            </a:r>
            <a:r>
              <a:rPr dirty="0" sz="2400" spc="-110" b="1">
                <a:latin typeface="Calibri"/>
                <a:cs typeface="Calibri"/>
              </a:rPr>
              <a:t> </a:t>
            </a:r>
            <a:r>
              <a:rPr dirty="0" sz="2400" b="1" i="1">
                <a:latin typeface="Calibri"/>
                <a:cs typeface="Calibri"/>
              </a:rPr>
              <a:t>translation</a:t>
            </a:r>
            <a:r>
              <a:rPr dirty="0" sz="2400" spc="-85" b="1" i="1">
                <a:latin typeface="Calibri"/>
                <a:cs typeface="Calibri"/>
              </a:rPr>
              <a:t> </a:t>
            </a:r>
            <a:r>
              <a:rPr dirty="0" sz="2400" spc="-10" b="1" i="1">
                <a:latin typeface="Calibri"/>
                <a:cs typeface="Calibri"/>
              </a:rPr>
              <a:t>invariance</a:t>
            </a:r>
            <a:endParaRPr sz="2400">
              <a:latin typeface="Calibri"/>
              <a:cs typeface="Calibri"/>
            </a:endParaRPr>
          </a:p>
        </p:txBody>
      </p:sp>
      <p:pic>
        <p:nvPicPr>
          <p:cNvPr id="6" name="object 6" descr=""/>
          <p:cNvPicPr/>
          <p:nvPr/>
        </p:nvPicPr>
        <p:blipFill>
          <a:blip r:embed="rId3" cstate="print"/>
          <a:stretch>
            <a:fillRect/>
          </a:stretch>
        </p:blipFill>
        <p:spPr>
          <a:xfrm>
            <a:off x="3395724" y="1655310"/>
            <a:ext cx="5481575" cy="231318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457325" y="2358009"/>
            <a:ext cx="6258304" cy="4057648"/>
          </a:xfrm>
          <a:prstGeom prst="rect">
            <a:avLst/>
          </a:prstGeom>
        </p:spPr>
      </p:pic>
      <p:sp>
        <p:nvSpPr>
          <p:cNvPr id="3" name="object 3"/>
          <p:cNvSpPr txBox="1">
            <a:spLocks noGrp="1"/>
          </p:cNvSpPr>
          <p:nvPr>
            <p:ph type="title"/>
          </p:nvPr>
        </p:nvSpPr>
        <p:spPr>
          <a:prstGeom prst="rect"/>
        </p:spPr>
        <p:txBody>
          <a:bodyPr wrap="square" lIns="0" tIns="627047" rIns="0" bIns="0" rtlCol="0" vert="horz">
            <a:spAutoFit/>
          </a:bodyPr>
          <a:lstStyle/>
          <a:p>
            <a:pPr marL="401320">
              <a:lnSpc>
                <a:spcPct val="100000"/>
              </a:lnSpc>
              <a:spcBef>
                <a:spcPts val="95"/>
              </a:spcBef>
            </a:pPr>
            <a:r>
              <a:rPr dirty="0"/>
              <a:t>Max</a:t>
            </a:r>
            <a:r>
              <a:rPr dirty="0" spc="-85"/>
              <a:t> </a:t>
            </a:r>
            <a:r>
              <a:rPr dirty="0"/>
              <a:t>Pooling</a:t>
            </a:r>
            <a:r>
              <a:rPr dirty="0" spc="-75"/>
              <a:t> </a:t>
            </a:r>
            <a:r>
              <a:rPr dirty="0"/>
              <a:t>&amp;</a:t>
            </a:r>
            <a:r>
              <a:rPr dirty="0" spc="-100"/>
              <a:t> </a:t>
            </a:r>
            <a:r>
              <a:rPr dirty="0"/>
              <a:t>Average</a:t>
            </a:r>
            <a:r>
              <a:rPr dirty="0" spc="-90"/>
              <a:t> </a:t>
            </a:r>
            <a:r>
              <a:rPr dirty="0" spc="-10"/>
              <a:t>Pooling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469404" y="2209800"/>
            <a:ext cx="1952231" cy="2447555"/>
          </a:xfrm>
          <a:prstGeom prst="rect">
            <a:avLst/>
          </a:prstGeom>
        </p:spPr>
      </p:pic>
      <p:pic>
        <p:nvPicPr>
          <p:cNvPr id="3" name="object 3" descr=""/>
          <p:cNvPicPr/>
          <p:nvPr/>
        </p:nvPicPr>
        <p:blipFill>
          <a:blip r:embed="rId3" cstate="print"/>
          <a:stretch>
            <a:fillRect/>
          </a:stretch>
        </p:blipFill>
        <p:spPr>
          <a:xfrm>
            <a:off x="3783720" y="1047750"/>
            <a:ext cx="3838922" cy="2324100"/>
          </a:xfrm>
          <a:prstGeom prst="rect">
            <a:avLst/>
          </a:prstGeom>
        </p:spPr>
      </p:pic>
      <p:pic>
        <p:nvPicPr>
          <p:cNvPr id="4" name="object 4" descr=""/>
          <p:cNvPicPr/>
          <p:nvPr/>
        </p:nvPicPr>
        <p:blipFill>
          <a:blip r:embed="rId4" cstate="print"/>
          <a:stretch>
            <a:fillRect/>
          </a:stretch>
        </p:blipFill>
        <p:spPr>
          <a:xfrm>
            <a:off x="4121016" y="4625340"/>
            <a:ext cx="1018713" cy="1281584"/>
          </a:xfrm>
          <a:prstGeom prst="rect">
            <a:avLst/>
          </a:prstGeom>
        </p:spPr>
      </p:pic>
      <p:pic>
        <p:nvPicPr>
          <p:cNvPr id="5" name="object 5" descr=""/>
          <p:cNvPicPr/>
          <p:nvPr/>
        </p:nvPicPr>
        <p:blipFill>
          <a:blip r:embed="rId5" cstate="print"/>
          <a:stretch>
            <a:fillRect/>
          </a:stretch>
        </p:blipFill>
        <p:spPr>
          <a:xfrm>
            <a:off x="6150377" y="4640580"/>
            <a:ext cx="1012406" cy="1281143"/>
          </a:xfrm>
          <a:prstGeom prst="rect">
            <a:avLst/>
          </a:prstGeom>
        </p:spPr>
      </p:pic>
      <p:sp>
        <p:nvSpPr>
          <p:cNvPr id="6" name="object 6" descr=""/>
          <p:cNvSpPr txBox="1"/>
          <p:nvPr/>
        </p:nvSpPr>
        <p:spPr>
          <a:xfrm>
            <a:off x="3835604" y="4096269"/>
            <a:ext cx="1808480"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Calibri"/>
                <a:cs typeface="Calibri"/>
              </a:rPr>
              <a:t>Down-</a:t>
            </a:r>
            <a:r>
              <a:rPr dirty="0" sz="2000" b="1">
                <a:latin typeface="Calibri"/>
                <a:cs typeface="Calibri"/>
              </a:rPr>
              <a:t>sampled</a:t>
            </a:r>
            <a:r>
              <a:rPr dirty="0" sz="2000" spc="-40" b="1">
                <a:latin typeface="Calibri"/>
                <a:cs typeface="Calibri"/>
              </a:rPr>
              <a:t> </a:t>
            </a:r>
            <a:r>
              <a:rPr dirty="0" sz="2000" spc="-50" b="1">
                <a:latin typeface="Calibri"/>
                <a:cs typeface="Calibri"/>
              </a:rPr>
              <a:t>1</a:t>
            </a:r>
            <a:endParaRPr sz="2000">
              <a:latin typeface="Calibri"/>
              <a:cs typeface="Calibri"/>
            </a:endParaRPr>
          </a:p>
        </p:txBody>
      </p:sp>
      <p:sp>
        <p:nvSpPr>
          <p:cNvPr id="7" name="object 7" descr=""/>
          <p:cNvSpPr txBox="1"/>
          <p:nvPr/>
        </p:nvSpPr>
        <p:spPr>
          <a:xfrm>
            <a:off x="5929186" y="4096269"/>
            <a:ext cx="1866264" cy="330835"/>
          </a:xfrm>
          <a:prstGeom prst="rect">
            <a:avLst/>
          </a:prstGeom>
        </p:spPr>
        <p:txBody>
          <a:bodyPr wrap="square" lIns="0" tIns="12700" rIns="0" bIns="0" rtlCol="0" vert="horz">
            <a:spAutoFit/>
          </a:bodyPr>
          <a:lstStyle/>
          <a:p>
            <a:pPr marL="12700">
              <a:lnSpc>
                <a:spcPct val="100000"/>
              </a:lnSpc>
              <a:spcBef>
                <a:spcPts val="100"/>
              </a:spcBef>
            </a:pPr>
            <a:r>
              <a:rPr dirty="0" sz="2000" spc="-10" b="1">
                <a:latin typeface="Calibri"/>
                <a:cs typeface="Calibri"/>
              </a:rPr>
              <a:t>Down-</a:t>
            </a:r>
            <a:r>
              <a:rPr dirty="0" sz="2000" b="1">
                <a:latin typeface="Calibri"/>
                <a:cs typeface="Calibri"/>
              </a:rPr>
              <a:t>sampled</a:t>
            </a:r>
            <a:r>
              <a:rPr dirty="0" sz="2000" spc="415" b="1">
                <a:latin typeface="Calibri"/>
                <a:cs typeface="Calibri"/>
              </a:rPr>
              <a:t> </a:t>
            </a:r>
            <a:r>
              <a:rPr dirty="0" sz="2000" spc="-50" b="1">
                <a:latin typeface="Calibri"/>
                <a:cs typeface="Calibri"/>
              </a:rPr>
              <a:t>2</a:t>
            </a:r>
            <a:endParaRPr sz="2000">
              <a:latin typeface="Calibri"/>
              <a:cs typeface="Calibri"/>
            </a:endParaRPr>
          </a:p>
        </p:txBody>
      </p:sp>
      <p:sp>
        <p:nvSpPr>
          <p:cNvPr id="8" name="object 8"/>
          <p:cNvSpPr txBox="1">
            <a:spLocks noGrp="1"/>
          </p:cNvSpPr>
          <p:nvPr>
            <p:ph type="title"/>
          </p:nvPr>
        </p:nvSpPr>
        <p:spPr>
          <a:xfrm>
            <a:off x="402267" y="477688"/>
            <a:ext cx="1813560" cy="635000"/>
          </a:xfrm>
          <a:prstGeom prst="rect"/>
        </p:spPr>
        <p:txBody>
          <a:bodyPr wrap="square" lIns="0" tIns="12065" rIns="0" bIns="0" rtlCol="0" vert="horz">
            <a:spAutoFit/>
          </a:bodyPr>
          <a:lstStyle/>
          <a:p>
            <a:pPr marL="12700">
              <a:lnSpc>
                <a:spcPct val="100000"/>
              </a:lnSpc>
              <a:spcBef>
                <a:spcPts val="95"/>
              </a:spcBef>
            </a:pPr>
            <a:r>
              <a:rPr dirty="0" spc="-10">
                <a:latin typeface="Calibri"/>
                <a:cs typeface="Calibri"/>
              </a:rPr>
              <a:t>Example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239675" y="254130"/>
            <a:ext cx="2710047" cy="6326167"/>
          </a:xfrm>
          <a:prstGeom prst="rect">
            <a:avLst/>
          </a:prstGeom>
        </p:spPr>
      </p:pic>
      <p:pic>
        <p:nvPicPr>
          <p:cNvPr id="3" name="object 3" descr=""/>
          <p:cNvPicPr/>
          <p:nvPr/>
        </p:nvPicPr>
        <p:blipFill>
          <a:blip r:embed="rId3" cstate="print"/>
          <a:stretch>
            <a:fillRect/>
          </a:stretch>
        </p:blipFill>
        <p:spPr>
          <a:xfrm>
            <a:off x="3220866" y="3159576"/>
            <a:ext cx="5660650" cy="1741600"/>
          </a:xfrm>
          <a:prstGeom prst="rect">
            <a:avLst/>
          </a:prstGeom>
        </p:spPr>
      </p:pic>
      <p:sp>
        <p:nvSpPr>
          <p:cNvPr id="4" name="object 4" descr=""/>
          <p:cNvSpPr txBox="1"/>
          <p:nvPr/>
        </p:nvSpPr>
        <p:spPr>
          <a:xfrm>
            <a:off x="6333535" y="5099050"/>
            <a:ext cx="1770380" cy="1122680"/>
          </a:xfrm>
          <a:prstGeom prst="rect">
            <a:avLst/>
          </a:prstGeom>
        </p:spPr>
        <p:txBody>
          <a:bodyPr wrap="square" lIns="0" tIns="12700" rIns="0" bIns="0" rtlCol="0" vert="horz">
            <a:spAutoFit/>
          </a:bodyPr>
          <a:lstStyle/>
          <a:p>
            <a:pPr algn="just" marL="12700" marR="5080">
              <a:lnSpc>
                <a:spcPct val="100000"/>
              </a:lnSpc>
              <a:spcBef>
                <a:spcPts val="100"/>
              </a:spcBef>
            </a:pPr>
            <a:r>
              <a:rPr dirty="0" sz="2400">
                <a:latin typeface="Calibri"/>
                <a:cs typeface="Calibri"/>
              </a:rPr>
              <a:t>Feature</a:t>
            </a:r>
            <a:r>
              <a:rPr dirty="0" sz="2400" spc="-130">
                <a:latin typeface="Calibri"/>
                <a:cs typeface="Calibri"/>
              </a:rPr>
              <a:t> </a:t>
            </a:r>
            <a:r>
              <a:rPr dirty="0" sz="2400" spc="-20">
                <a:latin typeface="Calibri"/>
                <a:cs typeface="Calibri"/>
              </a:rPr>
              <a:t>Maps </a:t>
            </a:r>
            <a:r>
              <a:rPr dirty="0" sz="2400">
                <a:latin typeface="Calibri"/>
                <a:cs typeface="Calibri"/>
              </a:rPr>
              <a:t>After</a:t>
            </a:r>
            <a:r>
              <a:rPr dirty="0" sz="2400" spc="-75">
                <a:latin typeface="Calibri"/>
                <a:cs typeface="Calibri"/>
              </a:rPr>
              <a:t> </a:t>
            </a:r>
            <a:r>
              <a:rPr dirty="0" sz="2400" spc="-10">
                <a:latin typeface="Calibri"/>
                <a:cs typeface="Calibri"/>
              </a:rPr>
              <a:t>Contrast Normalization</a:t>
            </a:r>
            <a:endParaRPr sz="2400">
              <a:latin typeface="Calibri"/>
              <a:cs typeface="Calibri"/>
            </a:endParaRPr>
          </a:p>
        </p:txBody>
      </p:sp>
      <p:sp>
        <p:nvSpPr>
          <p:cNvPr id="5" name="object 5" descr=""/>
          <p:cNvSpPr txBox="1"/>
          <p:nvPr/>
        </p:nvSpPr>
        <p:spPr>
          <a:xfrm>
            <a:off x="3517488" y="5134407"/>
            <a:ext cx="1727200"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Feature</a:t>
            </a:r>
            <a:r>
              <a:rPr dirty="0" sz="2400" spc="-130">
                <a:latin typeface="Calibri"/>
                <a:cs typeface="Calibri"/>
              </a:rPr>
              <a:t> </a:t>
            </a:r>
            <a:r>
              <a:rPr dirty="0" sz="2400" spc="-20">
                <a:latin typeface="Calibri"/>
                <a:cs typeface="Calibri"/>
              </a:rPr>
              <a:t>Maps</a:t>
            </a:r>
            <a:endParaRPr sz="2400">
              <a:latin typeface="Calibri"/>
              <a:cs typeface="Calibri"/>
            </a:endParaRPr>
          </a:p>
        </p:txBody>
      </p:sp>
      <p:pic>
        <p:nvPicPr>
          <p:cNvPr id="6" name="object 6" descr=""/>
          <p:cNvPicPr/>
          <p:nvPr/>
        </p:nvPicPr>
        <p:blipFill>
          <a:blip r:embed="rId4" cstate="print"/>
          <a:stretch>
            <a:fillRect/>
          </a:stretch>
        </p:blipFill>
        <p:spPr>
          <a:xfrm>
            <a:off x="3107053" y="934974"/>
            <a:ext cx="5954843" cy="1146809"/>
          </a:xfrm>
          <a:prstGeom prst="rect">
            <a:avLst/>
          </a:prstGeom>
        </p:spPr>
      </p:pic>
      <p:sp>
        <p:nvSpPr>
          <p:cNvPr id="7" name="object 7" descr=""/>
          <p:cNvSpPr txBox="1"/>
          <p:nvPr/>
        </p:nvSpPr>
        <p:spPr>
          <a:xfrm>
            <a:off x="3335044" y="2126529"/>
            <a:ext cx="5346700" cy="995680"/>
          </a:xfrm>
          <a:prstGeom prst="rect">
            <a:avLst/>
          </a:prstGeom>
        </p:spPr>
        <p:txBody>
          <a:bodyPr wrap="square" lIns="0" tIns="12700" rIns="0" bIns="0" rtlCol="0" vert="horz">
            <a:spAutoFit/>
          </a:bodyPr>
          <a:lstStyle/>
          <a:p>
            <a:pPr marL="12700" marR="5080">
              <a:lnSpc>
                <a:spcPct val="115700"/>
              </a:lnSpc>
              <a:spcBef>
                <a:spcPts val="100"/>
              </a:spcBef>
            </a:pPr>
            <a:r>
              <a:rPr dirty="0" sz="1100" spc="-20">
                <a:latin typeface="Microsoft YaHei UI"/>
                <a:cs typeface="Microsoft YaHei UI"/>
              </a:rPr>
              <a:t>功能：缓解 “内部协变量偏移</a:t>
            </a:r>
            <a:r>
              <a:rPr dirty="0" sz="1100">
                <a:latin typeface="Microsoft YaHei UI"/>
                <a:cs typeface="Microsoft YaHei UI"/>
              </a:rPr>
              <a:t>”（训练中每层输⼊分布不断变化），</a:t>
            </a:r>
            <a:r>
              <a:rPr dirty="0" sz="1100" spc="-10">
                <a:latin typeface="Microsoft YaHei UI"/>
                <a:cs typeface="Microsoft YaHei UI"/>
              </a:rPr>
              <a:t>加速训练收敛，提升</a:t>
            </a:r>
            <a:r>
              <a:rPr dirty="0" sz="1100" spc="-25">
                <a:latin typeface="Microsoft YaHei UI"/>
                <a:cs typeface="Microsoft YaHei UI"/>
              </a:rPr>
              <a:t>模型稳定性。</a:t>
            </a:r>
            <a:endParaRPr sz="1100">
              <a:latin typeface="Microsoft YaHei UI"/>
              <a:cs typeface="Microsoft YaHei UI"/>
            </a:endParaRPr>
          </a:p>
          <a:p>
            <a:pPr marL="12700">
              <a:lnSpc>
                <a:spcPct val="100000"/>
              </a:lnSpc>
              <a:spcBef>
                <a:spcPts val="209"/>
              </a:spcBef>
            </a:pPr>
            <a:r>
              <a:rPr dirty="0" sz="1100" spc="-30">
                <a:latin typeface="Microsoft YaHei UI"/>
                <a:cs typeface="Microsoft YaHei UI"/>
              </a:rPr>
              <a:t>代表类型：</a:t>
            </a:r>
            <a:endParaRPr sz="1100">
              <a:latin typeface="Microsoft YaHei UI"/>
              <a:cs typeface="Microsoft YaHei UI"/>
            </a:endParaRPr>
          </a:p>
          <a:p>
            <a:pPr marL="12700" marR="14604">
              <a:lnSpc>
                <a:spcPct val="115700"/>
              </a:lnSpc>
            </a:pPr>
            <a:r>
              <a:rPr dirty="0" sz="1100" spc="-20">
                <a:latin typeface="Microsoft YaHei UI"/>
                <a:cs typeface="Microsoft YaHei UI"/>
              </a:rPr>
              <a:t>批量归⼀化</a:t>
            </a:r>
            <a:r>
              <a:rPr dirty="0" sz="1100">
                <a:latin typeface="Microsoft YaHei UI"/>
                <a:cs typeface="Microsoft YaHei UI"/>
              </a:rPr>
              <a:t>（Batch</a:t>
            </a:r>
            <a:r>
              <a:rPr dirty="0" sz="1100" spc="85">
                <a:latin typeface="Microsoft YaHei UI"/>
                <a:cs typeface="Microsoft YaHei UI"/>
              </a:rPr>
              <a:t> </a:t>
            </a:r>
            <a:r>
              <a:rPr dirty="0" sz="1100" spc="-40">
                <a:latin typeface="Microsoft YaHei UI"/>
                <a:cs typeface="Microsoft YaHei UI"/>
              </a:rPr>
              <a:t>Normalization,</a:t>
            </a:r>
            <a:r>
              <a:rPr dirty="0" sz="1100" spc="90">
                <a:latin typeface="Microsoft YaHei UI"/>
                <a:cs typeface="Microsoft YaHei UI"/>
              </a:rPr>
              <a:t> </a:t>
            </a:r>
            <a:r>
              <a:rPr dirty="0" sz="1100" spc="-25">
                <a:latin typeface="Microsoft YaHei UI"/>
                <a:cs typeface="Microsoft YaHei UI"/>
              </a:rPr>
              <a:t>BN）：</a:t>
            </a:r>
            <a:r>
              <a:rPr dirty="0" sz="1100" spc="-30">
                <a:latin typeface="Microsoft YaHei UI"/>
                <a:cs typeface="Microsoft YaHei UI"/>
              </a:rPr>
              <a:t>对每个批次的输⼊数据进⾏标准化（</a:t>
            </a:r>
            <a:r>
              <a:rPr dirty="0" sz="1100">
                <a:latin typeface="Microsoft YaHei UI"/>
                <a:cs typeface="Microsoft YaHei UI"/>
              </a:rPr>
              <a:t>均值 =</a:t>
            </a:r>
            <a:r>
              <a:rPr dirty="0" sz="1100" spc="-50">
                <a:latin typeface="Microsoft YaHei UI"/>
                <a:cs typeface="Microsoft YaHei UI"/>
              </a:rPr>
              <a:t> </a:t>
            </a:r>
            <a:r>
              <a:rPr dirty="0" sz="1100" spc="-10">
                <a:latin typeface="Microsoft YaHei UI"/>
                <a:cs typeface="Microsoft YaHei UI"/>
              </a:rPr>
              <a:t>0，</a:t>
            </a:r>
            <a:r>
              <a:rPr dirty="0" sz="1100" spc="20">
                <a:latin typeface="Microsoft YaHei UI"/>
                <a:cs typeface="Microsoft YaHei UI"/>
              </a:rPr>
              <a:t>⽅差 = </a:t>
            </a:r>
            <a:r>
              <a:rPr dirty="0" sz="1100" spc="-25">
                <a:latin typeface="Microsoft YaHei UI"/>
                <a:cs typeface="Microsoft YaHei UI"/>
              </a:rPr>
              <a:t>1），</a:t>
            </a:r>
            <a:r>
              <a:rPr dirty="0" sz="1100" spc="-35">
                <a:latin typeface="Microsoft YaHei UI"/>
                <a:cs typeface="Microsoft YaHei UI"/>
              </a:rPr>
              <a:t>是⽬前主流的归⼀化⽅法，通常插⼊在卷积层与激活函数之间。</a:t>
            </a:r>
            <a:endParaRPr sz="1100">
              <a:latin typeface="Microsoft YaHei UI"/>
              <a:cs typeface="Microsoft YaHei UI"/>
            </a:endParaRPr>
          </a:p>
        </p:txBody>
      </p:sp>
      <p:pic>
        <p:nvPicPr>
          <p:cNvPr id="8" name="object 8" descr=""/>
          <p:cNvPicPr/>
          <p:nvPr/>
        </p:nvPicPr>
        <p:blipFill>
          <a:blip r:embed="rId5" cstate="print"/>
          <a:stretch>
            <a:fillRect/>
          </a:stretch>
        </p:blipFill>
        <p:spPr>
          <a:xfrm>
            <a:off x="3466527" y="328460"/>
            <a:ext cx="942197" cy="325946"/>
          </a:xfrm>
          <a:prstGeom prst="rect">
            <a:avLst/>
          </a:prstGeom>
        </p:spPr>
      </p:pic>
      <p:sp>
        <p:nvSpPr>
          <p:cNvPr id="9" name="object 9" descr=""/>
          <p:cNvSpPr/>
          <p:nvPr/>
        </p:nvSpPr>
        <p:spPr>
          <a:xfrm>
            <a:off x="5565518" y="2132951"/>
            <a:ext cx="2941320" cy="0"/>
          </a:xfrm>
          <a:custGeom>
            <a:avLst/>
            <a:gdLst/>
            <a:ahLst/>
            <a:cxnLst/>
            <a:rect l="l" t="t" r="r" b="b"/>
            <a:pathLst>
              <a:path w="2941320" h="0">
                <a:moveTo>
                  <a:pt x="0" y="0"/>
                </a:moveTo>
                <a:lnTo>
                  <a:pt x="2940889" y="0"/>
                </a:lnTo>
              </a:path>
            </a:pathLst>
          </a:custGeom>
          <a:ln w="14400">
            <a:solidFill>
              <a:srgbClr val="D20000"/>
            </a:solidFill>
          </a:ln>
        </p:spPr>
        <p:txBody>
          <a:bodyPr wrap="square" lIns="0" tIns="0" rIns="0" bIns="0" rtlCol="0"/>
          <a:lstStyle/>
          <a:p/>
        </p:txBody>
      </p:sp>
      <p:pic>
        <p:nvPicPr>
          <p:cNvPr id="10" name="object 10" descr=""/>
          <p:cNvPicPr/>
          <p:nvPr/>
        </p:nvPicPr>
        <p:blipFill>
          <a:blip r:embed="rId6" cstate="print"/>
          <a:stretch>
            <a:fillRect/>
          </a:stretch>
        </p:blipFill>
        <p:spPr>
          <a:xfrm>
            <a:off x="3198693" y="5498022"/>
            <a:ext cx="3115961" cy="109889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9330" y="337103"/>
            <a:ext cx="7315200" cy="696595"/>
          </a:xfrm>
          <a:prstGeom prst="rect"/>
        </p:spPr>
        <p:txBody>
          <a:bodyPr wrap="square" lIns="0" tIns="12700" rIns="0" bIns="0" rtlCol="0" vert="horz">
            <a:spAutoFit/>
          </a:bodyPr>
          <a:lstStyle/>
          <a:p>
            <a:pPr marL="12700">
              <a:lnSpc>
                <a:spcPct val="100000"/>
              </a:lnSpc>
              <a:spcBef>
                <a:spcPts val="100"/>
              </a:spcBef>
            </a:pPr>
            <a:r>
              <a:rPr dirty="0" sz="4400"/>
              <a:t>What</a:t>
            </a:r>
            <a:r>
              <a:rPr dirty="0" sz="4400" spc="-35"/>
              <a:t> </a:t>
            </a:r>
            <a:r>
              <a:rPr dirty="0" sz="4400"/>
              <a:t>is</a:t>
            </a:r>
            <a:r>
              <a:rPr dirty="0" sz="4400" spc="-35"/>
              <a:t> </a:t>
            </a:r>
            <a:r>
              <a:rPr dirty="0" sz="4400"/>
              <a:t>really</a:t>
            </a:r>
            <a:r>
              <a:rPr dirty="0" sz="4400" spc="-35"/>
              <a:t> </a:t>
            </a:r>
            <a:r>
              <a:rPr dirty="0" sz="4400"/>
              <a:t>important</a:t>
            </a:r>
            <a:r>
              <a:rPr dirty="0" sz="4400" spc="-45"/>
              <a:t> </a:t>
            </a:r>
            <a:r>
              <a:rPr dirty="0" sz="4400" spc="-50"/>
              <a:t>?</a:t>
            </a:r>
            <a:endParaRPr sz="4400"/>
          </a:p>
        </p:txBody>
      </p:sp>
      <p:sp>
        <p:nvSpPr>
          <p:cNvPr id="3" name="object 3" descr=""/>
          <p:cNvSpPr txBox="1"/>
          <p:nvPr/>
        </p:nvSpPr>
        <p:spPr>
          <a:xfrm>
            <a:off x="330259" y="1192967"/>
            <a:ext cx="8007350" cy="1476375"/>
          </a:xfrm>
          <a:prstGeom prst="rect">
            <a:avLst/>
          </a:prstGeom>
        </p:spPr>
        <p:txBody>
          <a:bodyPr wrap="square" lIns="0" tIns="97790" rIns="0" bIns="0" rtlCol="0" vert="horz">
            <a:spAutoFit/>
          </a:bodyPr>
          <a:lstStyle/>
          <a:p>
            <a:pPr marL="354965" indent="-342265">
              <a:lnSpc>
                <a:spcPct val="100000"/>
              </a:lnSpc>
              <a:spcBef>
                <a:spcPts val="770"/>
              </a:spcBef>
              <a:buFont typeface="Arial MT"/>
              <a:buChar char="•"/>
              <a:tabLst>
                <a:tab pos="354965" algn="l"/>
              </a:tabLst>
            </a:pPr>
            <a:r>
              <a:rPr dirty="0" sz="2800">
                <a:latin typeface="Calibri"/>
                <a:cs typeface="Calibri"/>
              </a:rPr>
              <a:t>The</a:t>
            </a:r>
            <a:r>
              <a:rPr dirty="0" sz="2800" spc="-85">
                <a:latin typeface="Calibri"/>
                <a:cs typeface="Calibri"/>
              </a:rPr>
              <a:t> </a:t>
            </a:r>
            <a:r>
              <a:rPr dirty="0" sz="2800" spc="-10">
                <a:latin typeface="Calibri"/>
                <a:cs typeface="Calibri"/>
              </a:rPr>
              <a:t>convolutional</a:t>
            </a:r>
            <a:r>
              <a:rPr dirty="0" sz="2800" spc="-55">
                <a:latin typeface="Calibri"/>
                <a:cs typeface="Calibri"/>
              </a:rPr>
              <a:t> </a:t>
            </a:r>
            <a:r>
              <a:rPr dirty="0" sz="2800" spc="-10">
                <a:latin typeface="Calibri"/>
                <a:cs typeface="Calibri"/>
              </a:rPr>
              <a:t>layers</a:t>
            </a:r>
            <a:r>
              <a:rPr dirty="0" sz="2800" spc="-80">
                <a:latin typeface="Calibri"/>
                <a:cs typeface="Calibri"/>
              </a:rPr>
              <a:t> </a:t>
            </a:r>
            <a:r>
              <a:rPr dirty="0" sz="2800">
                <a:latin typeface="Calibri"/>
                <a:cs typeface="Calibri"/>
              </a:rPr>
              <a:t>are</a:t>
            </a:r>
            <a:r>
              <a:rPr dirty="0" sz="2800" spc="-80">
                <a:latin typeface="Calibri"/>
                <a:cs typeface="Calibri"/>
              </a:rPr>
              <a:t> </a:t>
            </a:r>
            <a:r>
              <a:rPr dirty="0" sz="2800">
                <a:latin typeface="Calibri"/>
                <a:cs typeface="Calibri"/>
              </a:rPr>
              <a:t>the</a:t>
            </a:r>
            <a:r>
              <a:rPr dirty="0" sz="2800" spc="-85">
                <a:latin typeface="Calibri"/>
                <a:cs typeface="Calibri"/>
              </a:rPr>
              <a:t> </a:t>
            </a:r>
            <a:r>
              <a:rPr dirty="0" sz="2800">
                <a:latin typeface="Calibri"/>
                <a:cs typeface="Calibri"/>
              </a:rPr>
              <a:t>most</a:t>
            </a:r>
            <a:r>
              <a:rPr dirty="0" sz="2800" spc="-55">
                <a:latin typeface="Calibri"/>
                <a:cs typeface="Calibri"/>
              </a:rPr>
              <a:t> </a:t>
            </a:r>
            <a:r>
              <a:rPr dirty="0" sz="2800" spc="-10">
                <a:latin typeface="Calibri"/>
                <a:cs typeface="Calibri"/>
              </a:rPr>
              <a:t>important</a:t>
            </a:r>
            <a:r>
              <a:rPr dirty="0" sz="2800" spc="-55">
                <a:latin typeface="Calibri"/>
                <a:cs typeface="Calibri"/>
              </a:rPr>
              <a:t> </a:t>
            </a:r>
            <a:r>
              <a:rPr dirty="0" sz="2800" spc="-20">
                <a:latin typeface="Calibri"/>
                <a:cs typeface="Calibri"/>
              </a:rPr>
              <a:t>part</a:t>
            </a:r>
            <a:endParaRPr sz="2800">
              <a:latin typeface="Calibri"/>
              <a:cs typeface="Calibri"/>
            </a:endParaRPr>
          </a:p>
          <a:p>
            <a:pPr marL="355600" marR="5080" indent="-343535">
              <a:lnSpc>
                <a:spcPct val="100000"/>
              </a:lnSpc>
              <a:spcBef>
                <a:spcPts val="675"/>
              </a:spcBef>
              <a:buFont typeface="Arial MT"/>
              <a:buChar char="•"/>
              <a:tabLst>
                <a:tab pos="355600" algn="l"/>
              </a:tabLst>
            </a:pPr>
            <a:r>
              <a:rPr dirty="0" sz="2800">
                <a:latin typeface="Calibri"/>
                <a:cs typeface="Calibri"/>
              </a:rPr>
              <a:t>A</a:t>
            </a:r>
            <a:r>
              <a:rPr dirty="0" sz="2800" spc="-55">
                <a:latin typeface="Calibri"/>
                <a:cs typeface="Calibri"/>
              </a:rPr>
              <a:t> </a:t>
            </a:r>
            <a:r>
              <a:rPr dirty="0" sz="2800" spc="-25" b="1" i="1">
                <a:solidFill>
                  <a:srgbClr val="0000FF"/>
                </a:solidFill>
                <a:latin typeface="Calibri"/>
                <a:cs typeface="Calibri"/>
              </a:rPr>
              <a:t>pre-</a:t>
            </a:r>
            <a:r>
              <a:rPr dirty="0" sz="2800" b="1" i="1">
                <a:solidFill>
                  <a:srgbClr val="0000FF"/>
                </a:solidFill>
                <a:latin typeface="Calibri"/>
                <a:cs typeface="Calibri"/>
              </a:rPr>
              <a:t>trained</a:t>
            </a:r>
            <a:r>
              <a:rPr dirty="0" sz="2800" spc="-30" b="1" i="1">
                <a:solidFill>
                  <a:srgbClr val="0000FF"/>
                </a:solidFill>
                <a:latin typeface="Calibri"/>
                <a:cs typeface="Calibri"/>
              </a:rPr>
              <a:t> </a:t>
            </a:r>
            <a:r>
              <a:rPr dirty="0" sz="2800">
                <a:latin typeface="Calibri"/>
                <a:cs typeface="Calibri"/>
              </a:rPr>
              <a:t>network</a:t>
            </a:r>
            <a:r>
              <a:rPr dirty="0" sz="2800" spc="-65">
                <a:latin typeface="Calibri"/>
                <a:cs typeface="Calibri"/>
              </a:rPr>
              <a:t> </a:t>
            </a:r>
            <a:r>
              <a:rPr dirty="0" sz="2800">
                <a:latin typeface="Calibri"/>
                <a:cs typeface="Calibri"/>
              </a:rPr>
              <a:t>for</a:t>
            </a:r>
            <a:r>
              <a:rPr dirty="0" sz="2800" spc="-70">
                <a:latin typeface="Calibri"/>
                <a:cs typeface="Calibri"/>
              </a:rPr>
              <a:t> </a:t>
            </a:r>
            <a:r>
              <a:rPr dirty="0" sz="2800">
                <a:latin typeface="Calibri"/>
                <a:cs typeface="Calibri"/>
              </a:rPr>
              <a:t>image</a:t>
            </a:r>
            <a:r>
              <a:rPr dirty="0" sz="2800" spc="-80">
                <a:latin typeface="Calibri"/>
                <a:cs typeface="Calibri"/>
              </a:rPr>
              <a:t> </a:t>
            </a:r>
            <a:r>
              <a:rPr dirty="0" sz="2800" spc="-10">
                <a:latin typeface="Calibri"/>
                <a:cs typeface="Calibri"/>
              </a:rPr>
              <a:t>classification</a:t>
            </a:r>
            <a:r>
              <a:rPr dirty="0" sz="2800" spc="-45">
                <a:latin typeface="Calibri"/>
                <a:cs typeface="Calibri"/>
              </a:rPr>
              <a:t> </a:t>
            </a:r>
            <a:r>
              <a:rPr dirty="0" sz="2800">
                <a:latin typeface="Calibri"/>
                <a:cs typeface="Calibri"/>
              </a:rPr>
              <a:t>can</a:t>
            </a:r>
            <a:r>
              <a:rPr dirty="0" sz="2800" spc="-70">
                <a:latin typeface="Calibri"/>
                <a:cs typeface="Calibri"/>
              </a:rPr>
              <a:t> </a:t>
            </a:r>
            <a:r>
              <a:rPr dirty="0" sz="2800" spc="-25">
                <a:latin typeface="Calibri"/>
                <a:cs typeface="Calibri"/>
              </a:rPr>
              <a:t>be </a:t>
            </a:r>
            <a:r>
              <a:rPr dirty="0" sz="2800">
                <a:latin typeface="Calibri"/>
                <a:cs typeface="Calibri"/>
              </a:rPr>
              <a:t>used</a:t>
            </a:r>
            <a:r>
              <a:rPr dirty="0" sz="2800" spc="-60">
                <a:latin typeface="Calibri"/>
                <a:cs typeface="Calibri"/>
              </a:rPr>
              <a:t> </a:t>
            </a:r>
            <a:r>
              <a:rPr dirty="0" sz="2800">
                <a:latin typeface="Calibri"/>
                <a:cs typeface="Calibri"/>
              </a:rPr>
              <a:t>for</a:t>
            </a:r>
            <a:r>
              <a:rPr dirty="0" sz="2800" spc="-75">
                <a:latin typeface="Calibri"/>
                <a:cs typeface="Calibri"/>
              </a:rPr>
              <a:t> </a:t>
            </a:r>
            <a:r>
              <a:rPr dirty="0" sz="2800">
                <a:latin typeface="Calibri"/>
                <a:cs typeface="Calibri"/>
              </a:rPr>
              <a:t>many</a:t>
            </a:r>
            <a:r>
              <a:rPr dirty="0" sz="2800" spc="-75">
                <a:latin typeface="Calibri"/>
                <a:cs typeface="Calibri"/>
              </a:rPr>
              <a:t> </a:t>
            </a:r>
            <a:r>
              <a:rPr dirty="0" sz="2800" spc="-20">
                <a:latin typeface="Calibri"/>
                <a:cs typeface="Calibri"/>
              </a:rPr>
              <a:t>different</a:t>
            </a:r>
            <a:r>
              <a:rPr dirty="0" sz="2800" spc="-65">
                <a:latin typeface="Calibri"/>
                <a:cs typeface="Calibri"/>
              </a:rPr>
              <a:t> </a:t>
            </a:r>
            <a:r>
              <a:rPr dirty="0" sz="2800">
                <a:latin typeface="Calibri"/>
                <a:cs typeface="Calibri"/>
              </a:rPr>
              <a:t>vision</a:t>
            </a:r>
            <a:r>
              <a:rPr dirty="0" sz="2800" spc="-60">
                <a:latin typeface="Calibri"/>
                <a:cs typeface="Calibri"/>
              </a:rPr>
              <a:t> </a:t>
            </a:r>
            <a:r>
              <a:rPr dirty="0" sz="2800" spc="-10">
                <a:latin typeface="Calibri"/>
                <a:cs typeface="Calibri"/>
              </a:rPr>
              <a:t>tasks.</a:t>
            </a:r>
            <a:endParaRPr sz="2800">
              <a:latin typeface="Calibri"/>
              <a:cs typeface="Calibri"/>
            </a:endParaRPr>
          </a:p>
        </p:txBody>
      </p:sp>
      <p:sp>
        <p:nvSpPr>
          <p:cNvPr id="4" name="object 4" descr=""/>
          <p:cNvSpPr txBox="1"/>
          <p:nvPr/>
        </p:nvSpPr>
        <p:spPr>
          <a:xfrm>
            <a:off x="330259" y="2738912"/>
            <a:ext cx="1786889" cy="513715"/>
          </a:xfrm>
          <a:prstGeom prst="rect">
            <a:avLst/>
          </a:prstGeom>
        </p:spPr>
        <p:txBody>
          <a:bodyPr wrap="square" lIns="0" tIns="13335" rIns="0" bIns="0" rtlCol="0" vert="horz">
            <a:spAutoFit/>
          </a:bodyPr>
          <a:lstStyle/>
          <a:p>
            <a:pPr marL="12700">
              <a:lnSpc>
                <a:spcPct val="100000"/>
              </a:lnSpc>
              <a:spcBef>
                <a:spcPts val="105"/>
              </a:spcBef>
            </a:pPr>
            <a:r>
              <a:rPr dirty="0" sz="3200" spc="-10" b="1">
                <a:solidFill>
                  <a:srgbClr val="FF0000"/>
                </a:solidFill>
                <a:latin typeface="Calibri"/>
                <a:cs typeface="Calibri"/>
              </a:rPr>
              <a:t>Detection:</a:t>
            </a:r>
            <a:endParaRPr sz="3200">
              <a:latin typeface="Calibri"/>
              <a:cs typeface="Calibri"/>
            </a:endParaRPr>
          </a:p>
        </p:txBody>
      </p:sp>
      <p:pic>
        <p:nvPicPr>
          <p:cNvPr id="5" name="object 5" descr=""/>
          <p:cNvPicPr/>
          <p:nvPr/>
        </p:nvPicPr>
        <p:blipFill>
          <a:blip r:embed="rId2" cstate="print"/>
          <a:stretch>
            <a:fillRect/>
          </a:stretch>
        </p:blipFill>
        <p:spPr>
          <a:xfrm>
            <a:off x="321563" y="3331439"/>
            <a:ext cx="8519158" cy="2802663"/>
          </a:xfrm>
          <a:prstGeom prst="rect">
            <a:avLst/>
          </a:prstGeom>
        </p:spPr>
      </p:pic>
      <p:pic>
        <p:nvPicPr>
          <p:cNvPr id="6" name="object 6" descr=""/>
          <p:cNvPicPr/>
          <p:nvPr/>
        </p:nvPicPr>
        <p:blipFill>
          <a:blip r:embed="rId3" cstate="print"/>
          <a:stretch>
            <a:fillRect/>
          </a:stretch>
        </p:blipFill>
        <p:spPr>
          <a:xfrm>
            <a:off x="1551769" y="984808"/>
            <a:ext cx="2263049" cy="393018"/>
          </a:xfrm>
          <a:prstGeom prst="rect">
            <a:avLst/>
          </a:prstGeom>
        </p:spPr>
      </p:pic>
      <p:sp>
        <p:nvSpPr>
          <p:cNvPr id="7" name="object 7" descr=""/>
          <p:cNvSpPr txBox="1"/>
          <p:nvPr/>
        </p:nvSpPr>
        <p:spPr>
          <a:xfrm>
            <a:off x="4577173" y="2565278"/>
            <a:ext cx="4214495" cy="723900"/>
          </a:xfrm>
          <a:prstGeom prst="rect">
            <a:avLst/>
          </a:prstGeom>
        </p:spPr>
        <p:txBody>
          <a:bodyPr wrap="square" lIns="0" tIns="11430" rIns="0" bIns="0" rtlCol="0" vert="horz">
            <a:spAutoFit/>
          </a:bodyPr>
          <a:lstStyle/>
          <a:p>
            <a:pPr marL="12700" marR="5080">
              <a:lnSpc>
                <a:spcPct val="120600"/>
              </a:lnSpc>
              <a:spcBef>
                <a:spcPts val="90"/>
              </a:spcBef>
            </a:pPr>
            <a:r>
              <a:rPr dirty="0" sz="950" spc="5">
                <a:latin typeface="Microsoft YaHei UI"/>
                <a:cs typeface="Microsoft YaHei UI"/>
              </a:rPr>
              <a:t>⼀个在⼤数据集上训练好的CNN（⽐如在ImageNet上），其卷积层部分已经</a:t>
            </a:r>
            <a:r>
              <a:rPr dirty="0" sz="950" spc="25">
                <a:latin typeface="Microsoft YaHei UI"/>
                <a:cs typeface="Microsoft YaHei UI"/>
              </a:rPr>
              <a:t>学会了如何从图⽚中提取各种有⽤的特征（从边缘到物体部件）。这个能⼒是通⽤的，我们可以把这部分“借”过来，⽤于我们⾃⼰的、全新的视觉任</a:t>
            </a:r>
            <a:endParaRPr sz="950">
              <a:latin typeface="Microsoft YaHei UI"/>
              <a:cs typeface="Microsoft YaHei UI"/>
            </a:endParaRPr>
          </a:p>
          <a:p>
            <a:pPr marL="12700">
              <a:lnSpc>
                <a:spcPct val="100000"/>
              </a:lnSpc>
              <a:spcBef>
                <a:spcPts val="235"/>
              </a:spcBef>
            </a:pPr>
            <a:r>
              <a:rPr dirty="0" sz="950" spc="30">
                <a:latin typeface="Microsoft YaHei UI"/>
                <a:cs typeface="Microsoft YaHei UI"/>
              </a:rPr>
              <a:t>务，这就是所谓的“预训练⽹络 </a:t>
            </a:r>
            <a:r>
              <a:rPr dirty="0" sz="950">
                <a:latin typeface="Microsoft YaHei UI"/>
                <a:cs typeface="Microsoft YaHei UI"/>
              </a:rPr>
              <a:t>(pre-trained</a:t>
            </a:r>
            <a:r>
              <a:rPr dirty="0" sz="950" spc="490">
                <a:latin typeface="Microsoft YaHei UI"/>
                <a:cs typeface="Microsoft YaHei UI"/>
              </a:rPr>
              <a:t> </a:t>
            </a:r>
            <a:r>
              <a:rPr dirty="0" sz="950">
                <a:latin typeface="Microsoft YaHei UI"/>
                <a:cs typeface="Microsoft YaHei UI"/>
              </a:rPr>
              <a:t>network)”</a:t>
            </a:r>
            <a:r>
              <a:rPr dirty="0" sz="950" spc="-10">
                <a:latin typeface="Microsoft YaHei UI"/>
                <a:cs typeface="Microsoft YaHei UI"/>
              </a:rPr>
              <a:t>或迁移学习。</a:t>
            </a:r>
            <a:endParaRPr sz="950">
              <a:latin typeface="Microsoft YaHei UI"/>
              <a:cs typeface="Microsoft YaHei U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455147" rIns="0" bIns="0" rtlCol="0" vert="horz">
            <a:spAutoFit/>
          </a:bodyPr>
          <a:lstStyle/>
          <a:p>
            <a:pPr marL="3003550">
              <a:lnSpc>
                <a:spcPct val="100000"/>
              </a:lnSpc>
              <a:spcBef>
                <a:spcPts val="95"/>
              </a:spcBef>
            </a:pPr>
            <a:r>
              <a:rPr dirty="0" spc="-10"/>
              <a:t>GoogLeNet</a:t>
            </a:r>
          </a:p>
        </p:txBody>
      </p:sp>
      <p:sp>
        <p:nvSpPr>
          <p:cNvPr id="3" name="object 3" descr=""/>
          <p:cNvSpPr txBox="1"/>
          <p:nvPr/>
        </p:nvSpPr>
        <p:spPr>
          <a:xfrm>
            <a:off x="657475" y="5231884"/>
            <a:ext cx="1520825" cy="391160"/>
          </a:xfrm>
          <a:prstGeom prst="rect">
            <a:avLst/>
          </a:prstGeom>
        </p:spPr>
        <p:txBody>
          <a:bodyPr wrap="square" lIns="0" tIns="12700" rIns="0" bIns="0" rtlCol="0" vert="horz">
            <a:spAutoFit/>
          </a:bodyPr>
          <a:lstStyle/>
          <a:p>
            <a:pPr marL="12700">
              <a:lnSpc>
                <a:spcPct val="100000"/>
              </a:lnSpc>
              <a:spcBef>
                <a:spcPts val="100"/>
              </a:spcBef>
            </a:pPr>
            <a:r>
              <a:rPr dirty="0" sz="2400" spc="-10">
                <a:solidFill>
                  <a:srgbClr val="0070C0"/>
                </a:solidFill>
                <a:latin typeface="Calibri"/>
                <a:cs typeface="Calibri"/>
              </a:rPr>
              <a:t>Convolution</a:t>
            </a:r>
            <a:endParaRPr sz="2400">
              <a:latin typeface="Calibri"/>
              <a:cs typeface="Calibri"/>
            </a:endParaRPr>
          </a:p>
        </p:txBody>
      </p:sp>
      <p:sp>
        <p:nvSpPr>
          <p:cNvPr id="4" name="object 4" descr=""/>
          <p:cNvSpPr txBox="1"/>
          <p:nvPr/>
        </p:nvSpPr>
        <p:spPr>
          <a:xfrm>
            <a:off x="2486275" y="5231884"/>
            <a:ext cx="1591945" cy="391160"/>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C00000"/>
                </a:solidFill>
                <a:latin typeface="Calibri"/>
                <a:cs typeface="Calibri"/>
              </a:rPr>
              <a:t>Max</a:t>
            </a:r>
            <a:r>
              <a:rPr dirty="0" sz="2400" spc="-65" b="1">
                <a:solidFill>
                  <a:srgbClr val="C00000"/>
                </a:solidFill>
                <a:latin typeface="Calibri"/>
                <a:cs typeface="Calibri"/>
              </a:rPr>
              <a:t> </a:t>
            </a:r>
            <a:r>
              <a:rPr dirty="0" sz="2400" spc="-10" b="1">
                <a:solidFill>
                  <a:srgbClr val="C00000"/>
                </a:solidFill>
                <a:latin typeface="Calibri"/>
                <a:cs typeface="Calibri"/>
              </a:rPr>
              <a:t>Pooling</a:t>
            </a:r>
            <a:endParaRPr sz="2400">
              <a:latin typeface="Calibri"/>
              <a:cs typeface="Calibri"/>
            </a:endParaRPr>
          </a:p>
        </p:txBody>
      </p:sp>
      <p:sp>
        <p:nvSpPr>
          <p:cNvPr id="5" name="object 5" descr=""/>
          <p:cNvSpPr txBox="1"/>
          <p:nvPr/>
        </p:nvSpPr>
        <p:spPr>
          <a:xfrm>
            <a:off x="4596984" y="5231884"/>
            <a:ext cx="1072515"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FFC000"/>
                </a:solidFill>
                <a:latin typeface="Calibri"/>
                <a:cs typeface="Calibri"/>
              </a:rPr>
              <a:t>Softmax</a:t>
            </a:r>
            <a:endParaRPr sz="2400">
              <a:latin typeface="Calibri"/>
              <a:cs typeface="Calibri"/>
            </a:endParaRPr>
          </a:p>
        </p:txBody>
      </p:sp>
      <p:sp>
        <p:nvSpPr>
          <p:cNvPr id="6" name="object 6" descr=""/>
          <p:cNvSpPr txBox="1"/>
          <p:nvPr/>
        </p:nvSpPr>
        <p:spPr>
          <a:xfrm>
            <a:off x="6052404" y="5231884"/>
            <a:ext cx="1864360" cy="391160"/>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00B050"/>
                </a:solidFill>
                <a:latin typeface="Calibri"/>
                <a:cs typeface="Calibri"/>
              </a:rPr>
              <a:t>Concatenation</a:t>
            </a:r>
            <a:endParaRPr sz="2400">
              <a:latin typeface="Calibri"/>
              <a:cs typeface="Calibri"/>
            </a:endParaRPr>
          </a:p>
        </p:txBody>
      </p:sp>
      <p:pic>
        <p:nvPicPr>
          <p:cNvPr id="7" name="object 7" descr=""/>
          <p:cNvPicPr/>
          <p:nvPr/>
        </p:nvPicPr>
        <p:blipFill>
          <a:blip r:embed="rId2" cstate="print"/>
          <a:stretch>
            <a:fillRect/>
          </a:stretch>
        </p:blipFill>
        <p:spPr>
          <a:xfrm>
            <a:off x="0" y="2709672"/>
            <a:ext cx="9081510" cy="2191511"/>
          </a:xfrm>
          <a:prstGeom prst="rect">
            <a:avLst/>
          </a:prstGeom>
        </p:spPr>
      </p:pic>
      <p:sp>
        <p:nvSpPr>
          <p:cNvPr id="8" name="object 8" descr=""/>
          <p:cNvSpPr txBox="1"/>
          <p:nvPr/>
        </p:nvSpPr>
        <p:spPr>
          <a:xfrm>
            <a:off x="258251" y="1871963"/>
            <a:ext cx="4481830" cy="513715"/>
          </a:xfrm>
          <a:prstGeom prst="rect">
            <a:avLst/>
          </a:prstGeom>
        </p:spPr>
        <p:txBody>
          <a:bodyPr wrap="square" lIns="0" tIns="13335" rIns="0" bIns="0" rtlCol="0" vert="horz">
            <a:spAutoFit/>
          </a:bodyPr>
          <a:lstStyle/>
          <a:p>
            <a:pPr marL="354965" indent="-342265">
              <a:lnSpc>
                <a:spcPct val="100000"/>
              </a:lnSpc>
              <a:spcBef>
                <a:spcPts val="105"/>
              </a:spcBef>
              <a:buFont typeface="Arial MT"/>
              <a:buChar char="•"/>
              <a:tabLst>
                <a:tab pos="354965" algn="l"/>
              </a:tabLst>
            </a:pPr>
            <a:r>
              <a:rPr dirty="0" sz="3200">
                <a:latin typeface="Calibri"/>
                <a:cs typeface="Calibri"/>
              </a:rPr>
              <a:t>22</a:t>
            </a:r>
            <a:r>
              <a:rPr dirty="0" sz="3200" spc="-60">
                <a:latin typeface="Calibri"/>
                <a:cs typeface="Calibri"/>
              </a:rPr>
              <a:t> </a:t>
            </a:r>
            <a:r>
              <a:rPr dirty="0" sz="3200" spc="-10">
                <a:latin typeface="Calibri"/>
                <a:cs typeface="Calibri"/>
              </a:rPr>
              <a:t>layers’</a:t>
            </a:r>
            <a:r>
              <a:rPr dirty="0" sz="3200" spc="-65">
                <a:latin typeface="Calibri"/>
                <a:cs typeface="Calibri"/>
              </a:rPr>
              <a:t> </a:t>
            </a:r>
            <a:r>
              <a:rPr dirty="0" sz="3200">
                <a:latin typeface="Calibri"/>
                <a:cs typeface="Calibri"/>
              </a:rPr>
              <a:t>deep</a:t>
            </a:r>
            <a:r>
              <a:rPr dirty="0" sz="3200" spc="-75">
                <a:latin typeface="Calibri"/>
                <a:cs typeface="Calibri"/>
              </a:rPr>
              <a:t> </a:t>
            </a:r>
            <a:r>
              <a:rPr dirty="0" sz="3200" spc="-10">
                <a:latin typeface="Calibri"/>
                <a:cs typeface="Calibri"/>
              </a:rPr>
              <a:t>networks</a:t>
            </a:r>
            <a:endParaRPr sz="320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40593" rIns="0" bIns="0" rtlCol="0" vert="horz">
            <a:spAutoFit/>
          </a:bodyPr>
          <a:lstStyle/>
          <a:p>
            <a:pPr marL="1522730">
              <a:lnSpc>
                <a:spcPct val="100000"/>
              </a:lnSpc>
              <a:spcBef>
                <a:spcPts val="100"/>
              </a:spcBef>
            </a:pPr>
            <a:r>
              <a:rPr dirty="0" sz="4400"/>
              <a:t>Idea</a:t>
            </a:r>
            <a:r>
              <a:rPr dirty="0" sz="4400" spc="-20"/>
              <a:t> </a:t>
            </a:r>
            <a:r>
              <a:rPr dirty="0" sz="4400"/>
              <a:t>of</a:t>
            </a:r>
            <a:r>
              <a:rPr dirty="0" sz="4400" spc="-25"/>
              <a:t> </a:t>
            </a:r>
            <a:r>
              <a:rPr dirty="0" sz="4400"/>
              <a:t>CNN</a:t>
            </a:r>
            <a:r>
              <a:rPr dirty="0" sz="4400" spc="-30"/>
              <a:t> </a:t>
            </a:r>
            <a:r>
              <a:rPr dirty="0" sz="4400" spc="-10"/>
              <a:t>training</a:t>
            </a:r>
            <a:endParaRPr sz="4400"/>
          </a:p>
        </p:txBody>
      </p:sp>
      <p:sp>
        <p:nvSpPr>
          <p:cNvPr id="3" name="object 3" descr=""/>
          <p:cNvSpPr txBox="1"/>
          <p:nvPr/>
        </p:nvSpPr>
        <p:spPr>
          <a:xfrm>
            <a:off x="539115" y="3221545"/>
            <a:ext cx="7355840" cy="1122680"/>
          </a:xfrm>
          <a:prstGeom prst="rect">
            <a:avLst/>
          </a:prstGeom>
        </p:spPr>
        <p:txBody>
          <a:bodyPr wrap="square" lIns="0" tIns="12700" rIns="0" bIns="0" rtlCol="0" vert="horz">
            <a:spAutoFit/>
          </a:bodyPr>
          <a:lstStyle/>
          <a:p>
            <a:pPr marL="12700">
              <a:lnSpc>
                <a:spcPct val="100000"/>
              </a:lnSpc>
              <a:spcBef>
                <a:spcPts val="100"/>
              </a:spcBef>
            </a:pPr>
            <a:r>
              <a:rPr dirty="0" sz="2400" spc="-10" b="1">
                <a:latin typeface="Calibri"/>
                <a:cs typeface="Calibri"/>
              </a:rPr>
              <a:t>NOTE:</a:t>
            </a:r>
            <a:endParaRPr sz="2400">
              <a:latin typeface="Calibri"/>
              <a:cs typeface="Calibri"/>
            </a:endParaRPr>
          </a:p>
          <a:p>
            <a:pPr marL="12700" marR="5080">
              <a:lnSpc>
                <a:spcPct val="100000"/>
              </a:lnSpc>
            </a:pPr>
            <a:r>
              <a:rPr dirty="0" sz="2400" b="1">
                <a:solidFill>
                  <a:srgbClr val="000099"/>
                </a:solidFill>
                <a:latin typeface="Calibri"/>
                <a:cs typeface="Calibri"/>
              </a:rPr>
              <a:t>In</a:t>
            </a:r>
            <a:r>
              <a:rPr dirty="0" sz="2400" spc="-70" b="1">
                <a:solidFill>
                  <a:srgbClr val="000099"/>
                </a:solidFill>
                <a:latin typeface="Calibri"/>
                <a:cs typeface="Calibri"/>
              </a:rPr>
              <a:t> </a:t>
            </a:r>
            <a:r>
              <a:rPr dirty="0" sz="2400" b="1">
                <a:solidFill>
                  <a:srgbClr val="000099"/>
                </a:solidFill>
                <a:latin typeface="Calibri"/>
                <a:cs typeface="Calibri"/>
              </a:rPr>
              <a:t>practice,</a:t>
            </a:r>
            <a:r>
              <a:rPr dirty="0" sz="2400" spc="-70" b="1">
                <a:solidFill>
                  <a:srgbClr val="000099"/>
                </a:solidFill>
                <a:latin typeface="Calibri"/>
                <a:cs typeface="Calibri"/>
              </a:rPr>
              <a:t> </a:t>
            </a:r>
            <a:r>
              <a:rPr dirty="0" sz="2400" b="1">
                <a:solidFill>
                  <a:srgbClr val="000099"/>
                </a:solidFill>
                <a:latin typeface="Calibri"/>
                <a:cs typeface="Calibri"/>
              </a:rPr>
              <a:t>any</a:t>
            </a:r>
            <a:r>
              <a:rPr dirty="0" sz="2400" spc="-60" b="1">
                <a:solidFill>
                  <a:srgbClr val="000099"/>
                </a:solidFill>
                <a:latin typeface="Calibri"/>
                <a:cs typeface="Calibri"/>
              </a:rPr>
              <a:t> </a:t>
            </a:r>
            <a:r>
              <a:rPr dirty="0" sz="2400" spc="-10" b="1">
                <a:solidFill>
                  <a:srgbClr val="000099"/>
                </a:solidFill>
                <a:latin typeface="Calibri"/>
                <a:cs typeface="Calibri"/>
              </a:rPr>
              <a:t>differentiable</a:t>
            </a:r>
            <a:r>
              <a:rPr dirty="0" sz="2400" spc="-35" b="1">
                <a:solidFill>
                  <a:srgbClr val="000099"/>
                </a:solidFill>
                <a:latin typeface="Calibri"/>
                <a:cs typeface="Calibri"/>
              </a:rPr>
              <a:t> </a:t>
            </a:r>
            <a:r>
              <a:rPr dirty="0" sz="2400" spc="-10" b="1">
                <a:solidFill>
                  <a:srgbClr val="000099"/>
                </a:solidFill>
                <a:latin typeface="Calibri"/>
                <a:cs typeface="Calibri"/>
              </a:rPr>
              <a:t>non-</a:t>
            </a:r>
            <a:r>
              <a:rPr dirty="0" sz="2400" b="1">
                <a:solidFill>
                  <a:srgbClr val="000099"/>
                </a:solidFill>
                <a:latin typeface="Calibri"/>
                <a:cs typeface="Calibri"/>
              </a:rPr>
              <a:t>linear</a:t>
            </a:r>
            <a:r>
              <a:rPr dirty="0" sz="2400" spc="-65" b="1">
                <a:solidFill>
                  <a:srgbClr val="000099"/>
                </a:solidFill>
                <a:latin typeface="Calibri"/>
                <a:cs typeface="Calibri"/>
              </a:rPr>
              <a:t> </a:t>
            </a:r>
            <a:r>
              <a:rPr dirty="0" sz="2400" spc="-10" b="1">
                <a:solidFill>
                  <a:srgbClr val="000099"/>
                </a:solidFill>
                <a:latin typeface="Calibri"/>
                <a:cs typeface="Calibri"/>
              </a:rPr>
              <a:t>transformation</a:t>
            </a:r>
            <a:r>
              <a:rPr dirty="0" sz="2400" spc="-55" b="1">
                <a:solidFill>
                  <a:srgbClr val="000099"/>
                </a:solidFill>
                <a:latin typeface="Calibri"/>
                <a:cs typeface="Calibri"/>
              </a:rPr>
              <a:t> </a:t>
            </a:r>
            <a:r>
              <a:rPr dirty="0" sz="2400" spc="-25" b="1">
                <a:solidFill>
                  <a:srgbClr val="000099"/>
                </a:solidFill>
                <a:latin typeface="Calibri"/>
                <a:cs typeface="Calibri"/>
              </a:rPr>
              <a:t>is </a:t>
            </a:r>
            <a:r>
              <a:rPr dirty="0" sz="2400" b="1">
                <a:solidFill>
                  <a:srgbClr val="000099"/>
                </a:solidFill>
                <a:latin typeface="Calibri"/>
                <a:cs typeface="Calibri"/>
              </a:rPr>
              <a:t>potentially</a:t>
            </a:r>
            <a:r>
              <a:rPr dirty="0" sz="2400" spc="-130" b="1">
                <a:solidFill>
                  <a:srgbClr val="000099"/>
                </a:solidFill>
                <a:latin typeface="Calibri"/>
                <a:cs typeface="Calibri"/>
              </a:rPr>
              <a:t> </a:t>
            </a:r>
            <a:r>
              <a:rPr dirty="0" sz="2400" spc="-20" b="1">
                <a:solidFill>
                  <a:srgbClr val="000099"/>
                </a:solidFill>
                <a:latin typeface="Calibri"/>
                <a:cs typeface="Calibri"/>
              </a:rPr>
              <a:t>good.</a:t>
            </a:r>
            <a:endParaRPr sz="2400">
              <a:latin typeface="Calibri"/>
              <a:cs typeface="Calibri"/>
            </a:endParaRPr>
          </a:p>
        </p:txBody>
      </p:sp>
      <p:pic>
        <p:nvPicPr>
          <p:cNvPr id="4" name="object 4" descr=""/>
          <p:cNvPicPr/>
          <p:nvPr/>
        </p:nvPicPr>
        <p:blipFill>
          <a:blip r:embed="rId2" cstate="print"/>
          <a:stretch>
            <a:fillRect/>
          </a:stretch>
        </p:blipFill>
        <p:spPr>
          <a:xfrm>
            <a:off x="248365" y="1736483"/>
            <a:ext cx="8638113" cy="1339596"/>
          </a:xfrm>
          <a:prstGeom prst="rect">
            <a:avLst/>
          </a:prstGeom>
        </p:spPr>
      </p:pic>
      <p:sp>
        <p:nvSpPr>
          <p:cNvPr id="5" name="object 5" descr=""/>
          <p:cNvSpPr txBox="1"/>
          <p:nvPr/>
        </p:nvSpPr>
        <p:spPr>
          <a:xfrm>
            <a:off x="640786" y="4789031"/>
            <a:ext cx="7399655" cy="723900"/>
          </a:xfrm>
          <a:prstGeom prst="rect">
            <a:avLst/>
          </a:prstGeom>
        </p:spPr>
        <p:txBody>
          <a:bodyPr wrap="square" lIns="0" tIns="12065" rIns="0" bIns="0" rtlCol="0" vert="horz">
            <a:spAutoFit/>
          </a:bodyPr>
          <a:lstStyle/>
          <a:p>
            <a:pPr marL="12700" marR="5080">
              <a:lnSpc>
                <a:spcPct val="117500"/>
              </a:lnSpc>
              <a:spcBef>
                <a:spcPts val="95"/>
              </a:spcBef>
            </a:pPr>
            <a:r>
              <a:rPr dirty="0" sz="1300" spc="-5">
                <a:latin typeface="Microsoft YaHei UI"/>
                <a:cs typeface="Microsoft YaHei UI"/>
              </a:rPr>
              <a:t>每个函数 </a:t>
            </a:r>
            <a:r>
              <a:rPr dirty="0" sz="1300" spc="-100">
                <a:latin typeface="Trebuchet MS"/>
                <a:cs typeface="Trebuchet MS"/>
              </a:rPr>
              <a:t>f</a:t>
            </a:r>
            <a:r>
              <a:rPr dirty="0" sz="1300" spc="-30">
                <a:latin typeface="Trebuchet MS"/>
                <a:cs typeface="Trebuchet MS"/>
              </a:rPr>
              <a:t> </a:t>
            </a:r>
            <a:r>
              <a:rPr dirty="0" sz="1300" spc="-5">
                <a:latin typeface="Microsoft YaHei UI"/>
                <a:cs typeface="Microsoft YaHei UI"/>
              </a:rPr>
              <a:t>都有⾃⼰的⼀套参数 </a:t>
            </a:r>
            <a:r>
              <a:rPr dirty="0" sz="1300" spc="-20">
                <a:latin typeface="Trebuchet MS"/>
                <a:cs typeface="Trebuchet MS"/>
              </a:rPr>
              <a:t>θ</a:t>
            </a:r>
            <a:r>
              <a:rPr dirty="0" sz="1300" spc="-10">
                <a:latin typeface="Microsoft YaHei UI"/>
                <a:cs typeface="Microsoft YaHei UI"/>
              </a:rPr>
              <a:t>。这些 </a:t>
            </a:r>
            <a:r>
              <a:rPr dirty="0" sz="1300">
                <a:latin typeface="Trebuchet MS"/>
                <a:cs typeface="Trebuchet MS"/>
              </a:rPr>
              <a:t>θ</a:t>
            </a:r>
            <a:r>
              <a:rPr dirty="0" sz="1300" spc="-30">
                <a:latin typeface="Trebuchet MS"/>
                <a:cs typeface="Trebuchet MS"/>
              </a:rPr>
              <a:t> </a:t>
            </a:r>
            <a:r>
              <a:rPr dirty="0" sz="1300" spc="-5">
                <a:latin typeface="Microsoft YaHei UI"/>
                <a:cs typeface="Microsoft YaHei UI"/>
              </a:rPr>
              <a:t>就代表了我们之前讨论的所有可学习的权重 </a:t>
            </a:r>
            <a:r>
              <a:rPr dirty="0" sz="1300" spc="-25">
                <a:latin typeface="Trebuchet MS"/>
                <a:cs typeface="Trebuchet MS"/>
              </a:rPr>
              <a:t>(weights)</a:t>
            </a:r>
            <a:r>
              <a:rPr dirty="0" sz="1300" spc="-30">
                <a:latin typeface="Trebuchet MS"/>
                <a:cs typeface="Trebuchet MS"/>
              </a:rPr>
              <a:t> </a:t>
            </a:r>
            <a:r>
              <a:rPr dirty="0" sz="1300" spc="-25">
                <a:latin typeface="Microsoft YaHei UI"/>
                <a:cs typeface="Microsoft YaHei UI"/>
              </a:rPr>
              <a:t>和偏</a:t>
            </a:r>
            <a:r>
              <a:rPr dirty="0" sz="1300" spc="-5">
                <a:latin typeface="Microsoft YaHei UI"/>
                <a:cs typeface="Microsoft YaHei UI"/>
              </a:rPr>
              <a:t>置 </a:t>
            </a:r>
            <a:r>
              <a:rPr dirty="0" sz="1300" spc="-10">
                <a:latin typeface="Trebuchet MS"/>
                <a:cs typeface="Trebuchet MS"/>
              </a:rPr>
              <a:t>(biases)</a:t>
            </a:r>
            <a:r>
              <a:rPr dirty="0" sz="1300">
                <a:latin typeface="Microsoft YaHei UI"/>
                <a:cs typeface="Microsoft YaHei UI"/>
              </a:rPr>
              <a:t>。</a:t>
            </a:r>
            <a:r>
              <a:rPr dirty="0" sz="1300" spc="125">
                <a:latin typeface="Trebuchet MS"/>
                <a:cs typeface="Trebuchet MS"/>
              </a:rPr>
              <a:t>CNN</a:t>
            </a:r>
            <a:r>
              <a:rPr dirty="0" sz="1300">
                <a:latin typeface="Microsoft YaHei UI"/>
                <a:cs typeface="Microsoft YaHei UI"/>
              </a:rPr>
              <a:t>的</a:t>
            </a:r>
            <a:r>
              <a:rPr dirty="0" sz="1300" spc="-140">
                <a:latin typeface="Trebuchet MS"/>
                <a:cs typeface="Trebuchet MS"/>
              </a:rPr>
              <a:t>“</a:t>
            </a:r>
            <a:r>
              <a:rPr dirty="0" sz="1300">
                <a:latin typeface="Microsoft YaHei UI"/>
                <a:cs typeface="Microsoft YaHei UI"/>
              </a:rPr>
              <a:t>训练</a:t>
            </a:r>
            <a:r>
              <a:rPr dirty="0" sz="1300" spc="-140">
                <a:latin typeface="Trebuchet MS"/>
                <a:cs typeface="Trebuchet MS"/>
              </a:rPr>
              <a:t>”</a:t>
            </a:r>
            <a:r>
              <a:rPr dirty="0" sz="1300" spc="-5">
                <a:latin typeface="Microsoft YaHei UI"/>
                <a:cs typeface="Microsoft YaHei UI"/>
              </a:rPr>
              <a:t>过程，本质上就是通过反向传播和梯度下降算法，不断调整这些 </a:t>
            </a:r>
            <a:r>
              <a:rPr dirty="0" sz="1300">
                <a:latin typeface="Trebuchet MS"/>
                <a:cs typeface="Trebuchet MS"/>
              </a:rPr>
              <a:t>θ</a:t>
            </a:r>
            <a:r>
              <a:rPr dirty="0" sz="1300" spc="-15">
                <a:latin typeface="Trebuchet MS"/>
                <a:cs typeface="Trebuchet MS"/>
              </a:rPr>
              <a:t> </a:t>
            </a:r>
            <a:r>
              <a:rPr dirty="0" sz="1300" spc="-20">
                <a:latin typeface="Microsoft YaHei UI"/>
                <a:cs typeface="Microsoft YaHei UI"/>
              </a:rPr>
              <a:t>参数，</a:t>
            </a:r>
            <a:r>
              <a:rPr dirty="0" sz="1300" spc="-5">
                <a:latin typeface="Microsoft YaHei UI"/>
                <a:cs typeface="Microsoft YaHei UI"/>
              </a:rPr>
              <a:t>使得对于⼀个给定的输⼊ </a:t>
            </a:r>
            <a:r>
              <a:rPr dirty="0" sz="1300">
                <a:latin typeface="Trebuchet MS"/>
                <a:cs typeface="Trebuchet MS"/>
              </a:rPr>
              <a:t>x</a:t>
            </a:r>
            <a:r>
              <a:rPr dirty="0" sz="1300">
                <a:latin typeface="Microsoft YaHei UI"/>
                <a:cs typeface="Microsoft YaHei UI"/>
              </a:rPr>
              <a:t>（图⽚），</a:t>
            </a:r>
            <a:r>
              <a:rPr dirty="0" sz="1300" spc="-5">
                <a:latin typeface="Microsoft YaHei UI"/>
                <a:cs typeface="Microsoft YaHei UI"/>
              </a:rPr>
              <a:t>⽹络的最终输出 </a:t>
            </a:r>
            <a:r>
              <a:rPr dirty="0" sz="1300">
                <a:latin typeface="Trebuchet MS"/>
                <a:cs typeface="Trebuchet MS"/>
              </a:rPr>
              <a:t>ŷ</a:t>
            </a:r>
            <a:r>
              <a:rPr dirty="0" sz="1300">
                <a:latin typeface="Microsoft YaHei UI"/>
                <a:cs typeface="Microsoft YaHei UI"/>
              </a:rPr>
              <a:t>（预测结果）</a:t>
            </a:r>
            <a:r>
              <a:rPr dirty="0" sz="1300" spc="-5">
                <a:latin typeface="Microsoft YaHei UI"/>
                <a:cs typeface="Microsoft YaHei UI"/>
              </a:rPr>
              <a:t>能够尽可能地接近真实标签 </a:t>
            </a:r>
            <a:r>
              <a:rPr dirty="0" sz="1300">
                <a:latin typeface="Trebuchet MS"/>
                <a:cs typeface="Trebuchet MS"/>
              </a:rPr>
              <a:t>y</a:t>
            </a:r>
            <a:r>
              <a:rPr dirty="0" sz="1300" spc="-50">
                <a:latin typeface="Microsoft YaHei UI"/>
                <a:cs typeface="Microsoft YaHei UI"/>
              </a:rPr>
              <a:t>。</a:t>
            </a:r>
            <a:endParaRPr sz="1300">
              <a:latin typeface="Microsoft YaHei UI"/>
              <a:cs typeface="Microsoft YaHei U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313509" rIns="0" bIns="0" rtlCol="0" vert="horz">
            <a:spAutoFit/>
          </a:bodyPr>
          <a:lstStyle/>
          <a:p>
            <a:pPr marL="587375">
              <a:lnSpc>
                <a:spcPct val="100000"/>
              </a:lnSpc>
              <a:spcBef>
                <a:spcPts val="105"/>
              </a:spcBef>
            </a:pPr>
            <a:r>
              <a:rPr dirty="0" sz="4400"/>
              <a:t>Forward</a:t>
            </a:r>
            <a:r>
              <a:rPr dirty="0" sz="4400" spc="-110"/>
              <a:t> </a:t>
            </a:r>
            <a:r>
              <a:rPr dirty="0" sz="4400"/>
              <a:t>Propagation</a:t>
            </a:r>
            <a:r>
              <a:rPr dirty="0" sz="4400" spc="-135"/>
              <a:t> </a:t>
            </a:r>
            <a:r>
              <a:rPr dirty="0" sz="4400" spc="-20"/>
              <a:t>(FP)</a:t>
            </a:r>
            <a:endParaRPr sz="4400"/>
          </a:p>
        </p:txBody>
      </p:sp>
      <p:pic>
        <p:nvPicPr>
          <p:cNvPr id="3" name="object 3" descr=""/>
          <p:cNvPicPr/>
          <p:nvPr/>
        </p:nvPicPr>
        <p:blipFill>
          <a:blip r:embed="rId2" cstate="print"/>
          <a:stretch>
            <a:fillRect/>
          </a:stretch>
        </p:blipFill>
        <p:spPr>
          <a:xfrm>
            <a:off x="503601" y="1668145"/>
            <a:ext cx="8332439" cy="2120777"/>
          </a:xfrm>
          <a:prstGeom prst="rect">
            <a:avLst/>
          </a:prstGeom>
        </p:spPr>
      </p:pic>
      <p:pic>
        <p:nvPicPr>
          <p:cNvPr id="4" name="object 4" descr=""/>
          <p:cNvPicPr/>
          <p:nvPr/>
        </p:nvPicPr>
        <p:blipFill>
          <a:blip r:embed="rId3" cstate="print"/>
          <a:stretch>
            <a:fillRect/>
          </a:stretch>
        </p:blipFill>
        <p:spPr>
          <a:xfrm>
            <a:off x="2311584" y="4320621"/>
            <a:ext cx="4752600" cy="788697"/>
          </a:xfrm>
          <a:prstGeom prst="rect">
            <a:avLst/>
          </a:prstGeom>
        </p:spPr>
      </p:pic>
      <p:sp>
        <p:nvSpPr>
          <p:cNvPr id="5" name="object 5" descr=""/>
          <p:cNvSpPr txBox="1"/>
          <p:nvPr/>
        </p:nvSpPr>
        <p:spPr>
          <a:xfrm>
            <a:off x="2475256" y="5413268"/>
            <a:ext cx="759460" cy="452120"/>
          </a:xfrm>
          <a:prstGeom prst="rect">
            <a:avLst/>
          </a:prstGeom>
        </p:spPr>
        <p:txBody>
          <a:bodyPr wrap="square" lIns="0" tIns="12065" rIns="0" bIns="0" rtlCol="0" vert="horz">
            <a:spAutoFit/>
          </a:bodyPr>
          <a:lstStyle/>
          <a:p>
            <a:pPr marL="12700">
              <a:lnSpc>
                <a:spcPct val="100000"/>
              </a:lnSpc>
              <a:spcBef>
                <a:spcPts val="95"/>
              </a:spcBef>
            </a:pPr>
            <a:r>
              <a:rPr dirty="0" sz="2800" spc="-20">
                <a:latin typeface="Calibri"/>
                <a:cs typeface="Calibri"/>
              </a:rPr>
              <a:t>ReLU</a:t>
            </a:r>
            <a:endParaRPr sz="2800">
              <a:latin typeface="Calibri"/>
              <a:cs typeface="Calibri"/>
            </a:endParaRPr>
          </a:p>
        </p:txBody>
      </p:sp>
      <p:sp>
        <p:nvSpPr>
          <p:cNvPr id="6" name="object 6" descr=""/>
          <p:cNvSpPr txBox="1"/>
          <p:nvPr/>
        </p:nvSpPr>
        <p:spPr>
          <a:xfrm>
            <a:off x="3452115" y="5413268"/>
            <a:ext cx="3184525"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Rectified</a:t>
            </a:r>
            <a:r>
              <a:rPr dirty="0" sz="2800" spc="-90">
                <a:latin typeface="Calibri"/>
                <a:cs typeface="Calibri"/>
              </a:rPr>
              <a:t> </a:t>
            </a:r>
            <a:r>
              <a:rPr dirty="0" sz="2800">
                <a:latin typeface="Calibri"/>
                <a:cs typeface="Calibri"/>
              </a:rPr>
              <a:t>Linear</a:t>
            </a:r>
            <a:r>
              <a:rPr dirty="0" sz="2800" spc="-75">
                <a:latin typeface="Calibri"/>
                <a:cs typeface="Calibri"/>
              </a:rPr>
              <a:t> </a:t>
            </a:r>
            <a:r>
              <a:rPr dirty="0" sz="2800" spc="-10">
                <a:latin typeface="Calibri"/>
                <a:cs typeface="Calibri"/>
              </a:rPr>
              <a:t>Units.</a:t>
            </a:r>
            <a:endParaRPr sz="28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492236" y="1673195"/>
            <a:ext cx="8244871" cy="1278888"/>
          </a:xfrm>
          <a:prstGeom prst="rect">
            <a:avLst/>
          </a:prstGeom>
        </p:spPr>
      </p:pic>
      <p:pic>
        <p:nvPicPr>
          <p:cNvPr id="3" name="object 3" descr=""/>
          <p:cNvPicPr/>
          <p:nvPr/>
        </p:nvPicPr>
        <p:blipFill>
          <a:blip r:embed="rId3" cstate="print"/>
          <a:stretch>
            <a:fillRect/>
          </a:stretch>
        </p:blipFill>
        <p:spPr>
          <a:xfrm>
            <a:off x="797724" y="3418869"/>
            <a:ext cx="6294375" cy="1091632"/>
          </a:xfrm>
          <a:prstGeom prst="rect">
            <a:avLst/>
          </a:prstGeom>
        </p:spPr>
      </p:pic>
      <p:sp>
        <p:nvSpPr>
          <p:cNvPr id="4" name="object 4"/>
          <p:cNvSpPr txBox="1">
            <a:spLocks noGrp="1"/>
          </p:cNvSpPr>
          <p:nvPr>
            <p:ph type="title"/>
          </p:nvPr>
        </p:nvSpPr>
        <p:spPr>
          <a:prstGeom prst="rect"/>
        </p:spPr>
        <p:txBody>
          <a:bodyPr wrap="square" lIns="0" tIns="313509" rIns="0" bIns="0" rtlCol="0" vert="horz">
            <a:spAutoFit/>
          </a:bodyPr>
          <a:lstStyle/>
          <a:p>
            <a:pPr marL="587375">
              <a:lnSpc>
                <a:spcPct val="100000"/>
              </a:lnSpc>
              <a:spcBef>
                <a:spcPts val="105"/>
              </a:spcBef>
            </a:pPr>
            <a:r>
              <a:rPr dirty="0" sz="4400"/>
              <a:t>Forward</a:t>
            </a:r>
            <a:r>
              <a:rPr dirty="0" sz="4400" spc="-110"/>
              <a:t> </a:t>
            </a:r>
            <a:r>
              <a:rPr dirty="0" sz="4400"/>
              <a:t>Propagation</a:t>
            </a:r>
            <a:r>
              <a:rPr dirty="0" sz="4400" spc="-135"/>
              <a:t> </a:t>
            </a:r>
            <a:r>
              <a:rPr dirty="0" sz="4400" spc="-20"/>
              <a:t>(FP)</a:t>
            </a:r>
            <a:endParaRPr sz="4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204373" y="1354924"/>
            <a:ext cx="8270543" cy="1281485"/>
          </a:xfrm>
          <a:prstGeom prst="rect">
            <a:avLst/>
          </a:prstGeom>
        </p:spPr>
      </p:pic>
      <p:pic>
        <p:nvPicPr>
          <p:cNvPr id="3" name="object 3" descr=""/>
          <p:cNvPicPr/>
          <p:nvPr/>
        </p:nvPicPr>
        <p:blipFill>
          <a:blip r:embed="rId3" cstate="print"/>
          <a:stretch>
            <a:fillRect/>
          </a:stretch>
        </p:blipFill>
        <p:spPr>
          <a:xfrm>
            <a:off x="633102" y="2760587"/>
            <a:ext cx="6011981" cy="1767592"/>
          </a:xfrm>
          <a:prstGeom prst="rect">
            <a:avLst/>
          </a:prstGeom>
        </p:spPr>
      </p:pic>
      <p:pic>
        <p:nvPicPr>
          <p:cNvPr id="4" name="object 4" descr=""/>
          <p:cNvPicPr/>
          <p:nvPr/>
        </p:nvPicPr>
        <p:blipFill>
          <a:blip r:embed="rId4" cstate="print"/>
          <a:stretch>
            <a:fillRect/>
          </a:stretch>
        </p:blipFill>
        <p:spPr>
          <a:xfrm>
            <a:off x="815477" y="4817473"/>
            <a:ext cx="7260573" cy="1299101"/>
          </a:xfrm>
          <a:prstGeom prst="rect">
            <a:avLst/>
          </a:prstGeom>
        </p:spPr>
      </p:pic>
      <p:grpSp>
        <p:nvGrpSpPr>
          <p:cNvPr id="5" name="object 5" descr=""/>
          <p:cNvGrpSpPr/>
          <p:nvPr/>
        </p:nvGrpSpPr>
        <p:grpSpPr>
          <a:xfrm>
            <a:off x="3048254" y="6247130"/>
            <a:ext cx="601980" cy="339725"/>
            <a:chOff x="3048254" y="6247130"/>
            <a:chExt cx="601980" cy="339725"/>
          </a:xfrm>
        </p:grpSpPr>
        <p:sp>
          <p:nvSpPr>
            <p:cNvPr id="6" name="object 6" descr=""/>
            <p:cNvSpPr/>
            <p:nvPr/>
          </p:nvSpPr>
          <p:spPr>
            <a:xfrm>
              <a:off x="3060954" y="6259830"/>
              <a:ext cx="576580" cy="314325"/>
            </a:xfrm>
            <a:custGeom>
              <a:avLst/>
              <a:gdLst/>
              <a:ahLst/>
              <a:cxnLst/>
              <a:rect l="l" t="t" r="r" b="b"/>
              <a:pathLst>
                <a:path w="576579" h="314325">
                  <a:moveTo>
                    <a:pt x="419099" y="0"/>
                  </a:moveTo>
                  <a:lnTo>
                    <a:pt x="419099" y="78485"/>
                  </a:lnTo>
                  <a:lnTo>
                    <a:pt x="0" y="78485"/>
                  </a:lnTo>
                  <a:lnTo>
                    <a:pt x="0" y="235457"/>
                  </a:lnTo>
                  <a:lnTo>
                    <a:pt x="419099" y="235457"/>
                  </a:lnTo>
                  <a:lnTo>
                    <a:pt x="419099" y="313943"/>
                  </a:lnTo>
                  <a:lnTo>
                    <a:pt x="576071" y="156971"/>
                  </a:lnTo>
                  <a:lnTo>
                    <a:pt x="419099" y="0"/>
                  </a:lnTo>
                  <a:close/>
                </a:path>
              </a:pathLst>
            </a:custGeom>
            <a:solidFill>
              <a:srgbClr val="4F81BD"/>
            </a:solidFill>
          </p:spPr>
          <p:txBody>
            <a:bodyPr wrap="square" lIns="0" tIns="0" rIns="0" bIns="0" rtlCol="0"/>
            <a:lstStyle/>
            <a:p/>
          </p:txBody>
        </p:sp>
        <p:sp>
          <p:nvSpPr>
            <p:cNvPr id="7" name="object 7" descr=""/>
            <p:cNvSpPr/>
            <p:nvPr/>
          </p:nvSpPr>
          <p:spPr>
            <a:xfrm>
              <a:off x="3060954" y="6259830"/>
              <a:ext cx="576580" cy="314325"/>
            </a:xfrm>
            <a:custGeom>
              <a:avLst/>
              <a:gdLst/>
              <a:ahLst/>
              <a:cxnLst/>
              <a:rect l="l" t="t" r="r" b="b"/>
              <a:pathLst>
                <a:path w="576579" h="314325">
                  <a:moveTo>
                    <a:pt x="0" y="78485"/>
                  </a:moveTo>
                  <a:lnTo>
                    <a:pt x="419100" y="78485"/>
                  </a:lnTo>
                  <a:lnTo>
                    <a:pt x="419100" y="0"/>
                  </a:lnTo>
                  <a:lnTo>
                    <a:pt x="576072" y="156971"/>
                  </a:lnTo>
                  <a:lnTo>
                    <a:pt x="419100" y="313943"/>
                  </a:lnTo>
                  <a:lnTo>
                    <a:pt x="419100" y="235457"/>
                  </a:lnTo>
                  <a:lnTo>
                    <a:pt x="0" y="235457"/>
                  </a:lnTo>
                  <a:lnTo>
                    <a:pt x="0" y="78485"/>
                  </a:lnTo>
                  <a:close/>
                </a:path>
              </a:pathLst>
            </a:custGeom>
            <a:ln w="25400">
              <a:solidFill>
                <a:srgbClr val="385D8A"/>
              </a:solidFill>
            </a:ln>
          </p:spPr>
          <p:txBody>
            <a:bodyPr wrap="square" lIns="0" tIns="0" rIns="0" bIns="0" rtlCol="0"/>
            <a:lstStyle/>
            <a:p/>
          </p:txBody>
        </p:sp>
      </p:grpSp>
      <p:sp>
        <p:nvSpPr>
          <p:cNvPr id="8" name="object 8" descr=""/>
          <p:cNvSpPr txBox="1"/>
          <p:nvPr/>
        </p:nvSpPr>
        <p:spPr>
          <a:xfrm>
            <a:off x="906324" y="6163092"/>
            <a:ext cx="1952625" cy="391160"/>
          </a:xfrm>
          <a:prstGeom prst="rect">
            <a:avLst/>
          </a:prstGeom>
        </p:spPr>
        <p:txBody>
          <a:bodyPr wrap="square" lIns="0" tIns="12700" rIns="0" bIns="0" rtlCol="0" vert="horz">
            <a:spAutoFit/>
          </a:bodyPr>
          <a:lstStyle/>
          <a:p>
            <a:pPr marL="12700">
              <a:lnSpc>
                <a:spcPct val="100000"/>
              </a:lnSpc>
              <a:spcBef>
                <a:spcPts val="100"/>
              </a:spcBef>
            </a:pPr>
            <a:r>
              <a:rPr dirty="0" sz="2400">
                <a:latin typeface="Calibri"/>
                <a:cs typeface="Calibri"/>
              </a:rPr>
              <a:t>Softmax</a:t>
            </a:r>
            <a:r>
              <a:rPr dirty="0" sz="2400" spc="-60">
                <a:latin typeface="Calibri"/>
                <a:cs typeface="Calibri"/>
              </a:rPr>
              <a:t> </a:t>
            </a:r>
            <a:r>
              <a:rPr dirty="0" sz="2400" spc="-10">
                <a:latin typeface="Calibri"/>
                <a:cs typeface="Calibri"/>
              </a:rPr>
              <a:t>output</a:t>
            </a:r>
            <a:endParaRPr sz="2400">
              <a:latin typeface="Calibri"/>
              <a:cs typeface="Calibri"/>
            </a:endParaRPr>
          </a:p>
        </p:txBody>
      </p:sp>
      <p:sp>
        <p:nvSpPr>
          <p:cNvPr id="9" name="object 9" descr=""/>
          <p:cNvSpPr txBox="1"/>
          <p:nvPr/>
        </p:nvSpPr>
        <p:spPr>
          <a:xfrm>
            <a:off x="4001263" y="6043915"/>
            <a:ext cx="3985260" cy="756920"/>
          </a:xfrm>
          <a:prstGeom prst="rect">
            <a:avLst/>
          </a:prstGeom>
        </p:spPr>
        <p:txBody>
          <a:bodyPr wrap="square" lIns="0" tIns="12700" rIns="0" bIns="0" rtlCol="0" vert="horz">
            <a:spAutoFit/>
          </a:bodyPr>
          <a:lstStyle/>
          <a:p>
            <a:pPr marL="12700" marR="5080">
              <a:lnSpc>
                <a:spcPct val="100000"/>
              </a:lnSpc>
              <a:spcBef>
                <a:spcPts val="100"/>
              </a:spcBef>
            </a:pPr>
            <a:r>
              <a:rPr dirty="0" sz="2400">
                <a:latin typeface="Calibri"/>
                <a:cs typeface="Calibri"/>
              </a:rPr>
              <a:t>probability</a:t>
            </a:r>
            <a:r>
              <a:rPr dirty="0" sz="2400" spc="-60">
                <a:latin typeface="Calibri"/>
                <a:cs typeface="Calibri"/>
              </a:rPr>
              <a:t> </a:t>
            </a:r>
            <a:r>
              <a:rPr dirty="0" sz="2400">
                <a:latin typeface="Calibri"/>
                <a:cs typeface="Calibri"/>
              </a:rPr>
              <a:t>that</a:t>
            </a:r>
            <a:r>
              <a:rPr dirty="0" sz="2400" spc="-60">
                <a:latin typeface="Calibri"/>
                <a:cs typeface="Calibri"/>
              </a:rPr>
              <a:t> </a:t>
            </a:r>
            <a:r>
              <a:rPr dirty="0" sz="2400">
                <a:latin typeface="Calibri"/>
                <a:cs typeface="Calibri"/>
              </a:rPr>
              <a:t>input</a:t>
            </a:r>
            <a:r>
              <a:rPr dirty="0" sz="2400" spc="-50">
                <a:latin typeface="Calibri"/>
                <a:cs typeface="Calibri"/>
              </a:rPr>
              <a:t> </a:t>
            </a:r>
            <a:r>
              <a:rPr dirty="0" sz="2400">
                <a:latin typeface="Calibri"/>
                <a:cs typeface="Calibri"/>
              </a:rPr>
              <a:t>x</a:t>
            </a:r>
            <a:r>
              <a:rPr dirty="0" sz="2400" spc="-55">
                <a:latin typeface="Calibri"/>
                <a:cs typeface="Calibri"/>
              </a:rPr>
              <a:t> </a:t>
            </a:r>
            <a:r>
              <a:rPr dirty="0" sz="2400" spc="-10">
                <a:latin typeface="Calibri"/>
                <a:cs typeface="Calibri"/>
              </a:rPr>
              <a:t>belongs </a:t>
            </a:r>
            <a:r>
              <a:rPr dirty="0" sz="2400">
                <a:latin typeface="Calibri"/>
                <a:cs typeface="Calibri"/>
              </a:rPr>
              <a:t>to</a:t>
            </a:r>
            <a:r>
              <a:rPr dirty="0" sz="2400" spc="-45">
                <a:latin typeface="Calibri"/>
                <a:cs typeface="Calibri"/>
              </a:rPr>
              <a:t> </a:t>
            </a:r>
            <a:r>
              <a:rPr dirty="0" sz="2400">
                <a:latin typeface="Calibri"/>
                <a:cs typeface="Calibri"/>
              </a:rPr>
              <a:t>one</a:t>
            </a:r>
            <a:r>
              <a:rPr dirty="0" sz="2400" spc="-35">
                <a:latin typeface="Calibri"/>
                <a:cs typeface="Calibri"/>
              </a:rPr>
              <a:t> </a:t>
            </a:r>
            <a:r>
              <a:rPr dirty="0" sz="2400">
                <a:latin typeface="Calibri"/>
                <a:cs typeface="Calibri"/>
              </a:rPr>
              <a:t>of</a:t>
            </a:r>
            <a:r>
              <a:rPr dirty="0" sz="2400" spc="-35">
                <a:latin typeface="Calibri"/>
                <a:cs typeface="Calibri"/>
              </a:rPr>
              <a:t> </a:t>
            </a:r>
            <a:r>
              <a:rPr dirty="0" sz="2400">
                <a:latin typeface="Calibri"/>
                <a:cs typeface="Calibri"/>
              </a:rPr>
              <a:t>the</a:t>
            </a:r>
            <a:r>
              <a:rPr dirty="0" sz="2400" spc="-35">
                <a:latin typeface="Calibri"/>
                <a:cs typeface="Calibri"/>
              </a:rPr>
              <a:t> </a:t>
            </a:r>
            <a:r>
              <a:rPr dirty="0" sz="2400" spc="-10">
                <a:latin typeface="Calibri"/>
                <a:cs typeface="Calibri"/>
              </a:rPr>
              <a:t>predefined</a:t>
            </a:r>
            <a:r>
              <a:rPr dirty="0" sz="2400" spc="-30">
                <a:latin typeface="Calibri"/>
                <a:cs typeface="Calibri"/>
              </a:rPr>
              <a:t> </a:t>
            </a:r>
            <a:r>
              <a:rPr dirty="0" sz="2400" spc="-10">
                <a:latin typeface="Calibri"/>
                <a:cs typeface="Calibri"/>
              </a:rPr>
              <a:t>classes</a:t>
            </a:r>
            <a:endParaRPr sz="2400">
              <a:latin typeface="Calibri"/>
              <a:cs typeface="Calibri"/>
            </a:endParaRPr>
          </a:p>
        </p:txBody>
      </p:sp>
      <p:sp>
        <p:nvSpPr>
          <p:cNvPr id="10" name="object 10"/>
          <p:cNvSpPr txBox="1">
            <a:spLocks noGrp="1"/>
          </p:cNvSpPr>
          <p:nvPr>
            <p:ph type="title"/>
          </p:nvPr>
        </p:nvSpPr>
        <p:spPr>
          <a:prstGeom prst="rect"/>
        </p:spPr>
        <p:txBody>
          <a:bodyPr wrap="square" lIns="0" tIns="313509" rIns="0" bIns="0" rtlCol="0" vert="horz">
            <a:spAutoFit/>
          </a:bodyPr>
          <a:lstStyle/>
          <a:p>
            <a:pPr marL="587375">
              <a:lnSpc>
                <a:spcPct val="100000"/>
              </a:lnSpc>
              <a:spcBef>
                <a:spcPts val="105"/>
              </a:spcBef>
            </a:pPr>
            <a:r>
              <a:rPr dirty="0" sz="4400"/>
              <a:t>Forward</a:t>
            </a:r>
            <a:r>
              <a:rPr dirty="0" sz="4400" spc="-110"/>
              <a:t> </a:t>
            </a:r>
            <a:r>
              <a:rPr dirty="0" sz="4400"/>
              <a:t>Propagation</a:t>
            </a:r>
            <a:r>
              <a:rPr dirty="0" sz="4400" spc="-135"/>
              <a:t> </a:t>
            </a:r>
            <a:r>
              <a:rPr dirty="0" sz="4400" spc="-20"/>
              <a:t>(FP)</a:t>
            </a:r>
            <a:endParaRPr sz="4400"/>
          </a:p>
        </p:txBody>
      </p:sp>
      <p:sp>
        <p:nvSpPr>
          <p:cNvPr id="11" name="object 11" descr=""/>
          <p:cNvSpPr txBox="1"/>
          <p:nvPr/>
        </p:nvSpPr>
        <p:spPr>
          <a:xfrm>
            <a:off x="8425688" y="6425628"/>
            <a:ext cx="18097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898989"/>
                </a:solidFill>
                <a:latin typeface="Calibri"/>
                <a:cs typeface="Calibri"/>
              </a:rPr>
              <a:t>44</a:t>
            </a:r>
            <a:endParaRPr sz="1200">
              <a:latin typeface="Calibri"/>
              <a:cs typeface="Calibri"/>
            </a:endParaRPr>
          </a:p>
        </p:txBody>
      </p:sp>
      <p:grpSp>
        <p:nvGrpSpPr>
          <p:cNvPr id="12" name="object 12" descr=""/>
          <p:cNvGrpSpPr/>
          <p:nvPr/>
        </p:nvGrpSpPr>
        <p:grpSpPr>
          <a:xfrm>
            <a:off x="6640514" y="2584768"/>
            <a:ext cx="2323465" cy="2084705"/>
            <a:chOff x="6640514" y="2584768"/>
            <a:chExt cx="2323465" cy="2084705"/>
          </a:xfrm>
        </p:grpSpPr>
        <p:pic>
          <p:nvPicPr>
            <p:cNvPr id="13" name="object 13" descr=""/>
            <p:cNvPicPr/>
            <p:nvPr/>
          </p:nvPicPr>
          <p:blipFill>
            <a:blip r:embed="rId5" cstate="print"/>
            <a:stretch>
              <a:fillRect/>
            </a:stretch>
          </p:blipFill>
          <p:spPr>
            <a:xfrm>
              <a:off x="6640514" y="2584768"/>
              <a:ext cx="2322987" cy="2084284"/>
            </a:xfrm>
            <a:prstGeom prst="rect">
              <a:avLst/>
            </a:prstGeom>
          </p:spPr>
        </p:pic>
        <p:pic>
          <p:nvPicPr>
            <p:cNvPr id="14" name="object 14" descr=""/>
            <p:cNvPicPr/>
            <p:nvPr/>
          </p:nvPicPr>
          <p:blipFill>
            <a:blip r:embed="rId6" cstate="print"/>
            <a:stretch>
              <a:fillRect/>
            </a:stretch>
          </p:blipFill>
          <p:spPr>
            <a:xfrm>
              <a:off x="6739539" y="3629977"/>
              <a:ext cx="305510" cy="238760"/>
            </a:xfrm>
            <a:prstGeom prst="rect">
              <a:avLst/>
            </a:prstGeom>
          </p:spPr>
        </p:pic>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79831" y="1422812"/>
            <a:ext cx="8366604" cy="1298579"/>
          </a:xfrm>
          <a:prstGeom prst="rect">
            <a:avLst/>
          </a:prstGeom>
        </p:spPr>
      </p:pic>
      <p:pic>
        <p:nvPicPr>
          <p:cNvPr id="3" name="object 3" descr=""/>
          <p:cNvPicPr/>
          <p:nvPr/>
        </p:nvPicPr>
        <p:blipFill>
          <a:blip r:embed="rId3" cstate="print"/>
          <a:stretch>
            <a:fillRect/>
          </a:stretch>
        </p:blipFill>
        <p:spPr>
          <a:xfrm>
            <a:off x="532816" y="3124698"/>
            <a:ext cx="6182858" cy="1817912"/>
          </a:xfrm>
          <a:prstGeom prst="rect">
            <a:avLst/>
          </a:prstGeom>
        </p:spPr>
      </p:pic>
      <p:sp>
        <p:nvSpPr>
          <p:cNvPr id="4" name="object 4" descr=""/>
          <p:cNvSpPr txBox="1"/>
          <p:nvPr/>
        </p:nvSpPr>
        <p:spPr>
          <a:xfrm>
            <a:off x="554164" y="5294524"/>
            <a:ext cx="5937250"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This</a:t>
            </a:r>
            <a:r>
              <a:rPr dirty="0" sz="2800" spc="-65">
                <a:latin typeface="Calibri"/>
                <a:cs typeface="Calibri"/>
              </a:rPr>
              <a:t> </a:t>
            </a:r>
            <a:r>
              <a:rPr dirty="0" sz="2800">
                <a:latin typeface="Calibri"/>
                <a:cs typeface="Calibri"/>
              </a:rPr>
              <a:t>is</a:t>
            </a:r>
            <a:r>
              <a:rPr dirty="0" sz="2800" spc="-65">
                <a:latin typeface="Calibri"/>
                <a:cs typeface="Calibri"/>
              </a:rPr>
              <a:t> </a:t>
            </a:r>
            <a:r>
              <a:rPr dirty="0" sz="2800">
                <a:latin typeface="Calibri"/>
                <a:cs typeface="Calibri"/>
              </a:rPr>
              <a:t>the</a:t>
            </a:r>
            <a:r>
              <a:rPr dirty="0" sz="2800" spc="-60">
                <a:latin typeface="Calibri"/>
                <a:cs typeface="Calibri"/>
              </a:rPr>
              <a:t> </a:t>
            </a:r>
            <a:r>
              <a:rPr dirty="0" sz="2800">
                <a:latin typeface="Calibri"/>
                <a:cs typeface="Calibri"/>
              </a:rPr>
              <a:t>typical</a:t>
            </a:r>
            <a:r>
              <a:rPr dirty="0" sz="2800" spc="-65">
                <a:latin typeface="Calibri"/>
                <a:cs typeface="Calibri"/>
              </a:rPr>
              <a:t> </a:t>
            </a:r>
            <a:r>
              <a:rPr dirty="0" sz="2800">
                <a:latin typeface="Calibri"/>
                <a:cs typeface="Calibri"/>
              </a:rPr>
              <a:t>processing</a:t>
            </a:r>
            <a:r>
              <a:rPr dirty="0" sz="2800" spc="-40">
                <a:latin typeface="Calibri"/>
                <a:cs typeface="Calibri"/>
              </a:rPr>
              <a:t> </a:t>
            </a:r>
            <a:r>
              <a:rPr dirty="0" sz="2800">
                <a:latin typeface="Calibri"/>
                <a:cs typeface="Calibri"/>
              </a:rPr>
              <a:t>at</a:t>
            </a:r>
            <a:r>
              <a:rPr dirty="0" sz="2800" spc="-70">
                <a:latin typeface="Calibri"/>
                <a:cs typeface="Calibri"/>
              </a:rPr>
              <a:t> </a:t>
            </a:r>
            <a:r>
              <a:rPr dirty="0" sz="2800">
                <a:latin typeface="Calibri"/>
                <a:cs typeface="Calibri"/>
              </a:rPr>
              <a:t>test</a:t>
            </a:r>
            <a:r>
              <a:rPr dirty="0" sz="2800" spc="-75">
                <a:latin typeface="Calibri"/>
                <a:cs typeface="Calibri"/>
              </a:rPr>
              <a:t> </a:t>
            </a:r>
            <a:r>
              <a:rPr dirty="0" sz="2800" spc="-10">
                <a:latin typeface="Calibri"/>
                <a:cs typeface="Calibri"/>
              </a:rPr>
              <a:t>time.</a:t>
            </a:r>
            <a:endParaRPr sz="2800">
              <a:latin typeface="Calibri"/>
              <a:cs typeface="Calibri"/>
            </a:endParaRPr>
          </a:p>
        </p:txBody>
      </p:sp>
      <p:sp>
        <p:nvSpPr>
          <p:cNvPr id="5" name="object 5" descr=""/>
          <p:cNvSpPr txBox="1"/>
          <p:nvPr/>
        </p:nvSpPr>
        <p:spPr>
          <a:xfrm>
            <a:off x="554164" y="5721345"/>
            <a:ext cx="8051165"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At</a:t>
            </a:r>
            <a:r>
              <a:rPr dirty="0" sz="2800" spc="-70">
                <a:latin typeface="Calibri"/>
                <a:cs typeface="Calibri"/>
              </a:rPr>
              <a:t> </a:t>
            </a:r>
            <a:r>
              <a:rPr dirty="0" sz="2800">
                <a:latin typeface="Calibri"/>
                <a:cs typeface="Calibri"/>
              </a:rPr>
              <a:t>training</a:t>
            </a:r>
            <a:r>
              <a:rPr dirty="0" sz="2800" spc="-60">
                <a:latin typeface="Calibri"/>
                <a:cs typeface="Calibri"/>
              </a:rPr>
              <a:t> </a:t>
            </a:r>
            <a:r>
              <a:rPr dirty="0" sz="2800">
                <a:latin typeface="Calibri"/>
                <a:cs typeface="Calibri"/>
              </a:rPr>
              <a:t>time,</a:t>
            </a:r>
            <a:r>
              <a:rPr dirty="0" sz="2800" spc="-65">
                <a:latin typeface="Calibri"/>
                <a:cs typeface="Calibri"/>
              </a:rPr>
              <a:t> </a:t>
            </a:r>
            <a:r>
              <a:rPr dirty="0" sz="2800">
                <a:latin typeface="Calibri"/>
                <a:cs typeface="Calibri"/>
              </a:rPr>
              <a:t>we</a:t>
            </a:r>
            <a:r>
              <a:rPr dirty="0" sz="2800" spc="-75">
                <a:latin typeface="Calibri"/>
                <a:cs typeface="Calibri"/>
              </a:rPr>
              <a:t> </a:t>
            </a:r>
            <a:r>
              <a:rPr dirty="0" sz="2800">
                <a:latin typeface="Calibri"/>
                <a:cs typeface="Calibri"/>
              </a:rPr>
              <a:t>need</a:t>
            </a:r>
            <a:r>
              <a:rPr dirty="0" sz="2800" spc="-70">
                <a:latin typeface="Calibri"/>
                <a:cs typeface="Calibri"/>
              </a:rPr>
              <a:t> </a:t>
            </a:r>
            <a:r>
              <a:rPr dirty="0" sz="2800">
                <a:latin typeface="Calibri"/>
                <a:cs typeface="Calibri"/>
              </a:rPr>
              <a:t>to</a:t>
            </a:r>
            <a:r>
              <a:rPr dirty="0" sz="2800" spc="-75">
                <a:latin typeface="Calibri"/>
                <a:cs typeface="Calibri"/>
              </a:rPr>
              <a:t> </a:t>
            </a:r>
            <a:r>
              <a:rPr dirty="0" sz="2800">
                <a:latin typeface="Calibri"/>
                <a:cs typeface="Calibri"/>
              </a:rPr>
              <a:t>compute</a:t>
            </a:r>
            <a:r>
              <a:rPr dirty="0" sz="2800" spc="-60">
                <a:latin typeface="Calibri"/>
                <a:cs typeface="Calibri"/>
              </a:rPr>
              <a:t> </a:t>
            </a:r>
            <a:r>
              <a:rPr dirty="0" sz="2800">
                <a:latin typeface="Calibri"/>
                <a:cs typeface="Calibri"/>
              </a:rPr>
              <a:t>an</a:t>
            </a:r>
            <a:r>
              <a:rPr dirty="0" sz="2800" spc="-65">
                <a:latin typeface="Calibri"/>
                <a:cs typeface="Calibri"/>
              </a:rPr>
              <a:t> </a:t>
            </a:r>
            <a:r>
              <a:rPr dirty="0" sz="2800" b="1">
                <a:solidFill>
                  <a:srgbClr val="FF0000"/>
                </a:solidFill>
                <a:latin typeface="Calibri"/>
                <a:cs typeface="Calibri"/>
              </a:rPr>
              <a:t>error</a:t>
            </a:r>
            <a:r>
              <a:rPr dirty="0" sz="2800" spc="-50" b="1">
                <a:solidFill>
                  <a:srgbClr val="FF0000"/>
                </a:solidFill>
                <a:latin typeface="Calibri"/>
                <a:cs typeface="Calibri"/>
              </a:rPr>
              <a:t> </a:t>
            </a:r>
            <a:r>
              <a:rPr dirty="0" sz="2800" spc="-10" b="1">
                <a:solidFill>
                  <a:srgbClr val="FF0000"/>
                </a:solidFill>
                <a:latin typeface="Calibri"/>
                <a:cs typeface="Calibri"/>
              </a:rPr>
              <a:t>measure</a:t>
            </a:r>
            <a:endParaRPr sz="2800">
              <a:latin typeface="Calibri"/>
              <a:cs typeface="Calibri"/>
            </a:endParaRPr>
          </a:p>
        </p:txBody>
      </p:sp>
      <p:sp>
        <p:nvSpPr>
          <p:cNvPr id="6" name="object 6" descr=""/>
          <p:cNvSpPr txBox="1"/>
          <p:nvPr/>
        </p:nvSpPr>
        <p:spPr>
          <a:xfrm>
            <a:off x="554164" y="6148166"/>
            <a:ext cx="6804025"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and</a:t>
            </a:r>
            <a:r>
              <a:rPr dirty="0" sz="2800" spc="-60">
                <a:latin typeface="Calibri"/>
                <a:cs typeface="Calibri"/>
              </a:rPr>
              <a:t> </a:t>
            </a:r>
            <a:r>
              <a:rPr dirty="0" sz="2800">
                <a:latin typeface="Calibri"/>
                <a:cs typeface="Calibri"/>
              </a:rPr>
              <a:t>tune</a:t>
            </a:r>
            <a:r>
              <a:rPr dirty="0" sz="2800" spc="-40">
                <a:latin typeface="Calibri"/>
                <a:cs typeface="Calibri"/>
              </a:rPr>
              <a:t> </a:t>
            </a:r>
            <a:r>
              <a:rPr dirty="0" sz="2800">
                <a:latin typeface="Calibri"/>
                <a:cs typeface="Calibri"/>
              </a:rPr>
              <a:t>the</a:t>
            </a:r>
            <a:r>
              <a:rPr dirty="0" sz="2800" spc="-50">
                <a:latin typeface="Calibri"/>
                <a:cs typeface="Calibri"/>
              </a:rPr>
              <a:t> </a:t>
            </a:r>
            <a:r>
              <a:rPr dirty="0" sz="2800" spc="-10">
                <a:latin typeface="Calibri"/>
                <a:cs typeface="Calibri"/>
              </a:rPr>
              <a:t>parameters</a:t>
            </a:r>
            <a:r>
              <a:rPr dirty="0" sz="2800" spc="-65">
                <a:latin typeface="Calibri"/>
                <a:cs typeface="Calibri"/>
              </a:rPr>
              <a:t> </a:t>
            </a:r>
            <a:r>
              <a:rPr dirty="0" sz="2800">
                <a:latin typeface="Calibri"/>
                <a:cs typeface="Calibri"/>
              </a:rPr>
              <a:t>to</a:t>
            </a:r>
            <a:r>
              <a:rPr dirty="0" sz="2800" spc="-65">
                <a:latin typeface="Calibri"/>
                <a:cs typeface="Calibri"/>
              </a:rPr>
              <a:t> </a:t>
            </a:r>
            <a:r>
              <a:rPr dirty="0" sz="2800">
                <a:latin typeface="Calibri"/>
                <a:cs typeface="Calibri"/>
              </a:rPr>
              <a:t>decrease</a:t>
            </a:r>
            <a:r>
              <a:rPr dirty="0" sz="2800" spc="-65">
                <a:latin typeface="Calibri"/>
                <a:cs typeface="Calibri"/>
              </a:rPr>
              <a:t> </a:t>
            </a:r>
            <a:r>
              <a:rPr dirty="0" sz="2800">
                <a:latin typeface="Calibri"/>
                <a:cs typeface="Calibri"/>
              </a:rPr>
              <a:t>the</a:t>
            </a:r>
            <a:r>
              <a:rPr dirty="0" sz="2800" spc="-50">
                <a:latin typeface="Calibri"/>
                <a:cs typeface="Calibri"/>
              </a:rPr>
              <a:t> </a:t>
            </a:r>
            <a:r>
              <a:rPr dirty="0" sz="2800" spc="-10">
                <a:latin typeface="Calibri"/>
                <a:cs typeface="Calibri"/>
              </a:rPr>
              <a:t>error.</a:t>
            </a:r>
            <a:endParaRPr sz="2800">
              <a:latin typeface="Calibri"/>
              <a:cs typeface="Calibri"/>
            </a:endParaRPr>
          </a:p>
        </p:txBody>
      </p:sp>
      <p:sp>
        <p:nvSpPr>
          <p:cNvPr id="7" name="object 7"/>
          <p:cNvSpPr txBox="1">
            <a:spLocks noGrp="1"/>
          </p:cNvSpPr>
          <p:nvPr>
            <p:ph type="title"/>
          </p:nvPr>
        </p:nvSpPr>
        <p:spPr>
          <a:prstGeom prst="rect"/>
        </p:spPr>
        <p:txBody>
          <a:bodyPr wrap="square" lIns="0" tIns="313509" rIns="0" bIns="0" rtlCol="0" vert="horz">
            <a:spAutoFit/>
          </a:bodyPr>
          <a:lstStyle/>
          <a:p>
            <a:pPr marL="587375">
              <a:lnSpc>
                <a:spcPct val="100000"/>
              </a:lnSpc>
              <a:spcBef>
                <a:spcPts val="105"/>
              </a:spcBef>
            </a:pPr>
            <a:r>
              <a:rPr dirty="0" sz="4400"/>
              <a:t>Forward</a:t>
            </a:r>
            <a:r>
              <a:rPr dirty="0" sz="4400" spc="-110"/>
              <a:t> </a:t>
            </a:r>
            <a:r>
              <a:rPr dirty="0" sz="4400"/>
              <a:t>Propagation</a:t>
            </a:r>
            <a:r>
              <a:rPr dirty="0" sz="4400" spc="-135"/>
              <a:t> </a:t>
            </a:r>
            <a:r>
              <a:rPr dirty="0" sz="4400" spc="-20"/>
              <a:t>(FP)</a:t>
            </a:r>
            <a:endParaRPr sz="4400"/>
          </a:p>
        </p:txBody>
      </p:sp>
      <p:sp>
        <p:nvSpPr>
          <p:cNvPr id="8" name="object 8" descr=""/>
          <p:cNvSpPr txBox="1"/>
          <p:nvPr/>
        </p:nvSpPr>
        <p:spPr>
          <a:xfrm>
            <a:off x="8425688" y="6425628"/>
            <a:ext cx="180975" cy="208279"/>
          </a:xfrm>
          <a:prstGeom prst="rect">
            <a:avLst/>
          </a:prstGeom>
        </p:spPr>
        <p:txBody>
          <a:bodyPr wrap="square" lIns="0" tIns="12700" rIns="0" bIns="0" rtlCol="0" vert="horz">
            <a:spAutoFit/>
          </a:bodyPr>
          <a:lstStyle/>
          <a:p>
            <a:pPr marL="12700">
              <a:lnSpc>
                <a:spcPct val="100000"/>
              </a:lnSpc>
              <a:spcBef>
                <a:spcPts val="100"/>
              </a:spcBef>
            </a:pPr>
            <a:r>
              <a:rPr dirty="0" sz="1200" spc="-25">
                <a:solidFill>
                  <a:srgbClr val="898989"/>
                </a:solidFill>
                <a:latin typeface="Calibri"/>
                <a:cs typeface="Calibri"/>
              </a:rPr>
              <a:t>45</a:t>
            </a:r>
            <a:endParaRPr sz="1200">
              <a:latin typeface="Calibri"/>
              <a:cs typeface="Calibri"/>
            </a:endParaRPr>
          </a:p>
        </p:txBody>
      </p:sp>
      <p:sp>
        <p:nvSpPr>
          <p:cNvPr id="9" name="object 9" descr=""/>
          <p:cNvSpPr txBox="1"/>
          <p:nvPr/>
        </p:nvSpPr>
        <p:spPr>
          <a:xfrm>
            <a:off x="6873771" y="2857636"/>
            <a:ext cx="2075180" cy="1189355"/>
          </a:xfrm>
          <a:prstGeom prst="rect">
            <a:avLst/>
          </a:prstGeom>
        </p:spPr>
        <p:txBody>
          <a:bodyPr wrap="square" lIns="0" tIns="12700" rIns="0" bIns="0" rtlCol="0" vert="horz">
            <a:spAutoFit/>
          </a:bodyPr>
          <a:lstStyle/>
          <a:p>
            <a:pPr marL="12700" marR="5080">
              <a:lnSpc>
                <a:spcPct val="115700"/>
              </a:lnSpc>
              <a:spcBef>
                <a:spcPts val="100"/>
              </a:spcBef>
            </a:pPr>
            <a:r>
              <a:rPr dirty="0" sz="1100" spc="-25">
                <a:latin typeface="Microsoft YaHei UI"/>
                <a:cs typeface="Microsoft YaHei UI"/>
              </a:rPr>
              <a:t>我们刚刚描述的整个前向传播过</a:t>
            </a:r>
            <a:r>
              <a:rPr dirty="0" sz="1100" spc="-20">
                <a:latin typeface="Microsoft YaHei UI"/>
                <a:cs typeface="Microsoft YaHei UI"/>
              </a:rPr>
              <a:t>程，是⽹络在测试（或预测）</a:t>
            </a:r>
            <a:r>
              <a:rPr dirty="0" sz="1100" spc="-50">
                <a:latin typeface="Microsoft YaHei UI"/>
                <a:cs typeface="Microsoft YaHei UI"/>
              </a:rPr>
              <a:t>时</a:t>
            </a:r>
            <a:r>
              <a:rPr dirty="0" sz="1100" spc="-25">
                <a:latin typeface="Microsoft YaHei UI"/>
                <a:cs typeface="Microsoft YaHei UI"/>
              </a:rPr>
              <a:t>的典型处理流程。我们输⼊⼀张</a:t>
            </a:r>
            <a:r>
              <a:rPr dirty="0" sz="1100" spc="-30">
                <a:latin typeface="Microsoft YaHei UI"/>
                <a:cs typeface="Microsoft YaHei UI"/>
              </a:rPr>
              <a:t>未⻅过的图⽚，⽹络通过</a:t>
            </a:r>
            <a:r>
              <a:rPr dirty="0" sz="1100" spc="-20">
                <a:latin typeface="Microsoft YaHei UI"/>
                <a:cs typeface="Microsoft YaHei UI"/>
              </a:rPr>
              <a:t>Forward </a:t>
            </a:r>
            <a:r>
              <a:rPr dirty="0" sz="1100" spc="-30">
                <a:latin typeface="Microsoft YaHei UI"/>
                <a:cs typeface="Microsoft YaHei UI"/>
              </a:rPr>
              <a:t>Propagation</a:t>
            </a:r>
            <a:r>
              <a:rPr dirty="0" sz="1100" spc="-25">
                <a:latin typeface="Microsoft YaHei UI"/>
                <a:cs typeface="Microsoft YaHei UI"/>
              </a:rPr>
              <a:t> 给出⼀个预测结</a:t>
            </a:r>
            <a:endParaRPr sz="1100">
              <a:latin typeface="Microsoft YaHei UI"/>
              <a:cs typeface="Microsoft YaHei UI"/>
            </a:endParaRPr>
          </a:p>
          <a:p>
            <a:pPr marL="12700">
              <a:lnSpc>
                <a:spcPct val="100000"/>
              </a:lnSpc>
              <a:spcBef>
                <a:spcPts val="209"/>
              </a:spcBef>
            </a:pPr>
            <a:r>
              <a:rPr dirty="0" sz="1100" spc="-35">
                <a:latin typeface="Microsoft YaHei UI"/>
                <a:cs typeface="Microsoft YaHei UI"/>
              </a:rPr>
              <a:t>果。</a:t>
            </a:r>
            <a:endParaRPr sz="1100">
              <a:latin typeface="Microsoft YaHei UI"/>
              <a:cs typeface="Microsoft YaHei UI"/>
            </a:endParaRPr>
          </a:p>
        </p:txBody>
      </p:sp>
      <p:sp>
        <p:nvSpPr>
          <p:cNvPr id="10" name="object 10" descr=""/>
          <p:cNvSpPr txBox="1"/>
          <p:nvPr/>
        </p:nvSpPr>
        <p:spPr>
          <a:xfrm>
            <a:off x="6771004" y="4224075"/>
            <a:ext cx="2252980" cy="1383665"/>
          </a:xfrm>
          <a:prstGeom prst="rect">
            <a:avLst/>
          </a:prstGeom>
        </p:spPr>
        <p:txBody>
          <a:bodyPr wrap="square" lIns="0" tIns="12700" rIns="0" bIns="0" rtlCol="0" vert="horz">
            <a:spAutoFit/>
          </a:bodyPr>
          <a:lstStyle/>
          <a:p>
            <a:pPr marL="12700" marR="5080">
              <a:lnSpc>
                <a:spcPct val="115700"/>
              </a:lnSpc>
              <a:spcBef>
                <a:spcPts val="100"/>
              </a:spcBef>
            </a:pPr>
            <a:r>
              <a:rPr dirty="0" sz="1100" spc="-25">
                <a:latin typeface="Microsoft YaHei UI"/>
                <a:cs typeface="Microsoft YaHei UI"/>
              </a:rPr>
              <a:t>但在训练时，这仅仅是第⼀步。在得</a:t>
            </a:r>
            <a:r>
              <a:rPr dirty="0" sz="1100" spc="-15">
                <a:latin typeface="Microsoft YaHei UI"/>
                <a:cs typeface="Microsoft YaHei UI"/>
              </a:rPr>
              <a:t>到预测 </a:t>
            </a:r>
            <a:r>
              <a:rPr dirty="0" sz="1100">
                <a:latin typeface="Microsoft YaHei UI"/>
                <a:cs typeface="Microsoft YaHei UI"/>
              </a:rPr>
              <a:t>ŷ</a:t>
            </a:r>
            <a:r>
              <a:rPr dirty="0" sz="1100" spc="-5">
                <a:latin typeface="Microsoft YaHei UI"/>
                <a:cs typeface="Microsoft YaHei UI"/>
              </a:rPr>
              <a:t> 之后，我们还需要“计算⼀</a:t>
            </a:r>
            <a:r>
              <a:rPr dirty="0" sz="1100" spc="-10">
                <a:latin typeface="Microsoft YaHei UI"/>
                <a:cs typeface="Microsoft YaHei UI"/>
              </a:rPr>
              <a:t>个误差度量 </a:t>
            </a:r>
            <a:r>
              <a:rPr dirty="0" sz="1100" spc="-20">
                <a:latin typeface="Microsoft YaHei UI"/>
                <a:cs typeface="Microsoft YaHei UI"/>
              </a:rPr>
              <a:t>(error</a:t>
            </a:r>
            <a:r>
              <a:rPr dirty="0" sz="1100" spc="40">
                <a:latin typeface="Microsoft YaHei UI"/>
                <a:cs typeface="Microsoft YaHei UI"/>
              </a:rPr>
              <a:t> </a:t>
            </a:r>
            <a:r>
              <a:rPr dirty="0" sz="1100" spc="-10">
                <a:latin typeface="Microsoft YaHei UI"/>
                <a:cs typeface="Microsoft YaHei UI"/>
              </a:rPr>
              <a:t>measure)”（</a:t>
            </a:r>
            <a:r>
              <a:rPr dirty="0" sz="1100" spc="-35">
                <a:latin typeface="Microsoft YaHei UI"/>
                <a:cs typeface="Microsoft YaHei UI"/>
              </a:rPr>
              <a:t>即将</a:t>
            </a:r>
            <a:r>
              <a:rPr dirty="0" sz="1100" spc="-50">
                <a:latin typeface="Microsoft YaHei UI"/>
                <a:cs typeface="Microsoft YaHei UI"/>
              </a:rPr>
              <a:t> </a:t>
            </a:r>
            <a:r>
              <a:rPr dirty="0" sz="1100">
                <a:latin typeface="Microsoft YaHei UI"/>
                <a:cs typeface="Microsoft YaHei UI"/>
              </a:rPr>
              <a:t>ŷ</a:t>
            </a:r>
            <a:r>
              <a:rPr dirty="0" sz="1100" spc="-15">
                <a:latin typeface="Microsoft YaHei UI"/>
                <a:cs typeface="Microsoft YaHei UI"/>
              </a:rPr>
              <a:t> 与真实标签 </a:t>
            </a:r>
            <a:r>
              <a:rPr dirty="0" sz="1100">
                <a:latin typeface="Microsoft YaHei UI"/>
                <a:cs typeface="Microsoft YaHei UI"/>
              </a:rPr>
              <a:t>y</a:t>
            </a:r>
            <a:r>
              <a:rPr dirty="0" sz="1100" spc="-15">
                <a:latin typeface="Microsoft YaHei UI"/>
                <a:cs typeface="Microsoft YaHei UI"/>
              </a:rPr>
              <a:t> 进⾏⽐较</a:t>
            </a:r>
            <a:r>
              <a:rPr dirty="0" sz="1100" spc="-20">
                <a:latin typeface="Microsoft YaHei UI"/>
                <a:cs typeface="Microsoft YaHei UI"/>
              </a:rPr>
              <a:t>），</a:t>
            </a:r>
            <a:r>
              <a:rPr dirty="0" sz="1100" spc="-35">
                <a:latin typeface="Microsoft YaHei UI"/>
                <a:cs typeface="Microsoft YaHei UI"/>
              </a:rPr>
              <a:t>然后</a:t>
            </a:r>
            <a:r>
              <a:rPr dirty="0" sz="1100" spc="500">
                <a:latin typeface="Microsoft YaHei UI"/>
                <a:cs typeface="Microsoft YaHei UI"/>
              </a:rPr>
              <a:t>  </a:t>
            </a:r>
            <a:r>
              <a:rPr dirty="0" sz="1100" spc="-5">
                <a:latin typeface="Microsoft YaHei UI"/>
                <a:cs typeface="Microsoft YaHei UI"/>
              </a:rPr>
              <a:t>“调整参数来降低这个误差”。这个调</a:t>
            </a:r>
            <a:r>
              <a:rPr dirty="0" sz="1100" spc="-25">
                <a:latin typeface="Microsoft YaHei UI"/>
                <a:cs typeface="Microsoft YaHei UI"/>
              </a:rPr>
              <a:t>整参数的过程，就是我们尚未讨论的</a:t>
            </a:r>
            <a:r>
              <a:rPr dirty="0" sz="1100" spc="15">
                <a:latin typeface="Microsoft YaHei UI"/>
                <a:cs typeface="Microsoft YaHei UI"/>
              </a:rPr>
              <a:t>反向传播 </a:t>
            </a:r>
            <a:r>
              <a:rPr dirty="0" sz="1100" spc="-30">
                <a:latin typeface="Microsoft YaHei UI"/>
                <a:cs typeface="Microsoft YaHei UI"/>
              </a:rPr>
              <a:t>(Backpropagation)</a:t>
            </a:r>
            <a:r>
              <a:rPr dirty="0" sz="1100" spc="-50">
                <a:latin typeface="Microsoft YaHei UI"/>
                <a:cs typeface="Microsoft YaHei UI"/>
              </a:rPr>
              <a:t>。</a:t>
            </a:r>
            <a:endParaRPr sz="1100">
              <a:latin typeface="Microsoft YaHei UI"/>
              <a:cs typeface="Microsoft YaHei U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4887" y="252476"/>
            <a:ext cx="3519170" cy="635000"/>
          </a:xfrm>
          <a:prstGeom prst="rect"/>
        </p:spPr>
        <p:txBody>
          <a:bodyPr wrap="square" lIns="0" tIns="12065" rIns="0" bIns="0" rtlCol="0" vert="horz">
            <a:spAutoFit/>
          </a:bodyPr>
          <a:lstStyle/>
          <a:p>
            <a:pPr marL="12700">
              <a:lnSpc>
                <a:spcPct val="100000"/>
              </a:lnSpc>
              <a:spcBef>
                <a:spcPts val="95"/>
              </a:spcBef>
            </a:pPr>
            <a:r>
              <a:rPr dirty="0"/>
              <a:t>Loss</a:t>
            </a:r>
            <a:r>
              <a:rPr dirty="0" spc="-65"/>
              <a:t> </a:t>
            </a:r>
            <a:r>
              <a:rPr dirty="0" spc="-10"/>
              <a:t>Function</a:t>
            </a:r>
          </a:p>
        </p:txBody>
      </p:sp>
      <p:sp>
        <p:nvSpPr>
          <p:cNvPr id="3" name="object 3" descr=""/>
          <p:cNvSpPr txBox="1"/>
          <p:nvPr/>
        </p:nvSpPr>
        <p:spPr>
          <a:xfrm>
            <a:off x="363779" y="3928695"/>
            <a:ext cx="8008620" cy="1733550"/>
          </a:xfrm>
          <a:prstGeom prst="rect">
            <a:avLst/>
          </a:prstGeom>
        </p:spPr>
        <p:txBody>
          <a:bodyPr wrap="square" lIns="0" tIns="10160" rIns="0" bIns="0" rtlCol="0" vert="horz">
            <a:spAutoFit/>
          </a:bodyPr>
          <a:lstStyle/>
          <a:p>
            <a:pPr marL="13335" marR="5080">
              <a:lnSpc>
                <a:spcPct val="100400"/>
              </a:lnSpc>
              <a:spcBef>
                <a:spcPts val="80"/>
              </a:spcBef>
            </a:pPr>
            <a:r>
              <a:rPr dirty="0" sz="2800">
                <a:latin typeface="Calibri"/>
                <a:cs typeface="Calibri"/>
              </a:rPr>
              <a:t>The</a:t>
            </a:r>
            <a:r>
              <a:rPr dirty="0" sz="2800" spc="-60">
                <a:latin typeface="Calibri"/>
                <a:cs typeface="Calibri"/>
              </a:rPr>
              <a:t> </a:t>
            </a:r>
            <a:r>
              <a:rPr dirty="0" sz="2800">
                <a:latin typeface="Calibri"/>
                <a:cs typeface="Calibri"/>
              </a:rPr>
              <a:t>measure</a:t>
            </a:r>
            <a:r>
              <a:rPr dirty="0" sz="2800" spc="-45">
                <a:latin typeface="Calibri"/>
                <a:cs typeface="Calibri"/>
              </a:rPr>
              <a:t> </a:t>
            </a:r>
            <a:r>
              <a:rPr dirty="0" sz="2800">
                <a:latin typeface="Calibri"/>
                <a:cs typeface="Calibri"/>
              </a:rPr>
              <a:t>of</a:t>
            </a:r>
            <a:r>
              <a:rPr dirty="0" sz="2800" spc="-55">
                <a:latin typeface="Calibri"/>
                <a:cs typeface="Calibri"/>
              </a:rPr>
              <a:t> </a:t>
            </a:r>
            <a:r>
              <a:rPr dirty="0" sz="2800">
                <a:latin typeface="Calibri"/>
                <a:cs typeface="Calibri"/>
              </a:rPr>
              <a:t>how</a:t>
            </a:r>
            <a:r>
              <a:rPr dirty="0" sz="2800" spc="-40">
                <a:latin typeface="Calibri"/>
                <a:cs typeface="Calibri"/>
              </a:rPr>
              <a:t> </a:t>
            </a:r>
            <a:r>
              <a:rPr dirty="0" sz="2800">
                <a:latin typeface="Calibri"/>
                <a:cs typeface="Calibri"/>
              </a:rPr>
              <a:t>well</a:t>
            </a:r>
            <a:r>
              <a:rPr dirty="0" sz="2800" spc="-75">
                <a:latin typeface="Calibri"/>
                <a:cs typeface="Calibri"/>
              </a:rPr>
              <a:t> </a:t>
            </a:r>
            <a:r>
              <a:rPr dirty="0" sz="2800">
                <a:latin typeface="Calibri"/>
                <a:cs typeface="Calibri"/>
              </a:rPr>
              <a:t>the</a:t>
            </a:r>
            <a:r>
              <a:rPr dirty="0" sz="2800" spc="-40">
                <a:latin typeface="Calibri"/>
                <a:cs typeface="Calibri"/>
              </a:rPr>
              <a:t> </a:t>
            </a:r>
            <a:r>
              <a:rPr dirty="0" sz="2800">
                <a:latin typeface="Calibri"/>
                <a:cs typeface="Calibri"/>
              </a:rPr>
              <a:t>model</a:t>
            </a:r>
            <a:r>
              <a:rPr dirty="0" sz="2800" spc="-50">
                <a:latin typeface="Calibri"/>
                <a:cs typeface="Calibri"/>
              </a:rPr>
              <a:t> </a:t>
            </a:r>
            <a:r>
              <a:rPr dirty="0" sz="2800">
                <a:latin typeface="Calibri"/>
                <a:cs typeface="Calibri"/>
              </a:rPr>
              <a:t>fits</a:t>
            </a:r>
            <a:r>
              <a:rPr dirty="0" sz="2800" spc="-45">
                <a:latin typeface="Calibri"/>
                <a:cs typeface="Calibri"/>
              </a:rPr>
              <a:t> </a:t>
            </a:r>
            <a:r>
              <a:rPr dirty="0" sz="2800">
                <a:latin typeface="Calibri"/>
                <a:cs typeface="Calibri"/>
              </a:rPr>
              <a:t>the</a:t>
            </a:r>
            <a:r>
              <a:rPr dirty="0" sz="2800" spc="-45">
                <a:latin typeface="Calibri"/>
                <a:cs typeface="Calibri"/>
              </a:rPr>
              <a:t> </a:t>
            </a:r>
            <a:r>
              <a:rPr dirty="0" sz="2800">
                <a:latin typeface="Calibri"/>
                <a:cs typeface="Calibri"/>
              </a:rPr>
              <a:t>training</a:t>
            </a:r>
            <a:r>
              <a:rPr dirty="0" sz="2800" spc="-30">
                <a:latin typeface="Calibri"/>
                <a:cs typeface="Calibri"/>
              </a:rPr>
              <a:t> </a:t>
            </a:r>
            <a:r>
              <a:rPr dirty="0" sz="2800" spc="-25">
                <a:latin typeface="Calibri"/>
                <a:cs typeface="Calibri"/>
              </a:rPr>
              <a:t>set </a:t>
            </a:r>
            <a:r>
              <a:rPr dirty="0" sz="2800">
                <a:latin typeface="Calibri"/>
                <a:cs typeface="Calibri"/>
              </a:rPr>
              <a:t>can</a:t>
            </a:r>
            <a:r>
              <a:rPr dirty="0" sz="2800" spc="-65">
                <a:latin typeface="Calibri"/>
                <a:cs typeface="Calibri"/>
              </a:rPr>
              <a:t> </a:t>
            </a:r>
            <a:r>
              <a:rPr dirty="0" sz="2800">
                <a:latin typeface="Calibri"/>
                <a:cs typeface="Calibri"/>
              </a:rPr>
              <a:t>be</a:t>
            </a:r>
            <a:r>
              <a:rPr dirty="0" sz="2800" spc="-30">
                <a:latin typeface="Calibri"/>
                <a:cs typeface="Calibri"/>
              </a:rPr>
              <a:t> </a:t>
            </a:r>
            <a:r>
              <a:rPr dirty="0" sz="2800">
                <a:latin typeface="Calibri"/>
                <a:cs typeface="Calibri"/>
              </a:rPr>
              <a:t>given</a:t>
            </a:r>
            <a:r>
              <a:rPr dirty="0" sz="2800" spc="-40">
                <a:latin typeface="Calibri"/>
                <a:cs typeface="Calibri"/>
              </a:rPr>
              <a:t> </a:t>
            </a:r>
            <a:r>
              <a:rPr dirty="0" sz="2800">
                <a:latin typeface="Calibri"/>
                <a:cs typeface="Calibri"/>
              </a:rPr>
              <a:t>by</a:t>
            </a:r>
            <a:r>
              <a:rPr dirty="0" sz="2800" spc="-25">
                <a:latin typeface="Calibri"/>
                <a:cs typeface="Calibri"/>
              </a:rPr>
              <a:t> </a:t>
            </a:r>
            <a:r>
              <a:rPr dirty="0" sz="2800">
                <a:latin typeface="Calibri"/>
                <a:cs typeface="Calibri"/>
              </a:rPr>
              <a:t>a</a:t>
            </a:r>
            <a:r>
              <a:rPr dirty="0" sz="2800" spc="-30">
                <a:latin typeface="Calibri"/>
                <a:cs typeface="Calibri"/>
              </a:rPr>
              <a:t> </a:t>
            </a:r>
            <a:r>
              <a:rPr dirty="0" sz="2800">
                <a:latin typeface="Calibri"/>
                <a:cs typeface="Calibri"/>
              </a:rPr>
              <a:t>suitable</a:t>
            </a:r>
            <a:r>
              <a:rPr dirty="0" sz="2800" spc="-5">
                <a:latin typeface="Calibri"/>
                <a:cs typeface="Calibri"/>
              </a:rPr>
              <a:t> </a:t>
            </a:r>
            <a:r>
              <a:rPr dirty="0" sz="2800" b="1" i="1">
                <a:solidFill>
                  <a:srgbClr val="FF0000"/>
                </a:solidFill>
                <a:latin typeface="Calibri"/>
                <a:cs typeface="Calibri"/>
              </a:rPr>
              <a:t>loss</a:t>
            </a:r>
            <a:r>
              <a:rPr dirty="0" sz="2800" spc="-30" b="1" i="1">
                <a:solidFill>
                  <a:srgbClr val="FF0000"/>
                </a:solidFill>
                <a:latin typeface="Calibri"/>
                <a:cs typeface="Calibri"/>
              </a:rPr>
              <a:t> </a:t>
            </a:r>
            <a:r>
              <a:rPr dirty="0" sz="2800" b="1" i="1">
                <a:solidFill>
                  <a:srgbClr val="FF0000"/>
                </a:solidFill>
                <a:latin typeface="Calibri"/>
                <a:cs typeface="Calibri"/>
              </a:rPr>
              <a:t>function</a:t>
            </a:r>
            <a:r>
              <a:rPr dirty="0" sz="2800">
                <a:latin typeface="Calibri"/>
                <a:cs typeface="Calibri"/>
              </a:rPr>
              <a:t>:</a:t>
            </a:r>
            <a:r>
              <a:rPr dirty="0" sz="2800" spc="-30">
                <a:latin typeface="Calibri"/>
                <a:cs typeface="Calibri"/>
              </a:rPr>
              <a:t> </a:t>
            </a:r>
            <a:r>
              <a:rPr dirty="0" sz="2800">
                <a:latin typeface="Cambria Math"/>
                <a:cs typeface="Cambria Math"/>
              </a:rPr>
              <a:t>𝐿(𝑥,</a:t>
            </a:r>
            <a:r>
              <a:rPr dirty="0" sz="2800" spc="-155">
                <a:latin typeface="Cambria Math"/>
                <a:cs typeface="Cambria Math"/>
              </a:rPr>
              <a:t> </a:t>
            </a:r>
            <a:r>
              <a:rPr dirty="0" sz="2800">
                <a:latin typeface="Cambria Math"/>
                <a:cs typeface="Cambria Math"/>
              </a:rPr>
              <a:t>𝑦;</a:t>
            </a:r>
            <a:r>
              <a:rPr dirty="0" sz="2800" spc="-150">
                <a:latin typeface="Cambria Math"/>
                <a:cs typeface="Cambria Math"/>
              </a:rPr>
              <a:t> </a:t>
            </a:r>
            <a:r>
              <a:rPr dirty="0" sz="2800" spc="-25">
                <a:latin typeface="Symbol"/>
                <a:cs typeface="Symbol"/>
              </a:rPr>
              <a:t></a:t>
            </a:r>
            <a:r>
              <a:rPr dirty="0" sz="2800" spc="-25">
                <a:latin typeface="Cambria Math"/>
                <a:cs typeface="Cambria Math"/>
              </a:rPr>
              <a:t>)</a:t>
            </a:r>
            <a:endParaRPr sz="2800">
              <a:latin typeface="Cambria Math"/>
              <a:cs typeface="Cambria Math"/>
            </a:endParaRPr>
          </a:p>
          <a:p>
            <a:pPr>
              <a:lnSpc>
                <a:spcPct val="100000"/>
              </a:lnSpc>
              <a:spcBef>
                <a:spcPts val="75"/>
              </a:spcBef>
            </a:pPr>
            <a:endParaRPr sz="2800">
              <a:latin typeface="Cambria Math"/>
              <a:cs typeface="Cambria Math"/>
            </a:endParaRPr>
          </a:p>
          <a:p>
            <a:pPr marL="12700">
              <a:lnSpc>
                <a:spcPct val="100000"/>
              </a:lnSpc>
            </a:pPr>
            <a:r>
              <a:rPr dirty="0" sz="2800">
                <a:latin typeface="Calibri"/>
                <a:cs typeface="Calibri"/>
              </a:rPr>
              <a:t>The</a:t>
            </a:r>
            <a:r>
              <a:rPr dirty="0" sz="2800" spc="-50">
                <a:latin typeface="Calibri"/>
                <a:cs typeface="Calibri"/>
              </a:rPr>
              <a:t> </a:t>
            </a:r>
            <a:r>
              <a:rPr dirty="0" sz="2800">
                <a:latin typeface="Calibri"/>
                <a:cs typeface="Calibri"/>
              </a:rPr>
              <a:t>loss</a:t>
            </a:r>
            <a:r>
              <a:rPr dirty="0" sz="2800" spc="-25">
                <a:latin typeface="Calibri"/>
                <a:cs typeface="Calibri"/>
              </a:rPr>
              <a:t> </a:t>
            </a:r>
            <a:r>
              <a:rPr dirty="0" sz="2800">
                <a:latin typeface="Calibri"/>
                <a:cs typeface="Calibri"/>
              </a:rPr>
              <a:t>depends</a:t>
            </a:r>
            <a:r>
              <a:rPr dirty="0" sz="2800" spc="-15">
                <a:latin typeface="Calibri"/>
                <a:cs typeface="Calibri"/>
              </a:rPr>
              <a:t> </a:t>
            </a:r>
            <a:r>
              <a:rPr dirty="0" sz="2800">
                <a:latin typeface="Calibri"/>
                <a:cs typeface="Calibri"/>
              </a:rPr>
              <a:t>on</a:t>
            </a:r>
            <a:r>
              <a:rPr dirty="0" sz="2800" spc="-40">
                <a:latin typeface="Calibri"/>
                <a:cs typeface="Calibri"/>
              </a:rPr>
              <a:t> </a:t>
            </a:r>
            <a:r>
              <a:rPr dirty="0" sz="2800">
                <a:latin typeface="Calibri"/>
                <a:cs typeface="Calibri"/>
              </a:rPr>
              <a:t>the</a:t>
            </a:r>
            <a:r>
              <a:rPr dirty="0" sz="2800" spc="-35">
                <a:latin typeface="Calibri"/>
                <a:cs typeface="Calibri"/>
              </a:rPr>
              <a:t> </a:t>
            </a:r>
            <a:r>
              <a:rPr dirty="0" sz="2800">
                <a:latin typeface="Calibri"/>
                <a:cs typeface="Calibri"/>
              </a:rPr>
              <a:t>input</a:t>
            </a:r>
            <a:r>
              <a:rPr dirty="0" sz="2800" spc="-5">
                <a:latin typeface="Calibri"/>
                <a:cs typeface="Calibri"/>
              </a:rPr>
              <a:t> </a:t>
            </a:r>
            <a:r>
              <a:rPr dirty="0" sz="2800">
                <a:latin typeface="Cambria Math"/>
                <a:cs typeface="Cambria Math"/>
              </a:rPr>
              <a:t>𝑥</a:t>
            </a:r>
            <a:r>
              <a:rPr dirty="0" sz="2800" spc="45">
                <a:latin typeface="Cambria Math"/>
                <a:cs typeface="Cambria Math"/>
              </a:rPr>
              <a:t> </a:t>
            </a:r>
            <a:r>
              <a:rPr dirty="0" sz="2800">
                <a:latin typeface="Calibri"/>
                <a:cs typeface="Calibri"/>
              </a:rPr>
              <a:t>,</a:t>
            </a:r>
            <a:r>
              <a:rPr dirty="0" sz="2800" spc="-40">
                <a:latin typeface="Calibri"/>
                <a:cs typeface="Calibri"/>
              </a:rPr>
              <a:t> </a:t>
            </a:r>
            <a:r>
              <a:rPr dirty="0" sz="2800">
                <a:latin typeface="Calibri"/>
                <a:cs typeface="Calibri"/>
              </a:rPr>
              <a:t>the</a:t>
            </a:r>
            <a:r>
              <a:rPr dirty="0" sz="2800" spc="-30">
                <a:latin typeface="Calibri"/>
                <a:cs typeface="Calibri"/>
              </a:rPr>
              <a:t> </a:t>
            </a:r>
            <a:r>
              <a:rPr dirty="0" sz="2800">
                <a:latin typeface="Calibri"/>
                <a:cs typeface="Calibri"/>
              </a:rPr>
              <a:t>target</a:t>
            </a:r>
            <a:r>
              <a:rPr dirty="0" sz="2800" spc="-60">
                <a:latin typeface="Calibri"/>
                <a:cs typeface="Calibri"/>
              </a:rPr>
              <a:t> </a:t>
            </a:r>
            <a:r>
              <a:rPr dirty="0" sz="2800">
                <a:latin typeface="Calibri"/>
                <a:cs typeface="Calibri"/>
              </a:rPr>
              <a:t>label</a:t>
            </a:r>
            <a:r>
              <a:rPr dirty="0" sz="2800" spc="-60">
                <a:latin typeface="Calibri"/>
                <a:cs typeface="Calibri"/>
              </a:rPr>
              <a:t> </a:t>
            </a:r>
            <a:r>
              <a:rPr dirty="0" sz="2800">
                <a:latin typeface="Cambria Math"/>
                <a:cs typeface="Cambria Math"/>
              </a:rPr>
              <a:t>𝑦</a:t>
            </a:r>
            <a:r>
              <a:rPr dirty="0" sz="2800" spc="10">
                <a:latin typeface="Cambria Math"/>
                <a:cs typeface="Cambria Math"/>
              </a:rPr>
              <a:t> </a:t>
            </a:r>
            <a:r>
              <a:rPr dirty="0" sz="2800" spc="-50">
                <a:latin typeface="Calibri"/>
                <a:cs typeface="Calibri"/>
              </a:rPr>
              <a:t>,</a:t>
            </a:r>
            <a:endParaRPr sz="2800">
              <a:latin typeface="Calibri"/>
              <a:cs typeface="Calibri"/>
            </a:endParaRPr>
          </a:p>
        </p:txBody>
      </p:sp>
      <p:sp>
        <p:nvSpPr>
          <p:cNvPr id="4" name="object 4" descr=""/>
          <p:cNvSpPr txBox="1"/>
          <p:nvPr/>
        </p:nvSpPr>
        <p:spPr>
          <a:xfrm>
            <a:off x="364134" y="5637043"/>
            <a:ext cx="3132455" cy="452120"/>
          </a:xfrm>
          <a:prstGeom prst="rect">
            <a:avLst/>
          </a:prstGeom>
        </p:spPr>
        <p:txBody>
          <a:bodyPr wrap="square" lIns="0" tIns="12065" rIns="0" bIns="0" rtlCol="0" vert="horz">
            <a:spAutoFit/>
          </a:bodyPr>
          <a:lstStyle/>
          <a:p>
            <a:pPr marL="12700">
              <a:lnSpc>
                <a:spcPct val="100000"/>
              </a:lnSpc>
              <a:spcBef>
                <a:spcPts val="95"/>
              </a:spcBef>
            </a:pPr>
            <a:r>
              <a:rPr dirty="0" sz="2800">
                <a:latin typeface="Calibri"/>
                <a:cs typeface="Calibri"/>
              </a:rPr>
              <a:t>and</a:t>
            </a:r>
            <a:r>
              <a:rPr dirty="0" sz="2800" spc="-70">
                <a:latin typeface="Calibri"/>
                <a:cs typeface="Calibri"/>
              </a:rPr>
              <a:t> </a:t>
            </a:r>
            <a:r>
              <a:rPr dirty="0" sz="2800">
                <a:latin typeface="Calibri"/>
                <a:cs typeface="Calibri"/>
              </a:rPr>
              <a:t>the</a:t>
            </a:r>
            <a:r>
              <a:rPr dirty="0" sz="2800" spc="-60">
                <a:latin typeface="Calibri"/>
                <a:cs typeface="Calibri"/>
              </a:rPr>
              <a:t> </a:t>
            </a:r>
            <a:r>
              <a:rPr dirty="0" sz="2800" spc="-10">
                <a:latin typeface="Calibri"/>
                <a:cs typeface="Calibri"/>
              </a:rPr>
              <a:t>parameters</a:t>
            </a:r>
            <a:r>
              <a:rPr dirty="0" sz="2800" spc="-60">
                <a:latin typeface="Calibri"/>
                <a:cs typeface="Calibri"/>
              </a:rPr>
              <a:t> </a:t>
            </a:r>
            <a:r>
              <a:rPr dirty="0" sz="2800" spc="-50">
                <a:latin typeface="Symbol"/>
                <a:cs typeface="Symbol"/>
              </a:rPr>
              <a:t></a:t>
            </a:r>
            <a:endParaRPr sz="2800">
              <a:latin typeface="Symbol"/>
              <a:cs typeface="Symbol"/>
            </a:endParaRPr>
          </a:p>
        </p:txBody>
      </p:sp>
      <p:pic>
        <p:nvPicPr>
          <p:cNvPr id="5" name="object 5" descr=""/>
          <p:cNvPicPr/>
          <p:nvPr/>
        </p:nvPicPr>
        <p:blipFill>
          <a:blip r:embed="rId2" cstate="print"/>
          <a:stretch>
            <a:fillRect/>
          </a:stretch>
        </p:blipFill>
        <p:spPr>
          <a:xfrm>
            <a:off x="286511" y="1211169"/>
            <a:ext cx="8436305" cy="2573294"/>
          </a:xfrm>
          <a:prstGeom prst="rect">
            <a:avLst/>
          </a:prstGeom>
        </p:spPr>
      </p:pic>
      <p:sp>
        <p:nvSpPr>
          <p:cNvPr id="6" name="object 6" descr=""/>
          <p:cNvSpPr txBox="1"/>
          <p:nvPr/>
        </p:nvSpPr>
        <p:spPr>
          <a:xfrm>
            <a:off x="6422493" y="148"/>
            <a:ext cx="2552700" cy="1131570"/>
          </a:xfrm>
          <a:prstGeom prst="rect">
            <a:avLst/>
          </a:prstGeom>
        </p:spPr>
        <p:txBody>
          <a:bodyPr wrap="square" lIns="0" tIns="11430" rIns="0" bIns="0" rtlCol="0" vert="horz">
            <a:spAutoFit/>
          </a:bodyPr>
          <a:lstStyle/>
          <a:p>
            <a:pPr marL="12700" marR="5080">
              <a:lnSpc>
                <a:spcPct val="120900"/>
              </a:lnSpc>
              <a:spcBef>
                <a:spcPts val="90"/>
              </a:spcBef>
            </a:pPr>
            <a:r>
              <a:rPr dirty="0" sz="1000">
                <a:latin typeface="Microsoft YaHei UI"/>
                <a:cs typeface="Microsoft YaHei UI"/>
              </a:rPr>
              <a:t>损失函数 L(x, y; θ)</a:t>
            </a:r>
            <a:r>
              <a:rPr dirty="0" sz="1000" spc="25">
                <a:latin typeface="Microsoft YaHei UI"/>
                <a:cs typeface="Microsoft YaHei UI"/>
              </a:rPr>
              <a:t> 是⼀个⽤来衡量“模型在</a:t>
            </a:r>
            <a:r>
              <a:rPr dirty="0" sz="1000" spc="5">
                <a:latin typeface="Microsoft YaHei UI"/>
                <a:cs typeface="Microsoft YaHei UI"/>
              </a:rPr>
              <a:t>训练集上拟合得有多好 </a:t>
            </a:r>
            <a:r>
              <a:rPr dirty="0" sz="1000">
                <a:latin typeface="Microsoft YaHei UI"/>
                <a:cs typeface="Microsoft YaHei UI"/>
              </a:rPr>
              <a:t>(how</a:t>
            </a:r>
            <a:r>
              <a:rPr dirty="0" sz="1000" spc="110">
                <a:latin typeface="Microsoft YaHei UI"/>
                <a:cs typeface="Microsoft YaHei UI"/>
              </a:rPr>
              <a:t> </a:t>
            </a:r>
            <a:r>
              <a:rPr dirty="0" sz="1000">
                <a:latin typeface="Microsoft YaHei UI"/>
                <a:cs typeface="Microsoft YaHei UI"/>
              </a:rPr>
              <a:t>well</a:t>
            </a:r>
            <a:r>
              <a:rPr dirty="0" sz="1000" spc="110">
                <a:latin typeface="Microsoft YaHei UI"/>
                <a:cs typeface="Microsoft YaHei UI"/>
              </a:rPr>
              <a:t> </a:t>
            </a:r>
            <a:r>
              <a:rPr dirty="0" sz="1000" spc="-25">
                <a:latin typeface="Microsoft YaHei UI"/>
                <a:cs typeface="Microsoft YaHei UI"/>
              </a:rPr>
              <a:t>the </a:t>
            </a:r>
            <a:r>
              <a:rPr dirty="0" sz="1000" spc="-10">
                <a:latin typeface="Microsoft YaHei UI"/>
                <a:cs typeface="Microsoft YaHei UI"/>
              </a:rPr>
              <a:t>model </a:t>
            </a:r>
            <a:r>
              <a:rPr dirty="0" sz="1000" spc="-110">
                <a:latin typeface="Microsoft YaHei UI"/>
                <a:cs typeface="Microsoft YaHei UI"/>
              </a:rPr>
              <a:t>ﬁts</a:t>
            </a:r>
            <a:r>
              <a:rPr dirty="0" sz="1000" spc="35">
                <a:latin typeface="Microsoft YaHei UI"/>
                <a:cs typeface="Microsoft YaHei UI"/>
              </a:rPr>
              <a:t> </a:t>
            </a:r>
            <a:r>
              <a:rPr dirty="0" sz="1000">
                <a:latin typeface="Microsoft YaHei UI"/>
                <a:cs typeface="Microsoft YaHei UI"/>
              </a:rPr>
              <a:t>the training set)”</a:t>
            </a:r>
            <a:r>
              <a:rPr dirty="0" sz="1000" spc="40">
                <a:latin typeface="Microsoft YaHei UI"/>
                <a:cs typeface="Microsoft YaHei UI"/>
              </a:rPr>
              <a:t>的度量。简单</a:t>
            </a:r>
            <a:r>
              <a:rPr dirty="0" sz="1000" spc="15">
                <a:latin typeface="Microsoft YaHei UI"/>
                <a:cs typeface="Microsoft YaHei UI"/>
              </a:rPr>
              <a:t>来说，它量化了模型的预测 </a:t>
            </a:r>
            <a:r>
              <a:rPr dirty="0" sz="1000">
                <a:latin typeface="Microsoft YaHei UI"/>
                <a:cs typeface="Microsoft YaHei UI"/>
              </a:rPr>
              <a:t>ŷ</a:t>
            </a:r>
            <a:r>
              <a:rPr dirty="0" sz="1000" spc="50">
                <a:latin typeface="Microsoft YaHei UI"/>
                <a:cs typeface="Microsoft YaHei UI"/>
              </a:rPr>
              <a:t> 与真实标签 </a:t>
            </a:r>
            <a:r>
              <a:rPr dirty="0" sz="1000" spc="-50">
                <a:latin typeface="Microsoft YaHei UI"/>
                <a:cs typeface="Microsoft YaHei UI"/>
              </a:rPr>
              <a:t>y</a:t>
            </a:r>
            <a:r>
              <a:rPr dirty="0" sz="1000" spc="-5">
                <a:latin typeface="Microsoft YaHei UI"/>
                <a:cs typeface="Microsoft YaHei UI"/>
              </a:rPr>
              <a:t>之间的差距。如果差距⼤，损失就⼤；如果预测很准，损失就很⼩。</a:t>
            </a:r>
            <a:endParaRPr sz="1000">
              <a:latin typeface="Microsoft YaHei UI"/>
              <a:cs typeface="Microsoft YaHei UI"/>
            </a:endParaRP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46</a:t>
            </a:r>
          </a:p>
        </p:txBody>
      </p:sp>
      <p:sp>
        <p:nvSpPr>
          <p:cNvPr id="7" name="object 7" descr=""/>
          <p:cNvSpPr txBox="1"/>
          <p:nvPr/>
        </p:nvSpPr>
        <p:spPr>
          <a:xfrm>
            <a:off x="1829298" y="2656376"/>
            <a:ext cx="4619625" cy="723900"/>
          </a:xfrm>
          <a:prstGeom prst="rect">
            <a:avLst/>
          </a:prstGeom>
        </p:spPr>
        <p:txBody>
          <a:bodyPr wrap="square" lIns="0" tIns="12065" rIns="0" bIns="0" rtlCol="0" vert="horz">
            <a:spAutoFit/>
          </a:bodyPr>
          <a:lstStyle/>
          <a:p>
            <a:pPr marL="12700" marR="86360">
              <a:lnSpc>
                <a:spcPct val="117500"/>
              </a:lnSpc>
              <a:spcBef>
                <a:spcPts val="95"/>
              </a:spcBef>
            </a:pPr>
            <a:r>
              <a:rPr dirty="0" sz="1300">
                <a:latin typeface="Microsoft YaHei UI"/>
                <a:cs typeface="Microsoft YaHei UI"/>
              </a:rPr>
              <a:t>损失 </a:t>
            </a:r>
            <a:r>
              <a:rPr dirty="0" sz="1300" spc="105">
                <a:latin typeface="Microsoft YaHei UI"/>
                <a:cs typeface="Microsoft YaHei UI"/>
              </a:rPr>
              <a:t>L</a:t>
            </a:r>
            <a:r>
              <a:rPr dirty="0" sz="1300" spc="-5">
                <a:latin typeface="Microsoft YaHei UI"/>
                <a:cs typeface="Microsoft YaHei UI"/>
              </a:rPr>
              <a:t> 的值取决于三个因素：输⼊ </a:t>
            </a:r>
            <a:r>
              <a:rPr dirty="0" sz="1300">
                <a:latin typeface="Trebuchet MS"/>
                <a:cs typeface="Trebuchet MS"/>
              </a:rPr>
              <a:t>x</a:t>
            </a:r>
            <a:r>
              <a:rPr dirty="0" sz="1300" spc="-25">
                <a:latin typeface="Trebuchet MS"/>
                <a:cs typeface="Trebuchet MS"/>
              </a:rPr>
              <a:t> </a:t>
            </a:r>
            <a:r>
              <a:rPr dirty="0" sz="1300" spc="-5">
                <a:latin typeface="Microsoft YaHei UI"/>
                <a:cs typeface="Microsoft YaHei UI"/>
              </a:rPr>
              <a:t>和参数 </a:t>
            </a:r>
            <a:r>
              <a:rPr dirty="0" sz="1300" spc="-10">
                <a:latin typeface="Trebuchet MS"/>
                <a:cs typeface="Trebuchet MS"/>
              </a:rPr>
              <a:t>θ</a:t>
            </a:r>
            <a:r>
              <a:rPr dirty="0" sz="1300" spc="-15">
                <a:latin typeface="Microsoft YaHei UI"/>
                <a:cs typeface="Microsoft YaHei UI"/>
              </a:rPr>
              <a:t>：因为它们共同</a:t>
            </a:r>
            <a:r>
              <a:rPr dirty="0" sz="1300" spc="-5">
                <a:latin typeface="Microsoft YaHei UI"/>
                <a:cs typeface="Microsoft YaHei UI"/>
              </a:rPr>
              <a:t>决定了模型的预测输出 </a:t>
            </a:r>
            <a:r>
              <a:rPr dirty="0" sz="1300">
                <a:latin typeface="Trebuchet MS"/>
                <a:cs typeface="Trebuchet MS"/>
              </a:rPr>
              <a:t>ŷ</a:t>
            </a:r>
            <a:r>
              <a:rPr dirty="0" sz="1300" spc="-50">
                <a:latin typeface="Microsoft YaHei UI"/>
                <a:cs typeface="Microsoft YaHei UI"/>
              </a:rPr>
              <a:t>。</a:t>
            </a:r>
            <a:endParaRPr sz="1300">
              <a:latin typeface="Microsoft YaHei UI"/>
              <a:cs typeface="Microsoft YaHei UI"/>
            </a:endParaRPr>
          </a:p>
          <a:p>
            <a:pPr marL="12700">
              <a:lnSpc>
                <a:spcPct val="100000"/>
              </a:lnSpc>
              <a:spcBef>
                <a:spcPts val="275"/>
              </a:spcBef>
            </a:pPr>
            <a:r>
              <a:rPr dirty="0" sz="1300">
                <a:latin typeface="Microsoft YaHei UI"/>
                <a:cs typeface="Microsoft YaHei UI"/>
              </a:rPr>
              <a:t>⽬标标签 </a:t>
            </a:r>
            <a:r>
              <a:rPr dirty="0" sz="1300">
                <a:latin typeface="Trebuchet MS"/>
                <a:cs typeface="Trebuchet MS"/>
              </a:rPr>
              <a:t>y</a:t>
            </a:r>
            <a:r>
              <a:rPr dirty="0" sz="1300">
                <a:latin typeface="Microsoft YaHei UI"/>
                <a:cs typeface="Microsoft YaHei UI"/>
              </a:rPr>
              <a:t>：因为它是我们⽤来⽐较和计算差距的</a:t>
            </a:r>
            <a:r>
              <a:rPr dirty="0" sz="1300" spc="-140">
                <a:latin typeface="Trebuchet MS"/>
                <a:cs typeface="Trebuchet MS"/>
              </a:rPr>
              <a:t>“</a:t>
            </a:r>
            <a:r>
              <a:rPr dirty="0" sz="1300">
                <a:latin typeface="Microsoft YaHei UI"/>
                <a:cs typeface="Microsoft YaHei UI"/>
              </a:rPr>
              <a:t>标准答案</a:t>
            </a:r>
            <a:r>
              <a:rPr dirty="0" sz="1300" spc="-140">
                <a:latin typeface="Trebuchet MS"/>
                <a:cs typeface="Trebuchet MS"/>
              </a:rPr>
              <a:t>”</a:t>
            </a:r>
            <a:r>
              <a:rPr dirty="0" sz="1300" spc="-50">
                <a:latin typeface="Microsoft YaHei UI"/>
                <a:cs typeface="Microsoft YaHei UI"/>
              </a:rPr>
              <a:t>。</a:t>
            </a:r>
            <a:endParaRPr sz="1300">
              <a:latin typeface="Microsoft YaHei UI"/>
              <a:cs typeface="Microsoft YaHei UI"/>
            </a:endParaRPr>
          </a:p>
        </p:txBody>
      </p:sp>
      <p:sp>
        <p:nvSpPr>
          <p:cNvPr id="8" name="object 8" descr=""/>
          <p:cNvSpPr txBox="1"/>
          <p:nvPr/>
        </p:nvSpPr>
        <p:spPr>
          <a:xfrm>
            <a:off x="4014194" y="5734578"/>
            <a:ext cx="3849370" cy="723900"/>
          </a:xfrm>
          <a:prstGeom prst="rect">
            <a:avLst/>
          </a:prstGeom>
        </p:spPr>
        <p:txBody>
          <a:bodyPr wrap="square" lIns="0" tIns="12065" rIns="0" bIns="0" rtlCol="0" vert="horz">
            <a:spAutoFit/>
          </a:bodyPr>
          <a:lstStyle/>
          <a:p>
            <a:pPr algn="just" marL="12700" marR="5080">
              <a:lnSpc>
                <a:spcPct val="117500"/>
              </a:lnSpc>
              <a:spcBef>
                <a:spcPts val="95"/>
              </a:spcBef>
            </a:pPr>
            <a:r>
              <a:rPr dirty="0" sz="1300" spc="-5">
                <a:latin typeface="Microsoft YaHei UI"/>
                <a:cs typeface="Microsoft YaHei UI"/>
              </a:rPr>
              <a:t>训练的核⼼⽬标：调整参数 </a:t>
            </a:r>
            <a:r>
              <a:rPr dirty="0" sz="1300" spc="-10">
                <a:latin typeface="Trebuchet MS"/>
                <a:cs typeface="Trebuchet MS"/>
              </a:rPr>
              <a:t>θ</a:t>
            </a:r>
            <a:r>
              <a:rPr dirty="0" sz="1300" spc="-10">
                <a:latin typeface="Microsoft YaHei UI"/>
                <a:cs typeface="Microsoft YaHei UI"/>
              </a:rPr>
              <a:t>（也就是⽹络中所有的</a:t>
            </a:r>
            <a:r>
              <a:rPr dirty="0" sz="1300">
                <a:latin typeface="Microsoft YaHei UI"/>
                <a:cs typeface="Microsoft YaHei UI"/>
              </a:rPr>
              <a:t>权重和偏置），</a:t>
            </a:r>
            <a:r>
              <a:rPr dirty="0" sz="1300" spc="-5">
                <a:latin typeface="Microsoft YaHei UI"/>
                <a:cs typeface="Microsoft YaHei UI"/>
              </a:rPr>
              <a:t>使得在整个训练数据集上，损失函数</a:t>
            </a:r>
            <a:r>
              <a:rPr dirty="0" sz="1300" spc="-50">
                <a:latin typeface="Microsoft YaHei UI"/>
                <a:cs typeface="Microsoft YaHei UI"/>
              </a:rPr>
              <a:t> </a:t>
            </a:r>
            <a:r>
              <a:rPr dirty="0" sz="1300" spc="55">
                <a:latin typeface="Trebuchet MS"/>
                <a:cs typeface="Trebuchet MS"/>
              </a:rPr>
              <a:t>L</a:t>
            </a:r>
            <a:r>
              <a:rPr dirty="0" sz="1300" spc="-30">
                <a:latin typeface="Trebuchet MS"/>
                <a:cs typeface="Trebuchet MS"/>
              </a:rPr>
              <a:t> </a:t>
            </a:r>
            <a:r>
              <a:rPr dirty="0" sz="1300" spc="-10">
                <a:latin typeface="Microsoft YaHei UI"/>
                <a:cs typeface="Microsoft YaHei UI"/>
              </a:rPr>
              <a:t>的总值尽可能⼩。</a:t>
            </a:r>
            <a:endParaRPr sz="1300">
              <a:latin typeface="Microsoft YaHei UI"/>
              <a:cs typeface="Microsoft YaHei U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714755" y="1514414"/>
            <a:ext cx="8004257" cy="2440958"/>
          </a:xfrm>
          <a:prstGeom prst="rect">
            <a:avLst/>
          </a:prstGeom>
        </p:spPr>
      </p:pic>
      <p:sp>
        <p:nvSpPr>
          <p:cNvPr id="3" name="object 3" descr=""/>
          <p:cNvSpPr txBox="1"/>
          <p:nvPr/>
        </p:nvSpPr>
        <p:spPr>
          <a:xfrm>
            <a:off x="435927" y="3958277"/>
            <a:ext cx="7863840" cy="2286635"/>
          </a:xfrm>
          <a:prstGeom prst="rect">
            <a:avLst/>
          </a:prstGeom>
        </p:spPr>
        <p:txBody>
          <a:bodyPr wrap="square" lIns="0" tIns="30480" rIns="0" bIns="0" rtlCol="0" vert="horz">
            <a:spAutoFit/>
          </a:bodyPr>
          <a:lstStyle/>
          <a:p>
            <a:pPr marL="266700">
              <a:lnSpc>
                <a:spcPct val="100000"/>
              </a:lnSpc>
              <a:spcBef>
                <a:spcPts val="240"/>
              </a:spcBef>
            </a:pPr>
            <a:r>
              <a:rPr dirty="0" sz="1300" spc="-5">
                <a:latin typeface="Microsoft YaHei UI"/>
                <a:cs typeface="Microsoft YaHei UI"/>
              </a:rPr>
              <a:t>如何调整参数来降低损失？</a:t>
            </a:r>
            <a:endParaRPr sz="1300">
              <a:latin typeface="Microsoft YaHei UI"/>
              <a:cs typeface="Microsoft YaHei UI"/>
            </a:endParaRPr>
          </a:p>
          <a:p>
            <a:pPr marL="12700">
              <a:lnSpc>
                <a:spcPct val="100000"/>
              </a:lnSpc>
              <a:spcBef>
                <a:spcPts val="290"/>
              </a:spcBef>
            </a:pPr>
            <a:r>
              <a:rPr dirty="0" sz="2800" b="1">
                <a:latin typeface="Calibri"/>
                <a:cs typeface="Calibri"/>
              </a:rPr>
              <a:t>Q.:</a:t>
            </a:r>
            <a:r>
              <a:rPr dirty="0" sz="2800" spc="-45" b="1">
                <a:latin typeface="Calibri"/>
                <a:cs typeface="Calibri"/>
              </a:rPr>
              <a:t> </a:t>
            </a:r>
            <a:r>
              <a:rPr dirty="0" sz="2800" b="1">
                <a:latin typeface="Calibri"/>
                <a:cs typeface="Calibri"/>
              </a:rPr>
              <a:t>how</a:t>
            </a:r>
            <a:r>
              <a:rPr dirty="0" sz="2800" spc="-75" b="1">
                <a:latin typeface="Calibri"/>
                <a:cs typeface="Calibri"/>
              </a:rPr>
              <a:t> </a:t>
            </a:r>
            <a:r>
              <a:rPr dirty="0" sz="2800" b="1">
                <a:latin typeface="Calibri"/>
                <a:cs typeface="Calibri"/>
              </a:rPr>
              <a:t>to</a:t>
            </a:r>
            <a:r>
              <a:rPr dirty="0" sz="2800" spc="-60" b="1">
                <a:latin typeface="Calibri"/>
                <a:cs typeface="Calibri"/>
              </a:rPr>
              <a:t> </a:t>
            </a:r>
            <a:r>
              <a:rPr dirty="0" sz="2800" b="1">
                <a:latin typeface="Calibri"/>
                <a:cs typeface="Calibri"/>
              </a:rPr>
              <a:t>tune</a:t>
            </a:r>
            <a:r>
              <a:rPr dirty="0" sz="2800" spc="-55" b="1">
                <a:latin typeface="Calibri"/>
                <a:cs typeface="Calibri"/>
              </a:rPr>
              <a:t> </a:t>
            </a:r>
            <a:r>
              <a:rPr dirty="0" sz="2800" b="1">
                <a:latin typeface="Calibri"/>
                <a:cs typeface="Calibri"/>
              </a:rPr>
              <a:t>the</a:t>
            </a:r>
            <a:r>
              <a:rPr dirty="0" sz="2800" spc="-45" b="1">
                <a:latin typeface="Calibri"/>
                <a:cs typeface="Calibri"/>
              </a:rPr>
              <a:t> </a:t>
            </a:r>
            <a:r>
              <a:rPr dirty="0" sz="2800" spc="-10" b="1">
                <a:latin typeface="Calibri"/>
                <a:cs typeface="Calibri"/>
              </a:rPr>
              <a:t>parameters</a:t>
            </a:r>
            <a:r>
              <a:rPr dirty="0" sz="2800" spc="-25" b="1">
                <a:latin typeface="Calibri"/>
                <a:cs typeface="Calibri"/>
              </a:rPr>
              <a:t> </a:t>
            </a:r>
            <a:r>
              <a:rPr dirty="0" sz="2800" b="1">
                <a:latin typeface="Calibri"/>
                <a:cs typeface="Calibri"/>
              </a:rPr>
              <a:t>to</a:t>
            </a:r>
            <a:r>
              <a:rPr dirty="0" sz="2800" spc="-65" b="1">
                <a:latin typeface="Calibri"/>
                <a:cs typeface="Calibri"/>
              </a:rPr>
              <a:t> </a:t>
            </a:r>
            <a:r>
              <a:rPr dirty="0" sz="2800" b="1">
                <a:latin typeface="Calibri"/>
                <a:cs typeface="Calibri"/>
              </a:rPr>
              <a:t>decrease</a:t>
            </a:r>
            <a:r>
              <a:rPr dirty="0" sz="2800" spc="-30" b="1">
                <a:latin typeface="Calibri"/>
                <a:cs typeface="Calibri"/>
              </a:rPr>
              <a:t> </a:t>
            </a:r>
            <a:r>
              <a:rPr dirty="0" sz="2800" b="1">
                <a:latin typeface="Calibri"/>
                <a:cs typeface="Calibri"/>
              </a:rPr>
              <a:t>the</a:t>
            </a:r>
            <a:r>
              <a:rPr dirty="0" sz="2800" spc="-45" b="1">
                <a:latin typeface="Calibri"/>
                <a:cs typeface="Calibri"/>
              </a:rPr>
              <a:t> </a:t>
            </a:r>
            <a:r>
              <a:rPr dirty="0" sz="2800" spc="-10" b="1">
                <a:latin typeface="Calibri"/>
                <a:cs typeface="Calibri"/>
              </a:rPr>
              <a:t>loss?</a:t>
            </a:r>
            <a:endParaRPr sz="2800">
              <a:latin typeface="Calibri"/>
              <a:cs typeface="Calibri"/>
            </a:endParaRPr>
          </a:p>
          <a:p>
            <a:pPr marL="83820" marR="651510">
              <a:lnSpc>
                <a:spcPct val="100000"/>
              </a:lnSpc>
              <a:spcBef>
                <a:spcPts val="2370"/>
              </a:spcBef>
            </a:pPr>
            <a:r>
              <a:rPr dirty="0" sz="2800">
                <a:latin typeface="Calibri"/>
                <a:cs typeface="Calibri"/>
              </a:rPr>
              <a:t>If</a:t>
            </a:r>
            <a:r>
              <a:rPr dirty="0" sz="2800" spc="-80">
                <a:latin typeface="Calibri"/>
                <a:cs typeface="Calibri"/>
              </a:rPr>
              <a:t> </a:t>
            </a:r>
            <a:r>
              <a:rPr dirty="0" sz="2800">
                <a:latin typeface="Calibri"/>
                <a:cs typeface="Calibri"/>
              </a:rPr>
              <a:t>loss</a:t>
            </a:r>
            <a:r>
              <a:rPr dirty="0" sz="2800" spc="-50">
                <a:latin typeface="Calibri"/>
                <a:cs typeface="Calibri"/>
              </a:rPr>
              <a:t> </a:t>
            </a:r>
            <a:r>
              <a:rPr dirty="0" sz="2800">
                <a:latin typeface="Calibri"/>
                <a:cs typeface="Calibri"/>
              </a:rPr>
              <a:t>is</a:t>
            </a:r>
            <a:r>
              <a:rPr dirty="0" sz="2800" spc="-55">
                <a:latin typeface="Calibri"/>
                <a:cs typeface="Calibri"/>
              </a:rPr>
              <a:t> </a:t>
            </a:r>
            <a:r>
              <a:rPr dirty="0" u="heavy" sz="2800" spc="-10">
                <a:uFill>
                  <a:solidFill>
                    <a:srgbClr val="000000"/>
                  </a:solidFill>
                </a:uFill>
                <a:latin typeface="Calibri"/>
                <a:cs typeface="Calibri"/>
              </a:rPr>
              <a:t>differentiable</a:t>
            </a:r>
            <a:r>
              <a:rPr dirty="0" sz="2800" spc="-50">
                <a:latin typeface="Calibri"/>
                <a:cs typeface="Calibri"/>
              </a:rPr>
              <a:t> </a:t>
            </a:r>
            <a:r>
              <a:rPr dirty="0" sz="2800">
                <a:latin typeface="Calibri"/>
                <a:cs typeface="Calibri"/>
              </a:rPr>
              <a:t>we</a:t>
            </a:r>
            <a:r>
              <a:rPr dirty="0" sz="2800" spc="-75">
                <a:latin typeface="Calibri"/>
                <a:cs typeface="Calibri"/>
              </a:rPr>
              <a:t> </a:t>
            </a:r>
            <a:r>
              <a:rPr dirty="0" sz="2800">
                <a:latin typeface="Calibri"/>
                <a:cs typeface="Calibri"/>
              </a:rPr>
              <a:t>can</a:t>
            </a:r>
            <a:r>
              <a:rPr dirty="0" sz="2800" spc="-55">
                <a:latin typeface="Calibri"/>
                <a:cs typeface="Calibri"/>
              </a:rPr>
              <a:t> </a:t>
            </a:r>
            <a:r>
              <a:rPr dirty="0" sz="2800">
                <a:latin typeface="Calibri"/>
                <a:cs typeface="Calibri"/>
              </a:rPr>
              <a:t>compute</a:t>
            </a:r>
            <a:r>
              <a:rPr dirty="0" sz="2800" spc="-45">
                <a:latin typeface="Calibri"/>
                <a:cs typeface="Calibri"/>
              </a:rPr>
              <a:t> </a:t>
            </a:r>
            <a:r>
              <a:rPr dirty="0" sz="2800" spc="-10">
                <a:latin typeface="Calibri"/>
                <a:cs typeface="Calibri"/>
              </a:rPr>
              <a:t>gradients. </a:t>
            </a:r>
            <a:r>
              <a:rPr dirty="0" sz="2800">
                <a:latin typeface="Calibri"/>
                <a:cs typeface="Calibri"/>
              </a:rPr>
              <a:t>We</a:t>
            </a:r>
            <a:r>
              <a:rPr dirty="0" sz="2800" spc="-85">
                <a:latin typeface="Calibri"/>
                <a:cs typeface="Calibri"/>
              </a:rPr>
              <a:t> </a:t>
            </a:r>
            <a:r>
              <a:rPr dirty="0" sz="2800">
                <a:latin typeface="Calibri"/>
                <a:cs typeface="Calibri"/>
              </a:rPr>
              <a:t>can</a:t>
            </a:r>
            <a:r>
              <a:rPr dirty="0" sz="2800" spc="-75">
                <a:latin typeface="Calibri"/>
                <a:cs typeface="Calibri"/>
              </a:rPr>
              <a:t> </a:t>
            </a:r>
            <a:r>
              <a:rPr dirty="0" sz="2800">
                <a:latin typeface="Calibri"/>
                <a:cs typeface="Calibri"/>
              </a:rPr>
              <a:t>use</a:t>
            </a:r>
            <a:r>
              <a:rPr dirty="0" sz="2800" spc="-75">
                <a:latin typeface="Calibri"/>
                <a:cs typeface="Calibri"/>
              </a:rPr>
              <a:t> </a:t>
            </a:r>
            <a:r>
              <a:rPr dirty="0" sz="2800" spc="-20" b="1">
                <a:latin typeface="Calibri"/>
                <a:cs typeface="Calibri"/>
              </a:rPr>
              <a:t>back-</a:t>
            </a:r>
            <a:r>
              <a:rPr dirty="0" sz="2800" spc="-10" b="1">
                <a:latin typeface="Calibri"/>
                <a:cs typeface="Calibri"/>
              </a:rPr>
              <a:t>propagation,</a:t>
            </a:r>
            <a:r>
              <a:rPr dirty="0" sz="2800" spc="-20" b="1">
                <a:latin typeface="Calibri"/>
                <a:cs typeface="Calibri"/>
              </a:rPr>
              <a:t> </a:t>
            </a:r>
            <a:r>
              <a:rPr dirty="0" sz="2800">
                <a:latin typeface="Calibri"/>
                <a:cs typeface="Calibri"/>
              </a:rPr>
              <a:t>to</a:t>
            </a:r>
            <a:r>
              <a:rPr dirty="0" sz="2800" spc="-85">
                <a:latin typeface="Calibri"/>
                <a:cs typeface="Calibri"/>
              </a:rPr>
              <a:t> </a:t>
            </a:r>
            <a:r>
              <a:rPr dirty="0" sz="2800">
                <a:latin typeface="Calibri"/>
                <a:cs typeface="Calibri"/>
              </a:rPr>
              <a:t>compute</a:t>
            </a:r>
            <a:r>
              <a:rPr dirty="0" sz="2800" spc="-60">
                <a:latin typeface="Calibri"/>
                <a:cs typeface="Calibri"/>
              </a:rPr>
              <a:t> </a:t>
            </a:r>
            <a:r>
              <a:rPr dirty="0" sz="2800" spc="-25">
                <a:latin typeface="Calibri"/>
                <a:cs typeface="Calibri"/>
              </a:rPr>
              <a:t>the </a:t>
            </a:r>
            <a:r>
              <a:rPr dirty="0" sz="2800" spc="-10">
                <a:latin typeface="Calibri"/>
                <a:cs typeface="Calibri"/>
              </a:rPr>
              <a:t>gradients</a:t>
            </a:r>
            <a:r>
              <a:rPr dirty="0" sz="2800" spc="-55">
                <a:latin typeface="Calibri"/>
                <a:cs typeface="Calibri"/>
              </a:rPr>
              <a:t> </a:t>
            </a:r>
            <a:r>
              <a:rPr dirty="0" sz="2800" spc="-85">
                <a:latin typeface="Calibri"/>
                <a:cs typeface="Calibri"/>
              </a:rPr>
              <a:t>w.r.t.</a:t>
            </a:r>
            <a:r>
              <a:rPr dirty="0" sz="2800" spc="-60">
                <a:latin typeface="Calibri"/>
                <a:cs typeface="Calibri"/>
              </a:rPr>
              <a:t> </a:t>
            </a:r>
            <a:r>
              <a:rPr dirty="0" sz="2800" spc="-10">
                <a:latin typeface="Calibri"/>
                <a:cs typeface="Calibri"/>
              </a:rPr>
              <a:t>parameters</a:t>
            </a:r>
            <a:r>
              <a:rPr dirty="0" sz="2800" spc="-75">
                <a:latin typeface="Calibri"/>
                <a:cs typeface="Calibri"/>
              </a:rPr>
              <a:t> </a:t>
            </a:r>
            <a:r>
              <a:rPr dirty="0" sz="2800">
                <a:latin typeface="Calibri"/>
                <a:cs typeface="Calibri"/>
              </a:rPr>
              <a:t>at</a:t>
            </a:r>
            <a:r>
              <a:rPr dirty="0" sz="2800" spc="-75">
                <a:latin typeface="Calibri"/>
                <a:cs typeface="Calibri"/>
              </a:rPr>
              <a:t> </a:t>
            </a:r>
            <a:r>
              <a:rPr dirty="0" sz="2800">
                <a:latin typeface="Calibri"/>
                <a:cs typeface="Calibri"/>
              </a:rPr>
              <a:t>the</a:t>
            </a:r>
            <a:r>
              <a:rPr dirty="0" sz="2800" spc="-75">
                <a:latin typeface="Calibri"/>
                <a:cs typeface="Calibri"/>
              </a:rPr>
              <a:t> </a:t>
            </a:r>
            <a:r>
              <a:rPr dirty="0" sz="2800">
                <a:latin typeface="Calibri"/>
                <a:cs typeface="Calibri"/>
              </a:rPr>
              <a:t>lower</a:t>
            </a:r>
            <a:r>
              <a:rPr dirty="0" sz="2800" spc="-80">
                <a:latin typeface="Calibri"/>
                <a:cs typeface="Calibri"/>
              </a:rPr>
              <a:t> </a:t>
            </a:r>
            <a:r>
              <a:rPr dirty="0" sz="2800" spc="-10">
                <a:latin typeface="Calibri"/>
                <a:cs typeface="Calibri"/>
              </a:rPr>
              <a:t>layers</a:t>
            </a:r>
            <a:endParaRPr sz="2800">
              <a:latin typeface="Calibri"/>
              <a:cs typeface="Calibri"/>
            </a:endParaRP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47</a:t>
            </a:r>
          </a:p>
        </p:txBody>
      </p:sp>
      <p:sp>
        <p:nvSpPr>
          <p:cNvPr id="4" name="object 4"/>
          <p:cNvSpPr txBox="1">
            <a:spLocks noGrp="1"/>
          </p:cNvSpPr>
          <p:nvPr>
            <p:ph type="title"/>
          </p:nvPr>
        </p:nvSpPr>
        <p:spPr>
          <a:prstGeom prst="rect"/>
        </p:spPr>
        <p:txBody>
          <a:bodyPr wrap="square" lIns="0" tIns="292649" rIns="0" bIns="0" rtlCol="0" vert="horz">
            <a:spAutoFit/>
          </a:bodyPr>
          <a:lstStyle/>
          <a:p>
            <a:pPr marL="852169">
              <a:lnSpc>
                <a:spcPct val="100000"/>
              </a:lnSpc>
              <a:spcBef>
                <a:spcPts val="95"/>
              </a:spcBef>
            </a:pPr>
            <a:r>
              <a:rPr dirty="0"/>
              <a:t>Backward</a:t>
            </a:r>
            <a:r>
              <a:rPr dirty="0" spc="-160"/>
              <a:t> </a:t>
            </a:r>
            <a:r>
              <a:rPr dirty="0"/>
              <a:t>Propagation</a:t>
            </a:r>
            <a:r>
              <a:rPr dirty="0" spc="-160"/>
              <a:t> </a:t>
            </a:r>
            <a:r>
              <a:rPr dirty="0" spc="-20"/>
              <a:t>(BP)</a:t>
            </a:r>
          </a:p>
        </p:txBody>
      </p:sp>
      <p:sp>
        <p:nvSpPr>
          <p:cNvPr id="5" name="object 5" descr=""/>
          <p:cNvSpPr txBox="1"/>
          <p:nvPr/>
        </p:nvSpPr>
        <p:spPr>
          <a:xfrm>
            <a:off x="1364565" y="2777516"/>
            <a:ext cx="5969000" cy="878840"/>
          </a:xfrm>
          <a:prstGeom prst="rect">
            <a:avLst/>
          </a:prstGeom>
        </p:spPr>
        <p:txBody>
          <a:bodyPr wrap="square" lIns="0" tIns="12700" rIns="0" bIns="0" rtlCol="0" vert="horz">
            <a:spAutoFit/>
          </a:bodyPr>
          <a:lstStyle/>
          <a:p>
            <a:pPr marL="12700" marR="5080">
              <a:lnSpc>
                <a:spcPct val="116700"/>
              </a:lnSpc>
              <a:spcBef>
                <a:spcPts val="100"/>
              </a:spcBef>
            </a:pPr>
            <a:r>
              <a:rPr dirty="0" sz="1200">
                <a:latin typeface="Microsoft YaHei UI"/>
                <a:cs typeface="Microsoft YaHei UI"/>
              </a:rPr>
              <a:t>利⽤反向传播 </a:t>
            </a:r>
            <a:r>
              <a:rPr dirty="0" sz="1200" spc="-20">
                <a:latin typeface="Microsoft YaHei UI"/>
                <a:cs typeface="Microsoft YaHei UI"/>
              </a:rPr>
              <a:t>(back-</a:t>
            </a:r>
            <a:r>
              <a:rPr dirty="0" sz="1200" spc="-10">
                <a:latin typeface="Microsoft YaHei UI"/>
                <a:cs typeface="Microsoft YaHei UI"/>
              </a:rPr>
              <a:t>propagation)</a:t>
            </a:r>
            <a:r>
              <a:rPr dirty="0" sz="1200" spc="-5">
                <a:latin typeface="Microsoft YaHei UI"/>
                <a:cs typeface="Microsoft YaHei UI"/>
              </a:rPr>
              <a:t> 算法。它的作⽤是计算梯度 </a:t>
            </a:r>
            <a:r>
              <a:rPr dirty="0" sz="1200" spc="-25">
                <a:latin typeface="Microsoft YaHei UI"/>
                <a:cs typeface="Microsoft YaHei UI"/>
              </a:rPr>
              <a:t>(compute </a:t>
            </a:r>
            <a:r>
              <a:rPr dirty="0" sz="1200" spc="-10">
                <a:latin typeface="Microsoft YaHei UI"/>
                <a:cs typeface="Microsoft YaHei UI"/>
              </a:rPr>
              <a:t>gradients)，</a:t>
            </a:r>
            <a:r>
              <a:rPr dirty="0" sz="1200">
                <a:latin typeface="Microsoft YaHei UI"/>
                <a:cs typeface="Microsoft YaHei UI"/>
              </a:rPr>
              <a:t>即损失 </a:t>
            </a:r>
            <a:r>
              <a:rPr dirty="0" sz="1200" spc="90">
                <a:latin typeface="Microsoft YaHei UI"/>
                <a:cs typeface="Microsoft YaHei UI"/>
              </a:rPr>
              <a:t>L</a:t>
            </a:r>
            <a:r>
              <a:rPr dirty="0" sz="1200">
                <a:latin typeface="Microsoft YaHei UI"/>
                <a:cs typeface="Microsoft YaHei UI"/>
              </a:rPr>
              <a:t> 相对于⽹络中每⼀层参数 θ 的偏导数 ∂L/∂θ</a:t>
            </a:r>
            <a:r>
              <a:rPr dirty="0" sz="1200" spc="-5">
                <a:latin typeface="Microsoft YaHei UI"/>
                <a:cs typeface="Microsoft YaHei UI"/>
              </a:rPr>
              <a:t>。这个梯度精确地告诉我们，如果稍微改变某个参数，损失会如何变化。使⽤这个算法的前提是，我们的损失函数和⽹络中的每⼀层操作都是可微分的</a:t>
            </a:r>
            <a:endParaRPr sz="1200">
              <a:latin typeface="Microsoft YaHei UI"/>
              <a:cs typeface="Microsoft YaHei U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92649" rIns="0" bIns="0" rtlCol="0" vert="horz">
            <a:spAutoFit/>
          </a:bodyPr>
          <a:lstStyle/>
          <a:p>
            <a:pPr marL="852169">
              <a:lnSpc>
                <a:spcPct val="100000"/>
              </a:lnSpc>
              <a:spcBef>
                <a:spcPts val="95"/>
              </a:spcBef>
            </a:pPr>
            <a:r>
              <a:rPr dirty="0"/>
              <a:t>Backward</a:t>
            </a:r>
            <a:r>
              <a:rPr dirty="0" spc="-160"/>
              <a:t> </a:t>
            </a:r>
            <a:r>
              <a:rPr dirty="0"/>
              <a:t>Propagation</a:t>
            </a:r>
            <a:r>
              <a:rPr dirty="0" spc="-160"/>
              <a:t> </a:t>
            </a:r>
            <a:r>
              <a:rPr dirty="0" spc="-20"/>
              <a:t>(BP)</a:t>
            </a:r>
          </a:p>
        </p:txBody>
      </p:sp>
      <p:pic>
        <p:nvPicPr>
          <p:cNvPr id="3" name="object 3" descr=""/>
          <p:cNvPicPr/>
          <p:nvPr/>
        </p:nvPicPr>
        <p:blipFill>
          <a:blip r:embed="rId2" cstate="print"/>
          <a:stretch>
            <a:fillRect/>
          </a:stretch>
        </p:blipFill>
        <p:spPr>
          <a:xfrm>
            <a:off x="288468" y="2040344"/>
            <a:ext cx="8521636" cy="2772000"/>
          </a:xfrm>
          <a:prstGeom prst="rect">
            <a:avLst/>
          </a:prstGeom>
        </p:spPr>
      </p:pic>
      <p:pic>
        <p:nvPicPr>
          <p:cNvPr id="4" name="object 4" descr=""/>
          <p:cNvPicPr/>
          <p:nvPr/>
        </p:nvPicPr>
        <p:blipFill>
          <a:blip r:embed="rId3" cstate="print"/>
          <a:stretch>
            <a:fillRect/>
          </a:stretch>
        </p:blipFill>
        <p:spPr>
          <a:xfrm>
            <a:off x="4209270" y="1226223"/>
            <a:ext cx="1820908" cy="406421"/>
          </a:xfrm>
          <a:prstGeom prst="rect">
            <a:avLst/>
          </a:prstGeom>
        </p:spPr>
      </p:pic>
      <p:sp>
        <p:nvSpPr>
          <p:cNvPr id="5" name="object 5" descr=""/>
          <p:cNvSpPr txBox="1"/>
          <p:nvPr/>
        </p:nvSpPr>
        <p:spPr>
          <a:xfrm>
            <a:off x="1588021" y="4846294"/>
            <a:ext cx="6136640" cy="225425"/>
          </a:xfrm>
          <a:prstGeom prst="rect">
            <a:avLst/>
          </a:prstGeom>
        </p:spPr>
        <p:txBody>
          <a:bodyPr wrap="square" lIns="0" tIns="13970" rIns="0" bIns="0" rtlCol="0" vert="horz">
            <a:spAutoFit/>
          </a:bodyPr>
          <a:lstStyle/>
          <a:p>
            <a:pPr marL="12700">
              <a:lnSpc>
                <a:spcPct val="100000"/>
              </a:lnSpc>
              <a:spcBef>
                <a:spcPts val="110"/>
              </a:spcBef>
            </a:pPr>
            <a:r>
              <a:rPr dirty="0" sz="1300" spc="-5">
                <a:latin typeface="Microsoft YaHei UI"/>
                <a:cs typeface="Microsoft YaHei UI"/>
              </a:rPr>
              <a:t>我们计算损失 </a:t>
            </a:r>
            <a:r>
              <a:rPr dirty="0" sz="1300" spc="55">
                <a:latin typeface="Trebuchet MS"/>
                <a:cs typeface="Trebuchet MS"/>
              </a:rPr>
              <a:t>L</a:t>
            </a:r>
            <a:r>
              <a:rPr dirty="0" sz="1300" spc="-15">
                <a:latin typeface="Trebuchet MS"/>
                <a:cs typeface="Trebuchet MS"/>
              </a:rPr>
              <a:t> </a:t>
            </a:r>
            <a:r>
              <a:rPr dirty="0" sz="1300" spc="-5">
                <a:latin typeface="Microsoft YaHei UI"/>
                <a:cs typeface="Microsoft YaHei UI"/>
              </a:rPr>
              <a:t>相对于⽹络最终输出 </a:t>
            </a:r>
            <a:r>
              <a:rPr dirty="0" sz="1300">
                <a:latin typeface="Trebuchet MS"/>
                <a:cs typeface="Trebuchet MS"/>
              </a:rPr>
              <a:t>ŷ</a:t>
            </a:r>
            <a:r>
              <a:rPr dirty="0" sz="1300" spc="-10">
                <a:latin typeface="Trebuchet MS"/>
                <a:cs typeface="Trebuchet MS"/>
              </a:rPr>
              <a:t> </a:t>
            </a:r>
            <a:r>
              <a:rPr dirty="0" sz="1300" spc="-5">
                <a:latin typeface="Microsoft YaHei UI"/>
                <a:cs typeface="Microsoft YaHei UI"/>
              </a:rPr>
              <a:t>的梯度 </a:t>
            </a:r>
            <a:r>
              <a:rPr dirty="0" sz="1300" spc="-50">
                <a:latin typeface="Trebuchet MS"/>
                <a:cs typeface="Trebuchet MS"/>
              </a:rPr>
              <a:t>∂L/∂ŷ</a:t>
            </a:r>
            <a:r>
              <a:rPr dirty="0" sz="1300">
                <a:latin typeface="Microsoft YaHei UI"/>
                <a:cs typeface="Microsoft YaHei UI"/>
              </a:rPr>
              <a:t>。这代表了</a:t>
            </a:r>
            <a:r>
              <a:rPr dirty="0" sz="1300" spc="-140">
                <a:latin typeface="Trebuchet MS"/>
                <a:cs typeface="Trebuchet MS"/>
              </a:rPr>
              <a:t>“</a:t>
            </a:r>
            <a:r>
              <a:rPr dirty="0" sz="1300">
                <a:latin typeface="Microsoft YaHei UI"/>
                <a:cs typeface="Microsoft YaHei UI"/>
              </a:rPr>
              <a:t>初始的误差信号</a:t>
            </a:r>
            <a:r>
              <a:rPr dirty="0" sz="1300" spc="-140">
                <a:latin typeface="Trebuchet MS"/>
                <a:cs typeface="Trebuchet MS"/>
              </a:rPr>
              <a:t>”</a:t>
            </a:r>
            <a:r>
              <a:rPr dirty="0" sz="1300" spc="-50">
                <a:latin typeface="Microsoft YaHei UI"/>
                <a:cs typeface="Microsoft YaHei UI"/>
              </a:rPr>
              <a:t>。</a:t>
            </a:r>
            <a:endParaRPr sz="1300">
              <a:latin typeface="Microsoft YaHei UI"/>
              <a:cs typeface="Microsoft YaHei UI"/>
            </a:endParaRP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48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92649" rIns="0" bIns="0" rtlCol="0" vert="horz">
            <a:spAutoFit/>
          </a:bodyPr>
          <a:lstStyle/>
          <a:p>
            <a:pPr marL="852169">
              <a:lnSpc>
                <a:spcPct val="100000"/>
              </a:lnSpc>
              <a:spcBef>
                <a:spcPts val="95"/>
              </a:spcBef>
            </a:pPr>
            <a:r>
              <a:rPr dirty="0"/>
              <a:t>Backward</a:t>
            </a:r>
            <a:r>
              <a:rPr dirty="0" spc="-160"/>
              <a:t> </a:t>
            </a:r>
            <a:r>
              <a:rPr dirty="0"/>
              <a:t>Propagation</a:t>
            </a:r>
            <a:r>
              <a:rPr dirty="0" spc="-160"/>
              <a:t> </a:t>
            </a:r>
            <a:r>
              <a:rPr dirty="0" spc="-20"/>
              <a:t>(BP)</a:t>
            </a:r>
          </a:p>
        </p:txBody>
      </p:sp>
      <p:pic>
        <p:nvPicPr>
          <p:cNvPr id="3" name="object 3" descr=""/>
          <p:cNvPicPr/>
          <p:nvPr/>
        </p:nvPicPr>
        <p:blipFill>
          <a:blip r:embed="rId2" cstate="print"/>
          <a:stretch>
            <a:fillRect/>
          </a:stretch>
        </p:blipFill>
        <p:spPr>
          <a:xfrm>
            <a:off x="332614" y="2045976"/>
            <a:ext cx="8468862" cy="2772098"/>
          </a:xfrm>
          <a:prstGeom prst="rect">
            <a:avLst/>
          </a:prstGeom>
        </p:spPr>
      </p:pic>
      <p:sp>
        <p:nvSpPr>
          <p:cNvPr id="4" name="object 4" descr=""/>
          <p:cNvSpPr txBox="1"/>
          <p:nvPr/>
        </p:nvSpPr>
        <p:spPr>
          <a:xfrm>
            <a:off x="506744" y="4792143"/>
            <a:ext cx="5721350" cy="1518285"/>
          </a:xfrm>
          <a:prstGeom prst="rect">
            <a:avLst/>
          </a:prstGeom>
        </p:spPr>
        <p:txBody>
          <a:bodyPr wrap="square" lIns="0" tIns="13970" rIns="0" bIns="0" rtlCol="0" vert="horz">
            <a:spAutoFit/>
          </a:bodyPr>
          <a:lstStyle/>
          <a:p>
            <a:pPr marL="12700">
              <a:lnSpc>
                <a:spcPct val="100000"/>
              </a:lnSpc>
              <a:spcBef>
                <a:spcPts val="110"/>
              </a:spcBef>
            </a:pPr>
            <a:r>
              <a:rPr dirty="0" sz="1300">
                <a:latin typeface="Microsoft YaHei UI"/>
                <a:cs typeface="Microsoft YaHei UI"/>
              </a:rPr>
              <a:t>逐层向后传递</a:t>
            </a:r>
            <a:r>
              <a:rPr dirty="0" sz="1300" spc="-75">
                <a:latin typeface="Trebuchet MS"/>
                <a:cs typeface="Trebuchet MS"/>
              </a:rPr>
              <a:t>: </a:t>
            </a:r>
            <a:r>
              <a:rPr dirty="0" sz="1300">
                <a:latin typeface="Microsoft YaHei UI"/>
                <a:cs typeface="Microsoft YaHei UI"/>
              </a:rPr>
              <a:t>这个误差信号会从⽹络的末端开始，逐层向前（反向）</a:t>
            </a:r>
            <a:r>
              <a:rPr dirty="0" sz="1300" spc="-20">
                <a:latin typeface="Microsoft YaHei UI"/>
                <a:cs typeface="Microsoft YaHei UI"/>
              </a:rPr>
              <a:t>传递。</a:t>
            </a:r>
            <a:endParaRPr sz="1300">
              <a:latin typeface="Microsoft YaHei UI"/>
              <a:cs typeface="Microsoft YaHei UI"/>
            </a:endParaRPr>
          </a:p>
          <a:p>
            <a:pPr marL="12700">
              <a:lnSpc>
                <a:spcPct val="100000"/>
              </a:lnSpc>
              <a:spcBef>
                <a:spcPts val="1830"/>
              </a:spcBef>
            </a:pPr>
            <a:r>
              <a:rPr dirty="0" sz="1300" spc="-5">
                <a:latin typeface="Microsoft YaHei UI"/>
                <a:cs typeface="Microsoft YaHei UI"/>
              </a:rPr>
              <a:t>误差信号⾸先通过 </a:t>
            </a:r>
            <a:r>
              <a:rPr dirty="0" sz="1300" spc="-25">
                <a:latin typeface="Trebuchet MS"/>
                <a:cs typeface="Trebuchet MS"/>
              </a:rPr>
              <a:t>f3</a:t>
            </a:r>
            <a:r>
              <a:rPr dirty="0" sz="1300" spc="-10">
                <a:latin typeface="Microsoft YaHei UI"/>
                <a:cs typeface="Microsoft YaHei UI"/>
              </a:rPr>
              <a:t>，计算出损失 </a:t>
            </a:r>
            <a:r>
              <a:rPr dirty="0" sz="1300" spc="55">
                <a:latin typeface="Trebuchet MS"/>
                <a:cs typeface="Trebuchet MS"/>
              </a:rPr>
              <a:t>L</a:t>
            </a:r>
            <a:r>
              <a:rPr dirty="0" sz="1300" spc="-15">
                <a:latin typeface="Trebuchet MS"/>
                <a:cs typeface="Trebuchet MS"/>
              </a:rPr>
              <a:t> </a:t>
            </a:r>
            <a:r>
              <a:rPr dirty="0" sz="1300" spc="-5">
                <a:latin typeface="Microsoft YaHei UI"/>
                <a:cs typeface="Microsoft YaHei UI"/>
              </a:rPr>
              <a:t>相对于 </a:t>
            </a:r>
            <a:r>
              <a:rPr dirty="0" sz="1300">
                <a:latin typeface="Trebuchet MS"/>
                <a:cs typeface="Trebuchet MS"/>
              </a:rPr>
              <a:t>h2</a:t>
            </a:r>
            <a:r>
              <a:rPr dirty="0" sz="1300" spc="-15">
                <a:latin typeface="Trebuchet MS"/>
                <a:cs typeface="Trebuchet MS"/>
              </a:rPr>
              <a:t> </a:t>
            </a:r>
            <a:r>
              <a:rPr dirty="0" sz="1300" spc="-5">
                <a:latin typeface="Microsoft YaHei UI"/>
                <a:cs typeface="Microsoft YaHei UI"/>
              </a:rPr>
              <a:t>的梯度 </a:t>
            </a:r>
            <a:r>
              <a:rPr dirty="0" sz="1300" spc="-35">
                <a:latin typeface="Trebuchet MS"/>
                <a:cs typeface="Trebuchet MS"/>
              </a:rPr>
              <a:t>∂L/∂h2</a:t>
            </a:r>
            <a:r>
              <a:rPr dirty="0" sz="1300" spc="-50">
                <a:latin typeface="Microsoft YaHei UI"/>
                <a:cs typeface="Microsoft YaHei UI"/>
              </a:rPr>
              <a:t>。</a:t>
            </a:r>
            <a:endParaRPr sz="1300">
              <a:latin typeface="Microsoft YaHei UI"/>
              <a:cs typeface="Microsoft YaHei UI"/>
            </a:endParaRPr>
          </a:p>
          <a:p>
            <a:pPr marL="12700" marR="5080">
              <a:lnSpc>
                <a:spcPct val="217600"/>
              </a:lnSpc>
            </a:pPr>
            <a:r>
              <a:rPr dirty="0" sz="1300" spc="-5">
                <a:latin typeface="Microsoft YaHei UI"/>
                <a:cs typeface="Microsoft YaHei UI"/>
              </a:rPr>
              <a:t>接着，这个新的梯度信号⼜通过 </a:t>
            </a:r>
            <a:r>
              <a:rPr dirty="0" sz="1300" spc="-25">
                <a:latin typeface="Trebuchet MS"/>
                <a:cs typeface="Trebuchet MS"/>
              </a:rPr>
              <a:t>f2</a:t>
            </a:r>
            <a:r>
              <a:rPr dirty="0" sz="1300" spc="-10">
                <a:latin typeface="Microsoft YaHei UI"/>
                <a:cs typeface="Microsoft YaHei UI"/>
              </a:rPr>
              <a:t>，计算出损失 </a:t>
            </a:r>
            <a:r>
              <a:rPr dirty="0" sz="1300" spc="55">
                <a:latin typeface="Trebuchet MS"/>
                <a:cs typeface="Trebuchet MS"/>
              </a:rPr>
              <a:t>L</a:t>
            </a:r>
            <a:r>
              <a:rPr dirty="0" sz="1300" spc="-15">
                <a:latin typeface="Trebuchet MS"/>
                <a:cs typeface="Trebuchet MS"/>
              </a:rPr>
              <a:t> </a:t>
            </a:r>
            <a:r>
              <a:rPr dirty="0" sz="1300" spc="-5">
                <a:latin typeface="Microsoft YaHei UI"/>
                <a:cs typeface="Microsoft YaHei UI"/>
              </a:rPr>
              <a:t>相对于 </a:t>
            </a:r>
            <a:r>
              <a:rPr dirty="0" sz="1300">
                <a:latin typeface="Trebuchet MS"/>
                <a:cs typeface="Trebuchet MS"/>
              </a:rPr>
              <a:t>h1</a:t>
            </a:r>
            <a:r>
              <a:rPr dirty="0" sz="1300" spc="-15">
                <a:latin typeface="Trebuchet MS"/>
                <a:cs typeface="Trebuchet MS"/>
              </a:rPr>
              <a:t> </a:t>
            </a:r>
            <a:r>
              <a:rPr dirty="0" sz="1300" spc="-5">
                <a:latin typeface="Microsoft YaHei UI"/>
                <a:cs typeface="Microsoft YaHei UI"/>
              </a:rPr>
              <a:t>的梯度 </a:t>
            </a:r>
            <a:r>
              <a:rPr dirty="0" sz="1300" spc="-35">
                <a:latin typeface="Trebuchet MS"/>
                <a:cs typeface="Trebuchet MS"/>
              </a:rPr>
              <a:t>∂L/∂h1</a:t>
            </a:r>
            <a:r>
              <a:rPr dirty="0" sz="1300" spc="-50">
                <a:latin typeface="Microsoft YaHei UI"/>
                <a:cs typeface="Microsoft YaHei UI"/>
              </a:rPr>
              <a:t>。</a:t>
            </a:r>
            <a:r>
              <a:rPr dirty="0" sz="1300" spc="-5">
                <a:latin typeface="Microsoft YaHei UI"/>
                <a:cs typeface="Microsoft YaHei UI"/>
              </a:rPr>
              <a:t>这个过程会⼀直持续到⽹络的最前端。</a:t>
            </a:r>
            <a:endParaRPr sz="1300">
              <a:latin typeface="Microsoft YaHei UI"/>
              <a:cs typeface="Microsoft YaHei UI"/>
            </a:endParaRP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49</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292649" rIns="0" bIns="0" rtlCol="0" vert="horz">
            <a:spAutoFit/>
          </a:bodyPr>
          <a:lstStyle/>
          <a:p>
            <a:pPr marL="852169">
              <a:lnSpc>
                <a:spcPct val="100000"/>
              </a:lnSpc>
              <a:spcBef>
                <a:spcPts val="95"/>
              </a:spcBef>
            </a:pPr>
            <a:r>
              <a:rPr dirty="0"/>
              <a:t>Backward</a:t>
            </a:r>
            <a:r>
              <a:rPr dirty="0" spc="-160"/>
              <a:t> </a:t>
            </a:r>
            <a:r>
              <a:rPr dirty="0"/>
              <a:t>Propagation</a:t>
            </a:r>
            <a:r>
              <a:rPr dirty="0" spc="-160"/>
              <a:t> </a:t>
            </a:r>
            <a:r>
              <a:rPr dirty="0" spc="-20"/>
              <a:t>(BP)</a:t>
            </a:r>
          </a:p>
        </p:txBody>
      </p:sp>
      <p:pic>
        <p:nvPicPr>
          <p:cNvPr id="3" name="object 3" descr=""/>
          <p:cNvPicPr/>
          <p:nvPr/>
        </p:nvPicPr>
        <p:blipFill>
          <a:blip r:embed="rId2" cstate="print"/>
          <a:stretch>
            <a:fillRect/>
          </a:stretch>
        </p:blipFill>
        <p:spPr>
          <a:xfrm>
            <a:off x="332614" y="2017397"/>
            <a:ext cx="8373600" cy="2724374"/>
          </a:xfrm>
          <a:prstGeom prst="rect">
            <a:avLst/>
          </a:prstGeom>
        </p:spPr>
      </p:pic>
      <p:sp>
        <p:nvSpPr>
          <p:cNvPr id="4" name="object 4" descr=""/>
          <p:cNvSpPr txBox="1"/>
          <p:nvPr/>
        </p:nvSpPr>
        <p:spPr>
          <a:xfrm>
            <a:off x="301211" y="4914557"/>
            <a:ext cx="8190865" cy="723900"/>
          </a:xfrm>
          <a:prstGeom prst="rect">
            <a:avLst/>
          </a:prstGeom>
        </p:spPr>
        <p:txBody>
          <a:bodyPr wrap="square" lIns="0" tIns="12065" rIns="0" bIns="0" rtlCol="0" vert="horz">
            <a:spAutoFit/>
          </a:bodyPr>
          <a:lstStyle/>
          <a:p>
            <a:pPr marL="12700" marR="5080">
              <a:lnSpc>
                <a:spcPct val="117500"/>
              </a:lnSpc>
              <a:spcBef>
                <a:spcPts val="95"/>
              </a:spcBef>
            </a:pPr>
            <a:r>
              <a:rPr dirty="0" sz="1300" spc="-5">
                <a:latin typeface="Microsoft YaHei UI"/>
                <a:cs typeface="Microsoft YaHei UI"/>
              </a:rPr>
              <a:t>虽然图中主要展示的是损失相对于各层输出 </a:t>
            </a:r>
            <a:r>
              <a:rPr dirty="0" sz="1300">
                <a:latin typeface="Trebuchet MS"/>
                <a:cs typeface="Trebuchet MS"/>
              </a:rPr>
              <a:t>h</a:t>
            </a:r>
            <a:r>
              <a:rPr dirty="0" sz="1300" spc="-25">
                <a:latin typeface="Trebuchet MS"/>
                <a:cs typeface="Trebuchet MS"/>
              </a:rPr>
              <a:t> </a:t>
            </a:r>
            <a:r>
              <a:rPr dirty="0" sz="1300" spc="-5">
                <a:latin typeface="Microsoft YaHei UI"/>
                <a:cs typeface="Microsoft YaHei UI"/>
              </a:rPr>
              <a:t>的梯度，但反向传播的最终⽬的是利⽤这些中间梯度，通过链式法则计算出损失 </a:t>
            </a:r>
            <a:r>
              <a:rPr dirty="0" sz="1300" spc="55">
                <a:latin typeface="Trebuchet MS"/>
                <a:cs typeface="Trebuchet MS"/>
              </a:rPr>
              <a:t>L</a:t>
            </a:r>
            <a:r>
              <a:rPr dirty="0" sz="1300" spc="-25">
                <a:latin typeface="Trebuchet MS"/>
                <a:cs typeface="Trebuchet MS"/>
              </a:rPr>
              <a:t> </a:t>
            </a:r>
            <a:r>
              <a:rPr dirty="0" sz="1300" spc="-5">
                <a:latin typeface="Microsoft YaHei UI"/>
                <a:cs typeface="Microsoft YaHei UI"/>
              </a:rPr>
              <a:t>相对于每⼀层参数 </a:t>
            </a:r>
            <a:r>
              <a:rPr dirty="0" sz="1300">
                <a:latin typeface="Trebuchet MS"/>
                <a:cs typeface="Trebuchet MS"/>
              </a:rPr>
              <a:t>θ</a:t>
            </a:r>
            <a:r>
              <a:rPr dirty="0" sz="1300" spc="-25">
                <a:latin typeface="Trebuchet MS"/>
                <a:cs typeface="Trebuchet MS"/>
              </a:rPr>
              <a:t> </a:t>
            </a:r>
            <a:r>
              <a:rPr dirty="0" sz="1300">
                <a:latin typeface="Microsoft YaHei UI"/>
                <a:cs typeface="Microsoft YaHei UI"/>
              </a:rPr>
              <a:t>的梯度（</a:t>
            </a:r>
            <a:r>
              <a:rPr dirty="0" sz="1300" spc="-10">
                <a:latin typeface="Microsoft YaHei UI"/>
                <a:cs typeface="Microsoft YaHei UI"/>
              </a:rPr>
              <a:t>即 </a:t>
            </a:r>
            <a:r>
              <a:rPr dirty="0" sz="1300" spc="-45">
                <a:latin typeface="Trebuchet MS"/>
                <a:cs typeface="Trebuchet MS"/>
              </a:rPr>
              <a:t>∂L/∂θ1, ∂L/∂θ2,</a:t>
            </a:r>
            <a:r>
              <a:rPr dirty="0" sz="1300" spc="-40">
                <a:latin typeface="Trebuchet MS"/>
                <a:cs typeface="Trebuchet MS"/>
              </a:rPr>
              <a:t> ∂</a:t>
            </a:r>
            <a:r>
              <a:rPr dirty="0" sz="1300" spc="-35">
                <a:latin typeface="Trebuchet MS"/>
                <a:cs typeface="Trebuchet MS"/>
              </a:rPr>
              <a:t>L/∂θ3</a:t>
            </a:r>
            <a:r>
              <a:rPr dirty="0" sz="1300" spc="-35">
                <a:latin typeface="Microsoft YaHei UI"/>
                <a:cs typeface="Microsoft YaHei UI"/>
              </a:rPr>
              <a:t>）</a:t>
            </a:r>
            <a:r>
              <a:rPr dirty="0" sz="1300" spc="-5">
                <a:latin typeface="Microsoft YaHei UI"/>
                <a:cs typeface="Microsoft YaHei UI"/>
              </a:rPr>
              <a:t>。⼀旦我们知道了这些梯度，我们就</a:t>
            </a:r>
            <a:r>
              <a:rPr dirty="0" sz="1300">
                <a:latin typeface="Microsoft YaHei UI"/>
                <a:cs typeface="Microsoft YaHei UI"/>
              </a:rPr>
              <a:t>知道了调整每⼀个参数以降低损失的</a:t>
            </a:r>
            <a:r>
              <a:rPr dirty="0" sz="1300" spc="-140">
                <a:latin typeface="Trebuchet MS"/>
                <a:cs typeface="Trebuchet MS"/>
              </a:rPr>
              <a:t>“</a:t>
            </a:r>
            <a:r>
              <a:rPr dirty="0" sz="1300">
                <a:latin typeface="Microsoft YaHei UI"/>
                <a:cs typeface="Microsoft YaHei UI"/>
              </a:rPr>
              <a:t>正确⽅向</a:t>
            </a:r>
            <a:r>
              <a:rPr dirty="0" sz="1300" spc="-140">
                <a:latin typeface="Trebuchet MS"/>
                <a:cs typeface="Trebuchet MS"/>
              </a:rPr>
              <a:t>”</a:t>
            </a:r>
            <a:r>
              <a:rPr dirty="0" sz="1300" spc="-50">
                <a:latin typeface="Microsoft YaHei UI"/>
                <a:cs typeface="Microsoft YaHei UI"/>
              </a:rPr>
              <a:t>。</a:t>
            </a:r>
            <a:endParaRPr sz="1300">
              <a:latin typeface="Microsoft YaHei UI"/>
              <a:cs typeface="Microsoft YaHei UI"/>
            </a:endParaRP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50</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4848" y="220472"/>
            <a:ext cx="3645535" cy="696595"/>
          </a:xfrm>
          <a:prstGeom prst="rect"/>
        </p:spPr>
        <p:txBody>
          <a:bodyPr wrap="square" lIns="0" tIns="12700" rIns="0" bIns="0" rtlCol="0" vert="horz">
            <a:spAutoFit/>
          </a:bodyPr>
          <a:lstStyle/>
          <a:p>
            <a:pPr marL="12700">
              <a:lnSpc>
                <a:spcPct val="100000"/>
              </a:lnSpc>
              <a:spcBef>
                <a:spcPts val="100"/>
              </a:spcBef>
            </a:pPr>
            <a:r>
              <a:rPr dirty="0" sz="4400" spc="-10"/>
              <a:t>Optimization</a:t>
            </a:r>
            <a:endParaRPr sz="4400"/>
          </a:p>
        </p:txBody>
      </p:sp>
      <p:grpSp>
        <p:nvGrpSpPr>
          <p:cNvPr id="3" name="object 3" descr=""/>
          <p:cNvGrpSpPr/>
          <p:nvPr/>
        </p:nvGrpSpPr>
        <p:grpSpPr>
          <a:xfrm>
            <a:off x="787247" y="1269220"/>
            <a:ext cx="7727950" cy="4884420"/>
            <a:chOff x="787247" y="1269220"/>
            <a:chExt cx="7727950" cy="4884420"/>
          </a:xfrm>
        </p:grpSpPr>
        <p:pic>
          <p:nvPicPr>
            <p:cNvPr id="4" name="object 4" descr=""/>
            <p:cNvPicPr/>
            <p:nvPr/>
          </p:nvPicPr>
          <p:blipFill>
            <a:blip r:embed="rId2" cstate="print"/>
            <a:stretch>
              <a:fillRect/>
            </a:stretch>
          </p:blipFill>
          <p:spPr>
            <a:xfrm>
              <a:off x="787247" y="1734296"/>
              <a:ext cx="7727778" cy="4419197"/>
            </a:xfrm>
            <a:prstGeom prst="rect">
              <a:avLst/>
            </a:prstGeom>
          </p:spPr>
        </p:pic>
        <p:pic>
          <p:nvPicPr>
            <p:cNvPr id="5" name="object 5" descr=""/>
            <p:cNvPicPr/>
            <p:nvPr/>
          </p:nvPicPr>
          <p:blipFill>
            <a:blip r:embed="rId3" cstate="print"/>
            <a:stretch>
              <a:fillRect/>
            </a:stretch>
          </p:blipFill>
          <p:spPr>
            <a:xfrm>
              <a:off x="1053167" y="1269220"/>
              <a:ext cx="1414819" cy="492824"/>
            </a:xfrm>
            <a:prstGeom prst="rect">
              <a:avLst/>
            </a:prstGeom>
          </p:spPr>
        </p:pic>
      </p:grpSp>
      <p:sp>
        <p:nvSpPr>
          <p:cNvPr id="6" name="object 6" descr=""/>
          <p:cNvSpPr txBox="1"/>
          <p:nvPr/>
        </p:nvSpPr>
        <p:spPr>
          <a:xfrm>
            <a:off x="2611214" y="1385864"/>
            <a:ext cx="6301740" cy="225425"/>
          </a:xfrm>
          <a:prstGeom prst="rect">
            <a:avLst/>
          </a:prstGeom>
        </p:spPr>
        <p:txBody>
          <a:bodyPr wrap="square" lIns="0" tIns="13970" rIns="0" bIns="0" rtlCol="0" vert="horz">
            <a:spAutoFit/>
          </a:bodyPr>
          <a:lstStyle/>
          <a:p>
            <a:pPr marL="12700">
              <a:lnSpc>
                <a:spcPct val="100000"/>
              </a:lnSpc>
              <a:spcBef>
                <a:spcPts val="110"/>
              </a:spcBef>
            </a:pPr>
            <a:r>
              <a:rPr dirty="0" sz="1300" spc="-5">
                <a:latin typeface="Microsoft YaHei UI"/>
                <a:cs typeface="Microsoft YaHei UI"/>
              </a:rPr>
              <a:t>这是我们之前 </a:t>
            </a:r>
            <a:r>
              <a:rPr dirty="0" sz="1300" spc="90">
                <a:latin typeface="Trebuchet MS"/>
                <a:cs typeface="Trebuchet MS"/>
              </a:rPr>
              <a:t>FP</a:t>
            </a:r>
            <a:r>
              <a:rPr dirty="0" sz="1300" spc="20">
                <a:latin typeface="Trebuchet MS"/>
                <a:cs typeface="Trebuchet MS"/>
              </a:rPr>
              <a:t> -&gt; </a:t>
            </a:r>
            <a:r>
              <a:rPr dirty="0" sz="1300" spc="90">
                <a:latin typeface="Trebuchet MS"/>
                <a:cs typeface="Trebuchet MS"/>
              </a:rPr>
              <a:t>Loss</a:t>
            </a:r>
            <a:r>
              <a:rPr dirty="0" sz="1300" spc="25">
                <a:latin typeface="Trebuchet MS"/>
                <a:cs typeface="Trebuchet MS"/>
              </a:rPr>
              <a:t> -&gt; </a:t>
            </a:r>
            <a:r>
              <a:rPr dirty="0" sz="1300" spc="135">
                <a:latin typeface="Trebuchet MS"/>
                <a:cs typeface="Trebuchet MS"/>
              </a:rPr>
              <a:t>BP</a:t>
            </a:r>
            <a:r>
              <a:rPr dirty="0" sz="1300" spc="20">
                <a:latin typeface="Trebuchet MS"/>
                <a:cs typeface="Trebuchet MS"/>
              </a:rPr>
              <a:t> -&gt; </a:t>
            </a:r>
            <a:r>
              <a:rPr dirty="0" sz="1300">
                <a:latin typeface="Trebuchet MS"/>
                <a:cs typeface="Trebuchet MS"/>
              </a:rPr>
              <a:t>Update</a:t>
            </a:r>
            <a:r>
              <a:rPr dirty="0" sz="1300" spc="-10">
                <a:latin typeface="Trebuchet MS"/>
                <a:cs typeface="Trebuchet MS"/>
              </a:rPr>
              <a:t> </a:t>
            </a:r>
            <a:r>
              <a:rPr dirty="0" sz="1300">
                <a:latin typeface="Microsoft YaHei UI"/>
                <a:cs typeface="Microsoft YaHei UI"/>
              </a:rPr>
              <a:t>循环中，</a:t>
            </a:r>
            <a:r>
              <a:rPr dirty="0" sz="1300">
                <a:latin typeface="Trebuchet MS"/>
                <a:cs typeface="Trebuchet MS"/>
              </a:rPr>
              <a:t>Update</a:t>
            </a:r>
            <a:r>
              <a:rPr dirty="0" sz="1300" spc="-5">
                <a:latin typeface="Trebuchet MS"/>
                <a:cs typeface="Trebuchet MS"/>
              </a:rPr>
              <a:t> </a:t>
            </a:r>
            <a:r>
              <a:rPr dirty="0" sz="1300" spc="-5">
                <a:latin typeface="Microsoft YaHei UI"/>
                <a:cs typeface="Microsoft YaHei UI"/>
              </a:rPr>
              <a:t>这⼀步的具体实现算法。</a:t>
            </a:r>
            <a:endParaRPr sz="1300">
              <a:latin typeface="Microsoft YaHei UI"/>
              <a:cs typeface="Microsoft YaHei UI"/>
            </a:endParaRPr>
          </a:p>
        </p:txBody>
      </p:sp>
      <p:sp>
        <p:nvSpPr>
          <p:cNvPr id="7" name="object 7" descr=""/>
          <p:cNvSpPr txBox="1"/>
          <p:nvPr/>
        </p:nvSpPr>
        <p:spPr>
          <a:xfrm>
            <a:off x="6028156" y="2064302"/>
            <a:ext cx="2917190" cy="1864995"/>
          </a:xfrm>
          <a:prstGeom prst="rect">
            <a:avLst/>
          </a:prstGeom>
        </p:spPr>
        <p:txBody>
          <a:bodyPr wrap="square" lIns="0" tIns="37465" rIns="0" bIns="0" rtlCol="0" vert="horz">
            <a:spAutoFit/>
          </a:bodyPr>
          <a:lstStyle/>
          <a:p>
            <a:pPr marL="12700">
              <a:lnSpc>
                <a:spcPct val="100000"/>
              </a:lnSpc>
              <a:spcBef>
                <a:spcPts val="295"/>
              </a:spcBef>
            </a:pPr>
            <a:r>
              <a:rPr dirty="0" sz="850" spc="-30">
                <a:latin typeface="Trebuchet MS"/>
                <a:cs typeface="Trebuchet MS"/>
              </a:rPr>
              <a:t>θ</a:t>
            </a:r>
            <a:r>
              <a:rPr dirty="0" sz="850" spc="165">
                <a:latin typeface="Trebuchet MS"/>
                <a:cs typeface="Trebuchet MS"/>
              </a:rPr>
              <a:t>: </a:t>
            </a:r>
            <a:r>
              <a:rPr dirty="0" sz="850">
                <a:latin typeface="Microsoft YaHei UI"/>
                <a:cs typeface="Microsoft YaHei UI"/>
              </a:rPr>
              <a:t>代表⽹络中需要优化的任意⼀个参数（权重或偏置）</a:t>
            </a:r>
            <a:r>
              <a:rPr dirty="0" sz="850" spc="-50">
                <a:latin typeface="Microsoft YaHei UI"/>
                <a:cs typeface="Microsoft YaHei UI"/>
              </a:rPr>
              <a:t>。</a:t>
            </a:r>
            <a:endParaRPr sz="850">
              <a:latin typeface="Microsoft YaHei UI"/>
              <a:cs typeface="Microsoft YaHei UI"/>
            </a:endParaRPr>
          </a:p>
          <a:p>
            <a:pPr marL="12700" marR="5080">
              <a:lnSpc>
                <a:spcPct val="119800"/>
              </a:lnSpc>
            </a:pPr>
            <a:r>
              <a:rPr dirty="0" sz="850" spc="-30">
                <a:latin typeface="Trebuchet MS"/>
                <a:cs typeface="Trebuchet MS"/>
              </a:rPr>
              <a:t>∂L/∂θ</a:t>
            </a:r>
            <a:r>
              <a:rPr dirty="0" sz="850" spc="65">
                <a:latin typeface="Trebuchet MS"/>
                <a:cs typeface="Trebuchet MS"/>
              </a:rPr>
              <a:t>: </a:t>
            </a:r>
            <a:r>
              <a:rPr dirty="0" sz="850" spc="5">
                <a:latin typeface="Microsoft YaHei UI"/>
                <a:cs typeface="Microsoft YaHei UI"/>
              </a:rPr>
              <a:t>这是我们通过反向传播计算出的，损失函数 </a:t>
            </a:r>
            <a:r>
              <a:rPr dirty="0" sz="850" spc="55">
                <a:latin typeface="Trebuchet MS"/>
                <a:cs typeface="Trebuchet MS"/>
              </a:rPr>
              <a:t>L</a:t>
            </a:r>
            <a:r>
              <a:rPr dirty="0" sz="850" spc="170">
                <a:latin typeface="Trebuchet MS"/>
                <a:cs typeface="Trebuchet MS"/>
              </a:rPr>
              <a:t> </a:t>
            </a:r>
            <a:r>
              <a:rPr dirty="0" sz="850" spc="-20">
                <a:latin typeface="Microsoft YaHei UI"/>
                <a:cs typeface="Microsoft YaHei UI"/>
              </a:rPr>
              <a:t>相对于</a:t>
            </a:r>
            <a:r>
              <a:rPr dirty="0" sz="850" spc="60">
                <a:latin typeface="Microsoft YaHei UI"/>
                <a:cs typeface="Microsoft YaHei UI"/>
              </a:rPr>
              <a:t>参数 </a:t>
            </a:r>
            <a:r>
              <a:rPr dirty="0" sz="850">
                <a:latin typeface="Trebuchet MS"/>
                <a:cs typeface="Trebuchet MS"/>
              </a:rPr>
              <a:t>θ</a:t>
            </a:r>
            <a:r>
              <a:rPr dirty="0" sz="850" spc="185">
                <a:latin typeface="Trebuchet MS"/>
                <a:cs typeface="Trebuchet MS"/>
              </a:rPr>
              <a:t> </a:t>
            </a:r>
            <a:r>
              <a:rPr dirty="0" sz="850" spc="-5">
                <a:latin typeface="Microsoft YaHei UI"/>
                <a:cs typeface="Microsoft YaHei UI"/>
              </a:rPr>
              <a:t>的梯度。它指明了能让损失函数增⻓最快的⽅向。 </a:t>
            </a:r>
            <a:r>
              <a:rPr dirty="0" sz="850">
                <a:latin typeface="Trebuchet MS"/>
                <a:cs typeface="Trebuchet MS"/>
              </a:rPr>
              <a:t>η</a:t>
            </a:r>
            <a:r>
              <a:rPr dirty="0" sz="850" spc="55">
                <a:latin typeface="Trebuchet MS"/>
                <a:cs typeface="Trebuchet MS"/>
              </a:rPr>
              <a:t> </a:t>
            </a:r>
            <a:r>
              <a:rPr dirty="0" sz="850" spc="-55">
                <a:latin typeface="Trebuchet MS"/>
                <a:cs typeface="Trebuchet MS"/>
              </a:rPr>
              <a:t>(eta):</a:t>
            </a:r>
            <a:r>
              <a:rPr dirty="0" sz="850" spc="55">
                <a:latin typeface="Trebuchet MS"/>
                <a:cs typeface="Trebuchet MS"/>
              </a:rPr>
              <a:t> </a:t>
            </a:r>
            <a:r>
              <a:rPr dirty="0" sz="850" spc="5">
                <a:latin typeface="Microsoft YaHei UI"/>
                <a:cs typeface="Microsoft YaHei UI"/>
              </a:rPr>
              <a:t>这是⼀个名为学习率 </a:t>
            </a:r>
            <a:r>
              <a:rPr dirty="0" sz="850" spc="-10">
                <a:latin typeface="Trebuchet MS"/>
                <a:cs typeface="Trebuchet MS"/>
              </a:rPr>
              <a:t>(learning</a:t>
            </a:r>
            <a:r>
              <a:rPr dirty="0" sz="850" spc="55">
                <a:latin typeface="Trebuchet MS"/>
                <a:cs typeface="Trebuchet MS"/>
              </a:rPr>
              <a:t> </a:t>
            </a:r>
            <a:r>
              <a:rPr dirty="0" sz="850" spc="-40">
                <a:latin typeface="Trebuchet MS"/>
                <a:cs typeface="Trebuchet MS"/>
              </a:rPr>
              <a:t>rate)</a:t>
            </a:r>
            <a:r>
              <a:rPr dirty="0" sz="850" spc="60">
                <a:latin typeface="Trebuchet MS"/>
                <a:cs typeface="Trebuchet MS"/>
              </a:rPr>
              <a:t> </a:t>
            </a:r>
            <a:r>
              <a:rPr dirty="0" sz="850" spc="-10">
                <a:latin typeface="Microsoft YaHei UI"/>
                <a:cs typeface="Microsoft YaHei UI"/>
              </a:rPr>
              <a:t>的超参数。它是</a:t>
            </a:r>
            <a:endParaRPr sz="850">
              <a:latin typeface="Microsoft YaHei UI"/>
              <a:cs typeface="Microsoft YaHei UI"/>
            </a:endParaRPr>
          </a:p>
          <a:p>
            <a:pPr marL="12700">
              <a:lnSpc>
                <a:spcPct val="100000"/>
              </a:lnSpc>
              <a:spcBef>
                <a:spcPts val="200"/>
              </a:spcBef>
            </a:pPr>
            <a:r>
              <a:rPr dirty="0" sz="850" spc="-5">
                <a:latin typeface="Microsoft YaHei UI"/>
                <a:cs typeface="Microsoft YaHei UI"/>
              </a:rPr>
              <a:t>⼀个很⼩的正数，⽤来控制每次参数更新的步⻓⼤⼩。</a:t>
            </a:r>
            <a:endParaRPr sz="850">
              <a:latin typeface="Microsoft YaHei UI"/>
              <a:cs typeface="Microsoft YaHei UI"/>
            </a:endParaRPr>
          </a:p>
          <a:p>
            <a:pPr marL="12700" marR="5715">
              <a:lnSpc>
                <a:spcPct val="119800"/>
              </a:lnSpc>
              <a:spcBef>
                <a:spcPts val="1045"/>
              </a:spcBef>
            </a:pPr>
            <a:r>
              <a:rPr dirty="0" sz="850">
                <a:latin typeface="Microsoft YaHei UI"/>
                <a:cs typeface="Microsoft YaHei UI"/>
              </a:rPr>
              <a:t>核⼼思想</a:t>
            </a:r>
            <a:r>
              <a:rPr dirty="0" sz="850" spc="15">
                <a:latin typeface="Trebuchet MS"/>
                <a:cs typeface="Trebuchet MS"/>
              </a:rPr>
              <a:t>: </a:t>
            </a:r>
            <a:r>
              <a:rPr dirty="0" sz="850">
                <a:latin typeface="Microsoft YaHei UI"/>
                <a:cs typeface="Microsoft YaHei UI"/>
              </a:rPr>
              <a:t>整个公式的含义是，为了让损失 </a:t>
            </a:r>
            <a:r>
              <a:rPr dirty="0" sz="850" spc="55">
                <a:latin typeface="Trebuchet MS"/>
                <a:cs typeface="Trebuchet MS"/>
              </a:rPr>
              <a:t>L </a:t>
            </a:r>
            <a:r>
              <a:rPr dirty="0" sz="850" spc="-10">
                <a:latin typeface="Microsoft YaHei UI"/>
                <a:cs typeface="Microsoft YaHei UI"/>
              </a:rPr>
              <a:t>减⼩，我们应</a:t>
            </a:r>
            <a:r>
              <a:rPr dirty="0" sz="850">
                <a:latin typeface="Microsoft YaHei UI"/>
                <a:cs typeface="Microsoft YaHei UI"/>
              </a:rPr>
              <a:t>该将参数 </a:t>
            </a:r>
            <a:r>
              <a:rPr dirty="0" sz="850">
                <a:latin typeface="Trebuchet MS"/>
                <a:cs typeface="Trebuchet MS"/>
              </a:rPr>
              <a:t>θ </a:t>
            </a:r>
            <a:r>
              <a:rPr dirty="0" sz="850">
                <a:latin typeface="Microsoft YaHei UI"/>
                <a:cs typeface="Microsoft YaHei UI"/>
              </a:rPr>
              <a:t>沿着梯度 </a:t>
            </a:r>
            <a:r>
              <a:rPr dirty="0" sz="850" spc="-20">
                <a:latin typeface="Trebuchet MS"/>
                <a:cs typeface="Trebuchet MS"/>
              </a:rPr>
              <a:t>∂L/∂θ </a:t>
            </a:r>
            <a:r>
              <a:rPr dirty="0" sz="850">
                <a:latin typeface="Microsoft YaHei UI"/>
                <a:cs typeface="Microsoft YaHei UI"/>
              </a:rPr>
              <a:t>的相反⽅向（由负号 </a:t>
            </a:r>
            <a:r>
              <a:rPr dirty="0" sz="850">
                <a:latin typeface="Trebuchet MS"/>
                <a:cs typeface="Trebuchet MS"/>
              </a:rPr>
              <a:t>- </a:t>
            </a:r>
            <a:r>
              <a:rPr dirty="0" sz="850">
                <a:latin typeface="Microsoft YaHei UI"/>
                <a:cs typeface="Microsoft YaHei UI"/>
              </a:rPr>
              <a:t>表示）</a:t>
            </a:r>
            <a:r>
              <a:rPr dirty="0" sz="850" spc="-50">
                <a:latin typeface="Microsoft YaHei UI"/>
                <a:cs typeface="Microsoft YaHei UI"/>
              </a:rPr>
              <a:t>更</a:t>
            </a:r>
            <a:r>
              <a:rPr dirty="0" sz="850">
                <a:latin typeface="Microsoft YaHei UI"/>
                <a:cs typeface="Microsoft YaHei UI"/>
              </a:rPr>
              <a:t>新⼀⼩步（</a:t>
            </a:r>
            <a:r>
              <a:rPr dirty="0" sz="850" spc="45">
                <a:latin typeface="Microsoft YaHei UI"/>
                <a:cs typeface="Microsoft YaHei UI"/>
              </a:rPr>
              <a:t>步⻓由 </a:t>
            </a:r>
            <a:r>
              <a:rPr dirty="0" sz="850">
                <a:latin typeface="Trebuchet MS"/>
                <a:cs typeface="Trebuchet MS"/>
              </a:rPr>
              <a:t>η</a:t>
            </a:r>
            <a:r>
              <a:rPr dirty="0" sz="850" spc="180">
                <a:latin typeface="Trebuchet MS"/>
                <a:cs typeface="Trebuchet MS"/>
              </a:rPr>
              <a:t> </a:t>
            </a:r>
            <a:r>
              <a:rPr dirty="0" sz="850">
                <a:latin typeface="Microsoft YaHei UI"/>
                <a:cs typeface="Microsoft YaHei UI"/>
              </a:rPr>
              <a:t>控制）</a:t>
            </a:r>
            <a:r>
              <a:rPr dirty="0" sz="850" spc="-5">
                <a:latin typeface="Microsoft YaHei UI"/>
                <a:cs typeface="Microsoft YaHei UI"/>
              </a:rPr>
              <a:t>。这个过程就像⼀个盲⼈下</a:t>
            </a:r>
            <a:endParaRPr sz="850">
              <a:latin typeface="Microsoft YaHei UI"/>
              <a:cs typeface="Microsoft YaHei UI"/>
            </a:endParaRPr>
          </a:p>
          <a:p>
            <a:pPr marL="12700" marR="14604">
              <a:lnSpc>
                <a:spcPct val="119800"/>
              </a:lnSpc>
            </a:pPr>
            <a:r>
              <a:rPr dirty="0" sz="850" spc="-5">
                <a:latin typeface="Microsoft YaHei UI"/>
                <a:cs typeface="Microsoft YaHei UI"/>
              </a:rPr>
              <a:t>⼭，每⾛⼀步，他都会⽤脚探测⼀下哪个⽅向是下坡最陡峭的，然后朝那个⽅向挪动⼀⼩步，如此反复，直到⾛到⼭⾕</a:t>
            </a:r>
            <a:endParaRPr sz="850">
              <a:latin typeface="Microsoft YaHei UI"/>
              <a:cs typeface="Microsoft YaHei UI"/>
            </a:endParaRPr>
          </a:p>
          <a:p>
            <a:pPr marL="12700">
              <a:lnSpc>
                <a:spcPct val="100000"/>
              </a:lnSpc>
              <a:spcBef>
                <a:spcPts val="200"/>
              </a:spcBef>
            </a:pPr>
            <a:r>
              <a:rPr dirty="0" sz="850">
                <a:latin typeface="Microsoft YaHei UI"/>
                <a:cs typeface="Microsoft YaHei UI"/>
              </a:rPr>
              <a:t>（损失函数的最⼩值点）</a:t>
            </a:r>
            <a:r>
              <a:rPr dirty="0" sz="850" spc="-50">
                <a:latin typeface="Microsoft YaHei UI"/>
                <a:cs typeface="Microsoft YaHei UI"/>
              </a:rPr>
              <a:t>。</a:t>
            </a:r>
            <a:endParaRPr sz="850">
              <a:latin typeface="Microsoft YaHei UI"/>
              <a:cs typeface="Microsoft YaHei UI"/>
            </a:endParaRPr>
          </a:p>
        </p:txBody>
      </p:sp>
      <p:grpSp>
        <p:nvGrpSpPr>
          <p:cNvPr id="8" name="object 8" descr=""/>
          <p:cNvGrpSpPr/>
          <p:nvPr/>
        </p:nvGrpSpPr>
        <p:grpSpPr>
          <a:xfrm>
            <a:off x="894926" y="3489707"/>
            <a:ext cx="4606925" cy="447675"/>
            <a:chOff x="894926" y="3489707"/>
            <a:chExt cx="4606925" cy="447675"/>
          </a:xfrm>
        </p:grpSpPr>
        <p:pic>
          <p:nvPicPr>
            <p:cNvPr id="9" name="object 9" descr=""/>
            <p:cNvPicPr/>
            <p:nvPr/>
          </p:nvPicPr>
          <p:blipFill>
            <a:blip r:embed="rId4" cstate="print"/>
            <a:stretch>
              <a:fillRect/>
            </a:stretch>
          </p:blipFill>
          <p:spPr>
            <a:xfrm>
              <a:off x="894926" y="3489707"/>
              <a:ext cx="2597894" cy="447495"/>
            </a:xfrm>
            <a:prstGeom prst="rect">
              <a:avLst/>
            </a:prstGeom>
          </p:spPr>
        </p:pic>
        <p:pic>
          <p:nvPicPr>
            <p:cNvPr id="10" name="object 10" descr=""/>
            <p:cNvPicPr/>
            <p:nvPr/>
          </p:nvPicPr>
          <p:blipFill>
            <a:blip r:embed="rId5" cstate="print"/>
            <a:stretch>
              <a:fillRect/>
            </a:stretch>
          </p:blipFill>
          <p:spPr>
            <a:xfrm>
              <a:off x="3722544" y="3510979"/>
              <a:ext cx="753882" cy="331132"/>
            </a:xfrm>
            <a:prstGeom prst="rect">
              <a:avLst/>
            </a:prstGeom>
          </p:spPr>
        </p:pic>
        <p:pic>
          <p:nvPicPr>
            <p:cNvPr id="11" name="object 11" descr=""/>
            <p:cNvPicPr/>
            <p:nvPr/>
          </p:nvPicPr>
          <p:blipFill>
            <a:blip r:embed="rId6" cstate="print"/>
            <a:stretch>
              <a:fillRect/>
            </a:stretch>
          </p:blipFill>
          <p:spPr>
            <a:xfrm>
              <a:off x="4540474" y="3560330"/>
              <a:ext cx="960998" cy="280120"/>
            </a:xfrm>
            <a:prstGeom prst="rect">
              <a:avLst/>
            </a:prstGeom>
          </p:spPr>
        </p:pic>
      </p:grpSp>
      <p:sp>
        <p:nvSpPr>
          <p:cNvPr id="12" name="object 12" descr=""/>
          <p:cNvSpPr txBox="1"/>
          <p:nvPr/>
        </p:nvSpPr>
        <p:spPr>
          <a:xfrm>
            <a:off x="5569089" y="4477799"/>
            <a:ext cx="3242310" cy="1732280"/>
          </a:xfrm>
          <a:prstGeom prst="rect">
            <a:avLst/>
          </a:prstGeom>
        </p:spPr>
        <p:txBody>
          <a:bodyPr wrap="square" lIns="0" tIns="12065" rIns="0" bIns="0" rtlCol="0" vert="horz">
            <a:spAutoFit/>
          </a:bodyPr>
          <a:lstStyle/>
          <a:p>
            <a:pPr algn="just" marL="12700" marR="59690">
              <a:lnSpc>
                <a:spcPct val="119800"/>
              </a:lnSpc>
              <a:spcBef>
                <a:spcPts val="95"/>
              </a:spcBef>
            </a:pPr>
            <a:r>
              <a:rPr dirty="0" sz="850" spc="15">
                <a:latin typeface="Microsoft YaHei UI"/>
                <a:cs typeface="Microsoft YaHei UI"/>
              </a:rPr>
              <a:t>我们不再直接使⽤当前计算出的梯度 </a:t>
            </a:r>
            <a:r>
              <a:rPr dirty="0" sz="850">
                <a:latin typeface="Microsoft YaHei UI"/>
                <a:cs typeface="Microsoft YaHei UI"/>
              </a:rPr>
              <a:t>∂L/∂θ</a:t>
            </a:r>
            <a:r>
              <a:rPr dirty="0" sz="850" spc="20">
                <a:latin typeface="Microsoft YaHei UI"/>
                <a:cs typeface="Microsoft YaHei UI"/>
              </a:rPr>
              <a:t> 来更新参数。取⽽代</a:t>
            </a:r>
            <a:r>
              <a:rPr dirty="0" sz="850" spc="15">
                <a:latin typeface="Microsoft YaHei UI"/>
                <a:cs typeface="Microsoft YaHei UI"/>
              </a:rPr>
              <a:t>之，我们维护⼀个“动量”向量 </a:t>
            </a:r>
            <a:r>
              <a:rPr dirty="0" sz="850">
                <a:latin typeface="Microsoft YaHei UI"/>
                <a:cs typeface="Microsoft YaHei UI"/>
              </a:rPr>
              <a:t>Δ</a:t>
            </a:r>
            <a:r>
              <a:rPr dirty="0" sz="850" spc="30">
                <a:latin typeface="Microsoft YaHei UI"/>
                <a:cs typeface="Microsoft YaHei UI"/>
              </a:rPr>
              <a:t>。在每⼀步，这个 </a:t>
            </a:r>
            <a:r>
              <a:rPr dirty="0" sz="850">
                <a:latin typeface="Microsoft YaHei UI"/>
                <a:cs typeface="Microsoft YaHei UI"/>
              </a:rPr>
              <a:t>Δ</a:t>
            </a:r>
            <a:r>
              <a:rPr dirty="0" sz="850" spc="30">
                <a:latin typeface="Microsoft YaHei UI"/>
                <a:cs typeface="Microsoft YaHei UI"/>
              </a:rPr>
              <a:t> 都会累加上</a:t>
            </a:r>
            <a:r>
              <a:rPr dirty="0" sz="850">
                <a:latin typeface="Microsoft YaHei UI"/>
                <a:cs typeface="Microsoft YaHei UI"/>
              </a:rPr>
              <a:t>当前梯度的⼀部分，同时保留⼀⼩部分（0.9）</a:t>
            </a:r>
            <a:r>
              <a:rPr dirty="0" sz="850" spc="-10">
                <a:latin typeface="Microsoft YaHei UI"/>
                <a:cs typeface="Microsoft YaHei UI"/>
              </a:rPr>
              <a:t>旧的动量。这本质</a:t>
            </a:r>
            <a:r>
              <a:rPr dirty="0" sz="850" spc="-5">
                <a:latin typeface="Microsoft YaHei UI"/>
                <a:cs typeface="Microsoft YaHei UI"/>
              </a:rPr>
              <a:t>上是在计算梯度的⼀个指数加权移动平均值。</a:t>
            </a:r>
            <a:endParaRPr sz="850">
              <a:latin typeface="Microsoft YaHei UI"/>
              <a:cs typeface="Microsoft YaHei UI"/>
            </a:endParaRPr>
          </a:p>
          <a:p>
            <a:pPr algn="just" marL="12700" marR="81280">
              <a:lnSpc>
                <a:spcPct val="119800"/>
              </a:lnSpc>
            </a:pPr>
            <a:r>
              <a:rPr dirty="0" sz="850">
                <a:latin typeface="Microsoft YaHei UI"/>
                <a:cs typeface="Microsoft YaHei UI"/>
              </a:rPr>
              <a:t>最终，我们⽤这个更平滑、积累了历史梯度信息的动量向量 Δ</a:t>
            </a:r>
            <a:r>
              <a:rPr dirty="0" sz="850" spc="-25">
                <a:latin typeface="Microsoft YaHei UI"/>
                <a:cs typeface="Microsoft YaHei UI"/>
              </a:rPr>
              <a:t> 来</a:t>
            </a:r>
            <a:r>
              <a:rPr dirty="0" sz="850" spc="20">
                <a:latin typeface="Microsoft YaHei UI"/>
                <a:cs typeface="Microsoft YaHei UI"/>
              </a:rPr>
              <a:t>更新参数 </a:t>
            </a:r>
            <a:r>
              <a:rPr dirty="0" sz="850" spc="-30">
                <a:latin typeface="Microsoft YaHei UI"/>
                <a:cs typeface="Microsoft YaHei UI"/>
              </a:rPr>
              <a:t>θ</a:t>
            </a:r>
            <a:r>
              <a:rPr dirty="0" sz="850" spc="-50">
                <a:latin typeface="Microsoft YaHei UI"/>
                <a:cs typeface="Microsoft YaHei UI"/>
              </a:rPr>
              <a:t>。</a:t>
            </a:r>
            <a:endParaRPr sz="850">
              <a:latin typeface="Microsoft YaHei UI"/>
              <a:cs typeface="Microsoft YaHei UI"/>
            </a:endParaRPr>
          </a:p>
          <a:p>
            <a:pPr marL="12700" marR="5080">
              <a:lnSpc>
                <a:spcPct val="119800"/>
              </a:lnSpc>
              <a:spcBef>
                <a:spcPts val="1220"/>
              </a:spcBef>
            </a:pPr>
            <a:r>
              <a:rPr dirty="0" sz="850" spc="15">
                <a:latin typeface="Microsoft YaHei UI"/>
                <a:cs typeface="Microsoft YaHei UI"/>
              </a:rPr>
              <a:t>核⼼思想: 这就像⼀个从⼭上滚下来的重球。它不仅会沿着当前最</a:t>
            </a:r>
            <a:r>
              <a:rPr dirty="0" sz="850" spc="25">
                <a:latin typeface="Microsoft YaHei UI"/>
                <a:cs typeface="Microsoft YaHei UI"/>
              </a:rPr>
              <a:t>陡峭的⽅向滚，还会因为⾃身的</a:t>
            </a:r>
            <a:r>
              <a:rPr dirty="0" sz="850" spc="10">
                <a:latin typeface="Microsoft YaHei UI"/>
                <a:cs typeface="Microsoft YaHei UI"/>
              </a:rPr>
              <a:t>**</a:t>
            </a:r>
            <a:r>
              <a:rPr dirty="0" sz="850" spc="25">
                <a:latin typeface="Microsoft YaHei UI"/>
                <a:cs typeface="Microsoft YaHei UI"/>
              </a:rPr>
              <a:t>惯性（动量</a:t>
            </a:r>
            <a:r>
              <a:rPr dirty="0" sz="850" spc="15">
                <a:latin typeface="Microsoft YaHei UI"/>
                <a:cs typeface="Microsoft YaHei UI"/>
              </a:rPr>
              <a:t>）**</a:t>
            </a:r>
            <a:r>
              <a:rPr dirty="0" sz="850" spc="25">
                <a:latin typeface="Microsoft YaHei UI"/>
                <a:cs typeface="Microsoft YaHei UI"/>
              </a:rPr>
              <a:t>继续向前冲。这</a:t>
            </a:r>
            <a:r>
              <a:rPr dirty="0" sz="850" spc="15">
                <a:latin typeface="Microsoft YaHei UI"/>
                <a:cs typeface="Microsoft YaHei UI"/>
              </a:rPr>
              <a:t>有助于⼩球冲过⼀些⼩的颠簸（局部最⼩值），并且在梯度⽅向⼀</a:t>
            </a:r>
            <a:r>
              <a:rPr dirty="0" sz="850" spc="10">
                <a:latin typeface="Microsoft YaHei UI"/>
                <a:cs typeface="Microsoft YaHei UI"/>
              </a:rPr>
              <a:t>致的“⼤直道”上加速前进，从⽽更快、更稳定地到达⼭底。</a:t>
            </a:r>
            <a:endParaRPr sz="850">
              <a:latin typeface="Microsoft YaHei UI"/>
              <a:cs typeface="Microsoft YaHei UI"/>
            </a:endParaRPr>
          </a:p>
        </p:txBody>
      </p:sp>
      <p:sp>
        <p:nvSpPr>
          <p:cNvPr id="13" name="object 13"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51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52</a:t>
            </a:r>
          </a:p>
        </p:txBody>
      </p:sp>
      <p:sp>
        <p:nvSpPr>
          <p:cNvPr id="2" name="object 2"/>
          <p:cNvSpPr txBox="1">
            <a:spLocks noGrp="1"/>
          </p:cNvSpPr>
          <p:nvPr>
            <p:ph type="title"/>
          </p:nvPr>
        </p:nvSpPr>
        <p:spPr>
          <a:xfrm>
            <a:off x="1400683" y="495109"/>
            <a:ext cx="6339205" cy="696595"/>
          </a:xfrm>
          <a:prstGeom prst="rect"/>
        </p:spPr>
        <p:txBody>
          <a:bodyPr wrap="square" lIns="0" tIns="13335" rIns="0" bIns="0" rtlCol="0" vert="horz">
            <a:spAutoFit/>
          </a:bodyPr>
          <a:lstStyle/>
          <a:p>
            <a:pPr marL="12700">
              <a:lnSpc>
                <a:spcPct val="100000"/>
              </a:lnSpc>
              <a:spcBef>
                <a:spcPts val="105"/>
              </a:spcBef>
            </a:pPr>
            <a:r>
              <a:rPr dirty="0" sz="4400"/>
              <a:t>Transfer</a:t>
            </a:r>
            <a:r>
              <a:rPr dirty="0" sz="4400" spc="-80"/>
              <a:t> </a:t>
            </a:r>
            <a:r>
              <a:rPr dirty="0" sz="4400"/>
              <a:t>Learning</a:t>
            </a:r>
            <a:r>
              <a:rPr dirty="0" sz="4400" spc="-105"/>
              <a:t> </a:t>
            </a:r>
            <a:r>
              <a:rPr dirty="0" sz="4400" spc="-20"/>
              <a:t>(TL)</a:t>
            </a:r>
            <a:endParaRPr sz="4400"/>
          </a:p>
        </p:txBody>
      </p:sp>
      <p:sp>
        <p:nvSpPr>
          <p:cNvPr id="3" name="object 3" descr=""/>
          <p:cNvSpPr txBox="1"/>
          <p:nvPr/>
        </p:nvSpPr>
        <p:spPr>
          <a:xfrm>
            <a:off x="612140" y="1915160"/>
            <a:ext cx="7936865" cy="2244090"/>
          </a:xfrm>
          <a:prstGeom prst="rect">
            <a:avLst/>
          </a:prstGeom>
        </p:spPr>
        <p:txBody>
          <a:bodyPr wrap="square" lIns="0" tIns="12065" rIns="0" bIns="0" rtlCol="0" vert="horz">
            <a:spAutoFit/>
          </a:bodyPr>
          <a:lstStyle/>
          <a:p>
            <a:pPr marL="355600" marR="573405" indent="-342900">
              <a:lnSpc>
                <a:spcPct val="100000"/>
              </a:lnSpc>
              <a:spcBef>
                <a:spcPts val="95"/>
              </a:spcBef>
              <a:buFont typeface="Arial MT"/>
              <a:buChar char="•"/>
              <a:tabLst>
                <a:tab pos="355600" algn="l"/>
              </a:tabLst>
            </a:pPr>
            <a:r>
              <a:rPr dirty="0" sz="2800">
                <a:latin typeface="Calibri"/>
                <a:cs typeface="Calibri"/>
              </a:rPr>
              <a:t>The</a:t>
            </a:r>
            <a:r>
              <a:rPr dirty="0" sz="2800" spc="-60">
                <a:latin typeface="Calibri"/>
                <a:cs typeface="Calibri"/>
              </a:rPr>
              <a:t> </a:t>
            </a:r>
            <a:r>
              <a:rPr dirty="0" sz="2800">
                <a:latin typeface="Calibri"/>
                <a:cs typeface="Calibri"/>
              </a:rPr>
              <a:t>ability</a:t>
            </a:r>
            <a:r>
              <a:rPr dirty="0" sz="2800" spc="-50">
                <a:latin typeface="Calibri"/>
                <a:cs typeface="Calibri"/>
              </a:rPr>
              <a:t> </a:t>
            </a:r>
            <a:r>
              <a:rPr dirty="0" sz="2800">
                <a:latin typeface="Calibri"/>
                <a:cs typeface="Calibri"/>
              </a:rPr>
              <a:t>of</a:t>
            </a:r>
            <a:r>
              <a:rPr dirty="0" sz="2800" spc="-55">
                <a:latin typeface="Calibri"/>
                <a:cs typeface="Calibri"/>
              </a:rPr>
              <a:t> </a:t>
            </a:r>
            <a:r>
              <a:rPr dirty="0" sz="2800">
                <a:latin typeface="Calibri"/>
                <a:cs typeface="Calibri"/>
              </a:rPr>
              <a:t>a</a:t>
            </a:r>
            <a:r>
              <a:rPr dirty="0" sz="2800" spc="-50">
                <a:latin typeface="Calibri"/>
                <a:cs typeface="Calibri"/>
              </a:rPr>
              <a:t> </a:t>
            </a:r>
            <a:r>
              <a:rPr dirty="0" sz="2800" spc="-10">
                <a:latin typeface="Calibri"/>
                <a:cs typeface="Calibri"/>
              </a:rPr>
              <a:t>system</a:t>
            </a:r>
            <a:r>
              <a:rPr dirty="0" sz="2800" spc="-50">
                <a:latin typeface="Calibri"/>
                <a:cs typeface="Calibri"/>
              </a:rPr>
              <a:t> </a:t>
            </a:r>
            <a:r>
              <a:rPr dirty="0" sz="2800">
                <a:latin typeface="Calibri"/>
                <a:cs typeface="Calibri"/>
              </a:rPr>
              <a:t>to</a:t>
            </a:r>
            <a:r>
              <a:rPr dirty="0" sz="2800" spc="-55">
                <a:latin typeface="Calibri"/>
                <a:cs typeface="Calibri"/>
              </a:rPr>
              <a:t> </a:t>
            </a:r>
            <a:r>
              <a:rPr dirty="0" sz="2800" spc="-10">
                <a:latin typeface="Calibri"/>
                <a:cs typeface="Calibri"/>
              </a:rPr>
              <a:t>recognize</a:t>
            </a:r>
            <a:r>
              <a:rPr dirty="0" sz="2800" spc="-65">
                <a:latin typeface="Calibri"/>
                <a:cs typeface="Calibri"/>
              </a:rPr>
              <a:t> </a:t>
            </a:r>
            <a:r>
              <a:rPr dirty="0" sz="2800">
                <a:latin typeface="Calibri"/>
                <a:cs typeface="Calibri"/>
              </a:rPr>
              <a:t>and</a:t>
            </a:r>
            <a:r>
              <a:rPr dirty="0" sz="2800" spc="-40">
                <a:latin typeface="Calibri"/>
                <a:cs typeface="Calibri"/>
              </a:rPr>
              <a:t> </a:t>
            </a:r>
            <a:r>
              <a:rPr dirty="0" sz="2800" spc="-10">
                <a:latin typeface="Calibri"/>
                <a:cs typeface="Calibri"/>
              </a:rPr>
              <a:t>apply </a:t>
            </a:r>
            <a:r>
              <a:rPr dirty="0" sz="2800">
                <a:latin typeface="Calibri"/>
                <a:cs typeface="Calibri"/>
              </a:rPr>
              <a:t>knowledge</a:t>
            </a:r>
            <a:r>
              <a:rPr dirty="0" sz="2800" spc="-70">
                <a:latin typeface="Calibri"/>
                <a:cs typeface="Calibri"/>
              </a:rPr>
              <a:t> </a:t>
            </a:r>
            <a:r>
              <a:rPr dirty="0" sz="2800">
                <a:latin typeface="Calibri"/>
                <a:cs typeface="Calibri"/>
              </a:rPr>
              <a:t>and</a:t>
            </a:r>
            <a:r>
              <a:rPr dirty="0" sz="2800" spc="-70">
                <a:latin typeface="Calibri"/>
                <a:cs typeface="Calibri"/>
              </a:rPr>
              <a:t> </a:t>
            </a:r>
            <a:r>
              <a:rPr dirty="0" sz="2800">
                <a:latin typeface="Calibri"/>
                <a:cs typeface="Calibri"/>
              </a:rPr>
              <a:t>skills</a:t>
            </a:r>
            <a:r>
              <a:rPr dirty="0" sz="2800" spc="-60">
                <a:latin typeface="Calibri"/>
                <a:cs typeface="Calibri"/>
              </a:rPr>
              <a:t> </a:t>
            </a:r>
            <a:r>
              <a:rPr dirty="0" sz="2800">
                <a:latin typeface="Calibri"/>
                <a:cs typeface="Calibri"/>
              </a:rPr>
              <a:t>learned</a:t>
            </a:r>
            <a:r>
              <a:rPr dirty="0" sz="2800" spc="-70">
                <a:latin typeface="Calibri"/>
                <a:cs typeface="Calibri"/>
              </a:rPr>
              <a:t> </a:t>
            </a:r>
            <a:r>
              <a:rPr dirty="0" sz="2800">
                <a:latin typeface="Calibri"/>
                <a:cs typeface="Calibri"/>
              </a:rPr>
              <a:t>in</a:t>
            </a:r>
            <a:r>
              <a:rPr dirty="0" sz="2800" spc="-75">
                <a:latin typeface="Calibri"/>
                <a:cs typeface="Calibri"/>
              </a:rPr>
              <a:t> </a:t>
            </a:r>
            <a:r>
              <a:rPr dirty="0" sz="2800">
                <a:latin typeface="Calibri"/>
                <a:cs typeface="Calibri"/>
              </a:rPr>
              <a:t>previous</a:t>
            </a:r>
            <a:r>
              <a:rPr dirty="0" sz="2800" spc="-50">
                <a:latin typeface="Calibri"/>
                <a:cs typeface="Calibri"/>
              </a:rPr>
              <a:t> </a:t>
            </a:r>
            <a:r>
              <a:rPr dirty="0" sz="2800">
                <a:latin typeface="Calibri"/>
                <a:cs typeface="Calibri"/>
              </a:rPr>
              <a:t>tasks</a:t>
            </a:r>
            <a:r>
              <a:rPr dirty="0" sz="2800" spc="-70">
                <a:latin typeface="Calibri"/>
                <a:cs typeface="Calibri"/>
              </a:rPr>
              <a:t> </a:t>
            </a:r>
            <a:r>
              <a:rPr dirty="0" sz="2800" spc="-25">
                <a:latin typeface="Calibri"/>
                <a:cs typeface="Calibri"/>
              </a:rPr>
              <a:t>to </a:t>
            </a:r>
            <a:r>
              <a:rPr dirty="0" sz="2800">
                <a:latin typeface="Calibri"/>
                <a:cs typeface="Calibri"/>
              </a:rPr>
              <a:t>novel</a:t>
            </a:r>
            <a:r>
              <a:rPr dirty="0" sz="2800" spc="-70">
                <a:latin typeface="Calibri"/>
                <a:cs typeface="Calibri"/>
              </a:rPr>
              <a:t> </a:t>
            </a:r>
            <a:r>
              <a:rPr dirty="0" sz="2800">
                <a:latin typeface="Calibri"/>
                <a:cs typeface="Calibri"/>
              </a:rPr>
              <a:t>tasks</a:t>
            </a:r>
            <a:r>
              <a:rPr dirty="0" sz="2800" spc="-65">
                <a:latin typeface="Calibri"/>
                <a:cs typeface="Calibri"/>
              </a:rPr>
              <a:t> </a:t>
            </a:r>
            <a:r>
              <a:rPr dirty="0" sz="2800">
                <a:latin typeface="Calibri"/>
                <a:cs typeface="Calibri"/>
              </a:rPr>
              <a:t>(in</a:t>
            </a:r>
            <a:r>
              <a:rPr dirty="0" sz="2800" spc="-70">
                <a:latin typeface="Calibri"/>
                <a:cs typeface="Calibri"/>
              </a:rPr>
              <a:t> </a:t>
            </a:r>
            <a:r>
              <a:rPr dirty="0" sz="2800">
                <a:latin typeface="Calibri"/>
                <a:cs typeface="Calibri"/>
              </a:rPr>
              <a:t>new</a:t>
            </a:r>
            <a:r>
              <a:rPr dirty="0" sz="2800" spc="-70">
                <a:latin typeface="Calibri"/>
                <a:cs typeface="Calibri"/>
              </a:rPr>
              <a:t> </a:t>
            </a:r>
            <a:r>
              <a:rPr dirty="0" sz="2800" spc="-10">
                <a:latin typeface="Calibri"/>
                <a:cs typeface="Calibri"/>
              </a:rPr>
              <a:t>domains)</a:t>
            </a:r>
            <a:endParaRPr sz="2800">
              <a:latin typeface="Calibri"/>
              <a:cs typeface="Calibri"/>
            </a:endParaRPr>
          </a:p>
          <a:p>
            <a:pPr marL="355600" marR="5080" indent="-342900">
              <a:lnSpc>
                <a:spcPct val="100000"/>
              </a:lnSpc>
              <a:spcBef>
                <a:spcPts val="670"/>
              </a:spcBef>
              <a:buFont typeface="Arial MT"/>
              <a:buChar char="•"/>
              <a:tabLst>
                <a:tab pos="355600" algn="l"/>
              </a:tabLst>
            </a:pPr>
            <a:r>
              <a:rPr dirty="0" sz="2800">
                <a:latin typeface="Calibri"/>
                <a:cs typeface="Calibri"/>
              </a:rPr>
              <a:t>TL</a:t>
            </a:r>
            <a:r>
              <a:rPr dirty="0" sz="2800" spc="-60">
                <a:latin typeface="Calibri"/>
                <a:cs typeface="Calibri"/>
              </a:rPr>
              <a:t> </a:t>
            </a:r>
            <a:r>
              <a:rPr dirty="0" sz="2800">
                <a:latin typeface="Calibri"/>
                <a:cs typeface="Calibri"/>
              </a:rPr>
              <a:t>is</a:t>
            </a:r>
            <a:r>
              <a:rPr dirty="0" sz="2800" spc="-55">
                <a:latin typeface="Calibri"/>
                <a:cs typeface="Calibri"/>
              </a:rPr>
              <a:t> </a:t>
            </a:r>
            <a:r>
              <a:rPr dirty="0" sz="2800" spc="-10">
                <a:latin typeface="Calibri"/>
                <a:cs typeface="Calibri"/>
              </a:rPr>
              <a:t>motivated</a:t>
            </a:r>
            <a:r>
              <a:rPr dirty="0" sz="2800" spc="-45">
                <a:latin typeface="Calibri"/>
                <a:cs typeface="Calibri"/>
              </a:rPr>
              <a:t> </a:t>
            </a:r>
            <a:r>
              <a:rPr dirty="0" sz="2800">
                <a:latin typeface="Calibri"/>
                <a:cs typeface="Calibri"/>
              </a:rPr>
              <a:t>by</a:t>
            </a:r>
            <a:r>
              <a:rPr dirty="0" sz="2800" spc="-45">
                <a:latin typeface="Calibri"/>
                <a:cs typeface="Calibri"/>
              </a:rPr>
              <a:t> </a:t>
            </a:r>
            <a:r>
              <a:rPr dirty="0" sz="2800">
                <a:latin typeface="Calibri"/>
                <a:cs typeface="Calibri"/>
              </a:rPr>
              <a:t>human</a:t>
            </a:r>
            <a:r>
              <a:rPr dirty="0" sz="2800" spc="-40">
                <a:latin typeface="Calibri"/>
                <a:cs typeface="Calibri"/>
              </a:rPr>
              <a:t> </a:t>
            </a:r>
            <a:r>
              <a:rPr dirty="0" sz="2800">
                <a:latin typeface="Calibri"/>
                <a:cs typeface="Calibri"/>
              </a:rPr>
              <a:t>learning:</a:t>
            </a:r>
            <a:r>
              <a:rPr dirty="0" sz="2800" spc="-35">
                <a:latin typeface="Calibri"/>
                <a:cs typeface="Calibri"/>
              </a:rPr>
              <a:t> </a:t>
            </a:r>
            <a:r>
              <a:rPr dirty="0" sz="2800">
                <a:latin typeface="Calibri"/>
                <a:cs typeface="Calibri"/>
              </a:rPr>
              <a:t>people</a:t>
            </a:r>
            <a:r>
              <a:rPr dirty="0" sz="2800" spc="-40">
                <a:latin typeface="Calibri"/>
                <a:cs typeface="Calibri"/>
              </a:rPr>
              <a:t> </a:t>
            </a:r>
            <a:r>
              <a:rPr dirty="0" sz="2800">
                <a:latin typeface="Calibri"/>
                <a:cs typeface="Calibri"/>
              </a:rPr>
              <a:t>can</a:t>
            </a:r>
            <a:r>
              <a:rPr dirty="0" sz="2800" spc="-50">
                <a:latin typeface="Calibri"/>
                <a:cs typeface="Calibri"/>
              </a:rPr>
              <a:t> </a:t>
            </a:r>
            <a:r>
              <a:rPr dirty="0" sz="2800" spc="-10">
                <a:latin typeface="Calibri"/>
                <a:cs typeface="Calibri"/>
              </a:rPr>
              <a:t>often transfer</a:t>
            </a:r>
            <a:r>
              <a:rPr dirty="0" sz="2800" spc="-105">
                <a:latin typeface="Calibri"/>
                <a:cs typeface="Calibri"/>
              </a:rPr>
              <a:t> </a:t>
            </a:r>
            <a:r>
              <a:rPr dirty="0" sz="2800">
                <a:latin typeface="Calibri"/>
                <a:cs typeface="Calibri"/>
              </a:rPr>
              <a:t>knowledge</a:t>
            </a:r>
            <a:r>
              <a:rPr dirty="0" sz="2800" spc="-100">
                <a:latin typeface="Calibri"/>
                <a:cs typeface="Calibri"/>
              </a:rPr>
              <a:t> </a:t>
            </a:r>
            <a:r>
              <a:rPr dirty="0" sz="2800">
                <a:latin typeface="Calibri"/>
                <a:cs typeface="Calibri"/>
              </a:rPr>
              <a:t>learnt</a:t>
            </a:r>
            <a:r>
              <a:rPr dirty="0" sz="2800" spc="-105">
                <a:latin typeface="Calibri"/>
                <a:cs typeface="Calibri"/>
              </a:rPr>
              <a:t> </a:t>
            </a:r>
            <a:r>
              <a:rPr dirty="0" sz="2800">
                <a:latin typeface="Calibri"/>
                <a:cs typeface="Calibri"/>
              </a:rPr>
              <a:t>previously</a:t>
            </a:r>
            <a:r>
              <a:rPr dirty="0" sz="2800" spc="-85">
                <a:latin typeface="Calibri"/>
                <a:cs typeface="Calibri"/>
              </a:rPr>
              <a:t> </a:t>
            </a:r>
            <a:r>
              <a:rPr dirty="0" sz="2800">
                <a:latin typeface="Calibri"/>
                <a:cs typeface="Calibri"/>
              </a:rPr>
              <a:t>to</a:t>
            </a:r>
            <a:r>
              <a:rPr dirty="0" sz="2800" spc="-120">
                <a:latin typeface="Calibri"/>
                <a:cs typeface="Calibri"/>
              </a:rPr>
              <a:t> </a:t>
            </a:r>
            <a:r>
              <a:rPr dirty="0" sz="2800" spc="-10">
                <a:latin typeface="Calibri"/>
                <a:cs typeface="Calibri"/>
              </a:rPr>
              <a:t>novel</a:t>
            </a:r>
            <a:endParaRPr sz="2800">
              <a:latin typeface="Calibri"/>
              <a:cs typeface="Calibri"/>
            </a:endParaRPr>
          </a:p>
        </p:txBody>
      </p:sp>
      <p:sp>
        <p:nvSpPr>
          <p:cNvPr id="4" name="object 4" descr=""/>
          <p:cNvSpPr txBox="1"/>
          <p:nvPr/>
        </p:nvSpPr>
        <p:spPr>
          <a:xfrm>
            <a:off x="955039" y="4043980"/>
            <a:ext cx="3089275" cy="1058545"/>
          </a:xfrm>
          <a:prstGeom prst="rect">
            <a:avLst/>
          </a:prstGeom>
        </p:spPr>
        <p:txBody>
          <a:bodyPr wrap="square" lIns="0" tIns="102235" rIns="0" bIns="0" rtlCol="0" vert="horz">
            <a:spAutoFit/>
          </a:bodyPr>
          <a:lstStyle/>
          <a:p>
            <a:pPr marL="12700">
              <a:lnSpc>
                <a:spcPct val="100000"/>
              </a:lnSpc>
              <a:spcBef>
                <a:spcPts val="805"/>
              </a:spcBef>
            </a:pPr>
            <a:r>
              <a:rPr dirty="0" sz="2800" spc="-10">
                <a:latin typeface="Calibri"/>
                <a:cs typeface="Calibri"/>
              </a:rPr>
              <a:t>situations</a:t>
            </a:r>
            <a:endParaRPr sz="2800">
              <a:latin typeface="Calibri"/>
              <a:cs typeface="Calibri"/>
            </a:endParaRPr>
          </a:p>
          <a:p>
            <a:pPr marL="127000">
              <a:lnSpc>
                <a:spcPct val="100000"/>
              </a:lnSpc>
              <a:spcBef>
                <a:spcPts val="705"/>
              </a:spcBef>
            </a:pPr>
            <a:r>
              <a:rPr dirty="0" sz="2800">
                <a:latin typeface="Arial MT"/>
                <a:cs typeface="Arial MT"/>
              </a:rPr>
              <a:t>–</a:t>
            </a:r>
            <a:r>
              <a:rPr dirty="0" sz="2800" spc="-135">
                <a:latin typeface="Arial MT"/>
                <a:cs typeface="Arial MT"/>
              </a:rPr>
              <a:t> </a:t>
            </a:r>
            <a:r>
              <a:rPr dirty="0" sz="2800">
                <a:latin typeface="Calibri"/>
                <a:cs typeface="Calibri"/>
              </a:rPr>
              <a:t>Chinese</a:t>
            </a:r>
            <a:r>
              <a:rPr dirty="0" sz="2800" spc="-25">
                <a:latin typeface="Calibri"/>
                <a:cs typeface="Calibri"/>
              </a:rPr>
              <a:t> </a:t>
            </a:r>
            <a:r>
              <a:rPr dirty="0" sz="2800">
                <a:latin typeface="Symbol"/>
                <a:cs typeface="Symbol"/>
              </a:rPr>
              <a:t></a:t>
            </a:r>
            <a:r>
              <a:rPr dirty="0" sz="2800" spc="-114">
                <a:latin typeface="Times New Roman"/>
                <a:cs typeface="Times New Roman"/>
              </a:rPr>
              <a:t> </a:t>
            </a:r>
            <a:r>
              <a:rPr dirty="0" sz="2800" spc="-10">
                <a:latin typeface="Calibri"/>
                <a:cs typeface="Calibri"/>
              </a:rPr>
              <a:t>English</a:t>
            </a:r>
            <a:endParaRPr sz="2800">
              <a:latin typeface="Calibri"/>
              <a:cs typeface="Calibri"/>
            </a:endParaRPr>
          </a:p>
        </p:txBody>
      </p:sp>
      <p:sp>
        <p:nvSpPr>
          <p:cNvPr id="5" name="object 5" descr=""/>
          <p:cNvSpPr txBox="1"/>
          <p:nvPr/>
        </p:nvSpPr>
        <p:spPr>
          <a:xfrm>
            <a:off x="1069339" y="5076850"/>
            <a:ext cx="7538084" cy="1049655"/>
          </a:xfrm>
          <a:prstGeom prst="rect">
            <a:avLst/>
          </a:prstGeom>
        </p:spPr>
        <p:txBody>
          <a:bodyPr wrap="square" lIns="0" tIns="97790" rIns="0" bIns="0" rtlCol="0" vert="horz">
            <a:spAutoFit/>
          </a:bodyPr>
          <a:lstStyle/>
          <a:p>
            <a:pPr marL="298450" indent="-285750">
              <a:lnSpc>
                <a:spcPct val="100000"/>
              </a:lnSpc>
              <a:spcBef>
                <a:spcPts val="770"/>
              </a:spcBef>
              <a:buFont typeface="Arial MT"/>
              <a:buChar char="–"/>
              <a:tabLst>
                <a:tab pos="298450" algn="l"/>
              </a:tabLst>
            </a:pPr>
            <a:r>
              <a:rPr dirty="0" sz="2800" spc="-10">
                <a:latin typeface="Calibri"/>
                <a:cs typeface="Calibri"/>
              </a:rPr>
              <a:t>mathematics</a:t>
            </a:r>
            <a:r>
              <a:rPr dirty="0" sz="2800" spc="-80">
                <a:latin typeface="Calibri"/>
                <a:cs typeface="Calibri"/>
              </a:rPr>
              <a:t> </a:t>
            </a:r>
            <a:r>
              <a:rPr dirty="0" sz="2800">
                <a:latin typeface="Symbol"/>
                <a:cs typeface="Symbol"/>
              </a:rPr>
              <a:t></a:t>
            </a:r>
            <a:r>
              <a:rPr dirty="0" sz="2800" spc="-140">
                <a:latin typeface="Times New Roman"/>
                <a:cs typeface="Times New Roman"/>
              </a:rPr>
              <a:t> </a:t>
            </a:r>
            <a:r>
              <a:rPr dirty="0" sz="2800">
                <a:latin typeface="Calibri"/>
                <a:cs typeface="Calibri"/>
              </a:rPr>
              <a:t>computer</a:t>
            </a:r>
            <a:r>
              <a:rPr dirty="0" sz="2800" spc="-80">
                <a:latin typeface="Calibri"/>
                <a:cs typeface="Calibri"/>
              </a:rPr>
              <a:t> </a:t>
            </a:r>
            <a:r>
              <a:rPr dirty="0" sz="2800" spc="-10">
                <a:latin typeface="Calibri"/>
                <a:cs typeface="Calibri"/>
              </a:rPr>
              <a:t>science</a:t>
            </a:r>
            <a:endParaRPr sz="2800">
              <a:latin typeface="Calibri"/>
              <a:cs typeface="Calibri"/>
            </a:endParaRPr>
          </a:p>
          <a:p>
            <a:pPr marL="298450" indent="-285750">
              <a:lnSpc>
                <a:spcPct val="100000"/>
              </a:lnSpc>
              <a:spcBef>
                <a:spcPts val="675"/>
              </a:spcBef>
              <a:buFont typeface="Arial MT"/>
              <a:buChar char="–"/>
              <a:tabLst>
                <a:tab pos="298450" algn="l"/>
              </a:tabLst>
            </a:pPr>
            <a:r>
              <a:rPr dirty="0" sz="2800">
                <a:latin typeface="Calibri"/>
                <a:cs typeface="Calibri"/>
              </a:rPr>
              <a:t>network</a:t>
            </a:r>
            <a:r>
              <a:rPr dirty="0" sz="2800" spc="-100">
                <a:latin typeface="Calibri"/>
                <a:cs typeface="Calibri"/>
              </a:rPr>
              <a:t> </a:t>
            </a:r>
            <a:r>
              <a:rPr dirty="0" sz="2800">
                <a:latin typeface="Calibri"/>
                <a:cs typeface="Calibri"/>
              </a:rPr>
              <a:t>technology</a:t>
            </a:r>
            <a:r>
              <a:rPr dirty="0" sz="2800" spc="-100">
                <a:latin typeface="Calibri"/>
                <a:cs typeface="Calibri"/>
              </a:rPr>
              <a:t> </a:t>
            </a:r>
            <a:r>
              <a:rPr dirty="0" sz="2800">
                <a:latin typeface="Calibri"/>
                <a:cs typeface="Calibri"/>
              </a:rPr>
              <a:t>for</a:t>
            </a:r>
            <a:r>
              <a:rPr dirty="0" sz="2800" spc="-100">
                <a:latin typeface="Calibri"/>
                <a:cs typeface="Calibri"/>
              </a:rPr>
              <a:t> </a:t>
            </a:r>
            <a:r>
              <a:rPr dirty="0" sz="2800">
                <a:latin typeface="Calibri"/>
                <a:cs typeface="Calibri"/>
              </a:rPr>
              <a:t>internet</a:t>
            </a:r>
            <a:r>
              <a:rPr dirty="0" sz="2800" spc="-85">
                <a:latin typeface="Calibri"/>
                <a:cs typeface="Calibri"/>
              </a:rPr>
              <a:t> </a:t>
            </a:r>
            <a:r>
              <a:rPr dirty="0" sz="2800">
                <a:latin typeface="Symbol"/>
                <a:cs typeface="Symbol"/>
              </a:rPr>
              <a:t></a:t>
            </a:r>
            <a:r>
              <a:rPr dirty="0" sz="2800" spc="-155">
                <a:latin typeface="Times New Roman"/>
                <a:cs typeface="Times New Roman"/>
              </a:rPr>
              <a:t> </a:t>
            </a:r>
            <a:r>
              <a:rPr dirty="0" sz="2800">
                <a:latin typeface="Calibri"/>
                <a:cs typeface="Calibri"/>
              </a:rPr>
              <a:t>social</a:t>
            </a:r>
            <a:r>
              <a:rPr dirty="0" sz="2800" spc="-110">
                <a:latin typeface="Calibri"/>
                <a:cs typeface="Calibri"/>
              </a:rPr>
              <a:t> </a:t>
            </a:r>
            <a:r>
              <a:rPr dirty="0" sz="2800" spc="-10">
                <a:latin typeface="Calibri"/>
                <a:cs typeface="Calibri"/>
              </a:rPr>
              <a:t>network</a:t>
            </a:r>
            <a:endParaRPr sz="2800">
              <a:latin typeface="Calibri"/>
              <a:cs typeface="Calibri"/>
            </a:endParaRPr>
          </a:p>
        </p:txBody>
      </p:sp>
      <p:sp>
        <p:nvSpPr>
          <p:cNvPr id="6" name="object 6" descr=""/>
          <p:cNvSpPr txBox="1"/>
          <p:nvPr/>
        </p:nvSpPr>
        <p:spPr>
          <a:xfrm>
            <a:off x="689935" y="1155985"/>
            <a:ext cx="7961630" cy="665480"/>
          </a:xfrm>
          <a:prstGeom prst="rect">
            <a:avLst/>
          </a:prstGeom>
        </p:spPr>
        <p:txBody>
          <a:bodyPr wrap="square" lIns="0" tIns="12700" rIns="0" bIns="0" rtlCol="0" vert="horz">
            <a:spAutoFit/>
          </a:bodyPr>
          <a:lstStyle/>
          <a:p>
            <a:pPr marL="12700" marR="5080">
              <a:lnSpc>
                <a:spcPct val="116700"/>
              </a:lnSpc>
              <a:spcBef>
                <a:spcPts val="100"/>
              </a:spcBef>
            </a:pPr>
            <a:r>
              <a:rPr dirty="0" sz="1200" spc="-15">
                <a:latin typeface="Microsoft YaHei UI"/>
                <a:cs typeface="Microsoft YaHei UI"/>
              </a:rPr>
              <a:t>我们可以拿⼀个已经在⼤规模数据集（例如，包含数百万张图⽚的</a:t>
            </a:r>
            <a:r>
              <a:rPr dirty="0" sz="1200" spc="-10">
                <a:latin typeface="Microsoft YaHei UI"/>
                <a:cs typeface="Microsoft YaHei UI"/>
              </a:rPr>
              <a:t>ImageNet）</a:t>
            </a:r>
            <a:r>
              <a:rPr dirty="0" sz="1200" spc="-15">
                <a:latin typeface="Microsoft YaHei UI"/>
                <a:cs typeface="Microsoft YaHei UI"/>
              </a:rPr>
              <a:t>上训练好的</a:t>
            </a:r>
            <a:r>
              <a:rPr dirty="0" sz="1200" spc="-10">
                <a:latin typeface="Microsoft YaHei UI"/>
                <a:cs typeface="Microsoft YaHei UI"/>
              </a:rPr>
              <a:t>CNN</a:t>
            </a:r>
            <a:r>
              <a:rPr dirty="0" sz="1200" spc="-15">
                <a:latin typeface="Microsoft YaHei UI"/>
                <a:cs typeface="Microsoft YaHei UI"/>
              </a:rPr>
              <a:t>模型，然后将其强⼤的图像识别“知识”——也就是它在卷积层中学到的通⽤特征提取能⼒——应⽤到⼀个全新的、可能只有少量数据的图像识</a:t>
            </a:r>
            <a:r>
              <a:rPr dirty="0" sz="1200">
                <a:latin typeface="Microsoft YaHei UI"/>
                <a:cs typeface="Microsoft YaHei UI"/>
              </a:rPr>
              <a:t>别任务上。这直接关联到你之前的“预训练⽹络 </a:t>
            </a:r>
            <a:r>
              <a:rPr dirty="0" sz="1200" spc="-15">
                <a:latin typeface="Microsoft YaHei UI"/>
                <a:cs typeface="Microsoft YaHei UI"/>
              </a:rPr>
              <a:t>(pre-trained</a:t>
            </a:r>
            <a:r>
              <a:rPr dirty="0" sz="1200" spc="40">
                <a:latin typeface="Microsoft YaHei UI"/>
                <a:cs typeface="Microsoft YaHei UI"/>
              </a:rPr>
              <a:t> </a:t>
            </a:r>
            <a:r>
              <a:rPr dirty="0" sz="1200" spc="-10">
                <a:latin typeface="Microsoft YaHei UI"/>
                <a:cs typeface="Microsoft YaHei UI"/>
              </a:rPr>
              <a:t>network)”</a:t>
            </a:r>
            <a:r>
              <a:rPr dirty="0" sz="1200" spc="-15">
                <a:latin typeface="Microsoft YaHei UI"/>
                <a:cs typeface="Microsoft YaHei UI"/>
              </a:rPr>
              <a:t>的概念。</a:t>
            </a:r>
            <a:endParaRPr sz="1200">
              <a:latin typeface="Microsoft YaHei UI"/>
              <a:cs typeface="Microsoft YaHei UI"/>
            </a:endParaRPr>
          </a:p>
        </p:txBody>
      </p:sp>
      <p:sp>
        <p:nvSpPr>
          <p:cNvPr id="7" name="object 7" descr=""/>
          <p:cNvSpPr txBox="1"/>
          <p:nvPr/>
        </p:nvSpPr>
        <p:spPr>
          <a:xfrm>
            <a:off x="4353768" y="4213890"/>
            <a:ext cx="4058920" cy="956944"/>
          </a:xfrm>
          <a:prstGeom prst="rect">
            <a:avLst/>
          </a:prstGeom>
        </p:spPr>
        <p:txBody>
          <a:bodyPr wrap="square" lIns="0" tIns="12065" rIns="0" bIns="0" rtlCol="0" vert="horz">
            <a:spAutoFit/>
          </a:bodyPr>
          <a:lstStyle/>
          <a:p>
            <a:pPr marL="12700" marR="5080">
              <a:lnSpc>
                <a:spcPct val="117500"/>
              </a:lnSpc>
              <a:spcBef>
                <a:spcPts val="95"/>
              </a:spcBef>
            </a:pPr>
            <a:r>
              <a:rPr dirty="0" sz="1300">
                <a:latin typeface="Microsoft YaHei UI"/>
                <a:cs typeface="Microsoft YaHei UI"/>
              </a:rPr>
              <a:t>⼀个</a:t>
            </a:r>
            <a:r>
              <a:rPr dirty="0" sz="1300" spc="125">
                <a:latin typeface="Trebuchet MS"/>
                <a:cs typeface="Trebuchet MS"/>
              </a:rPr>
              <a:t>CNN</a:t>
            </a:r>
            <a:r>
              <a:rPr dirty="0" sz="1300" spc="-5">
                <a:latin typeface="Microsoft YaHei UI"/>
                <a:cs typeface="Microsoft YaHei UI"/>
              </a:rPr>
              <a:t>在识别猫、狗、汽⻋等上千种物体时学到的如</a:t>
            </a:r>
            <a:r>
              <a:rPr dirty="0" sz="1300">
                <a:latin typeface="Microsoft YaHei UI"/>
                <a:cs typeface="Microsoft YaHei UI"/>
              </a:rPr>
              <a:t>何识别</a:t>
            </a:r>
            <a:r>
              <a:rPr dirty="0" sz="1300" spc="-140">
                <a:latin typeface="Trebuchet MS"/>
                <a:cs typeface="Trebuchet MS"/>
              </a:rPr>
              <a:t>“</a:t>
            </a:r>
            <a:r>
              <a:rPr dirty="0" sz="1300">
                <a:latin typeface="Microsoft YaHei UI"/>
                <a:cs typeface="Microsoft YaHei UI"/>
              </a:rPr>
              <a:t>边缘</a:t>
            </a:r>
            <a:r>
              <a:rPr dirty="0" sz="1300" spc="-140">
                <a:latin typeface="Trebuchet MS"/>
                <a:cs typeface="Trebuchet MS"/>
              </a:rPr>
              <a:t>”</a:t>
            </a:r>
            <a:r>
              <a:rPr dirty="0" sz="1300">
                <a:latin typeface="Microsoft YaHei UI"/>
                <a:cs typeface="Microsoft YaHei UI"/>
              </a:rPr>
              <a:t>、</a:t>
            </a:r>
            <a:r>
              <a:rPr dirty="0" sz="1300" spc="-140">
                <a:latin typeface="Trebuchet MS"/>
                <a:cs typeface="Trebuchet MS"/>
              </a:rPr>
              <a:t>“</a:t>
            </a:r>
            <a:r>
              <a:rPr dirty="0" sz="1300">
                <a:latin typeface="Microsoft YaHei UI"/>
                <a:cs typeface="Microsoft YaHei UI"/>
              </a:rPr>
              <a:t>纹理</a:t>
            </a:r>
            <a:r>
              <a:rPr dirty="0" sz="1300" spc="-140">
                <a:latin typeface="Trebuchet MS"/>
                <a:cs typeface="Trebuchet MS"/>
              </a:rPr>
              <a:t>”</a:t>
            </a:r>
            <a:r>
              <a:rPr dirty="0" sz="1300">
                <a:latin typeface="Microsoft YaHei UI"/>
                <a:cs typeface="Microsoft YaHei UI"/>
              </a:rPr>
              <a:t>、</a:t>
            </a:r>
            <a:r>
              <a:rPr dirty="0" sz="1300" spc="-140">
                <a:latin typeface="Trebuchet MS"/>
                <a:cs typeface="Trebuchet MS"/>
              </a:rPr>
              <a:t>“</a:t>
            </a:r>
            <a:r>
              <a:rPr dirty="0" sz="1300">
                <a:latin typeface="Microsoft YaHei UI"/>
                <a:cs typeface="Microsoft YaHei UI"/>
              </a:rPr>
              <a:t>形状</a:t>
            </a:r>
            <a:r>
              <a:rPr dirty="0" sz="1300" spc="-140">
                <a:latin typeface="Trebuchet MS"/>
                <a:cs typeface="Trebuchet MS"/>
              </a:rPr>
              <a:t>”</a:t>
            </a:r>
            <a:r>
              <a:rPr dirty="0" sz="1300">
                <a:latin typeface="Microsoft YaHei UI"/>
                <a:cs typeface="Microsoft YaHei UI"/>
              </a:rPr>
              <a:t>、</a:t>
            </a:r>
            <a:r>
              <a:rPr dirty="0" sz="1300" spc="-140">
                <a:latin typeface="Trebuchet MS"/>
                <a:cs typeface="Trebuchet MS"/>
              </a:rPr>
              <a:t>“</a:t>
            </a:r>
            <a:r>
              <a:rPr dirty="0" sz="1300">
                <a:latin typeface="Microsoft YaHei UI"/>
                <a:cs typeface="Microsoft YaHei UI"/>
              </a:rPr>
              <a:t>眼睛</a:t>
            </a:r>
            <a:r>
              <a:rPr dirty="0" sz="1300" spc="-140">
                <a:latin typeface="Trebuchet MS"/>
                <a:cs typeface="Trebuchet MS"/>
              </a:rPr>
              <a:t>”</a:t>
            </a:r>
            <a:r>
              <a:rPr dirty="0" sz="1300">
                <a:latin typeface="Microsoft YaHei UI"/>
                <a:cs typeface="Microsoft YaHei UI"/>
              </a:rPr>
              <a:t>、</a:t>
            </a:r>
            <a:r>
              <a:rPr dirty="0" sz="1300" spc="-140">
                <a:latin typeface="Trebuchet MS"/>
                <a:cs typeface="Trebuchet MS"/>
              </a:rPr>
              <a:t>“</a:t>
            </a:r>
            <a:r>
              <a:rPr dirty="0" sz="1300">
                <a:latin typeface="Microsoft YaHei UI"/>
                <a:cs typeface="Microsoft YaHei UI"/>
              </a:rPr>
              <a:t>轮⼦</a:t>
            </a:r>
            <a:r>
              <a:rPr dirty="0" sz="1300" spc="-140">
                <a:latin typeface="Trebuchet MS"/>
                <a:cs typeface="Trebuchet MS"/>
              </a:rPr>
              <a:t>”</a:t>
            </a:r>
            <a:r>
              <a:rPr dirty="0" sz="1300" spc="-20">
                <a:latin typeface="Microsoft YaHei UI"/>
                <a:cs typeface="Microsoft YaHei UI"/>
              </a:rPr>
              <a:t>等视觉</a:t>
            </a:r>
            <a:r>
              <a:rPr dirty="0" sz="1300">
                <a:latin typeface="Microsoft YaHei UI"/>
                <a:cs typeface="Microsoft YaHei UI"/>
              </a:rPr>
              <a:t>特征的</a:t>
            </a:r>
            <a:r>
              <a:rPr dirty="0" sz="1300" spc="-140">
                <a:latin typeface="Trebuchet MS"/>
                <a:cs typeface="Trebuchet MS"/>
              </a:rPr>
              <a:t>“</a:t>
            </a:r>
            <a:r>
              <a:rPr dirty="0" sz="1300">
                <a:latin typeface="Microsoft YaHei UI"/>
                <a:cs typeface="Microsoft YaHei UI"/>
              </a:rPr>
              <a:t>技能</a:t>
            </a:r>
            <a:r>
              <a:rPr dirty="0" sz="1300" spc="-75">
                <a:latin typeface="Trebuchet MS"/>
                <a:cs typeface="Trebuchet MS"/>
              </a:rPr>
              <a:t>”</a:t>
            </a:r>
            <a:r>
              <a:rPr dirty="0" sz="1300" spc="-25">
                <a:latin typeface="Microsoft YaHei UI"/>
                <a:cs typeface="Microsoft YaHei UI"/>
              </a:rPr>
              <a:t>，同样可以被⽤来识别医学影像中的细胞</a:t>
            </a:r>
            <a:r>
              <a:rPr dirty="0" sz="1300" spc="-5">
                <a:latin typeface="Microsoft YaHei UI"/>
                <a:cs typeface="Microsoft YaHei UI"/>
              </a:rPr>
              <a:t>或识别不同种类的花朵。</a:t>
            </a:r>
            <a:endParaRPr sz="1300">
              <a:latin typeface="Microsoft YaHei UI"/>
              <a:cs typeface="Microsoft YaHei U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56746" y="409384"/>
            <a:ext cx="5829300" cy="696595"/>
          </a:xfrm>
          <a:prstGeom prst="rect"/>
        </p:spPr>
        <p:txBody>
          <a:bodyPr wrap="square" lIns="0" tIns="13335" rIns="0" bIns="0" rtlCol="0" vert="horz">
            <a:spAutoFit/>
          </a:bodyPr>
          <a:lstStyle/>
          <a:p>
            <a:pPr marL="12700">
              <a:lnSpc>
                <a:spcPct val="100000"/>
              </a:lnSpc>
              <a:spcBef>
                <a:spcPts val="105"/>
              </a:spcBef>
            </a:pPr>
            <a:r>
              <a:rPr dirty="0" sz="4400"/>
              <a:t>Traditional</a:t>
            </a:r>
            <a:r>
              <a:rPr dirty="0" sz="4400" spc="-95"/>
              <a:t> </a:t>
            </a:r>
            <a:r>
              <a:rPr dirty="0" sz="4400"/>
              <a:t>ML</a:t>
            </a:r>
            <a:r>
              <a:rPr dirty="0" sz="4400" spc="-80"/>
              <a:t> </a:t>
            </a:r>
            <a:r>
              <a:rPr dirty="0" sz="4400"/>
              <a:t>vs.</a:t>
            </a:r>
            <a:r>
              <a:rPr dirty="0" sz="4400" spc="-60"/>
              <a:t> </a:t>
            </a:r>
            <a:r>
              <a:rPr dirty="0" sz="4400" spc="-25"/>
              <a:t>TL</a:t>
            </a:r>
            <a:endParaRPr sz="4400"/>
          </a:p>
        </p:txBody>
      </p:sp>
      <p:sp>
        <p:nvSpPr>
          <p:cNvPr id="3" name="object 3" descr=""/>
          <p:cNvSpPr txBox="1"/>
          <p:nvPr/>
        </p:nvSpPr>
        <p:spPr>
          <a:xfrm>
            <a:off x="1595405" y="1357693"/>
            <a:ext cx="2025014" cy="636270"/>
          </a:xfrm>
          <a:prstGeom prst="rect">
            <a:avLst/>
          </a:prstGeom>
        </p:spPr>
        <p:txBody>
          <a:bodyPr wrap="square" lIns="0" tIns="13335" rIns="0" bIns="0" rtlCol="0" vert="horz">
            <a:spAutoFit/>
          </a:bodyPr>
          <a:lstStyle/>
          <a:p>
            <a:pPr marL="271780" marR="5080" indent="-259715">
              <a:lnSpc>
                <a:spcPct val="100000"/>
              </a:lnSpc>
              <a:spcBef>
                <a:spcPts val="105"/>
              </a:spcBef>
            </a:pPr>
            <a:r>
              <a:rPr dirty="0" sz="2000">
                <a:latin typeface="Calibri"/>
                <a:cs typeface="Calibri"/>
              </a:rPr>
              <a:t>Learning</a:t>
            </a:r>
            <a:r>
              <a:rPr dirty="0" sz="2000" spc="-90">
                <a:latin typeface="Calibri"/>
                <a:cs typeface="Calibri"/>
              </a:rPr>
              <a:t> </a:t>
            </a:r>
            <a:r>
              <a:rPr dirty="0" sz="2000">
                <a:latin typeface="Calibri"/>
                <a:cs typeface="Calibri"/>
              </a:rPr>
              <a:t>Process</a:t>
            </a:r>
            <a:r>
              <a:rPr dirty="0" sz="2000" spc="-70">
                <a:latin typeface="Calibri"/>
                <a:cs typeface="Calibri"/>
              </a:rPr>
              <a:t> </a:t>
            </a:r>
            <a:r>
              <a:rPr dirty="0" sz="2000" spc="-25">
                <a:latin typeface="Calibri"/>
                <a:cs typeface="Calibri"/>
              </a:rPr>
              <a:t>of </a:t>
            </a:r>
            <a:r>
              <a:rPr dirty="0" sz="2000" spc="-20">
                <a:latin typeface="Calibri"/>
                <a:cs typeface="Calibri"/>
              </a:rPr>
              <a:t>Traditional</a:t>
            </a:r>
            <a:r>
              <a:rPr dirty="0" sz="2000" spc="-15">
                <a:latin typeface="Calibri"/>
                <a:cs typeface="Calibri"/>
              </a:rPr>
              <a:t> </a:t>
            </a:r>
            <a:r>
              <a:rPr dirty="0" sz="2000" spc="-25">
                <a:latin typeface="Calibri"/>
                <a:cs typeface="Calibri"/>
              </a:rPr>
              <a:t>ML</a:t>
            </a:r>
            <a:endParaRPr sz="2000">
              <a:latin typeface="Calibri"/>
              <a:cs typeface="Calibri"/>
            </a:endParaRPr>
          </a:p>
        </p:txBody>
      </p:sp>
      <p:sp>
        <p:nvSpPr>
          <p:cNvPr id="4" name="object 4" descr=""/>
          <p:cNvSpPr txBox="1"/>
          <p:nvPr/>
        </p:nvSpPr>
        <p:spPr>
          <a:xfrm>
            <a:off x="5560640" y="1410377"/>
            <a:ext cx="2025014" cy="636270"/>
          </a:xfrm>
          <a:prstGeom prst="rect">
            <a:avLst/>
          </a:prstGeom>
        </p:spPr>
        <p:txBody>
          <a:bodyPr wrap="square" lIns="0" tIns="13335" rIns="0" bIns="0" rtlCol="0" vert="horz">
            <a:spAutoFit/>
          </a:bodyPr>
          <a:lstStyle/>
          <a:p>
            <a:pPr marL="121920" marR="5080" indent="-109855">
              <a:lnSpc>
                <a:spcPct val="100000"/>
              </a:lnSpc>
              <a:spcBef>
                <a:spcPts val="105"/>
              </a:spcBef>
            </a:pPr>
            <a:r>
              <a:rPr dirty="0" sz="2000">
                <a:latin typeface="Calibri"/>
                <a:cs typeface="Calibri"/>
              </a:rPr>
              <a:t>Learning</a:t>
            </a:r>
            <a:r>
              <a:rPr dirty="0" sz="2000" spc="-90">
                <a:latin typeface="Calibri"/>
                <a:cs typeface="Calibri"/>
              </a:rPr>
              <a:t> </a:t>
            </a:r>
            <a:r>
              <a:rPr dirty="0" sz="2000">
                <a:latin typeface="Calibri"/>
                <a:cs typeface="Calibri"/>
              </a:rPr>
              <a:t>Process</a:t>
            </a:r>
            <a:r>
              <a:rPr dirty="0" sz="2000" spc="-70">
                <a:latin typeface="Calibri"/>
                <a:cs typeface="Calibri"/>
              </a:rPr>
              <a:t> </a:t>
            </a:r>
            <a:r>
              <a:rPr dirty="0" sz="2000" spc="-25">
                <a:latin typeface="Calibri"/>
                <a:cs typeface="Calibri"/>
              </a:rPr>
              <a:t>of </a:t>
            </a:r>
            <a:r>
              <a:rPr dirty="0" sz="2000" spc="-30">
                <a:latin typeface="Calibri"/>
                <a:cs typeface="Calibri"/>
              </a:rPr>
              <a:t>Transfer</a:t>
            </a:r>
            <a:r>
              <a:rPr dirty="0" sz="2000" spc="-45">
                <a:latin typeface="Calibri"/>
                <a:cs typeface="Calibri"/>
              </a:rPr>
              <a:t> </a:t>
            </a:r>
            <a:r>
              <a:rPr dirty="0" sz="2000" spc="-10">
                <a:latin typeface="Calibri"/>
                <a:cs typeface="Calibri"/>
              </a:rPr>
              <a:t>Learning</a:t>
            </a:r>
            <a:endParaRPr sz="2000">
              <a:latin typeface="Calibri"/>
              <a:cs typeface="Calibri"/>
            </a:endParaRPr>
          </a:p>
        </p:txBody>
      </p:sp>
      <p:sp>
        <p:nvSpPr>
          <p:cNvPr id="5" name="object 5" descr=""/>
          <p:cNvSpPr/>
          <p:nvPr/>
        </p:nvSpPr>
        <p:spPr>
          <a:xfrm>
            <a:off x="4572761" y="1485138"/>
            <a:ext cx="71755" cy="4968240"/>
          </a:xfrm>
          <a:custGeom>
            <a:avLst/>
            <a:gdLst/>
            <a:ahLst/>
            <a:cxnLst/>
            <a:rect l="l" t="t" r="r" b="b"/>
            <a:pathLst>
              <a:path w="71754" h="4968240">
                <a:moveTo>
                  <a:pt x="0" y="0"/>
                </a:moveTo>
                <a:lnTo>
                  <a:pt x="71628" y="4968240"/>
                </a:lnTo>
              </a:path>
            </a:pathLst>
          </a:custGeom>
          <a:ln w="38100">
            <a:solidFill>
              <a:srgbClr val="993300"/>
            </a:solidFill>
          </a:ln>
        </p:spPr>
        <p:txBody>
          <a:bodyPr wrap="square" lIns="0" tIns="0" rIns="0" bIns="0" rtlCol="0"/>
          <a:lstStyle/>
          <a:p/>
        </p:txBody>
      </p:sp>
      <p:grpSp>
        <p:nvGrpSpPr>
          <p:cNvPr id="6" name="object 6" descr=""/>
          <p:cNvGrpSpPr/>
          <p:nvPr/>
        </p:nvGrpSpPr>
        <p:grpSpPr>
          <a:xfrm>
            <a:off x="962025" y="2412873"/>
            <a:ext cx="956310" cy="883285"/>
            <a:chOff x="962025" y="2412873"/>
            <a:chExt cx="956310" cy="883285"/>
          </a:xfrm>
        </p:grpSpPr>
        <p:sp>
          <p:nvSpPr>
            <p:cNvPr id="7" name="object 7" descr=""/>
            <p:cNvSpPr/>
            <p:nvPr/>
          </p:nvSpPr>
          <p:spPr>
            <a:xfrm>
              <a:off x="971550" y="2422398"/>
              <a:ext cx="937260" cy="864235"/>
            </a:xfrm>
            <a:custGeom>
              <a:avLst/>
              <a:gdLst/>
              <a:ahLst/>
              <a:cxnLst/>
              <a:rect l="l" t="t" r="r" b="b"/>
              <a:pathLst>
                <a:path w="937260" h="864235">
                  <a:moveTo>
                    <a:pt x="468630" y="0"/>
                  </a:moveTo>
                  <a:lnTo>
                    <a:pt x="417568" y="2535"/>
                  </a:lnTo>
                  <a:lnTo>
                    <a:pt x="368099" y="9965"/>
                  </a:lnTo>
                  <a:lnTo>
                    <a:pt x="320508" y="22026"/>
                  </a:lnTo>
                  <a:lnTo>
                    <a:pt x="275081" y="38454"/>
                  </a:lnTo>
                  <a:lnTo>
                    <a:pt x="232105" y="58987"/>
                  </a:lnTo>
                  <a:lnTo>
                    <a:pt x="191864" y="83360"/>
                  </a:lnTo>
                  <a:lnTo>
                    <a:pt x="154646" y="111310"/>
                  </a:lnTo>
                  <a:lnTo>
                    <a:pt x="120736" y="142573"/>
                  </a:lnTo>
                  <a:lnTo>
                    <a:pt x="90419" y="176887"/>
                  </a:lnTo>
                  <a:lnTo>
                    <a:pt x="63982" y="213986"/>
                  </a:lnTo>
                  <a:lnTo>
                    <a:pt x="41711" y="253608"/>
                  </a:lnTo>
                  <a:lnTo>
                    <a:pt x="23891" y="295490"/>
                  </a:lnTo>
                  <a:lnTo>
                    <a:pt x="10809" y="339367"/>
                  </a:lnTo>
                  <a:lnTo>
                    <a:pt x="2749" y="384976"/>
                  </a:lnTo>
                  <a:lnTo>
                    <a:pt x="0" y="432053"/>
                  </a:lnTo>
                  <a:lnTo>
                    <a:pt x="2749" y="479131"/>
                  </a:lnTo>
                  <a:lnTo>
                    <a:pt x="10809" y="524740"/>
                  </a:lnTo>
                  <a:lnTo>
                    <a:pt x="23891" y="568617"/>
                  </a:lnTo>
                  <a:lnTo>
                    <a:pt x="41711" y="610499"/>
                  </a:lnTo>
                  <a:lnTo>
                    <a:pt x="63982" y="650121"/>
                  </a:lnTo>
                  <a:lnTo>
                    <a:pt x="90419" y="687220"/>
                  </a:lnTo>
                  <a:lnTo>
                    <a:pt x="120736" y="721534"/>
                  </a:lnTo>
                  <a:lnTo>
                    <a:pt x="154646" y="752797"/>
                  </a:lnTo>
                  <a:lnTo>
                    <a:pt x="191864" y="780747"/>
                  </a:lnTo>
                  <a:lnTo>
                    <a:pt x="232105" y="805120"/>
                  </a:lnTo>
                  <a:lnTo>
                    <a:pt x="275081" y="825653"/>
                  </a:lnTo>
                  <a:lnTo>
                    <a:pt x="320508" y="842081"/>
                  </a:lnTo>
                  <a:lnTo>
                    <a:pt x="368099" y="854142"/>
                  </a:lnTo>
                  <a:lnTo>
                    <a:pt x="417568" y="861572"/>
                  </a:lnTo>
                  <a:lnTo>
                    <a:pt x="468630" y="864107"/>
                  </a:lnTo>
                  <a:lnTo>
                    <a:pt x="519691" y="861572"/>
                  </a:lnTo>
                  <a:lnTo>
                    <a:pt x="569160" y="854142"/>
                  </a:lnTo>
                  <a:lnTo>
                    <a:pt x="616751" y="842081"/>
                  </a:lnTo>
                  <a:lnTo>
                    <a:pt x="662178" y="825653"/>
                  </a:lnTo>
                  <a:lnTo>
                    <a:pt x="705154" y="805120"/>
                  </a:lnTo>
                  <a:lnTo>
                    <a:pt x="745395" y="780747"/>
                  </a:lnTo>
                  <a:lnTo>
                    <a:pt x="782613" y="752797"/>
                  </a:lnTo>
                  <a:lnTo>
                    <a:pt x="816523" y="721534"/>
                  </a:lnTo>
                  <a:lnTo>
                    <a:pt x="846840" y="687220"/>
                  </a:lnTo>
                  <a:lnTo>
                    <a:pt x="873277" y="650121"/>
                  </a:lnTo>
                  <a:lnTo>
                    <a:pt x="895548" y="610499"/>
                  </a:lnTo>
                  <a:lnTo>
                    <a:pt x="913368" y="568617"/>
                  </a:lnTo>
                  <a:lnTo>
                    <a:pt x="926450" y="524740"/>
                  </a:lnTo>
                  <a:lnTo>
                    <a:pt x="934510" y="479131"/>
                  </a:lnTo>
                  <a:lnTo>
                    <a:pt x="937260" y="432053"/>
                  </a:lnTo>
                  <a:lnTo>
                    <a:pt x="934510" y="384976"/>
                  </a:lnTo>
                  <a:lnTo>
                    <a:pt x="926450" y="339367"/>
                  </a:lnTo>
                  <a:lnTo>
                    <a:pt x="913368" y="295490"/>
                  </a:lnTo>
                  <a:lnTo>
                    <a:pt x="895548" y="253608"/>
                  </a:lnTo>
                  <a:lnTo>
                    <a:pt x="873277" y="213986"/>
                  </a:lnTo>
                  <a:lnTo>
                    <a:pt x="846840" y="176887"/>
                  </a:lnTo>
                  <a:lnTo>
                    <a:pt x="816523" y="142573"/>
                  </a:lnTo>
                  <a:lnTo>
                    <a:pt x="782613" y="111310"/>
                  </a:lnTo>
                  <a:lnTo>
                    <a:pt x="745395" y="83360"/>
                  </a:lnTo>
                  <a:lnTo>
                    <a:pt x="705154" y="58987"/>
                  </a:lnTo>
                  <a:lnTo>
                    <a:pt x="662178" y="38454"/>
                  </a:lnTo>
                  <a:lnTo>
                    <a:pt x="616751" y="22026"/>
                  </a:lnTo>
                  <a:lnTo>
                    <a:pt x="569160" y="9965"/>
                  </a:lnTo>
                  <a:lnTo>
                    <a:pt x="519691" y="2535"/>
                  </a:lnTo>
                  <a:lnTo>
                    <a:pt x="468630" y="0"/>
                  </a:lnTo>
                  <a:close/>
                </a:path>
              </a:pathLst>
            </a:custGeom>
            <a:solidFill>
              <a:srgbClr val="C0C0C0"/>
            </a:solidFill>
          </p:spPr>
          <p:txBody>
            <a:bodyPr wrap="square" lIns="0" tIns="0" rIns="0" bIns="0" rtlCol="0"/>
            <a:lstStyle/>
            <a:p/>
          </p:txBody>
        </p:sp>
        <p:sp>
          <p:nvSpPr>
            <p:cNvPr id="8" name="object 8" descr=""/>
            <p:cNvSpPr/>
            <p:nvPr/>
          </p:nvSpPr>
          <p:spPr>
            <a:xfrm>
              <a:off x="971550" y="2422398"/>
              <a:ext cx="937260" cy="864235"/>
            </a:xfrm>
            <a:custGeom>
              <a:avLst/>
              <a:gdLst/>
              <a:ahLst/>
              <a:cxnLst/>
              <a:rect l="l" t="t" r="r" b="b"/>
              <a:pathLst>
                <a:path w="937260" h="864235">
                  <a:moveTo>
                    <a:pt x="468630" y="0"/>
                  </a:moveTo>
                  <a:lnTo>
                    <a:pt x="519691" y="2535"/>
                  </a:lnTo>
                  <a:lnTo>
                    <a:pt x="569160" y="9965"/>
                  </a:lnTo>
                  <a:lnTo>
                    <a:pt x="616751" y="22026"/>
                  </a:lnTo>
                  <a:lnTo>
                    <a:pt x="662178" y="38454"/>
                  </a:lnTo>
                  <a:lnTo>
                    <a:pt x="705154" y="58987"/>
                  </a:lnTo>
                  <a:lnTo>
                    <a:pt x="745395" y="83360"/>
                  </a:lnTo>
                  <a:lnTo>
                    <a:pt x="782613" y="111310"/>
                  </a:lnTo>
                  <a:lnTo>
                    <a:pt x="816523" y="142573"/>
                  </a:lnTo>
                  <a:lnTo>
                    <a:pt x="846840" y="176887"/>
                  </a:lnTo>
                  <a:lnTo>
                    <a:pt x="873277" y="213986"/>
                  </a:lnTo>
                  <a:lnTo>
                    <a:pt x="895548" y="253608"/>
                  </a:lnTo>
                  <a:lnTo>
                    <a:pt x="913368" y="295490"/>
                  </a:lnTo>
                  <a:lnTo>
                    <a:pt x="926450" y="339367"/>
                  </a:lnTo>
                  <a:lnTo>
                    <a:pt x="934510" y="384976"/>
                  </a:lnTo>
                  <a:lnTo>
                    <a:pt x="937260" y="432054"/>
                  </a:lnTo>
                  <a:lnTo>
                    <a:pt x="934510" y="479131"/>
                  </a:lnTo>
                  <a:lnTo>
                    <a:pt x="926450" y="524740"/>
                  </a:lnTo>
                  <a:lnTo>
                    <a:pt x="913368" y="568617"/>
                  </a:lnTo>
                  <a:lnTo>
                    <a:pt x="895548" y="610499"/>
                  </a:lnTo>
                  <a:lnTo>
                    <a:pt x="873277" y="650121"/>
                  </a:lnTo>
                  <a:lnTo>
                    <a:pt x="846840" y="687220"/>
                  </a:lnTo>
                  <a:lnTo>
                    <a:pt x="816523" y="721534"/>
                  </a:lnTo>
                  <a:lnTo>
                    <a:pt x="782613" y="752797"/>
                  </a:lnTo>
                  <a:lnTo>
                    <a:pt x="745395" y="780747"/>
                  </a:lnTo>
                  <a:lnTo>
                    <a:pt x="705154" y="805120"/>
                  </a:lnTo>
                  <a:lnTo>
                    <a:pt x="662178" y="825653"/>
                  </a:lnTo>
                  <a:lnTo>
                    <a:pt x="616751" y="842081"/>
                  </a:lnTo>
                  <a:lnTo>
                    <a:pt x="569160" y="854142"/>
                  </a:lnTo>
                  <a:lnTo>
                    <a:pt x="519691" y="861572"/>
                  </a:lnTo>
                  <a:lnTo>
                    <a:pt x="468630" y="864108"/>
                  </a:lnTo>
                  <a:lnTo>
                    <a:pt x="417568" y="861572"/>
                  </a:lnTo>
                  <a:lnTo>
                    <a:pt x="368099" y="854142"/>
                  </a:lnTo>
                  <a:lnTo>
                    <a:pt x="320508" y="842081"/>
                  </a:lnTo>
                  <a:lnTo>
                    <a:pt x="275081" y="825653"/>
                  </a:lnTo>
                  <a:lnTo>
                    <a:pt x="232105" y="805120"/>
                  </a:lnTo>
                  <a:lnTo>
                    <a:pt x="191864" y="780747"/>
                  </a:lnTo>
                  <a:lnTo>
                    <a:pt x="154646" y="752797"/>
                  </a:lnTo>
                  <a:lnTo>
                    <a:pt x="120736" y="721534"/>
                  </a:lnTo>
                  <a:lnTo>
                    <a:pt x="90419" y="687220"/>
                  </a:lnTo>
                  <a:lnTo>
                    <a:pt x="63982" y="650121"/>
                  </a:lnTo>
                  <a:lnTo>
                    <a:pt x="41711" y="610499"/>
                  </a:lnTo>
                  <a:lnTo>
                    <a:pt x="23891" y="568617"/>
                  </a:lnTo>
                  <a:lnTo>
                    <a:pt x="10809" y="524740"/>
                  </a:lnTo>
                  <a:lnTo>
                    <a:pt x="2749" y="479131"/>
                  </a:lnTo>
                  <a:lnTo>
                    <a:pt x="0" y="432054"/>
                  </a:lnTo>
                  <a:lnTo>
                    <a:pt x="2749" y="384976"/>
                  </a:lnTo>
                  <a:lnTo>
                    <a:pt x="10809" y="339367"/>
                  </a:lnTo>
                  <a:lnTo>
                    <a:pt x="23891" y="295490"/>
                  </a:lnTo>
                  <a:lnTo>
                    <a:pt x="41711" y="253608"/>
                  </a:lnTo>
                  <a:lnTo>
                    <a:pt x="63982" y="213986"/>
                  </a:lnTo>
                  <a:lnTo>
                    <a:pt x="90419" y="176887"/>
                  </a:lnTo>
                  <a:lnTo>
                    <a:pt x="120736" y="142573"/>
                  </a:lnTo>
                  <a:lnTo>
                    <a:pt x="154646" y="111310"/>
                  </a:lnTo>
                  <a:lnTo>
                    <a:pt x="191864" y="83360"/>
                  </a:lnTo>
                  <a:lnTo>
                    <a:pt x="232105" y="58987"/>
                  </a:lnTo>
                  <a:lnTo>
                    <a:pt x="275081" y="38454"/>
                  </a:lnTo>
                  <a:lnTo>
                    <a:pt x="320508" y="22026"/>
                  </a:lnTo>
                  <a:lnTo>
                    <a:pt x="368099" y="9965"/>
                  </a:lnTo>
                  <a:lnTo>
                    <a:pt x="417568" y="2535"/>
                  </a:lnTo>
                  <a:lnTo>
                    <a:pt x="468630" y="0"/>
                  </a:lnTo>
                  <a:close/>
                </a:path>
              </a:pathLst>
            </a:custGeom>
            <a:ln w="19050">
              <a:solidFill>
                <a:srgbClr val="000000"/>
              </a:solidFill>
            </a:ln>
          </p:spPr>
          <p:txBody>
            <a:bodyPr wrap="square" lIns="0" tIns="0" rIns="0" bIns="0" rtlCol="0"/>
            <a:lstStyle/>
            <a:p/>
          </p:txBody>
        </p:sp>
        <p:pic>
          <p:nvPicPr>
            <p:cNvPr id="9" name="object 9" descr=""/>
            <p:cNvPicPr/>
            <p:nvPr/>
          </p:nvPicPr>
          <p:blipFill>
            <a:blip r:embed="rId2" cstate="print"/>
            <a:stretch>
              <a:fillRect/>
            </a:stretch>
          </p:blipFill>
          <p:spPr>
            <a:xfrm>
              <a:off x="1084755" y="2803921"/>
              <a:ext cx="209963" cy="199064"/>
            </a:xfrm>
            <a:prstGeom prst="rect">
              <a:avLst/>
            </a:prstGeom>
          </p:spPr>
        </p:pic>
        <p:pic>
          <p:nvPicPr>
            <p:cNvPr id="10" name="object 10" descr=""/>
            <p:cNvPicPr/>
            <p:nvPr/>
          </p:nvPicPr>
          <p:blipFill>
            <a:blip r:embed="rId3" cstate="print"/>
            <a:stretch>
              <a:fillRect/>
            </a:stretch>
          </p:blipFill>
          <p:spPr>
            <a:xfrm>
              <a:off x="1227551" y="2506202"/>
              <a:ext cx="209963" cy="199064"/>
            </a:xfrm>
            <a:prstGeom prst="rect">
              <a:avLst/>
            </a:prstGeom>
          </p:spPr>
        </p:pic>
        <p:pic>
          <p:nvPicPr>
            <p:cNvPr id="11" name="object 11" descr=""/>
            <p:cNvPicPr/>
            <p:nvPr/>
          </p:nvPicPr>
          <p:blipFill>
            <a:blip r:embed="rId4" cstate="print"/>
            <a:stretch>
              <a:fillRect/>
            </a:stretch>
          </p:blipFill>
          <p:spPr>
            <a:xfrm>
              <a:off x="1454493" y="2981261"/>
              <a:ext cx="209963" cy="199064"/>
            </a:xfrm>
            <a:prstGeom prst="rect">
              <a:avLst/>
            </a:prstGeom>
          </p:spPr>
        </p:pic>
        <p:pic>
          <p:nvPicPr>
            <p:cNvPr id="12" name="object 12" descr=""/>
            <p:cNvPicPr/>
            <p:nvPr/>
          </p:nvPicPr>
          <p:blipFill>
            <a:blip r:embed="rId5" cstate="print"/>
            <a:stretch>
              <a:fillRect/>
            </a:stretch>
          </p:blipFill>
          <p:spPr>
            <a:xfrm>
              <a:off x="1597289" y="2683543"/>
              <a:ext cx="209963" cy="199064"/>
            </a:xfrm>
            <a:prstGeom prst="rect">
              <a:avLst/>
            </a:prstGeom>
          </p:spPr>
        </p:pic>
      </p:grpSp>
      <p:grpSp>
        <p:nvGrpSpPr>
          <p:cNvPr id="13" name="object 13" descr=""/>
          <p:cNvGrpSpPr/>
          <p:nvPr/>
        </p:nvGrpSpPr>
        <p:grpSpPr>
          <a:xfrm>
            <a:off x="3266313" y="2412873"/>
            <a:ext cx="955040" cy="882015"/>
            <a:chOff x="3266313" y="2412873"/>
            <a:chExt cx="955040" cy="882015"/>
          </a:xfrm>
        </p:grpSpPr>
        <p:sp>
          <p:nvSpPr>
            <p:cNvPr id="14" name="object 14" descr=""/>
            <p:cNvSpPr/>
            <p:nvPr/>
          </p:nvSpPr>
          <p:spPr>
            <a:xfrm>
              <a:off x="3275838" y="2422398"/>
              <a:ext cx="935990" cy="862965"/>
            </a:xfrm>
            <a:custGeom>
              <a:avLst/>
              <a:gdLst/>
              <a:ahLst/>
              <a:cxnLst/>
              <a:rect l="l" t="t" r="r" b="b"/>
              <a:pathLst>
                <a:path w="935989" h="862964">
                  <a:moveTo>
                    <a:pt x="467867" y="0"/>
                  </a:moveTo>
                  <a:lnTo>
                    <a:pt x="416889" y="2530"/>
                  </a:lnTo>
                  <a:lnTo>
                    <a:pt x="367499" y="9947"/>
                  </a:lnTo>
                  <a:lnTo>
                    <a:pt x="319986" y="21987"/>
                  </a:lnTo>
                  <a:lnTo>
                    <a:pt x="274633" y="38386"/>
                  </a:lnTo>
                  <a:lnTo>
                    <a:pt x="231727" y="58882"/>
                  </a:lnTo>
                  <a:lnTo>
                    <a:pt x="191552" y="83212"/>
                  </a:lnTo>
                  <a:lnTo>
                    <a:pt x="154394" y="111113"/>
                  </a:lnTo>
                  <a:lnTo>
                    <a:pt x="120539" y="142321"/>
                  </a:lnTo>
                  <a:lnTo>
                    <a:pt x="90272" y="176574"/>
                  </a:lnTo>
                  <a:lnTo>
                    <a:pt x="63878" y="213608"/>
                  </a:lnTo>
                  <a:lnTo>
                    <a:pt x="41643" y="253160"/>
                  </a:lnTo>
                  <a:lnTo>
                    <a:pt x="23852" y="294968"/>
                  </a:lnTo>
                  <a:lnTo>
                    <a:pt x="10791" y="338768"/>
                  </a:lnTo>
                  <a:lnTo>
                    <a:pt x="2745" y="384297"/>
                  </a:lnTo>
                  <a:lnTo>
                    <a:pt x="0" y="431291"/>
                  </a:lnTo>
                  <a:lnTo>
                    <a:pt x="2745" y="478286"/>
                  </a:lnTo>
                  <a:lnTo>
                    <a:pt x="10791" y="523815"/>
                  </a:lnTo>
                  <a:lnTo>
                    <a:pt x="23852" y="567615"/>
                  </a:lnTo>
                  <a:lnTo>
                    <a:pt x="41643" y="609423"/>
                  </a:lnTo>
                  <a:lnTo>
                    <a:pt x="63878" y="648975"/>
                  </a:lnTo>
                  <a:lnTo>
                    <a:pt x="90272" y="686009"/>
                  </a:lnTo>
                  <a:lnTo>
                    <a:pt x="120539" y="720262"/>
                  </a:lnTo>
                  <a:lnTo>
                    <a:pt x="154394" y="751470"/>
                  </a:lnTo>
                  <a:lnTo>
                    <a:pt x="191552" y="779371"/>
                  </a:lnTo>
                  <a:lnTo>
                    <a:pt x="231727" y="803701"/>
                  </a:lnTo>
                  <a:lnTo>
                    <a:pt x="274633" y="824197"/>
                  </a:lnTo>
                  <a:lnTo>
                    <a:pt x="319986" y="840596"/>
                  </a:lnTo>
                  <a:lnTo>
                    <a:pt x="367499" y="852636"/>
                  </a:lnTo>
                  <a:lnTo>
                    <a:pt x="416889" y="860053"/>
                  </a:lnTo>
                  <a:lnTo>
                    <a:pt x="467867" y="862584"/>
                  </a:lnTo>
                  <a:lnTo>
                    <a:pt x="518846" y="860053"/>
                  </a:lnTo>
                  <a:lnTo>
                    <a:pt x="568236" y="852636"/>
                  </a:lnTo>
                  <a:lnTo>
                    <a:pt x="615749" y="840596"/>
                  </a:lnTo>
                  <a:lnTo>
                    <a:pt x="661102" y="824197"/>
                  </a:lnTo>
                  <a:lnTo>
                    <a:pt x="704008" y="803701"/>
                  </a:lnTo>
                  <a:lnTo>
                    <a:pt x="744183" y="779371"/>
                  </a:lnTo>
                  <a:lnTo>
                    <a:pt x="781341" y="751470"/>
                  </a:lnTo>
                  <a:lnTo>
                    <a:pt x="815196" y="720262"/>
                  </a:lnTo>
                  <a:lnTo>
                    <a:pt x="845463" y="686009"/>
                  </a:lnTo>
                  <a:lnTo>
                    <a:pt x="871857" y="648975"/>
                  </a:lnTo>
                  <a:lnTo>
                    <a:pt x="894092" y="609423"/>
                  </a:lnTo>
                  <a:lnTo>
                    <a:pt x="911883" y="567615"/>
                  </a:lnTo>
                  <a:lnTo>
                    <a:pt x="924944" y="523815"/>
                  </a:lnTo>
                  <a:lnTo>
                    <a:pt x="932990" y="478286"/>
                  </a:lnTo>
                  <a:lnTo>
                    <a:pt x="935736" y="431291"/>
                  </a:lnTo>
                  <a:lnTo>
                    <a:pt x="932990" y="384297"/>
                  </a:lnTo>
                  <a:lnTo>
                    <a:pt x="924944" y="338768"/>
                  </a:lnTo>
                  <a:lnTo>
                    <a:pt x="911883" y="294968"/>
                  </a:lnTo>
                  <a:lnTo>
                    <a:pt x="894092" y="253160"/>
                  </a:lnTo>
                  <a:lnTo>
                    <a:pt x="871857" y="213608"/>
                  </a:lnTo>
                  <a:lnTo>
                    <a:pt x="845463" y="176574"/>
                  </a:lnTo>
                  <a:lnTo>
                    <a:pt x="815196" y="142321"/>
                  </a:lnTo>
                  <a:lnTo>
                    <a:pt x="781341" y="111113"/>
                  </a:lnTo>
                  <a:lnTo>
                    <a:pt x="744183" y="83212"/>
                  </a:lnTo>
                  <a:lnTo>
                    <a:pt x="704008" y="58882"/>
                  </a:lnTo>
                  <a:lnTo>
                    <a:pt x="661102" y="38386"/>
                  </a:lnTo>
                  <a:lnTo>
                    <a:pt x="615749" y="21987"/>
                  </a:lnTo>
                  <a:lnTo>
                    <a:pt x="568236" y="9947"/>
                  </a:lnTo>
                  <a:lnTo>
                    <a:pt x="518846" y="2530"/>
                  </a:lnTo>
                  <a:lnTo>
                    <a:pt x="467867" y="0"/>
                  </a:lnTo>
                  <a:close/>
                </a:path>
              </a:pathLst>
            </a:custGeom>
            <a:solidFill>
              <a:srgbClr val="C0C0C0"/>
            </a:solidFill>
          </p:spPr>
          <p:txBody>
            <a:bodyPr wrap="square" lIns="0" tIns="0" rIns="0" bIns="0" rtlCol="0"/>
            <a:lstStyle/>
            <a:p/>
          </p:txBody>
        </p:sp>
        <p:sp>
          <p:nvSpPr>
            <p:cNvPr id="15" name="object 15" descr=""/>
            <p:cNvSpPr/>
            <p:nvPr/>
          </p:nvSpPr>
          <p:spPr>
            <a:xfrm>
              <a:off x="3275838" y="2422398"/>
              <a:ext cx="935990" cy="862965"/>
            </a:xfrm>
            <a:custGeom>
              <a:avLst/>
              <a:gdLst/>
              <a:ahLst/>
              <a:cxnLst/>
              <a:rect l="l" t="t" r="r" b="b"/>
              <a:pathLst>
                <a:path w="935989" h="862964">
                  <a:moveTo>
                    <a:pt x="467868" y="0"/>
                  </a:moveTo>
                  <a:lnTo>
                    <a:pt x="518846" y="2530"/>
                  </a:lnTo>
                  <a:lnTo>
                    <a:pt x="568236" y="9947"/>
                  </a:lnTo>
                  <a:lnTo>
                    <a:pt x="615749" y="21987"/>
                  </a:lnTo>
                  <a:lnTo>
                    <a:pt x="661102" y="38386"/>
                  </a:lnTo>
                  <a:lnTo>
                    <a:pt x="704008" y="58882"/>
                  </a:lnTo>
                  <a:lnTo>
                    <a:pt x="744183" y="83212"/>
                  </a:lnTo>
                  <a:lnTo>
                    <a:pt x="781341" y="111113"/>
                  </a:lnTo>
                  <a:lnTo>
                    <a:pt x="815196" y="142321"/>
                  </a:lnTo>
                  <a:lnTo>
                    <a:pt x="845463" y="176574"/>
                  </a:lnTo>
                  <a:lnTo>
                    <a:pt x="871857" y="213608"/>
                  </a:lnTo>
                  <a:lnTo>
                    <a:pt x="894092" y="253160"/>
                  </a:lnTo>
                  <a:lnTo>
                    <a:pt x="911883" y="294968"/>
                  </a:lnTo>
                  <a:lnTo>
                    <a:pt x="924944" y="338768"/>
                  </a:lnTo>
                  <a:lnTo>
                    <a:pt x="932990" y="384297"/>
                  </a:lnTo>
                  <a:lnTo>
                    <a:pt x="935736" y="431292"/>
                  </a:lnTo>
                  <a:lnTo>
                    <a:pt x="932990" y="478286"/>
                  </a:lnTo>
                  <a:lnTo>
                    <a:pt x="924944" y="523815"/>
                  </a:lnTo>
                  <a:lnTo>
                    <a:pt x="911883" y="567615"/>
                  </a:lnTo>
                  <a:lnTo>
                    <a:pt x="894092" y="609423"/>
                  </a:lnTo>
                  <a:lnTo>
                    <a:pt x="871857" y="648975"/>
                  </a:lnTo>
                  <a:lnTo>
                    <a:pt x="845463" y="686009"/>
                  </a:lnTo>
                  <a:lnTo>
                    <a:pt x="815196" y="720262"/>
                  </a:lnTo>
                  <a:lnTo>
                    <a:pt x="781341" y="751470"/>
                  </a:lnTo>
                  <a:lnTo>
                    <a:pt x="744183" y="779371"/>
                  </a:lnTo>
                  <a:lnTo>
                    <a:pt x="704008" y="803701"/>
                  </a:lnTo>
                  <a:lnTo>
                    <a:pt x="661102" y="824197"/>
                  </a:lnTo>
                  <a:lnTo>
                    <a:pt x="615749" y="840596"/>
                  </a:lnTo>
                  <a:lnTo>
                    <a:pt x="568236" y="852636"/>
                  </a:lnTo>
                  <a:lnTo>
                    <a:pt x="518846" y="860053"/>
                  </a:lnTo>
                  <a:lnTo>
                    <a:pt x="467868" y="862584"/>
                  </a:lnTo>
                  <a:lnTo>
                    <a:pt x="416889" y="860053"/>
                  </a:lnTo>
                  <a:lnTo>
                    <a:pt x="367499" y="852636"/>
                  </a:lnTo>
                  <a:lnTo>
                    <a:pt x="319986" y="840596"/>
                  </a:lnTo>
                  <a:lnTo>
                    <a:pt x="274633" y="824197"/>
                  </a:lnTo>
                  <a:lnTo>
                    <a:pt x="231727" y="803701"/>
                  </a:lnTo>
                  <a:lnTo>
                    <a:pt x="191552" y="779371"/>
                  </a:lnTo>
                  <a:lnTo>
                    <a:pt x="154394" y="751470"/>
                  </a:lnTo>
                  <a:lnTo>
                    <a:pt x="120539" y="720262"/>
                  </a:lnTo>
                  <a:lnTo>
                    <a:pt x="90272" y="686009"/>
                  </a:lnTo>
                  <a:lnTo>
                    <a:pt x="63878" y="648975"/>
                  </a:lnTo>
                  <a:lnTo>
                    <a:pt x="41643" y="609423"/>
                  </a:lnTo>
                  <a:lnTo>
                    <a:pt x="23852" y="567615"/>
                  </a:lnTo>
                  <a:lnTo>
                    <a:pt x="10791" y="523815"/>
                  </a:lnTo>
                  <a:lnTo>
                    <a:pt x="2745" y="478286"/>
                  </a:lnTo>
                  <a:lnTo>
                    <a:pt x="0" y="431292"/>
                  </a:lnTo>
                  <a:lnTo>
                    <a:pt x="2745" y="384297"/>
                  </a:lnTo>
                  <a:lnTo>
                    <a:pt x="10791" y="338768"/>
                  </a:lnTo>
                  <a:lnTo>
                    <a:pt x="23852" y="294968"/>
                  </a:lnTo>
                  <a:lnTo>
                    <a:pt x="41643" y="253160"/>
                  </a:lnTo>
                  <a:lnTo>
                    <a:pt x="63878" y="213608"/>
                  </a:lnTo>
                  <a:lnTo>
                    <a:pt x="90272" y="176574"/>
                  </a:lnTo>
                  <a:lnTo>
                    <a:pt x="120539" y="142321"/>
                  </a:lnTo>
                  <a:lnTo>
                    <a:pt x="154394" y="111113"/>
                  </a:lnTo>
                  <a:lnTo>
                    <a:pt x="191552" y="83212"/>
                  </a:lnTo>
                  <a:lnTo>
                    <a:pt x="231727" y="58882"/>
                  </a:lnTo>
                  <a:lnTo>
                    <a:pt x="274633" y="38386"/>
                  </a:lnTo>
                  <a:lnTo>
                    <a:pt x="319986" y="21987"/>
                  </a:lnTo>
                  <a:lnTo>
                    <a:pt x="367499" y="9947"/>
                  </a:lnTo>
                  <a:lnTo>
                    <a:pt x="416889" y="2530"/>
                  </a:lnTo>
                  <a:lnTo>
                    <a:pt x="467868" y="0"/>
                  </a:lnTo>
                  <a:close/>
                </a:path>
              </a:pathLst>
            </a:custGeom>
            <a:ln w="19050">
              <a:solidFill>
                <a:srgbClr val="000000"/>
              </a:solidFill>
            </a:ln>
          </p:spPr>
          <p:txBody>
            <a:bodyPr wrap="square" lIns="0" tIns="0" rIns="0" bIns="0" rtlCol="0"/>
            <a:lstStyle/>
            <a:p/>
          </p:txBody>
        </p:sp>
        <p:pic>
          <p:nvPicPr>
            <p:cNvPr id="16" name="object 16" descr=""/>
            <p:cNvPicPr/>
            <p:nvPr/>
          </p:nvPicPr>
          <p:blipFill>
            <a:blip r:embed="rId6" cstate="print"/>
            <a:stretch>
              <a:fillRect/>
            </a:stretch>
          </p:blipFill>
          <p:spPr>
            <a:xfrm>
              <a:off x="3388121" y="2804199"/>
              <a:ext cx="209542" cy="198982"/>
            </a:xfrm>
            <a:prstGeom prst="rect">
              <a:avLst/>
            </a:prstGeom>
          </p:spPr>
        </p:pic>
        <p:pic>
          <p:nvPicPr>
            <p:cNvPr id="17" name="object 17" descr=""/>
            <p:cNvPicPr/>
            <p:nvPr/>
          </p:nvPicPr>
          <p:blipFill>
            <a:blip r:embed="rId7" cstate="print"/>
            <a:stretch>
              <a:fillRect/>
            </a:stretch>
          </p:blipFill>
          <p:spPr>
            <a:xfrm>
              <a:off x="3530918" y="2506480"/>
              <a:ext cx="209542" cy="198982"/>
            </a:xfrm>
            <a:prstGeom prst="rect">
              <a:avLst/>
            </a:prstGeom>
          </p:spPr>
        </p:pic>
        <p:pic>
          <p:nvPicPr>
            <p:cNvPr id="18" name="object 18" descr=""/>
            <p:cNvPicPr/>
            <p:nvPr/>
          </p:nvPicPr>
          <p:blipFill>
            <a:blip r:embed="rId8" cstate="print"/>
            <a:stretch>
              <a:fillRect/>
            </a:stretch>
          </p:blipFill>
          <p:spPr>
            <a:xfrm>
              <a:off x="3756890" y="2981073"/>
              <a:ext cx="209542" cy="198982"/>
            </a:xfrm>
            <a:prstGeom prst="rect">
              <a:avLst/>
            </a:prstGeom>
          </p:spPr>
        </p:pic>
        <p:pic>
          <p:nvPicPr>
            <p:cNvPr id="19" name="object 19" descr=""/>
            <p:cNvPicPr/>
            <p:nvPr/>
          </p:nvPicPr>
          <p:blipFill>
            <a:blip r:embed="rId9" cstate="print"/>
            <a:stretch>
              <a:fillRect/>
            </a:stretch>
          </p:blipFill>
          <p:spPr>
            <a:xfrm>
              <a:off x="3899687" y="2683354"/>
              <a:ext cx="209542" cy="198982"/>
            </a:xfrm>
            <a:prstGeom prst="rect">
              <a:avLst/>
            </a:prstGeom>
          </p:spPr>
        </p:pic>
      </p:grpSp>
      <p:sp>
        <p:nvSpPr>
          <p:cNvPr id="20" name="object 20" descr=""/>
          <p:cNvSpPr txBox="1"/>
          <p:nvPr/>
        </p:nvSpPr>
        <p:spPr>
          <a:xfrm>
            <a:off x="1836388" y="2221294"/>
            <a:ext cx="1446530" cy="330835"/>
          </a:xfrm>
          <a:prstGeom prst="rect">
            <a:avLst/>
          </a:prstGeom>
        </p:spPr>
        <p:txBody>
          <a:bodyPr wrap="square" lIns="0" tIns="13335" rIns="0" bIns="0" rtlCol="0" vert="horz">
            <a:spAutoFit/>
          </a:bodyPr>
          <a:lstStyle/>
          <a:p>
            <a:pPr marL="12700">
              <a:lnSpc>
                <a:spcPct val="100000"/>
              </a:lnSpc>
              <a:spcBef>
                <a:spcPts val="105"/>
              </a:spcBef>
            </a:pPr>
            <a:r>
              <a:rPr dirty="0" sz="2000">
                <a:latin typeface="Calibri"/>
                <a:cs typeface="Calibri"/>
              </a:rPr>
              <a:t>training</a:t>
            </a:r>
            <a:r>
              <a:rPr dirty="0" sz="2000" spc="-95">
                <a:latin typeface="Calibri"/>
                <a:cs typeface="Calibri"/>
              </a:rPr>
              <a:t> </a:t>
            </a:r>
            <a:r>
              <a:rPr dirty="0" sz="2000" spc="-20">
                <a:latin typeface="Calibri"/>
                <a:cs typeface="Calibri"/>
              </a:rPr>
              <a:t>items</a:t>
            </a:r>
            <a:endParaRPr sz="2000">
              <a:latin typeface="Calibri"/>
              <a:cs typeface="Calibri"/>
            </a:endParaRPr>
          </a:p>
        </p:txBody>
      </p:sp>
      <p:grpSp>
        <p:nvGrpSpPr>
          <p:cNvPr id="21" name="object 21" descr=""/>
          <p:cNvGrpSpPr/>
          <p:nvPr/>
        </p:nvGrpSpPr>
        <p:grpSpPr>
          <a:xfrm>
            <a:off x="677989" y="4216717"/>
            <a:ext cx="1451610" cy="657225"/>
            <a:chOff x="677989" y="4216717"/>
            <a:chExt cx="1451610" cy="657225"/>
          </a:xfrm>
        </p:grpSpPr>
        <p:sp>
          <p:nvSpPr>
            <p:cNvPr id="22" name="object 22" descr=""/>
            <p:cNvSpPr/>
            <p:nvPr/>
          </p:nvSpPr>
          <p:spPr>
            <a:xfrm>
              <a:off x="682751" y="4383404"/>
              <a:ext cx="1280160" cy="485775"/>
            </a:xfrm>
            <a:custGeom>
              <a:avLst/>
              <a:gdLst/>
              <a:ahLst/>
              <a:cxnLst/>
              <a:rect l="l" t="t" r="r" b="b"/>
              <a:pathLst>
                <a:path w="1280160" h="485775">
                  <a:moveTo>
                    <a:pt x="1279779" y="0"/>
                  </a:moveTo>
                  <a:lnTo>
                    <a:pt x="0" y="0"/>
                  </a:lnTo>
                  <a:lnTo>
                    <a:pt x="0" y="485775"/>
                  </a:lnTo>
                  <a:lnTo>
                    <a:pt x="1279779" y="485775"/>
                  </a:lnTo>
                  <a:lnTo>
                    <a:pt x="1279779" y="0"/>
                  </a:lnTo>
                  <a:close/>
                </a:path>
              </a:pathLst>
            </a:custGeom>
            <a:solidFill>
              <a:srgbClr val="66FF99"/>
            </a:solidFill>
          </p:spPr>
          <p:txBody>
            <a:bodyPr wrap="square" lIns="0" tIns="0" rIns="0" bIns="0" rtlCol="0"/>
            <a:lstStyle/>
            <a:p/>
          </p:txBody>
        </p:sp>
        <p:sp>
          <p:nvSpPr>
            <p:cNvPr id="23" name="object 23" descr=""/>
            <p:cNvSpPr/>
            <p:nvPr/>
          </p:nvSpPr>
          <p:spPr>
            <a:xfrm>
              <a:off x="1962530" y="4221479"/>
              <a:ext cx="161925" cy="647700"/>
            </a:xfrm>
            <a:custGeom>
              <a:avLst/>
              <a:gdLst/>
              <a:ahLst/>
              <a:cxnLst/>
              <a:rect l="l" t="t" r="r" b="b"/>
              <a:pathLst>
                <a:path w="161925" h="647700">
                  <a:moveTo>
                    <a:pt x="161925" y="0"/>
                  </a:moveTo>
                  <a:lnTo>
                    <a:pt x="0" y="161925"/>
                  </a:lnTo>
                  <a:lnTo>
                    <a:pt x="0" y="647700"/>
                  </a:lnTo>
                  <a:lnTo>
                    <a:pt x="161925" y="485775"/>
                  </a:lnTo>
                  <a:lnTo>
                    <a:pt x="161925" y="0"/>
                  </a:lnTo>
                  <a:close/>
                </a:path>
              </a:pathLst>
            </a:custGeom>
            <a:solidFill>
              <a:srgbClr val="52CD7B"/>
            </a:solidFill>
          </p:spPr>
          <p:txBody>
            <a:bodyPr wrap="square" lIns="0" tIns="0" rIns="0" bIns="0" rtlCol="0"/>
            <a:lstStyle/>
            <a:p/>
          </p:txBody>
        </p:sp>
        <p:sp>
          <p:nvSpPr>
            <p:cNvPr id="24" name="object 24" descr=""/>
            <p:cNvSpPr/>
            <p:nvPr/>
          </p:nvSpPr>
          <p:spPr>
            <a:xfrm>
              <a:off x="682751" y="4221479"/>
              <a:ext cx="1442085" cy="161925"/>
            </a:xfrm>
            <a:custGeom>
              <a:avLst/>
              <a:gdLst/>
              <a:ahLst/>
              <a:cxnLst/>
              <a:rect l="l" t="t" r="r" b="b"/>
              <a:pathLst>
                <a:path w="1442085" h="161925">
                  <a:moveTo>
                    <a:pt x="1441704" y="0"/>
                  </a:moveTo>
                  <a:lnTo>
                    <a:pt x="161925" y="0"/>
                  </a:lnTo>
                  <a:lnTo>
                    <a:pt x="0" y="161925"/>
                  </a:lnTo>
                  <a:lnTo>
                    <a:pt x="1279779" y="161925"/>
                  </a:lnTo>
                  <a:lnTo>
                    <a:pt x="1441704" y="0"/>
                  </a:lnTo>
                  <a:close/>
                </a:path>
              </a:pathLst>
            </a:custGeom>
            <a:solidFill>
              <a:srgbClr val="84FFAD"/>
            </a:solidFill>
          </p:spPr>
          <p:txBody>
            <a:bodyPr wrap="square" lIns="0" tIns="0" rIns="0" bIns="0" rtlCol="0"/>
            <a:lstStyle/>
            <a:p/>
          </p:txBody>
        </p:sp>
        <p:sp>
          <p:nvSpPr>
            <p:cNvPr id="25" name="object 25" descr=""/>
            <p:cNvSpPr/>
            <p:nvPr/>
          </p:nvSpPr>
          <p:spPr>
            <a:xfrm>
              <a:off x="682751" y="4221479"/>
              <a:ext cx="1442085" cy="647700"/>
            </a:xfrm>
            <a:custGeom>
              <a:avLst/>
              <a:gdLst/>
              <a:ahLst/>
              <a:cxnLst/>
              <a:rect l="l" t="t" r="r" b="b"/>
              <a:pathLst>
                <a:path w="1442085" h="647700">
                  <a:moveTo>
                    <a:pt x="0" y="161925"/>
                  </a:moveTo>
                  <a:lnTo>
                    <a:pt x="161925" y="0"/>
                  </a:lnTo>
                  <a:lnTo>
                    <a:pt x="1441704" y="0"/>
                  </a:lnTo>
                  <a:lnTo>
                    <a:pt x="1441704" y="485775"/>
                  </a:lnTo>
                  <a:lnTo>
                    <a:pt x="1279779" y="647700"/>
                  </a:lnTo>
                  <a:lnTo>
                    <a:pt x="0" y="647700"/>
                  </a:lnTo>
                  <a:lnTo>
                    <a:pt x="0" y="161925"/>
                  </a:lnTo>
                  <a:close/>
                </a:path>
                <a:path w="1442085" h="647700">
                  <a:moveTo>
                    <a:pt x="0" y="161925"/>
                  </a:moveTo>
                  <a:lnTo>
                    <a:pt x="1279779" y="161925"/>
                  </a:lnTo>
                  <a:lnTo>
                    <a:pt x="1441704" y="0"/>
                  </a:lnTo>
                </a:path>
                <a:path w="1442085" h="647700">
                  <a:moveTo>
                    <a:pt x="1279779" y="161925"/>
                  </a:moveTo>
                  <a:lnTo>
                    <a:pt x="1279779" y="647700"/>
                  </a:lnTo>
                </a:path>
              </a:pathLst>
            </a:custGeom>
            <a:ln w="9525">
              <a:solidFill>
                <a:srgbClr val="000000"/>
              </a:solidFill>
            </a:ln>
          </p:spPr>
          <p:txBody>
            <a:bodyPr wrap="square" lIns="0" tIns="0" rIns="0" bIns="0" rtlCol="0"/>
            <a:lstStyle/>
            <a:p/>
          </p:txBody>
        </p:sp>
      </p:grpSp>
      <p:sp>
        <p:nvSpPr>
          <p:cNvPr id="26" name="object 26" descr=""/>
          <p:cNvSpPr txBox="1"/>
          <p:nvPr/>
        </p:nvSpPr>
        <p:spPr>
          <a:xfrm>
            <a:off x="682751" y="4494403"/>
            <a:ext cx="1275080" cy="239395"/>
          </a:xfrm>
          <a:prstGeom prst="rect">
            <a:avLst/>
          </a:prstGeom>
        </p:spPr>
        <p:txBody>
          <a:bodyPr wrap="square" lIns="0" tIns="12700" rIns="0" bIns="0" rtlCol="0" vert="horz">
            <a:spAutoFit/>
          </a:bodyPr>
          <a:lstStyle/>
          <a:p>
            <a:pPr marL="38100">
              <a:lnSpc>
                <a:spcPct val="100000"/>
              </a:lnSpc>
              <a:spcBef>
                <a:spcPts val="100"/>
              </a:spcBef>
            </a:pPr>
            <a:r>
              <a:rPr dirty="0" sz="1400" b="1">
                <a:solidFill>
                  <a:srgbClr val="FF0000"/>
                </a:solidFill>
                <a:latin typeface="Calibri"/>
                <a:cs typeface="Calibri"/>
              </a:rPr>
              <a:t>Learning</a:t>
            </a:r>
            <a:r>
              <a:rPr dirty="0" sz="1400" spc="-45" b="1">
                <a:solidFill>
                  <a:srgbClr val="FF0000"/>
                </a:solidFill>
                <a:latin typeface="Calibri"/>
                <a:cs typeface="Calibri"/>
              </a:rPr>
              <a:t> </a:t>
            </a:r>
            <a:r>
              <a:rPr dirty="0" sz="1400" spc="-10" b="1">
                <a:solidFill>
                  <a:srgbClr val="FF0000"/>
                </a:solidFill>
                <a:latin typeface="Calibri"/>
                <a:cs typeface="Calibri"/>
              </a:rPr>
              <a:t>System</a:t>
            </a:r>
            <a:endParaRPr sz="1400">
              <a:latin typeface="Calibri"/>
              <a:cs typeface="Calibri"/>
            </a:endParaRPr>
          </a:p>
        </p:txBody>
      </p:sp>
      <p:grpSp>
        <p:nvGrpSpPr>
          <p:cNvPr id="27" name="object 27" descr=""/>
          <p:cNvGrpSpPr/>
          <p:nvPr/>
        </p:nvGrpSpPr>
        <p:grpSpPr>
          <a:xfrm>
            <a:off x="1178433" y="3491865"/>
            <a:ext cx="452120" cy="666750"/>
            <a:chOff x="1178433" y="3491865"/>
            <a:chExt cx="452120" cy="666750"/>
          </a:xfrm>
        </p:grpSpPr>
        <p:sp>
          <p:nvSpPr>
            <p:cNvPr id="28" name="object 28" descr=""/>
            <p:cNvSpPr/>
            <p:nvPr/>
          </p:nvSpPr>
          <p:spPr>
            <a:xfrm>
              <a:off x="1187958" y="3501390"/>
              <a:ext cx="433070" cy="647700"/>
            </a:xfrm>
            <a:custGeom>
              <a:avLst/>
              <a:gdLst/>
              <a:ahLst/>
              <a:cxnLst/>
              <a:rect l="l" t="t" r="r" b="b"/>
              <a:pathLst>
                <a:path w="433069" h="647700">
                  <a:moveTo>
                    <a:pt x="324611" y="0"/>
                  </a:moveTo>
                  <a:lnTo>
                    <a:pt x="108203" y="0"/>
                  </a:lnTo>
                  <a:lnTo>
                    <a:pt x="108203" y="485394"/>
                  </a:lnTo>
                  <a:lnTo>
                    <a:pt x="0" y="485394"/>
                  </a:lnTo>
                  <a:lnTo>
                    <a:pt x="216407" y="647700"/>
                  </a:lnTo>
                  <a:lnTo>
                    <a:pt x="432816" y="485394"/>
                  </a:lnTo>
                  <a:lnTo>
                    <a:pt x="324611" y="485394"/>
                  </a:lnTo>
                  <a:lnTo>
                    <a:pt x="324611" y="0"/>
                  </a:lnTo>
                  <a:close/>
                </a:path>
              </a:pathLst>
            </a:custGeom>
            <a:solidFill>
              <a:srgbClr val="993300"/>
            </a:solidFill>
          </p:spPr>
          <p:txBody>
            <a:bodyPr wrap="square" lIns="0" tIns="0" rIns="0" bIns="0" rtlCol="0"/>
            <a:lstStyle/>
            <a:p/>
          </p:txBody>
        </p:sp>
        <p:sp>
          <p:nvSpPr>
            <p:cNvPr id="29" name="object 29" descr=""/>
            <p:cNvSpPr/>
            <p:nvPr/>
          </p:nvSpPr>
          <p:spPr>
            <a:xfrm>
              <a:off x="1187958" y="3501390"/>
              <a:ext cx="433070" cy="647700"/>
            </a:xfrm>
            <a:custGeom>
              <a:avLst/>
              <a:gdLst/>
              <a:ahLst/>
              <a:cxnLst/>
              <a:rect l="l" t="t" r="r" b="b"/>
              <a:pathLst>
                <a:path w="433069" h="647700">
                  <a:moveTo>
                    <a:pt x="324612" y="0"/>
                  </a:moveTo>
                  <a:lnTo>
                    <a:pt x="324612" y="485394"/>
                  </a:lnTo>
                  <a:lnTo>
                    <a:pt x="432816" y="485394"/>
                  </a:lnTo>
                  <a:lnTo>
                    <a:pt x="216408" y="647700"/>
                  </a:lnTo>
                  <a:lnTo>
                    <a:pt x="0" y="485394"/>
                  </a:lnTo>
                  <a:lnTo>
                    <a:pt x="108204" y="485394"/>
                  </a:lnTo>
                  <a:lnTo>
                    <a:pt x="108204" y="0"/>
                  </a:lnTo>
                  <a:lnTo>
                    <a:pt x="324612" y="0"/>
                  </a:lnTo>
                  <a:close/>
                </a:path>
              </a:pathLst>
            </a:custGeom>
            <a:ln w="19050">
              <a:solidFill>
                <a:srgbClr val="000000"/>
              </a:solidFill>
            </a:ln>
          </p:spPr>
          <p:txBody>
            <a:bodyPr wrap="square" lIns="0" tIns="0" rIns="0" bIns="0" rtlCol="0"/>
            <a:lstStyle/>
            <a:p/>
          </p:txBody>
        </p:sp>
      </p:grpSp>
      <p:grpSp>
        <p:nvGrpSpPr>
          <p:cNvPr id="30" name="object 30" descr=""/>
          <p:cNvGrpSpPr/>
          <p:nvPr/>
        </p:nvGrpSpPr>
        <p:grpSpPr>
          <a:xfrm>
            <a:off x="3555872" y="3491865"/>
            <a:ext cx="450850" cy="666750"/>
            <a:chOff x="3555872" y="3491865"/>
            <a:chExt cx="450850" cy="666750"/>
          </a:xfrm>
        </p:grpSpPr>
        <p:sp>
          <p:nvSpPr>
            <p:cNvPr id="31" name="object 31" descr=""/>
            <p:cNvSpPr/>
            <p:nvPr/>
          </p:nvSpPr>
          <p:spPr>
            <a:xfrm>
              <a:off x="3565397" y="3501390"/>
              <a:ext cx="431800" cy="647700"/>
            </a:xfrm>
            <a:custGeom>
              <a:avLst/>
              <a:gdLst/>
              <a:ahLst/>
              <a:cxnLst/>
              <a:rect l="l" t="t" r="r" b="b"/>
              <a:pathLst>
                <a:path w="431800" h="647700">
                  <a:moveTo>
                    <a:pt x="323468" y="0"/>
                  </a:moveTo>
                  <a:lnTo>
                    <a:pt x="107823" y="0"/>
                  </a:lnTo>
                  <a:lnTo>
                    <a:pt x="107823" y="485965"/>
                  </a:lnTo>
                  <a:lnTo>
                    <a:pt x="0" y="485965"/>
                  </a:lnTo>
                  <a:lnTo>
                    <a:pt x="215646" y="647700"/>
                  </a:lnTo>
                  <a:lnTo>
                    <a:pt x="431291" y="485965"/>
                  </a:lnTo>
                  <a:lnTo>
                    <a:pt x="323468" y="485965"/>
                  </a:lnTo>
                  <a:lnTo>
                    <a:pt x="323468" y="0"/>
                  </a:lnTo>
                  <a:close/>
                </a:path>
              </a:pathLst>
            </a:custGeom>
            <a:solidFill>
              <a:srgbClr val="993300"/>
            </a:solidFill>
          </p:spPr>
          <p:txBody>
            <a:bodyPr wrap="square" lIns="0" tIns="0" rIns="0" bIns="0" rtlCol="0"/>
            <a:lstStyle/>
            <a:p/>
          </p:txBody>
        </p:sp>
        <p:sp>
          <p:nvSpPr>
            <p:cNvPr id="32" name="object 32" descr=""/>
            <p:cNvSpPr/>
            <p:nvPr/>
          </p:nvSpPr>
          <p:spPr>
            <a:xfrm>
              <a:off x="3565397" y="3501390"/>
              <a:ext cx="431800" cy="647700"/>
            </a:xfrm>
            <a:custGeom>
              <a:avLst/>
              <a:gdLst/>
              <a:ahLst/>
              <a:cxnLst/>
              <a:rect l="l" t="t" r="r" b="b"/>
              <a:pathLst>
                <a:path w="431800" h="647700">
                  <a:moveTo>
                    <a:pt x="323468" y="0"/>
                  </a:moveTo>
                  <a:lnTo>
                    <a:pt x="323468" y="485965"/>
                  </a:lnTo>
                  <a:lnTo>
                    <a:pt x="431291" y="485965"/>
                  </a:lnTo>
                  <a:lnTo>
                    <a:pt x="215645" y="647700"/>
                  </a:lnTo>
                  <a:lnTo>
                    <a:pt x="0" y="485965"/>
                  </a:lnTo>
                  <a:lnTo>
                    <a:pt x="107822" y="485965"/>
                  </a:lnTo>
                  <a:lnTo>
                    <a:pt x="107822" y="0"/>
                  </a:lnTo>
                  <a:lnTo>
                    <a:pt x="323468" y="0"/>
                  </a:lnTo>
                  <a:close/>
                </a:path>
              </a:pathLst>
            </a:custGeom>
            <a:ln w="19050">
              <a:solidFill>
                <a:srgbClr val="000000"/>
              </a:solidFill>
            </a:ln>
          </p:spPr>
          <p:txBody>
            <a:bodyPr wrap="square" lIns="0" tIns="0" rIns="0" bIns="0" rtlCol="0"/>
            <a:lstStyle/>
            <a:p/>
          </p:txBody>
        </p:sp>
      </p:grpSp>
      <p:grpSp>
        <p:nvGrpSpPr>
          <p:cNvPr id="33" name="object 33" descr=""/>
          <p:cNvGrpSpPr/>
          <p:nvPr/>
        </p:nvGrpSpPr>
        <p:grpSpPr>
          <a:xfrm>
            <a:off x="2982277" y="4216717"/>
            <a:ext cx="1451610" cy="657225"/>
            <a:chOff x="2982277" y="4216717"/>
            <a:chExt cx="1451610" cy="657225"/>
          </a:xfrm>
        </p:grpSpPr>
        <p:sp>
          <p:nvSpPr>
            <p:cNvPr id="34" name="object 34" descr=""/>
            <p:cNvSpPr/>
            <p:nvPr/>
          </p:nvSpPr>
          <p:spPr>
            <a:xfrm>
              <a:off x="2987039" y="4383404"/>
              <a:ext cx="1280160" cy="485775"/>
            </a:xfrm>
            <a:custGeom>
              <a:avLst/>
              <a:gdLst/>
              <a:ahLst/>
              <a:cxnLst/>
              <a:rect l="l" t="t" r="r" b="b"/>
              <a:pathLst>
                <a:path w="1280160" h="485775">
                  <a:moveTo>
                    <a:pt x="1279778" y="0"/>
                  </a:moveTo>
                  <a:lnTo>
                    <a:pt x="0" y="0"/>
                  </a:lnTo>
                  <a:lnTo>
                    <a:pt x="0" y="485775"/>
                  </a:lnTo>
                  <a:lnTo>
                    <a:pt x="1279778" y="485775"/>
                  </a:lnTo>
                  <a:lnTo>
                    <a:pt x="1279778" y="0"/>
                  </a:lnTo>
                  <a:close/>
                </a:path>
              </a:pathLst>
            </a:custGeom>
            <a:solidFill>
              <a:srgbClr val="66FF99"/>
            </a:solidFill>
          </p:spPr>
          <p:txBody>
            <a:bodyPr wrap="square" lIns="0" tIns="0" rIns="0" bIns="0" rtlCol="0"/>
            <a:lstStyle/>
            <a:p/>
          </p:txBody>
        </p:sp>
        <p:sp>
          <p:nvSpPr>
            <p:cNvPr id="35" name="object 35" descr=""/>
            <p:cNvSpPr/>
            <p:nvPr/>
          </p:nvSpPr>
          <p:spPr>
            <a:xfrm>
              <a:off x="4266818" y="4221479"/>
              <a:ext cx="161925" cy="647700"/>
            </a:xfrm>
            <a:custGeom>
              <a:avLst/>
              <a:gdLst/>
              <a:ahLst/>
              <a:cxnLst/>
              <a:rect l="l" t="t" r="r" b="b"/>
              <a:pathLst>
                <a:path w="161925" h="647700">
                  <a:moveTo>
                    <a:pt x="161925" y="0"/>
                  </a:moveTo>
                  <a:lnTo>
                    <a:pt x="0" y="161925"/>
                  </a:lnTo>
                  <a:lnTo>
                    <a:pt x="0" y="647700"/>
                  </a:lnTo>
                  <a:lnTo>
                    <a:pt x="161925" y="485775"/>
                  </a:lnTo>
                  <a:lnTo>
                    <a:pt x="161925" y="0"/>
                  </a:lnTo>
                  <a:close/>
                </a:path>
              </a:pathLst>
            </a:custGeom>
            <a:solidFill>
              <a:srgbClr val="52CD7B"/>
            </a:solidFill>
          </p:spPr>
          <p:txBody>
            <a:bodyPr wrap="square" lIns="0" tIns="0" rIns="0" bIns="0" rtlCol="0"/>
            <a:lstStyle/>
            <a:p/>
          </p:txBody>
        </p:sp>
        <p:sp>
          <p:nvSpPr>
            <p:cNvPr id="36" name="object 36" descr=""/>
            <p:cNvSpPr/>
            <p:nvPr/>
          </p:nvSpPr>
          <p:spPr>
            <a:xfrm>
              <a:off x="2987039" y="4221479"/>
              <a:ext cx="1442085" cy="161925"/>
            </a:xfrm>
            <a:custGeom>
              <a:avLst/>
              <a:gdLst/>
              <a:ahLst/>
              <a:cxnLst/>
              <a:rect l="l" t="t" r="r" b="b"/>
              <a:pathLst>
                <a:path w="1442085" h="161925">
                  <a:moveTo>
                    <a:pt x="1441704" y="0"/>
                  </a:moveTo>
                  <a:lnTo>
                    <a:pt x="161925" y="0"/>
                  </a:lnTo>
                  <a:lnTo>
                    <a:pt x="0" y="161925"/>
                  </a:lnTo>
                  <a:lnTo>
                    <a:pt x="1279779" y="161925"/>
                  </a:lnTo>
                  <a:lnTo>
                    <a:pt x="1441704" y="0"/>
                  </a:lnTo>
                  <a:close/>
                </a:path>
              </a:pathLst>
            </a:custGeom>
            <a:solidFill>
              <a:srgbClr val="84FFAD"/>
            </a:solidFill>
          </p:spPr>
          <p:txBody>
            <a:bodyPr wrap="square" lIns="0" tIns="0" rIns="0" bIns="0" rtlCol="0"/>
            <a:lstStyle/>
            <a:p/>
          </p:txBody>
        </p:sp>
        <p:sp>
          <p:nvSpPr>
            <p:cNvPr id="37" name="object 37" descr=""/>
            <p:cNvSpPr/>
            <p:nvPr/>
          </p:nvSpPr>
          <p:spPr>
            <a:xfrm>
              <a:off x="2987039" y="4221479"/>
              <a:ext cx="1442085" cy="647700"/>
            </a:xfrm>
            <a:custGeom>
              <a:avLst/>
              <a:gdLst/>
              <a:ahLst/>
              <a:cxnLst/>
              <a:rect l="l" t="t" r="r" b="b"/>
              <a:pathLst>
                <a:path w="1442085" h="647700">
                  <a:moveTo>
                    <a:pt x="0" y="161925"/>
                  </a:moveTo>
                  <a:lnTo>
                    <a:pt x="161925" y="0"/>
                  </a:lnTo>
                  <a:lnTo>
                    <a:pt x="1441704" y="0"/>
                  </a:lnTo>
                  <a:lnTo>
                    <a:pt x="1441704" y="485775"/>
                  </a:lnTo>
                  <a:lnTo>
                    <a:pt x="1279779" y="647700"/>
                  </a:lnTo>
                  <a:lnTo>
                    <a:pt x="0" y="647700"/>
                  </a:lnTo>
                  <a:lnTo>
                    <a:pt x="0" y="161925"/>
                  </a:lnTo>
                  <a:close/>
                </a:path>
                <a:path w="1442085" h="647700">
                  <a:moveTo>
                    <a:pt x="0" y="161925"/>
                  </a:moveTo>
                  <a:lnTo>
                    <a:pt x="1279779" y="161925"/>
                  </a:lnTo>
                  <a:lnTo>
                    <a:pt x="1441704" y="0"/>
                  </a:lnTo>
                </a:path>
                <a:path w="1442085" h="647700">
                  <a:moveTo>
                    <a:pt x="1279779" y="161925"/>
                  </a:moveTo>
                  <a:lnTo>
                    <a:pt x="1279779" y="647700"/>
                  </a:lnTo>
                </a:path>
              </a:pathLst>
            </a:custGeom>
            <a:ln w="9525">
              <a:solidFill>
                <a:srgbClr val="000000"/>
              </a:solidFill>
            </a:ln>
          </p:spPr>
          <p:txBody>
            <a:bodyPr wrap="square" lIns="0" tIns="0" rIns="0" bIns="0" rtlCol="0"/>
            <a:lstStyle/>
            <a:p/>
          </p:txBody>
        </p:sp>
      </p:grpSp>
      <p:sp>
        <p:nvSpPr>
          <p:cNvPr id="38" name="object 38" descr=""/>
          <p:cNvSpPr txBox="1"/>
          <p:nvPr/>
        </p:nvSpPr>
        <p:spPr>
          <a:xfrm>
            <a:off x="2987039" y="4494403"/>
            <a:ext cx="1275080" cy="239395"/>
          </a:xfrm>
          <a:prstGeom prst="rect">
            <a:avLst/>
          </a:prstGeom>
        </p:spPr>
        <p:txBody>
          <a:bodyPr wrap="square" lIns="0" tIns="12700" rIns="0" bIns="0" rtlCol="0" vert="horz">
            <a:spAutoFit/>
          </a:bodyPr>
          <a:lstStyle/>
          <a:p>
            <a:pPr marL="39370">
              <a:lnSpc>
                <a:spcPct val="100000"/>
              </a:lnSpc>
              <a:spcBef>
                <a:spcPts val="100"/>
              </a:spcBef>
            </a:pPr>
            <a:r>
              <a:rPr dirty="0" sz="1400" b="1">
                <a:solidFill>
                  <a:srgbClr val="FF0000"/>
                </a:solidFill>
                <a:latin typeface="Calibri"/>
                <a:cs typeface="Calibri"/>
              </a:rPr>
              <a:t>Learning</a:t>
            </a:r>
            <a:r>
              <a:rPr dirty="0" sz="1400" spc="-45" b="1">
                <a:solidFill>
                  <a:srgbClr val="FF0000"/>
                </a:solidFill>
                <a:latin typeface="Calibri"/>
                <a:cs typeface="Calibri"/>
              </a:rPr>
              <a:t> </a:t>
            </a:r>
            <a:r>
              <a:rPr dirty="0" sz="1400" spc="-10" b="1">
                <a:solidFill>
                  <a:srgbClr val="FF0000"/>
                </a:solidFill>
                <a:latin typeface="Calibri"/>
                <a:cs typeface="Calibri"/>
              </a:rPr>
              <a:t>System</a:t>
            </a:r>
            <a:endParaRPr sz="1400">
              <a:latin typeface="Calibri"/>
              <a:cs typeface="Calibri"/>
            </a:endParaRPr>
          </a:p>
        </p:txBody>
      </p:sp>
      <p:grpSp>
        <p:nvGrpSpPr>
          <p:cNvPr id="39" name="object 39" descr=""/>
          <p:cNvGrpSpPr/>
          <p:nvPr/>
        </p:nvGrpSpPr>
        <p:grpSpPr>
          <a:xfrm>
            <a:off x="4994528" y="2484501"/>
            <a:ext cx="955040" cy="883285"/>
            <a:chOff x="4994528" y="2484501"/>
            <a:chExt cx="955040" cy="883285"/>
          </a:xfrm>
        </p:grpSpPr>
        <p:sp>
          <p:nvSpPr>
            <p:cNvPr id="40" name="object 40" descr=""/>
            <p:cNvSpPr/>
            <p:nvPr/>
          </p:nvSpPr>
          <p:spPr>
            <a:xfrm>
              <a:off x="5004053" y="2494026"/>
              <a:ext cx="935990" cy="864235"/>
            </a:xfrm>
            <a:custGeom>
              <a:avLst/>
              <a:gdLst/>
              <a:ahLst/>
              <a:cxnLst/>
              <a:rect l="l" t="t" r="r" b="b"/>
              <a:pathLst>
                <a:path w="935989" h="864235">
                  <a:moveTo>
                    <a:pt x="467868" y="0"/>
                  </a:moveTo>
                  <a:lnTo>
                    <a:pt x="416889" y="2535"/>
                  </a:lnTo>
                  <a:lnTo>
                    <a:pt x="367499" y="9965"/>
                  </a:lnTo>
                  <a:lnTo>
                    <a:pt x="319986" y="22026"/>
                  </a:lnTo>
                  <a:lnTo>
                    <a:pt x="274633" y="38454"/>
                  </a:lnTo>
                  <a:lnTo>
                    <a:pt x="231727" y="58987"/>
                  </a:lnTo>
                  <a:lnTo>
                    <a:pt x="191552" y="83360"/>
                  </a:lnTo>
                  <a:lnTo>
                    <a:pt x="154394" y="111310"/>
                  </a:lnTo>
                  <a:lnTo>
                    <a:pt x="120539" y="142573"/>
                  </a:lnTo>
                  <a:lnTo>
                    <a:pt x="90272" y="176887"/>
                  </a:lnTo>
                  <a:lnTo>
                    <a:pt x="63878" y="213986"/>
                  </a:lnTo>
                  <a:lnTo>
                    <a:pt x="41643" y="253608"/>
                  </a:lnTo>
                  <a:lnTo>
                    <a:pt x="23852" y="295490"/>
                  </a:lnTo>
                  <a:lnTo>
                    <a:pt x="10791" y="339367"/>
                  </a:lnTo>
                  <a:lnTo>
                    <a:pt x="2745" y="384976"/>
                  </a:lnTo>
                  <a:lnTo>
                    <a:pt x="0" y="432053"/>
                  </a:lnTo>
                  <a:lnTo>
                    <a:pt x="2745" y="479131"/>
                  </a:lnTo>
                  <a:lnTo>
                    <a:pt x="10791" y="524740"/>
                  </a:lnTo>
                  <a:lnTo>
                    <a:pt x="23852" y="568617"/>
                  </a:lnTo>
                  <a:lnTo>
                    <a:pt x="41643" y="610499"/>
                  </a:lnTo>
                  <a:lnTo>
                    <a:pt x="63878" y="650121"/>
                  </a:lnTo>
                  <a:lnTo>
                    <a:pt x="90272" y="687220"/>
                  </a:lnTo>
                  <a:lnTo>
                    <a:pt x="120539" y="721534"/>
                  </a:lnTo>
                  <a:lnTo>
                    <a:pt x="154394" y="752797"/>
                  </a:lnTo>
                  <a:lnTo>
                    <a:pt x="191552" y="780747"/>
                  </a:lnTo>
                  <a:lnTo>
                    <a:pt x="231727" y="805120"/>
                  </a:lnTo>
                  <a:lnTo>
                    <a:pt x="274633" y="825653"/>
                  </a:lnTo>
                  <a:lnTo>
                    <a:pt x="319986" y="842081"/>
                  </a:lnTo>
                  <a:lnTo>
                    <a:pt x="367499" y="854142"/>
                  </a:lnTo>
                  <a:lnTo>
                    <a:pt x="416889" y="861572"/>
                  </a:lnTo>
                  <a:lnTo>
                    <a:pt x="467868" y="864108"/>
                  </a:lnTo>
                  <a:lnTo>
                    <a:pt x="518846" y="861572"/>
                  </a:lnTo>
                  <a:lnTo>
                    <a:pt x="568236" y="854142"/>
                  </a:lnTo>
                  <a:lnTo>
                    <a:pt x="615749" y="842081"/>
                  </a:lnTo>
                  <a:lnTo>
                    <a:pt x="661102" y="825653"/>
                  </a:lnTo>
                  <a:lnTo>
                    <a:pt x="704008" y="805120"/>
                  </a:lnTo>
                  <a:lnTo>
                    <a:pt x="744183" y="780747"/>
                  </a:lnTo>
                  <a:lnTo>
                    <a:pt x="781341" y="752797"/>
                  </a:lnTo>
                  <a:lnTo>
                    <a:pt x="815196" y="721534"/>
                  </a:lnTo>
                  <a:lnTo>
                    <a:pt x="845463" y="687220"/>
                  </a:lnTo>
                  <a:lnTo>
                    <a:pt x="871857" y="650121"/>
                  </a:lnTo>
                  <a:lnTo>
                    <a:pt x="894092" y="610499"/>
                  </a:lnTo>
                  <a:lnTo>
                    <a:pt x="911883" y="568617"/>
                  </a:lnTo>
                  <a:lnTo>
                    <a:pt x="924944" y="524740"/>
                  </a:lnTo>
                  <a:lnTo>
                    <a:pt x="932990" y="479131"/>
                  </a:lnTo>
                  <a:lnTo>
                    <a:pt x="935736" y="432053"/>
                  </a:lnTo>
                  <a:lnTo>
                    <a:pt x="932990" y="384976"/>
                  </a:lnTo>
                  <a:lnTo>
                    <a:pt x="924944" y="339367"/>
                  </a:lnTo>
                  <a:lnTo>
                    <a:pt x="911883" y="295490"/>
                  </a:lnTo>
                  <a:lnTo>
                    <a:pt x="894092" y="253608"/>
                  </a:lnTo>
                  <a:lnTo>
                    <a:pt x="871857" y="213986"/>
                  </a:lnTo>
                  <a:lnTo>
                    <a:pt x="845463" y="176887"/>
                  </a:lnTo>
                  <a:lnTo>
                    <a:pt x="815196" y="142573"/>
                  </a:lnTo>
                  <a:lnTo>
                    <a:pt x="781341" y="111310"/>
                  </a:lnTo>
                  <a:lnTo>
                    <a:pt x="744183" y="83360"/>
                  </a:lnTo>
                  <a:lnTo>
                    <a:pt x="704008" y="58987"/>
                  </a:lnTo>
                  <a:lnTo>
                    <a:pt x="661102" y="38454"/>
                  </a:lnTo>
                  <a:lnTo>
                    <a:pt x="615749" y="22026"/>
                  </a:lnTo>
                  <a:lnTo>
                    <a:pt x="568236" y="9965"/>
                  </a:lnTo>
                  <a:lnTo>
                    <a:pt x="518846" y="2535"/>
                  </a:lnTo>
                  <a:lnTo>
                    <a:pt x="467868" y="0"/>
                  </a:lnTo>
                  <a:close/>
                </a:path>
              </a:pathLst>
            </a:custGeom>
            <a:solidFill>
              <a:srgbClr val="C0C0C0"/>
            </a:solidFill>
          </p:spPr>
          <p:txBody>
            <a:bodyPr wrap="square" lIns="0" tIns="0" rIns="0" bIns="0" rtlCol="0"/>
            <a:lstStyle/>
            <a:p/>
          </p:txBody>
        </p:sp>
        <p:sp>
          <p:nvSpPr>
            <p:cNvPr id="41" name="object 41" descr=""/>
            <p:cNvSpPr/>
            <p:nvPr/>
          </p:nvSpPr>
          <p:spPr>
            <a:xfrm>
              <a:off x="5004053" y="2494026"/>
              <a:ext cx="935990" cy="864235"/>
            </a:xfrm>
            <a:custGeom>
              <a:avLst/>
              <a:gdLst/>
              <a:ahLst/>
              <a:cxnLst/>
              <a:rect l="l" t="t" r="r" b="b"/>
              <a:pathLst>
                <a:path w="935989" h="864235">
                  <a:moveTo>
                    <a:pt x="467868" y="0"/>
                  </a:moveTo>
                  <a:lnTo>
                    <a:pt x="518846" y="2535"/>
                  </a:lnTo>
                  <a:lnTo>
                    <a:pt x="568236" y="9965"/>
                  </a:lnTo>
                  <a:lnTo>
                    <a:pt x="615749" y="22026"/>
                  </a:lnTo>
                  <a:lnTo>
                    <a:pt x="661102" y="38454"/>
                  </a:lnTo>
                  <a:lnTo>
                    <a:pt x="704008" y="58987"/>
                  </a:lnTo>
                  <a:lnTo>
                    <a:pt x="744183" y="83360"/>
                  </a:lnTo>
                  <a:lnTo>
                    <a:pt x="781341" y="111310"/>
                  </a:lnTo>
                  <a:lnTo>
                    <a:pt x="815196" y="142573"/>
                  </a:lnTo>
                  <a:lnTo>
                    <a:pt x="845463" y="176887"/>
                  </a:lnTo>
                  <a:lnTo>
                    <a:pt x="871857" y="213986"/>
                  </a:lnTo>
                  <a:lnTo>
                    <a:pt x="894092" y="253608"/>
                  </a:lnTo>
                  <a:lnTo>
                    <a:pt x="911883" y="295490"/>
                  </a:lnTo>
                  <a:lnTo>
                    <a:pt x="924944" y="339367"/>
                  </a:lnTo>
                  <a:lnTo>
                    <a:pt x="932990" y="384976"/>
                  </a:lnTo>
                  <a:lnTo>
                    <a:pt x="935736" y="432054"/>
                  </a:lnTo>
                  <a:lnTo>
                    <a:pt x="932990" y="479131"/>
                  </a:lnTo>
                  <a:lnTo>
                    <a:pt x="924944" y="524740"/>
                  </a:lnTo>
                  <a:lnTo>
                    <a:pt x="911883" y="568617"/>
                  </a:lnTo>
                  <a:lnTo>
                    <a:pt x="894092" y="610499"/>
                  </a:lnTo>
                  <a:lnTo>
                    <a:pt x="871857" y="650121"/>
                  </a:lnTo>
                  <a:lnTo>
                    <a:pt x="845463" y="687220"/>
                  </a:lnTo>
                  <a:lnTo>
                    <a:pt x="815196" y="721534"/>
                  </a:lnTo>
                  <a:lnTo>
                    <a:pt x="781341" y="752797"/>
                  </a:lnTo>
                  <a:lnTo>
                    <a:pt x="744183" y="780747"/>
                  </a:lnTo>
                  <a:lnTo>
                    <a:pt x="704008" y="805120"/>
                  </a:lnTo>
                  <a:lnTo>
                    <a:pt x="661102" y="825653"/>
                  </a:lnTo>
                  <a:lnTo>
                    <a:pt x="615749" y="842081"/>
                  </a:lnTo>
                  <a:lnTo>
                    <a:pt x="568236" y="854142"/>
                  </a:lnTo>
                  <a:lnTo>
                    <a:pt x="518846" y="861572"/>
                  </a:lnTo>
                  <a:lnTo>
                    <a:pt x="467868" y="864108"/>
                  </a:lnTo>
                  <a:lnTo>
                    <a:pt x="416889" y="861572"/>
                  </a:lnTo>
                  <a:lnTo>
                    <a:pt x="367499" y="854142"/>
                  </a:lnTo>
                  <a:lnTo>
                    <a:pt x="319986" y="842081"/>
                  </a:lnTo>
                  <a:lnTo>
                    <a:pt x="274633" y="825653"/>
                  </a:lnTo>
                  <a:lnTo>
                    <a:pt x="231727" y="805120"/>
                  </a:lnTo>
                  <a:lnTo>
                    <a:pt x="191552" y="780747"/>
                  </a:lnTo>
                  <a:lnTo>
                    <a:pt x="154394" y="752797"/>
                  </a:lnTo>
                  <a:lnTo>
                    <a:pt x="120539" y="721534"/>
                  </a:lnTo>
                  <a:lnTo>
                    <a:pt x="90272" y="687220"/>
                  </a:lnTo>
                  <a:lnTo>
                    <a:pt x="63878" y="650121"/>
                  </a:lnTo>
                  <a:lnTo>
                    <a:pt x="41643" y="610499"/>
                  </a:lnTo>
                  <a:lnTo>
                    <a:pt x="23852" y="568617"/>
                  </a:lnTo>
                  <a:lnTo>
                    <a:pt x="10791" y="524740"/>
                  </a:lnTo>
                  <a:lnTo>
                    <a:pt x="2745" y="479131"/>
                  </a:lnTo>
                  <a:lnTo>
                    <a:pt x="0" y="432054"/>
                  </a:lnTo>
                  <a:lnTo>
                    <a:pt x="2745" y="384976"/>
                  </a:lnTo>
                  <a:lnTo>
                    <a:pt x="10791" y="339367"/>
                  </a:lnTo>
                  <a:lnTo>
                    <a:pt x="23852" y="295490"/>
                  </a:lnTo>
                  <a:lnTo>
                    <a:pt x="41643" y="253608"/>
                  </a:lnTo>
                  <a:lnTo>
                    <a:pt x="63878" y="213986"/>
                  </a:lnTo>
                  <a:lnTo>
                    <a:pt x="90272" y="176887"/>
                  </a:lnTo>
                  <a:lnTo>
                    <a:pt x="120539" y="142573"/>
                  </a:lnTo>
                  <a:lnTo>
                    <a:pt x="154394" y="111310"/>
                  </a:lnTo>
                  <a:lnTo>
                    <a:pt x="191552" y="83360"/>
                  </a:lnTo>
                  <a:lnTo>
                    <a:pt x="231727" y="58987"/>
                  </a:lnTo>
                  <a:lnTo>
                    <a:pt x="274633" y="38454"/>
                  </a:lnTo>
                  <a:lnTo>
                    <a:pt x="319986" y="22026"/>
                  </a:lnTo>
                  <a:lnTo>
                    <a:pt x="367499" y="9965"/>
                  </a:lnTo>
                  <a:lnTo>
                    <a:pt x="416889" y="2535"/>
                  </a:lnTo>
                  <a:lnTo>
                    <a:pt x="467868" y="0"/>
                  </a:lnTo>
                  <a:close/>
                </a:path>
              </a:pathLst>
            </a:custGeom>
            <a:ln w="19050">
              <a:solidFill>
                <a:srgbClr val="000000"/>
              </a:solidFill>
            </a:ln>
          </p:spPr>
          <p:txBody>
            <a:bodyPr wrap="square" lIns="0" tIns="0" rIns="0" bIns="0" rtlCol="0"/>
            <a:lstStyle/>
            <a:p/>
          </p:txBody>
        </p:sp>
        <p:pic>
          <p:nvPicPr>
            <p:cNvPr id="42" name="object 42" descr=""/>
            <p:cNvPicPr/>
            <p:nvPr/>
          </p:nvPicPr>
          <p:blipFill>
            <a:blip r:embed="rId10" cstate="print"/>
            <a:stretch>
              <a:fillRect/>
            </a:stretch>
          </p:blipFill>
          <p:spPr>
            <a:xfrm>
              <a:off x="5117005" y="2875358"/>
              <a:ext cx="209963" cy="199064"/>
            </a:xfrm>
            <a:prstGeom prst="rect">
              <a:avLst/>
            </a:prstGeom>
          </p:spPr>
        </p:pic>
        <p:pic>
          <p:nvPicPr>
            <p:cNvPr id="43" name="object 43" descr=""/>
            <p:cNvPicPr/>
            <p:nvPr/>
          </p:nvPicPr>
          <p:blipFill>
            <a:blip r:embed="rId10" cstate="print"/>
            <a:stretch>
              <a:fillRect/>
            </a:stretch>
          </p:blipFill>
          <p:spPr>
            <a:xfrm>
              <a:off x="5259801" y="2577640"/>
              <a:ext cx="209963" cy="199064"/>
            </a:xfrm>
            <a:prstGeom prst="rect">
              <a:avLst/>
            </a:prstGeom>
          </p:spPr>
        </p:pic>
        <p:pic>
          <p:nvPicPr>
            <p:cNvPr id="44" name="object 44" descr=""/>
            <p:cNvPicPr/>
            <p:nvPr/>
          </p:nvPicPr>
          <p:blipFill>
            <a:blip r:embed="rId4" cstate="print"/>
            <a:stretch>
              <a:fillRect/>
            </a:stretch>
          </p:blipFill>
          <p:spPr>
            <a:xfrm>
              <a:off x="5486743" y="3052699"/>
              <a:ext cx="209963" cy="199064"/>
            </a:xfrm>
            <a:prstGeom prst="rect">
              <a:avLst/>
            </a:prstGeom>
          </p:spPr>
        </p:pic>
        <p:pic>
          <p:nvPicPr>
            <p:cNvPr id="45" name="object 45" descr=""/>
            <p:cNvPicPr/>
            <p:nvPr/>
          </p:nvPicPr>
          <p:blipFill>
            <a:blip r:embed="rId4" cstate="print"/>
            <a:stretch>
              <a:fillRect/>
            </a:stretch>
          </p:blipFill>
          <p:spPr>
            <a:xfrm>
              <a:off x="5629540" y="2754979"/>
              <a:ext cx="209963" cy="199064"/>
            </a:xfrm>
            <a:prstGeom prst="rect">
              <a:avLst/>
            </a:prstGeom>
          </p:spPr>
        </p:pic>
      </p:grpSp>
      <p:sp>
        <p:nvSpPr>
          <p:cNvPr id="46" name="object 46" descr=""/>
          <p:cNvSpPr txBox="1"/>
          <p:nvPr/>
        </p:nvSpPr>
        <p:spPr>
          <a:xfrm>
            <a:off x="5868638" y="2292731"/>
            <a:ext cx="1446530" cy="330835"/>
          </a:xfrm>
          <a:prstGeom prst="rect">
            <a:avLst/>
          </a:prstGeom>
        </p:spPr>
        <p:txBody>
          <a:bodyPr wrap="square" lIns="0" tIns="13335" rIns="0" bIns="0" rtlCol="0" vert="horz">
            <a:spAutoFit/>
          </a:bodyPr>
          <a:lstStyle/>
          <a:p>
            <a:pPr marL="12700">
              <a:lnSpc>
                <a:spcPct val="100000"/>
              </a:lnSpc>
              <a:spcBef>
                <a:spcPts val="105"/>
              </a:spcBef>
            </a:pPr>
            <a:r>
              <a:rPr dirty="0" sz="2000">
                <a:latin typeface="Calibri"/>
                <a:cs typeface="Calibri"/>
              </a:rPr>
              <a:t>training</a:t>
            </a:r>
            <a:r>
              <a:rPr dirty="0" sz="2000" spc="-95">
                <a:latin typeface="Calibri"/>
                <a:cs typeface="Calibri"/>
              </a:rPr>
              <a:t> </a:t>
            </a:r>
            <a:r>
              <a:rPr dirty="0" sz="2000" spc="-20">
                <a:latin typeface="Calibri"/>
                <a:cs typeface="Calibri"/>
              </a:rPr>
              <a:t>items</a:t>
            </a:r>
            <a:endParaRPr sz="2000">
              <a:latin typeface="Calibri"/>
              <a:cs typeface="Calibri"/>
            </a:endParaRPr>
          </a:p>
        </p:txBody>
      </p:sp>
      <p:grpSp>
        <p:nvGrpSpPr>
          <p:cNvPr id="47" name="object 47" descr=""/>
          <p:cNvGrpSpPr/>
          <p:nvPr/>
        </p:nvGrpSpPr>
        <p:grpSpPr>
          <a:xfrm>
            <a:off x="4853749" y="4216718"/>
            <a:ext cx="1449705" cy="657225"/>
            <a:chOff x="4853749" y="4216718"/>
            <a:chExt cx="1449705" cy="657225"/>
          </a:xfrm>
        </p:grpSpPr>
        <p:sp>
          <p:nvSpPr>
            <p:cNvPr id="48" name="object 48" descr=""/>
            <p:cNvSpPr/>
            <p:nvPr/>
          </p:nvSpPr>
          <p:spPr>
            <a:xfrm>
              <a:off x="4858511" y="4383404"/>
              <a:ext cx="1278255" cy="485775"/>
            </a:xfrm>
            <a:custGeom>
              <a:avLst/>
              <a:gdLst/>
              <a:ahLst/>
              <a:cxnLst/>
              <a:rect l="l" t="t" r="r" b="b"/>
              <a:pathLst>
                <a:path w="1278254" h="485775">
                  <a:moveTo>
                    <a:pt x="1278255" y="0"/>
                  </a:moveTo>
                  <a:lnTo>
                    <a:pt x="0" y="0"/>
                  </a:lnTo>
                  <a:lnTo>
                    <a:pt x="0" y="485775"/>
                  </a:lnTo>
                  <a:lnTo>
                    <a:pt x="1278255" y="485775"/>
                  </a:lnTo>
                  <a:lnTo>
                    <a:pt x="1278255" y="0"/>
                  </a:lnTo>
                  <a:close/>
                </a:path>
              </a:pathLst>
            </a:custGeom>
            <a:solidFill>
              <a:srgbClr val="66FF99"/>
            </a:solidFill>
          </p:spPr>
          <p:txBody>
            <a:bodyPr wrap="square" lIns="0" tIns="0" rIns="0" bIns="0" rtlCol="0"/>
            <a:lstStyle/>
            <a:p/>
          </p:txBody>
        </p:sp>
        <p:sp>
          <p:nvSpPr>
            <p:cNvPr id="49" name="object 49" descr=""/>
            <p:cNvSpPr/>
            <p:nvPr/>
          </p:nvSpPr>
          <p:spPr>
            <a:xfrm>
              <a:off x="6136768" y="4221481"/>
              <a:ext cx="161925" cy="647700"/>
            </a:xfrm>
            <a:custGeom>
              <a:avLst/>
              <a:gdLst/>
              <a:ahLst/>
              <a:cxnLst/>
              <a:rect l="l" t="t" r="r" b="b"/>
              <a:pathLst>
                <a:path w="161925" h="647700">
                  <a:moveTo>
                    <a:pt x="161925" y="0"/>
                  </a:moveTo>
                  <a:lnTo>
                    <a:pt x="0" y="161925"/>
                  </a:lnTo>
                  <a:lnTo>
                    <a:pt x="0" y="647700"/>
                  </a:lnTo>
                  <a:lnTo>
                    <a:pt x="161925" y="485775"/>
                  </a:lnTo>
                  <a:lnTo>
                    <a:pt x="161925" y="0"/>
                  </a:lnTo>
                  <a:close/>
                </a:path>
              </a:pathLst>
            </a:custGeom>
            <a:solidFill>
              <a:srgbClr val="52CD7B"/>
            </a:solidFill>
          </p:spPr>
          <p:txBody>
            <a:bodyPr wrap="square" lIns="0" tIns="0" rIns="0" bIns="0" rtlCol="0"/>
            <a:lstStyle/>
            <a:p/>
          </p:txBody>
        </p:sp>
        <p:sp>
          <p:nvSpPr>
            <p:cNvPr id="50" name="object 50" descr=""/>
            <p:cNvSpPr/>
            <p:nvPr/>
          </p:nvSpPr>
          <p:spPr>
            <a:xfrm>
              <a:off x="4858511" y="4221481"/>
              <a:ext cx="1440180" cy="161925"/>
            </a:xfrm>
            <a:custGeom>
              <a:avLst/>
              <a:gdLst/>
              <a:ahLst/>
              <a:cxnLst/>
              <a:rect l="l" t="t" r="r" b="b"/>
              <a:pathLst>
                <a:path w="1440179" h="161925">
                  <a:moveTo>
                    <a:pt x="1440179" y="0"/>
                  </a:moveTo>
                  <a:lnTo>
                    <a:pt x="161925" y="0"/>
                  </a:lnTo>
                  <a:lnTo>
                    <a:pt x="0" y="161925"/>
                  </a:lnTo>
                  <a:lnTo>
                    <a:pt x="1278254" y="161925"/>
                  </a:lnTo>
                  <a:lnTo>
                    <a:pt x="1440179" y="0"/>
                  </a:lnTo>
                  <a:close/>
                </a:path>
              </a:pathLst>
            </a:custGeom>
            <a:solidFill>
              <a:srgbClr val="84FFAD"/>
            </a:solidFill>
          </p:spPr>
          <p:txBody>
            <a:bodyPr wrap="square" lIns="0" tIns="0" rIns="0" bIns="0" rtlCol="0"/>
            <a:lstStyle/>
            <a:p/>
          </p:txBody>
        </p:sp>
        <p:sp>
          <p:nvSpPr>
            <p:cNvPr id="51" name="object 51" descr=""/>
            <p:cNvSpPr/>
            <p:nvPr/>
          </p:nvSpPr>
          <p:spPr>
            <a:xfrm>
              <a:off x="4858511" y="4221481"/>
              <a:ext cx="1440180" cy="647700"/>
            </a:xfrm>
            <a:custGeom>
              <a:avLst/>
              <a:gdLst/>
              <a:ahLst/>
              <a:cxnLst/>
              <a:rect l="l" t="t" r="r" b="b"/>
              <a:pathLst>
                <a:path w="1440179" h="647700">
                  <a:moveTo>
                    <a:pt x="0" y="161925"/>
                  </a:moveTo>
                  <a:lnTo>
                    <a:pt x="161925" y="0"/>
                  </a:lnTo>
                  <a:lnTo>
                    <a:pt x="1440180" y="0"/>
                  </a:lnTo>
                  <a:lnTo>
                    <a:pt x="1440180" y="485775"/>
                  </a:lnTo>
                  <a:lnTo>
                    <a:pt x="1278255" y="647700"/>
                  </a:lnTo>
                  <a:lnTo>
                    <a:pt x="0" y="647700"/>
                  </a:lnTo>
                  <a:lnTo>
                    <a:pt x="0" y="161925"/>
                  </a:lnTo>
                  <a:close/>
                </a:path>
                <a:path w="1440179" h="647700">
                  <a:moveTo>
                    <a:pt x="0" y="161925"/>
                  </a:moveTo>
                  <a:lnTo>
                    <a:pt x="1278255" y="161925"/>
                  </a:lnTo>
                  <a:lnTo>
                    <a:pt x="1440180" y="0"/>
                  </a:lnTo>
                </a:path>
                <a:path w="1440179" h="647700">
                  <a:moveTo>
                    <a:pt x="1278255" y="161925"/>
                  </a:moveTo>
                  <a:lnTo>
                    <a:pt x="1278255" y="647700"/>
                  </a:lnTo>
                </a:path>
              </a:pathLst>
            </a:custGeom>
            <a:ln w="9525">
              <a:solidFill>
                <a:srgbClr val="000000"/>
              </a:solidFill>
            </a:ln>
          </p:spPr>
          <p:txBody>
            <a:bodyPr wrap="square" lIns="0" tIns="0" rIns="0" bIns="0" rtlCol="0"/>
            <a:lstStyle/>
            <a:p/>
          </p:txBody>
        </p:sp>
      </p:grpSp>
      <p:sp>
        <p:nvSpPr>
          <p:cNvPr id="52" name="object 52" descr=""/>
          <p:cNvSpPr txBox="1"/>
          <p:nvPr/>
        </p:nvSpPr>
        <p:spPr>
          <a:xfrm>
            <a:off x="4858511" y="4494403"/>
            <a:ext cx="1273810" cy="239395"/>
          </a:xfrm>
          <a:prstGeom prst="rect">
            <a:avLst/>
          </a:prstGeom>
        </p:spPr>
        <p:txBody>
          <a:bodyPr wrap="square" lIns="0" tIns="12700" rIns="0" bIns="0" rtlCol="0" vert="horz">
            <a:spAutoFit/>
          </a:bodyPr>
          <a:lstStyle/>
          <a:p>
            <a:pPr marL="37465">
              <a:lnSpc>
                <a:spcPct val="100000"/>
              </a:lnSpc>
              <a:spcBef>
                <a:spcPts val="100"/>
              </a:spcBef>
            </a:pPr>
            <a:r>
              <a:rPr dirty="0" sz="1400" b="1">
                <a:solidFill>
                  <a:srgbClr val="FF0000"/>
                </a:solidFill>
                <a:latin typeface="Calibri"/>
                <a:cs typeface="Calibri"/>
              </a:rPr>
              <a:t>Learning</a:t>
            </a:r>
            <a:r>
              <a:rPr dirty="0" sz="1400" spc="-45" b="1">
                <a:solidFill>
                  <a:srgbClr val="FF0000"/>
                </a:solidFill>
                <a:latin typeface="Calibri"/>
                <a:cs typeface="Calibri"/>
              </a:rPr>
              <a:t> </a:t>
            </a:r>
            <a:r>
              <a:rPr dirty="0" sz="1400" spc="-10" b="1">
                <a:solidFill>
                  <a:srgbClr val="FF0000"/>
                </a:solidFill>
                <a:latin typeface="Calibri"/>
                <a:cs typeface="Calibri"/>
              </a:rPr>
              <a:t>System</a:t>
            </a:r>
            <a:endParaRPr sz="1400">
              <a:latin typeface="Calibri"/>
              <a:cs typeface="Calibri"/>
            </a:endParaRPr>
          </a:p>
        </p:txBody>
      </p:sp>
      <p:grpSp>
        <p:nvGrpSpPr>
          <p:cNvPr id="53" name="object 53" descr=""/>
          <p:cNvGrpSpPr/>
          <p:nvPr/>
        </p:nvGrpSpPr>
        <p:grpSpPr>
          <a:xfrm>
            <a:off x="5282565" y="3491865"/>
            <a:ext cx="450850" cy="666750"/>
            <a:chOff x="5282565" y="3491865"/>
            <a:chExt cx="450850" cy="666750"/>
          </a:xfrm>
        </p:grpSpPr>
        <p:sp>
          <p:nvSpPr>
            <p:cNvPr id="54" name="object 54" descr=""/>
            <p:cNvSpPr/>
            <p:nvPr/>
          </p:nvSpPr>
          <p:spPr>
            <a:xfrm>
              <a:off x="5292090" y="3501390"/>
              <a:ext cx="431800" cy="647700"/>
            </a:xfrm>
            <a:custGeom>
              <a:avLst/>
              <a:gdLst/>
              <a:ahLst/>
              <a:cxnLst/>
              <a:rect l="l" t="t" r="r" b="b"/>
              <a:pathLst>
                <a:path w="431800" h="647700">
                  <a:moveTo>
                    <a:pt x="323469" y="0"/>
                  </a:moveTo>
                  <a:lnTo>
                    <a:pt x="107823" y="0"/>
                  </a:lnTo>
                  <a:lnTo>
                    <a:pt x="107823" y="485965"/>
                  </a:lnTo>
                  <a:lnTo>
                    <a:pt x="0" y="485965"/>
                  </a:lnTo>
                  <a:lnTo>
                    <a:pt x="215646" y="647700"/>
                  </a:lnTo>
                  <a:lnTo>
                    <a:pt x="431292" y="485965"/>
                  </a:lnTo>
                  <a:lnTo>
                    <a:pt x="323469" y="485965"/>
                  </a:lnTo>
                  <a:lnTo>
                    <a:pt x="323469" y="0"/>
                  </a:lnTo>
                  <a:close/>
                </a:path>
              </a:pathLst>
            </a:custGeom>
            <a:solidFill>
              <a:srgbClr val="993300"/>
            </a:solidFill>
          </p:spPr>
          <p:txBody>
            <a:bodyPr wrap="square" lIns="0" tIns="0" rIns="0" bIns="0" rtlCol="0"/>
            <a:lstStyle/>
            <a:p/>
          </p:txBody>
        </p:sp>
        <p:sp>
          <p:nvSpPr>
            <p:cNvPr id="55" name="object 55" descr=""/>
            <p:cNvSpPr/>
            <p:nvPr/>
          </p:nvSpPr>
          <p:spPr>
            <a:xfrm>
              <a:off x="5292090" y="3501390"/>
              <a:ext cx="431800" cy="647700"/>
            </a:xfrm>
            <a:custGeom>
              <a:avLst/>
              <a:gdLst/>
              <a:ahLst/>
              <a:cxnLst/>
              <a:rect l="l" t="t" r="r" b="b"/>
              <a:pathLst>
                <a:path w="431800" h="647700">
                  <a:moveTo>
                    <a:pt x="323468" y="0"/>
                  </a:moveTo>
                  <a:lnTo>
                    <a:pt x="323468" y="485965"/>
                  </a:lnTo>
                  <a:lnTo>
                    <a:pt x="431291" y="485965"/>
                  </a:lnTo>
                  <a:lnTo>
                    <a:pt x="215645" y="647700"/>
                  </a:lnTo>
                  <a:lnTo>
                    <a:pt x="0" y="485965"/>
                  </a:lnTo>
                  <a:lnTo>
                    <a:pt x="107822" y="485965"/>
                  </a:lnTo>
                  <a:lnTo>
                    <a:pt x="107822" y="0"/>
                  </a:lnTo>
                  <a:lnTo>
                    <a:pt x="323468" y="0"/>
                  </a:lnTo>
                  <a:close/>
                </a:path>
              </a:pathLst>
            </a:custGeom>
            <a:ln w="19050">
              <a:solidFill>
                <a:srgbClr val="000000"/>
              </a:solidFill>
            </a:ln>
          </p:spPr>
          <p:txBody>
            <a:bodyPr wrap="square" lIns="0" tIns="0" rIns="0" bIns="0" rtlCol="0"/>
            <a:lstStyle/>
            <a:p/>
          </p:txBody>
        </p:sp>
      </p:grpSp>
      <p:grpSp>
        <p:nvGrpSpPr>
          <p:cNvPr id="56" name="object 56" descr=""/>
          <p:cNvGrpSpPr/>
          <p:nvPr/>
        </p:nvGrpSpPr>
        <p:grpSpPr>
          <a:xfrm>
            <a:off x="7231189" y="5512117"/>
            <a:ext cx="1451610" cy="657225"/>
            <a:chOff x="7231189" y="5512117"/>
            <a:chExt cx="1451610" cy="657225"/>
          </a:xfrm>
        </p:grpSpPr>
        <p:sp>
          <p:nvSpPr>
            <p:cNvPr id="57" name="object 57" descr=""/>
            <p:cNvSpPr/>
            <p:nvPr/>
          </p:nvSpPr>
          <p:spPr>
            <a:xfrm>
              <a:off x="7235952" y="5678805"/>
              <a:ext cx="1280160" cy="485775"/>
            </a:xfrm>
            <a:custGeom>
              <a:avLst/>
              <a:gdLst/>
              <a:ahLst/>
              <a:cxnLst/>
              <a:rect l="l" t="t" r="r" b="b"/>
              <a:pathLst>
                <a:path w="1280159" h="485775">
                  <a:moveTo>
                    <a:pt x="1279778" y="0"/>
                  </a:moveTo>
                  <a:lnTo>
                    <a:pt x="0" y="0"/>
                  </a:lnTo>
                  <a:lnTo>
                    <a:pt x="0" y="485775"/>
                  </a:lnTo>
                  <a:lnTo>
                    <a:pt x="1279778" y="485775"/>
                  </a:lnTo>
                  <a:lnTo>
                    <a:pt x="1279778" y="0"/>
                  </a:lnTo>
                  <a:close/>
                </a:path>
              </a:pathLst>
            </a:custGeom>
            <a:solidFill>
              <a:srgbClr val="66FF99"/>
            </a:solidFill>
          </p:spPr>
          <p:txBody>
            <a:bodyPr wrap="square" lIns="0" tIns="0" rIns="0" bIns="0" rtlCol="0"/>
            <a:lstStyle/>
            <a:p/>
          </p:txBody>
        </p:sp>
        <p:sp>
          <p:nvSpPr>
            <p:cNvPr id="58" name="object 58" descr=""/>
            <p:cNvSpPr/>
            <p:nvPr/>
          </p:nvSpPr>
          <p:spPr>
            <a:xfrm>
              <a:off x="8515731" y="5516880"/>
              <a:ext cx="161925" cy="647700"/>
            </a:xfrm>
            <a:custGeom>
              <a:avLst/>
              <a:gdLst/>
              <a:ahLst/>
              <a:cxnLst/>
              <a:rect l="l" t="t" r="r" b="b"/>
              <a:pathLst>
                <a:path w="161925" h="647700">
                  <a:moveTo>
                    <a:pt x="161925" y="0"/>
                  </a:moveTo>
                  <a:lnTo>
                    <a:pt x="0" y="161925"/>
                  </a:lnTo>
                  <a:lnTo>
                    <a:pt x="0" y="647700"/>
                  </a:lnTo>
                  <a:lnTo>
                    <a:pt x="161925" y="485775"/>
                  </a:lnTo>
                  <a:lnTo>
                    <a:pt x="161925" y="0"/>
                  </a:lnTo>
                  <a:close/>
                </a:path>
              </a:pathLst>
            </a:custGeom>
            <a:solidFill>
              <a:srgbClr val="52CD7B"/>
            </a:solidFill>
          </p:spPr>
          <p:txBody>
            <a:bodyPr wrap="square" lIns="0" tIns="0" rIns="0" bIns="0" rtlCol="0"/>
            <a:lstStyle/>
            <a:p/>
          </p:txBody>
        </p:sp>
        <p:sp>
          <p:nvSpPr>
            <p:cNvPr id="59" name="object 59" descr=""/>
            <p:cNvSpPr/>
            <p:nvPr/>
          </p:nvSpPr>
          <p:spPr>
            <a:xfrm>
              <a:off x="7235952" y="5516880"/>
              <a:ext cx="1442085" cy="161925"/>
            </a:xfrm>
            <a:custGeom>
              <a:avLst/>
              <a:gdLst/>
              <a:ahLst/>
              <a:cxnLst/>
              <a:rect l="l" t="t" r="r" b="b"/>
              <a:pathLst>
                <a:path w="1442084" h="161925">
                  <a:moveTo>
                    <a:pt x="1441703" y="0"/>
                  </a:moveTo>
                  <a:lnTo>
                    <a:pt x="161925" y="0"/>
                  </a:lnTo>
                  <a:lnTo>
                    <a:pt x="0" y="161925"/>
                  </a:lnTo>
                  <a:lnTo>
                    <a:pt x="1279778" y="161925"/>
                  </a:lnTo>
                  <a:lnTo>
                    <a:pt x="1441703" y="0"/>
                  </a:lnTo>
                  <a:close/>
                </a:path>
              </a:pathLst>
            </a:custGeom>
            <a:solidFill>
              <a:srgbClr val="84FFAD"/>
            </a:solidFill>
          </p:spPr>
          <p:txBody>
            <a:bodyPr wrap="square" lIns="0" tIns="0" rIns="0" bIns="0" rtlCol="0"/>
            <a:lstStyle/>
            <a:p/>
          </p:txBody>
        </p:sp>
        <p:sp>
          <p:nvSpPr>
            <p:cNvPr id="60" name="object 60" descr=""/>
            <p:cNvSpPr/>
            <p:nvPr/>
          </p:nvSpPr>
          <p:spPr>
            <a:xfrm>
              <a:off x="7235952" y="5516880"/>
              <a:ext cx="1442085" cy="647700"/>
            </a:xfrm>
            <a:custGeom>
              <a:avLst/>
              <a:gdLst/>
              <a:ahLst/>
              <a:cxnLst/>
              <a:rect l="l" t="t" r="r" b="b"/>
              <a:pathLst>
                <a:path w="1442084" h="647700">
                  <a:moveTo>
                    <a:pt x="0" y="161925"/>
                  </a:moveTo>
                  <a:lnTo>
                    <a:pt x="161925" y="0"/>
                  </a:lnTo>
                  <a:lnTo>
                    <a:pt x="1441704" y="0"/>
                  </a:lnTo>
                  <a:lnTo>
                    <a:pt x="1441704" y="485775"/>
                  </a:lnTo>
                  <a:lnTo>
                    <a:pt x="1279779" y="647700"/>
                  </a:lnTo>
                  <a:lnTo>
                    <a:pt x="0" y="647700"/>
                  </a:lnTo>
                  <a:lnTo>
                    <a:pt x="0" y="161925"/>
                  </a:lnTo>
                  <a:close/>
                </a:path>
                <a:path w="1442084" h="647700">
                  <a:moveTo>
                    <a:pt x="0" y="161925"/>
                  </a:moveTo>
                  <a:lnTo>
                    <a:pt x="1279779" y="161925"/>
                  </a:lnTo>
                  <a:lnTo>
                    <a:pt x="1441704" y="0"/>
                  </a:lnTo>
                </a:path>
                <a:path w="1442084" h="647700">
                  <a:moveTo>
                    <a:pt x="1279779" y="161925"/>
                  </a:moveTo>
                  <a:lnTo>
                    <a:pt x="1279779" y="647700"/>
                  </a:lnTo>
                </a:path>
              </a:pathLst>
            </a:custGeom>
            <a:ln w="9525">
              <a:solidFill>
                <a:srgbClr val="000000"/>
              </a:solidFill>
            </a:ln>
          </p:spPr>
          <p:txBody>
            <a:bodyPr wrap="square" lIns="0" tIns="0" rIns="0" bIns="0" rtlCol="0"/>
            <a:lstStyle/>
            <a:p/>
          </p:txBody>
        </p:sp>
      </p:grpSp>
      <p:sp>
        <p:nvSpPr>
          <p:cNvPr id="61" name="object 61" descr=""/>
          <p:cNvSpPr txBox="1"/>
          <p:nvPr/>
        </p:nvSpPr>
        <p:spPr>
          <a:xfrm>
            <a:off x="7235952" y="5789803"/>
            <a:ext cx="1275080" cy="239395"/>
          </a:xfrm>
          <a:prstGeom prst="rect">
            <a:avLst/>
          </a:prstGeom>
        </p:spPr>
        <p:txBody>
          <a:bodyPr wrap="square" lIns="0" tIns="12700" rIns="0" bIns="0" rtlCol="0" vert="horz">
            <a:spAutoFit/>
          </a:bodyPr>
          <a:lstStyle/>
          <a:p>
            <a:pPr marL="38100">
              <a:lnSpc>
                <a:spcPct val="100000"/>
              </a:lnSpc>
              <a:spcBef>
                <a:spcPts val="100"/>
              </a:spcBef>
            </a:pPr>
            <a:r>
              <a:rPr dirty="0" sz="1400" b="1">
                <a:solidFill>
                  <a:srgbClr val="FF0000"/>
                </a:solidFill>
                <a:latin typeface="Calibri"/>
                <a:cs typeface="Calibri"/>
              </a:rPr>
              <a:t>Learning</a:t>
            </a:r>
            <a:r>
              <a:rPr dirty="0" sz="1400" spc="-45" b="1">
                <a:solidFill>
                  <a:srgbClr val="FF0000"/>
                </a:solidFill>
                <a:latin typeface="Calibri"/>
                <a:cs typeface="Calibri"/>
              </a:rPr>
              <a:t> </a:t>
            </a:r>
            <a:r>
              <a:rPr dirty="0" sz="1400" spc="-10" b="1">
                <a:solidFill>
                  <a:srgbClr val="FF0000"/>
                </a:solidFill>
                <a:latin typeface="Calibri"/>
                <a:cs typeface="Calibri"/>
              </a:rPr>
              <a:t>System</a:t>
            </a:r>
            <a:endParaRPr sz="1400">
              <a:latin typeface="Calibri"/>
              <a:cs typeface="Calibri"/>
            </a:endParaRPr>
          </a:p>
        </p:txBody>
      </p:sp>
      <p:grpSp>
        <p:nvGrpSpPr>
          <p:cNvPr id="62" name="object 62" descr=""/>
          <p:cNvGrpSpPr/>
          <p:nvPr/>
        </p:nvGrpSpPr>
        <p:grpSpPr>
          <a:xfrm>
            <a:off x="6363080" y="5652897"/>
            <a:ext cx="666750" cy="450850"/>
            <a:chOff x="6363080" y="5652897"/>
            <a:chExt cx="666750" cy="450850"/>
          </a:xfrm>
        </p:grpSpPr>
        <p:sp>
          <p:nvSpPr>
            <p:cNvPr id="63" name="object 63" descr=""/>
            <p:cNvSpPr/>
            <p:nvPr/>
          </p:nvSpPr>
          <p:spPr>
            <a:xfrm>
              <a:off x="6372605" y="5662422"/>
              <a:ext cx="647700" cy="431800"/>
            </a:xfrm>
            <a:custGeom>
              <a:avLst/>
              <a:gdLst/>
              <a:ahLst/>
              <a:cxnLst/>
              <a:rect l="l" t="t" r="r" b="b"/>
              <a:pathLst>
                <a:path w="647700" h="431800">
                  <a:moveTo>
                    <a:pt x="485965" y="0"/>
                  </a:moveTo>
                  <a:lnTo>
                    <a:pt x="485965" y="107822"/>
                  </a:lnTo>
                  <a:lnTo>
                    <a:pt x="0" y="107822"/>
                  </a:lnTo>
                  <a:lnTo>
                    <a:pt x="0" y="323468"/>
                  </a:lnTo>
                  <a:lnTo>
                    <a:pt x="485965" y="323468"/>
                  </a:lnTo>
                  <a:lnTo>
                    <a:pt x="485965" y="431291"/>
                  </a:lnTo>
                  <a:lnTo>
                    <a:pt x="647700" y="215645"/>
                  </a:lnTo>
                  <a:lnTo>
                    <a:pt x="485965" y="0"/>
                  </a:lnTo>
                  <a:close/>
                </a:path>
              </a:pathLst>
            </a:custGeom>
            <a:solidFill>
              <a:srgbClr val="993300"/>
            </a:solidFill>
          </p:spPr>
          <p:txBody>
            <a:bodyPr wrap="square" lIns="0" tIns="0" rIns="0" bIns="0" rtlCol="0"/>
            <a:lstStyle/>
            <a:p/>
          </p:txBody>
        </p:sp>
        <p:sp>
          <p:nvSpPr>
            <p:cNvPr id="64" name="object 64" descr=""/>
            <p:cNvSpPr/>
            <p:nvPr/>
          </p:nvSpPr>
          <p:spPr>
            <a:xfrm>
              <a:off x="6372605" y="5662422"/>
              <a:ext cx="647700" cy="431800"/>
            </a:xfrm>
            <a:custGeom>
              <a:avLst/>
              <a:gdLst/>
              <a:ahLst/>
              <a:cxnLst/>
              <a:rect l="l" t="t" r="r" b="b"/>
              <a:pathLst>
                <a:path w="647700" h="431800">
                  <a:moveTo>
                    <a:pt x="0" y="107822"/>
                  </a:moveTo>
                  <a:lnTo>
                    <a:pt x="485965" y="107822"/>
                  </a:lnTo>
                  <a:lnTo>
                    <a:pt x="485965" y="0"/>
                  </a:lnTo>
                  <a:lnTo>
                    <a:pt x="647700" y="215645"/>
                  </a:lnTo>
                  <a:lnTo>
                    <a:pt x="485965" y="431291"/>
                  </a:lnTo>
                  <a:lnTo>
                    <a:pt x="485965" y="323468"/>
                  </a:lnTo>
                  <a:lnTo>
                    <a:pt x="0" y="323468"/>
                  </a:lnTo>
                  <a:lnTo>
                    <a:pt x="0" y="107822"/>
                  </a:lnTo>
                  <a:close/>
                </a:path>
              </a:pathLst>
            </a:custGeom>
            <a:ln w="19050">
              <a:solidFill>
                <a:srgbClr val="000000"/>
              </a:solidFill>
            </a:ln>
          </p:spPr>
          <p:txBody>
            <a:bodyPr wrap="square" lIns="0" tIns="0" rIns="0" bIns="0" rtlCol="0"/>
            <a:lstStyle/>
            <a:p/>
          </p:txBody>
        </p:sp>
      </p:grpSp>
      <p:grpSp>
        <p:nvGrpSpPr>
          <p:cNvPr id="65" name="object 65" descr=""/>
          <p:cNvGrpSpPr/>
          <p:nvPr/>
        </p:nvGrpSpPr>
        <p:grpSpPr>
          <a:xfrm>
            <a:off x="5284089" y="4933569"/>
            <a:ext cx="450850" cy="666750"/>
            <a:chOff x="5284089" y="4933569"/>
            <a:chExt cx="450850" cy="666750"/>
          </a:xfrm>
        </p:grpSpPr>
        <p:sp>
          <p:nvSpPr>
            <p:cNvPr id="66" name="object 66" descr=""/>
            <p:cNvSpPr/>
            <p:nvPr/>
          </p:nvSpPr>
          <p:spPr>
            <a:xfrm>
              <a:off x="5293614" y="4943094"/>
              <a:ext cx="431800" cy="647700"/>
            </a:xfrm>
            <a:custGeom>
              <a:avLst/>
              <a:gdLst/>
              <a:ahLst/>
              <a:cxnLst/>
              <a:rect l="l" t="t" r="r" b="b"/>
              <a:pathLst>
                <a:path w="431800" h="647700">
                  <a:moveTo>
                    <a:pt x="323469" y="0"/>
                  </a:moveTo>
                  <a:lnTo>
                    <a:pt x="107823" y="0"/>
                  </a:lnTo>
                  <a:lnTo>
                    <a:pt x="107823" y="485965"/>
                  </a:lnTo>
                  <a:lnTo>
                    <a:pt x="0" y="485965"/>
                  </a:lnTo>
                  <a:lnTo>
                    <a:pt x="215646" y="647700"/>
                  </a:lnTo>
                  <a:lnTo>
                    <a:pt x="431291" y="485965"/>
                  </a:lnTo>
                  <a:lnTo>
                    <a:pt x="323469" y="485965"/>
                  </a:lnTo>
                  <a:lnTo>
                    <a:pt x="323469" y="0"/>
                  </a:lnTo>
                  <a:close/>
                </a:path>
              </a:pathLst>
            </a:custGeom>
            <a:solidFill>
              <a:srgbClr val="993300"/>
            </a:solidFill>
          </p:spPr>
          <p:txBody>
            <a:bodyPr wrap="square" lIns="0" tIns="0" rIns="0" bIns="0" rtlCol="0"/>
            <a:lstStyle/>
            <a:p/>
          </p:txBody>
        </p:sp>
        <p:sp>
          <p:nvSpPr>
            <p:cNvPr id="67" name="object 67" descr=""/>
            <p:cNvSpPr/>
            <p:nvPr/>
          </p:nvSpPr>
          <p:spPr>
            <a:xfrm>
              <a:off x="5293614" y="4943094"/>
              <a:ext cx="431800" cy="647700"/>
            </a:xfrm>
            <a:custGeom>
              <a:avLst/>
              <a:gdLst/>
              <a:ahLst/>
              <a:cxnLst/>
              <a:rect l="l" t="t" r="r" b="b"/>
              <a:pathLst>
                <a:path w="431800" h="647700">
                  <a:moveTo>
                    <a:pt x="323468" y="0"/>
                  </a:moveTo>
                  <a:lnTo>
                    <a:pt x="323468" y="485965"/>
                  </a:lnTo>
                  <a:lnTo>
                    <a:pt x="431291" y="485965"/>
                  </a:lnTo>
                  <a:lnTo>
                    <a:pt x="215645" y="647699"/>
                  </a:lnTo>
                  <a:lnTo>
                    <a:pt x="0" y="485965"/>
                  </a:lnTo>
                  <a:lnTo>
                    <a:pt x="107822" y="485965"/>
                  </a:lnTo>
                  <a:lnTo>
                    <a:pt x="107822" y="0"/>
                  </a:lnTo>
                  <a:lnTo>
                    <a:pt x="323468" y="0"/>
                  </a:lnTo>
                  <a:close/>
                </a:path>
              </a:pathLst>
            </a:custGeom>
            <a:ln w="19050">
              <a:solidFill>
                <a:srgbClr val="000000"/>
              </a:solidFill>
            </a:ln>
          </p:spPr>
          <p:txBody>
            <a:bodyPr wrap="square" lIns="0" tIns="0" rIns="0" bIns="0" rtlCol="0"/>
            <a:lstStyle/>
            <a:p/>
          </p:txBody>
        </p:sp>
      </p:grpSp>
      <p:grpSp>
        <p:nvGrpSpPr>
          <p:cNvPr id="68" name="object 68" descr=""/>
          <p:cNvGrpSpPr/>
          <p:nvPr/>
        </p:nvGrpSpPr>
        <p:grpSpPr>
          <a:xfrm>
            <a:off x="4926901" y="5656897"/>
            <a:ext cx="1163320" cy="514350"/>
            <a:chOff x="4926901" y="5656897"/>
            <a:chExt cx="1163320" cy="514350"/>
          </a:xfrm>
        </p:grpSpPr>
        <p:sp>
          <p:nvSpPr>
            <p:cNvPr id="69" name="object 69" descr=""/>
            <p:cNvSpPr/>
            <p:nvPr/>
          </p:nvSpPr>
          <p:spPr>
            <a:xfrm>
              <a:off x="4931664" y="5724715"/>
              <a:ext cx="1153795" cy="441959"/>
            </a:xfrm>
            <a:custGeom>
              <a:avLst/>
              <a:gdLst/>
              <a:ahLst/>
              <a:cxnLst/>
              <a:rect l="l" t="t" r="r" b="b"/>
              <a:pathLst>
                <a:path w="1153795" h="441960">
                  <a:moveTo>
                    <a:pt x="1153668" y="0"/>
                  </a:moveTo>
                  <a:lnTo>
                    <a:pt x="1108337" y="24543"/>
                  </a:lnTo>
                  <a:lnTo>
                    <a:pt x="1033478" y="38530"/>
                  </a:lnTo>
                  <a:lnTo>
                    <a:pt x="984718" y="44586"/>
                  </a:lnTo>
                  <a:lnTo>
                    <a:pt x="929321" y="49916"/>
                  </a:lnTo>
                  <a:lnTo>
                    <a:pt x="867974" y="54446"/>
                  </a:lnTo>
                  <a:lnTo>
                    <a:pt x="801365" y="58100"/>
                  </a:lnTo>
                  <a:lnTo>
                    <a:pt x="730180" y="60803"/>
                  </a:lnTo>
                  <a:lnTo>
                    <a:pt x="655107" y="62479"/>
                  </a:lnTo>
                  <a:lnTo>
                    <a:pt x="576834" y="63055"/>
                  </a:lnTo>
                  <a:lnTo>
                    <a:pt x="498560" y="62479"/>
                  </a:lnTo>
                  <a:lnTo>
                    <a:pt x="423487" y="60803"/>
                  </a:lnTo>
                  <a:lnTo>
                    <a:pt x="352302" y="58100"/>
                  </a:lnTo>
                  <a:lnTo>
                    <a:pt x="285693" y="54446"/>
                  </a:lnTo>
                  <a:lnTo>
                    <a:pt x="224346" y="49916"/>
                  </a:lnTo>
                  <a:lnTo>
                    <a:pt x="168949" y="44586"/>
                  </a:lnTo>
                  <a:lnTo>
                    <a:pt x="120189" y="38530"/>
                  </a:lnTo>
                  <a:lnTo>
                    <a:pt x="78754" y="31824"/>
                  </a:lnTo>
                  <a:lnTo>
                    <a:pt x="20604" y="16762"/>
                  </a:lnTo>
                  <a:lnTo>
                    <a:pt x="0" y="0"/>
                  </a:lnTo>
                  <a:lnTo>
                    <a:pt x="0" y="378333"/>
                  </a:lnTo>
                  <a:lnTo>
                    <a:pt x="45330" y="402876"/>
                  </a:lnTo>
                  <a:lnTo>
                    <a:pt x="120189" y="416863"/>
                  </a:lnTo>
                  <a:lnTo>
                    <a:pt x="168949" y="422919"/>
                  </a:lnTo>
                  <a:lnTo>
                    <a:pt x="224346" y="428249"/>
                  </a:lnTo>
                  <a:lnTo>
                    <a:pt x="285693" y="432779"/>
                  </a:lnTo>
                  <a:lnTo>
                    <a:pt x="352302" y="436433"/>
                  </a:lnTo>
                  <a:lnTo>
                    <a:pt x="423487" y="439136"/>
                  </a:lnTo>
                  <a:lnTo>
                    <a:pt x="498560" y="440812"/>
                  </a:lnTo>
                  <a:lnTo>
                    <a:pt x="576834" y="441388"/>
                  </a:lnTo>
                  <a:lnTo>
                    <a:pt x="655107" y="440812"/>
                  </a:lnTo>
                  <a:lnTo>
                    <a:pt x="730180" y="439136"/>
                  </a:lnTo>
                  <a:lnTo>
                    <a:pt x="801365" y="436433"/>
                  </a:lnTo>
                  <a:lnTo>
                    <a:pt x="867974" y="432779"/>
                  </a:lnTo>
                  <a:lnTo>
                    <a:pt x="929321" y="428249"/>
                  </a:lnTo>
                  <a:lnTo>
                    <a:pt x="984718" y="422919"/>
                  </a:lnTo>
                  <a:lnTo>
                    <a:pt x="1033478" y="416863"/>
                  </a:lnTo>
                  <a:lnTo>
                    <a:pt x="1074913" y="410157"/>
                  </a:lnTo>
                  <a:lnTo>
                    <a:pt x="1133063" y="395095"/>
                  </a:lnTo>
                  <a:lnTo>
                    <a:pt x="1153668" y="378333"/>
                  </a:lnTo>
                  <a:lnTo>
                    <a:pt x="1153668" y="0"/>
                  </a:lnTo>
                  <a:close/>
                </a:path>
              </a:pathLst>
            </a:custGeom>
            <a:solidFill>
              <a:srgbClr val="3366FF"/>
            </a:solidFill>
          </p:spPr>
          <p:txBody>
            <a:bodyPr wrap="square" lIns="0" tIns="0" rIns="0" bIns="0" rtlCol="0"/>
            <a:lstStyle/>
            <a:p/>
          </p:txBody>
        </p:sp>
        <p:sp>
          <p:nvSpPr>
            <p:cNvPr id="70" name="object 70" descr=""/>
            <p:cNvSpPr/>
            <p:nvPr/>
          </p:nvSpPr>
          <p:spPr>
            <a:xfrm>
              <a:off x="4931664" y="5661660"/>
              <a:ext cx="1153795" cy="126364"/>
            </a:xfrm>
            <a:custGeom>
              <a:avLst/>
              <a:gdLst/>
              <a:ahLst/>
              <a:cxnLst/>
              <a:rect l="l" t="t" r="r" b="b"/>
              <a:pathLst>
                <a:path w="1153795" h="126364">
                  <a:moveTo>
                    <a:pt x="576834" y="0"/>
                  </a:moveTo>
                  <a:lnTo>
                    <a:pt x="498560" y="575"/>
                  </a:lnTo>
                  <a:lnTo>
                    <a:pt x="423487" y="2252"/>
                  </a:lnTo>
                  <a:lnTo>
                    <a:pt x="352302" y="4955"/>
                  </a:lnTo>
                  <a:lnTo>
                    <a:pt x="285693" y="8609"/>
                  </a:lnTo>
                  <a:lnTo>
                    <a:pt x="224346" y="13138"/>
                  </a:lnTo>
                  <a:lnTo>
                    <a:pt x="168949" y="18468"/>
                  </a:lnTo>
                  <a:lnTo>
                    <a:pt x="120189" y="24524"/>
                  </a:lnTo>
                  <a:lnTo>
                    <a:pt x="78754" y="31230"/>
                  </a:lnTo>
                  <a:lnTo>
                    <a:pt x="20604" y="46293"/>
                  </a:lnTo>
                  <a:lnTo>
                    <a:pt x="0" y="63055"/>
                  </a:lnTo>
                  <a:lnTo>
                    <a:pt x="5265" y="71611"/>
                  </a:lnTo>
                  <a:lnTo>
                    <a:pt x="45330" y="87599"/>
                  </a:lnTo>
                  <a:lnTo>
                    <a:pt x="120189" y="101586"/>
                  </a:lnTo>
                  <a:lnTo>
                    <a:pt x="168949" y="107642"/>
                  </a:lnTo>
                  <a:lnTo>
                    <a:pt x="224346" y="112972"/>
                  </a:lnTo>
                  <a:lnTo>
                    <a:pt x="285693" y="117501"/>
                  </a:lnTo>
                  <a:lnTo>
                    <a:pt x="352302" y="121155"/>
                  </a:lnTo>
                  <a:lnTo>
                    <a:pt x="423487" y="123858"/>
                  </a:lnTo>
                  <a:lnTo>
                    <a:pt x="498560" y="125535"/>
                  </a:lnTo>
                  <a:lnTo>
                    <a:pt x="576834" y="126110"/>
                  </a:lnTo>
                  <a:lnTo>
                    <a:pt x="655107" y="125535"/>
                  </a:lnTo>
                  <a:lnTo>
                    <a:pt x="730180" y="123858"/>
                  </a:lnTo>
                  <a:lnTo>
                    <a:pt x="801365" y="121155"/>
                  </a:lnTo>
                  <a:lnTo>
                    <a:pt x="867974" y="117501"/>
                  </a:lnTo>
                  <a:lnTo>
                    <a:pt x="929321" y="112972"/>
                  </a:lnTo>
                  <a:lnTo>
                    <a:pt x="984718" y="107642"/>
                  </a:lnTo>
                  <a:lnTo>
                    <a:pt x="1033478" y="101586"/>
                  </a:lnTo>
                  <a:lnTo>
                    <a:pt x="1074913" y="94880"/>
                  </a:lnTo>
                  <a:lnTo>
                    <a:pt x="1133063" y="79817"/>
                  </a:lnTo>
                  <a:lnTo>
                    <a:pt x="1153668" y="63055"/>
                  </a:lnTo>
                  <a:lnTo>
                    <a:pt x="1148402" y="54499"/>
                  </a:lnTo>
                  <a:lnTo>
                    <a:pt x="1108337" y="38511"/>
                  </a:lnTo>
                  <a:lnTo>
                    <a:pt x="1033478" y="24524"/>
                  </a:lnTo>
                  <a:lnTo>
                    <a:pt x="984718" y="18468"/>
                  </a:lnTo>
                  <a:lnTo>
                    <a:pt x="929321" y="13138"/>
                  </a:lnTo>
                  <a:lnTo>
                    <a:pt x="867974" y="8609"/>
                  </a:lnTo>
                  <a:lnTo>
                    <a:pt x="801365" y="4955"/>
                  </a:lnTo>
                  <a:lnTo>
                    <a:pt x="730180" y="2252"/>
                  </a:lnTo>
                  <a:lnTo>
                    <a:pt x="655107" y="575"/>
                  </a:lnTo>
                  <a:lnTo>
                    <a:pt x="576834" y="0"/>
                  </a:lnTo>
                  <a:close/>
                </a:path>
              </a:pathLst>
            </a:custGeom>
            <a:solidFill>
              <a:srgbClr val="85A3FF"/>
            </a:solidFill>
          </p:spPr>
          <p:txBody>
            <a:bodyPr wrap="square" lIns="0" tIns="0" rIns="0" bIns="0" rtlCol="0"/>
            <a:lstStyle/>
            <a:p/>
          </p:txBody>
        </p:sp>
        <p:sp>
          <p:nvSpPr>
            <p:cNvPr id="71" name="object 71" descr=""/>
            <p:cNvSpPr/>
            <p:nvPr/>
          </p:nvSpPr>
          <p:spPr>
            <a:xfrm>
              <a:off x="4931664" y="5661660"/>
              <a:ext cx="1153795" cy="504825"/>
            </a:xfrm>
            <a:custGeom>
              <a:avLst/>
              <a:gdLst/>
              <a:ahLst/>
              <a:cxnLst/>
              <a:rect l="l" t="t" r="r" b="b"/>
              <a:pathLst>
                <a:path w="1153795" h="504825">
                  <a:moveTo>
                    <a:pt x="1153667" y="63055"/>
                  </a:moveTo>
                  <a:lnTo>
                    <a:pt x="1108337" y="87599"/>
                  </a:lnTo>
                  <a:lnTo>
                    <a:pt x="1033478" y="101586"/>
                  </a:lnTo>
                  <a:lnTo>
                    <a:pt x="984718" y="107642"/>
                  </a:lnTo>
                  <a:lnTo>
                    <a:pt x="929321" y="112972"/>
                  </a:lnTo>
                  <a:lnTo>
                    <a:pt x="867974" y="117501"/>
                  </a:lnTo>
                  <a:lnTo>
                    <a:pt x="801365" y="121155"/>
                  </a:lnTo>
                  <a:lnTo>
                    <a:pt x="730180" y="123858"/>
                  </a:lnTo>
                  <a:lnTo>
                    <a:pt x="655107" y="125535"/>
                  </a:lnTo>
                  <a:lnTo>
                    <a:pt x="576833" y="126110"/>
                  </a:lnTo>
                  <a:lnTo>
                    <a:pt x="498560" y="125535"/>
                  </a:lnTo>
                  <a:lnTo>
                    <a:pt x="423487" y="123858"/>
                  </a:lnTo>
                  <a:lnTo>
                    <a:pt x="352302" y="121155"/>
                  </a:lnTo>
                  <a:lnTo>
                    <a:pt x="285693" y="117501"/>
                  </a:lnTo>
                  <a:lnTo>
                    <a:pt x="224346" y="112972"/>
                  </a:lnTo>
                  <a:lnTo>
                    <a:pt x="168949" y="107642"/>
                  </a:lnTo>
                  <a:lnTo>
                    <a:pt x="120189" y="101586"/>
                  </a:lnTo>
                  <a:lnTo>
                    <a:pt x="78754" y="94880"/>
                  </a:lnTo>
                  <a:lnTo>
                    <a:pt x="20604" y="79817"/>
                  </a:lnTo>
                  <a:lnTo>
                    <a:pt x="0" y="63055"/>
                  </a:lnTo>
                  <a:lnTo>
                    <a:pt x="5265" y="54499"/>
                  </a:lnTo>
                  <a:lnTo>
                    <a:pt x="45330" y="38511"/>
                  </a:lnTo>
                  <a:lnTo>
                    <a:pt x="120189" y="24524"/>
                  </a:lnTo>
                  <a:lnTo>
                    <a:pt x="168949" y="18468"/>
                  </a:lnTo>
                  <a:lnTo>
                    <a:pt x="224346" y="13138"/>
                  </a:lnTo>
                  <a:lnTo>
                    <a:pt x="285693" y="8609"/>
                  </a:lnTo>
                  <a:lnTo>
                    <a:pt x="352302" y="4955"/>
                  </a:lnTo>
                  <a:lnTo>
                    <a:pt x="423487" y="2252"/>
                  </a:lnTo>
                  <a:lnTo>
                    <a:pt x="498560" y="575"/>
                  </a:lnTo>
                  <a:lnTo>
                    <a:pt x="576833" y="0"/>
                  </a:lnTo>
                  <a:lnTo>
                    <a:pt x="655107" y="575"/>
                  </a:lnTo>
                  <a:lnTo>
                    <a:pt x="730180" y="2252"/>
                  </a:lnTo>
                  <a:lnTo>
                    <a:pt x="801365" y="4955"/>
                  </a:lnTo>
                  <a:lnTo>
                    <a:pt x="867974" y="8609"/>
                  </a:lnTo>
                  <a:lnTo>
                    <a:pt x="929321" y="13138"/>
                  </a:lnTo>
                  <a:lnTo>
                    <a:pt x="984718" y="18468"/>
                  </a:lnTo>
                  <a:lnTo>
                    <a:pt x="1033478" y="24524"/>
                  </a:lnTo>
                  <a:lnTo>
                    <a:pt x="1074913" y="31230"/>
                  </a:lnTo>
                  <a:lnTo>
                    <a:pt x="1133063" y="46293"/>
                  </a:lnTo>
                  <a:lnTo>
                    <a:pt x="1153667" y="63055"/>
                  </a:lnTo>
                  <a:lnTo>
                    <a:pt x="1153667" y="441388"/>
                  </a:lnTo>
                  <a:lnTo>
                    <a:pt x="1108337" y="465932"/>
                  </a:lnTo>
                  <a:lnTo>
                    <a:pt x="1033478" y="479919"/>
                  </a:lnTo>
                  <a:lnTo>
                    <a:pt x="984718" y="485975"/>
                  </a:lnTo>
                  <a:lnTo>
                    <a:pt x="929321" y="491305"/>
                  </a:lnTo>
                  <a:lnTo>
                    <a:pt x="867974" y="495834"/>
                  </a:lnTo>
                  <a:lnTo>
                    <a:pt x="801365" y="499488"/>
                  </a:lnTo>
                  <a:lnTo>
                    <a:pt x="730180" y="502191"/>
                  </a:lnTo>
                  <a:lnTo>
                    <a:pt x="655107" y="503868"/>
                  </a:lnTo>
                  <a:lnTo>
                    <a:pt x="576833" y="504443"/>
                  </a:lnTo>
                  <a:lnTo>
                    <a:pt x="498560" y="503868"/>
                  </a:lnTo>
                  <a:lnTo>
                    <a:pt x="423487" y="502191"/>
                  </a:lnTo>
                  <a:lnTo>
                    <a:pt x="352302" y="499488"/>
                  </a:lnTo>
                  <a:lnTo>
                    <a:pt x="285693" y="495834"/>
                  </a:lnTo>
                  <a:lnTo>
                    <a:pt x="224346" y="491305"/>
                  </a:lnTo>
                  <a:lnTo>
                    <a:pt x="168949" y="485975"/>
                  </a:lnTo>
                  <a:lnTo>
                    <a:pt x="120189" y="479919"/>
                  </a:lnTo>
                  <a:lnTo>
                    <a:pt x="78754" y="473213"/>
                  </a:lnTo>
                  <a:lnTo>
                    <a:pt x="20604" y="458150"/>
                  </a:lnTo>
                  <a:lnTo>
                    <a:pt x="0" y="441388"/>
                  </a:lnTo>
                  <a:lnTo>
                    <a:pt x="0" y="63055"/>
                  </a:lnTo>
                </a:path>
              </a:pathLst>
            </a:custGeom>
            <a:ln w="9525">
              <a:solidFill>
                <a:srgbClr val="000000"/>
              </a:solidFill>
            </a:ln>
          </p:spPr>
          <p:txBody>
            <a:bodyPr wrap="square" lIns="0" tIns="0" rIns="0" bIns="0" rtlCol="0"/>
            <a:lstStyle/>
            <a:p/>
          </p:txBody>
        </p:sp>
      </p:grpSp>
      <p:sp>
        <p:nvSpPr>
          <p:cNvPr id="72" name="object 72" descr=""/>
          <p:cNvSpPr txBox="1"/>
          <p:nvPr/>
        </p:nvSpPr>
        <p:spPr>
          <a:xfrm>
            <a:off x="5084889" y="5813417"/>
            <a:ext cx="847090" cy="239395"/>
          </a:xfrm>
          <a:prstGeom prst="rect">
            <a:avLst/>
          </a:prstGeom>
        </p:spPr>
        <p:txBody>
          <a:bodyPr wrap="square" lIns="0" tIns="12700" rIns="0" bIns="0" rtlCol="0" vert="horz">
            <a:spAutoFit/>
          </a:bodyPr>
          <a:lstStyle/>
          <a:p>
            <a:pPr marL="12700">
              <a:lnSpc>
                <a:spcPct val="100000"/>
              </a:lnSpc>
              <a:spcBef>
                <a:spcPts val="100"/>
              </a:spcBef>
            </a:pPr>
            <a:r>
              <a:rPr dirty="0" sz="1400" spc="-10" b="1">
                <a:solidFill>
                  <a:srgbClr val="FFFF00"/>
                </a:solidFill>
                <a:latin typeface="Calibri"/>
                <a:cs typeface="Calibri"/>
              </a:rPr>
              <a:t>Knowledge</a:t>
            </a:r>
            <a:endParaRPr sz="1400">
              <a:latin typeface="Calibri"/>
              <a:cs typeface="Calibri"/>
            </a:endParaRPr>
          </a:p>
        </p:txBody>
      </p:sp>
      <p:pic>
        <p:nvPicPr>
          <p:cNvPr id="73" name="object 73" descr=""/>
          <p:cNvPicPr/>
          <p:nvPr/>
        </p:nvPicPr>
        <p:blipFill>
          <a:blip r:embed="rId11" cstate="print"/>
          <a:stretch>
            <a:fillRect/>
          </a:stretch>
        </p:blipFill>
        <p:spPr>
          <a:xfrm>
            <a:off x="7443596" y="1770242"/>
            <a:ext cx="1638593" cy="3613668"/>
          </a:xfrm>
          <a:prstGeom prst="rect">
            <a:avLst/>
          </a:prstGeom>
        </p:spPr>
      </p:pic>
      <p:sp>
        <p:nvSpPr>
          <p:cNvPr id="74" name="object 7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53</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36953"/>
            <a:ext cx="7884159" cy="574040"/>
          </a:xfrm>
          <a:prstGeom prst="rect"/>
        </p:spPr>
        <p:txBody>
          <a:bodyPr wrap="square" lIns="0" tIns="12700" rIns="0" bIns="0" rtlCol="0" vert="horz">
            <a:spAutoFit/>
          </a:bodyPr>
          <a:lstStyle/>
          <a:p>
            <a:pPr marL="12700">
              <a:lnSpc>
                <a:spcPct val="100000"/>
              </a:lnSpc>
              <a:spcBef>
                <a:spcPts val="100"/>
              </a:spcBef>
            </a:pPr>
            <a:r>
              <a:rPr dirty="0" sz="3600"/>
              <a:t>Deep</a:t>
            </a:r>
            <a:r>
              <a:rPr dirty="0" sz="3600" spc="-40"/>
              <a:t> </a:t>
            </a:r>
            <a:r>
              <a:rPr dirty="0" sz="3600"/>
              <a:t>CNN</a:t>
            </a:r>
            <a:r>
              <a:rPr dirty="0" sz="3600" spc="-30"/>
              <a:t> </a:t>
            </a:r>
            <a:r>
              <a:rPr dirty="0" sz="3600"/>
              <a:t>for</a:t>
            </a:r>
            <a:r>
              <a:rPr dirty="0" sz="3600" spc="-25"/>
              <a:t> </a:t>
            </a:r>
            <a:r>
              <a:rPr dirty="0" sz="3600"/>
              <a:t>Knowledge</a:t>
            </a:r>
            <a:r>
              <a:rPr dirty="0" sz="3600" spc="-45"/>
              <a:t> </a:t>
            </a:r>
            <a:r>
              <a:rPr dirty="0" sz="3600" spc="-10"/>
              <a:t>Transfer</a:t>
            </a:r>
            <a:endParaRPr sz="3600"/>
          </a:p>
        </p:txBody>
      </p:sp>
      <p:sp>
        <p:nvSpPr>
          <p:cNvPr id="3" name="object 3" descr=""/>
          <p:cNvSpPr txBox="1"/>
          <p:nvPr/>
        </p:nvSpPr>
        <p:spPr>
          <a:xfrm>
            <a:off x="322597" y="5120528"/>
            <a:ext cx="8096884" cy="1244600"/>
          </a:xfrm>
          <a:prstGeom prst="rect">
            <a:avLst/>
          </a:prstGeom>
        </p:spPr>
        <p:txBody>
          <a:bodyPr wrap="square" lIns="0" tIns="12065" rIns="0" bIns="0" rtlCol="0" vert="horz">
            <a:spAutoFit/>
          </a:bodyPr>
          <a:lstStyle/>
          <a:p>
            <a:pPr marL="12700" marR="5080">
              <a:lnSpc>
                <a:spcPct val="100000"/>
              </a:lnSpc>
              <a:spcBef>
                <a:spcPts val="95"/>
              </a:spcBef>
            </a:pPr>
            <a:r>
              <a:rPr dirty="0" sz="1600">
                <a:latin typeface="Calibri"/>
                <a:cs typeface="Calibri"/>
              </a:rPr>
              <a:t>The</a:t>
            </a:r>
            <a:r>
              <a:rPr dirty="0" sz="1600" spc="-45">
                <a:latin typeface="Calibri"/>
                <a:cs typeface="Calibri"/>
              </a:rPr>
              <a:t> </a:t>
            </a:r>
            <a:r>
              <a:rPr dirty="0" sz="1600">
                <a:latin typeface="Calibri"/>
                <a:cs typeface="Calibri"/>
              </a:rPr>
              <a:t>network is</a:t>
            </a:r>
            <a:r>
              <a:rPr dirty="0" sz="1600" spc="-50">
                <a:latin typeface="Calibri"/>
                <a:cs typeface="Calibri"/>
              </a:rPr>
              <a:t> </a:t>
            </a:r>
            <a:r>
              <a:rPr dirty="0" sz="1600">
                <a:latin typeface="Calibri"/>
                <a:cs typeface="Calibri"/>
              </a:rPr>
              <a:t>trained</a:t>
            </a:r>
            <a:r>
              <a:rPr dirty="0" sz="1600" spc="-40">
                <a:latin typeface="Calibri"/>
                <a:cs typeface="Calibri"/>
              </a:rPr>
              <a:t> </a:t>
            </a:r>
            <a:r>
              <a:rPr dirty="0" sz="1600">
                <a:latin typeface="Calibri"/>
                <a:cs typeface="Calibri"/>
              </a:rPr>
              <a:t>on</a:t>
            </a:r>
            <a:r>
              <a:rPr dirty="0" sz="1600" spc="-25">
                <a:latin typeface="Calibri"/>
                <a:cs typeface="Calibri"/>
              </a:rPr>
              <a:t> </a:t>
            </a:r>
            <a:r>
              <a:rPr dirty="0" sz="1600">
                <a:latin typeface="Calibri"/>
                <a:cs typeface="Calibri"/>
              </a:rPr>
              <a:t>the</a:t>
            </a:r>
            <a:r>
              <a:rPr dirty="0" sz="1600" spc="-35">
                <a:latin typeface="Calibri"/>
                <a:cs typeface="Calibri"/>
              </a:rPr>
              <a:t> </a:t>
            </a:r>
            <a:r>
              <a:rPr dirty="0" sz="1600">
                <a:latin typeface="Calibri"/>
                <a:cs typeface="Calibri"/>
              </a:rPr>
              <a:t>source</a:t>
            </a:r>
            <a:r>
              <a:rPr dirty="0" sz="1600" spc="-20">
                <a:latin typeface="Calibri"/>
                <a:cs typeface="Calibri"/>
              </a:rPr>
              <a:t> </a:t>
            </a:r>
            <a:r>
              <a:rPr dirty="0" sz="1600">
                <a:latin typeface="Calibri"/>
                <a:cs typeface="Calibri"/>
              </a:rPr>
              <a:t>task</a:t>
            </a:r>
            <a:r>
              <a:rPr dirty="0" sz="1600" spc="-35">
                <a:latin typeface="Calibri"/>
                <a:cs typeface="Calibri"/>
              </a:rPr>
              <a:t> </a:t>
            </a:r>
            <a:r>
              <a:rPr dirty="0" sz="1600">
                <a:latin typeface="Calibri"/>
                <a:cs typeface="Calibri"/>
              </a:rPr>
              <a:t>(top</a:t>
            </a:r>
            <a:r>
              <a:rPr dirty="0" sz="1600" spc="-30">
                <a:latin typeface="Calibri"/>
                <a:cs typeface="Calibri"/>
              </a:rPr>
              <a:t> </a:t>
            </a:r>
            <a:r>
              <a:rPr dirty="0" sz="1600">
                <a:latin typeface="Calibri"/>
                <a:cs typeface="Calibri"/>
              </a:rPr>
              <a:t>row)</a:t>
            </a:r>
            <a:r>
              <a:rPr dirty="0" sz="1600" spc="-10">
                <a:latin typeface="Calibri"/>
                <a:cs typeface="Calibri"/>
              </a:rPr>
              <a:t> </a:t>
            </a:r>
            <a:r>
              <a:rPr dirty="0" sz="1600">
                <a:latin typeface="Calibri"/>
                <a:cs typeface="Calibri"/>
              </a:rPr>
              <a:t>with</a:t>
            </a:r>
            <a:r>
              <a:rPr dirty="0" sz="1600" spc="-40">
                <a:latin typeface="Calibri"/>
                <a:cs typeface="Calibri"/>
              </a:rPr>
              <a:t> </a:t>
            </a:r>
            <a:r>
              <a:rPr dirty="0" sz="1600">
                <a:latin typeface="Calibri"/>
                <a:cs typeface="Calibri"/>
              </a:rPr>
              <a:t>a</a:t>
            </a:r>
            <a:r>
              <a:rPr dirty="0" sz="1600" spc="-35">
                <a:latin typeface="Calibri"/>
                <a:cs typeface="Calibri"/>
              </a:rPr>
              <a:t> </a:t>
            </a:r>
            <a:r>
              <a:rPr dirty="0" sz="1600">
                <a:latin typeface="Calibri"/>
                <a:cs typeface="Calibri"/>
              </a:rPr>
              <a:t>large</a:t>
            </a:r>
            <a:r>
              <a:rPr dirty="0" sz="1600" spc="-45">
                <a:latin typeface="Calibri"/>
                <a:cs typeface="Calibri"/>
              </a:rPr>
              <a:t> </a:t>
            </a:r>
            <a:r>
              <a:rPr dirty="0" sz="1600">
                <a:latin typeface="Calibri"/>
                <a:cs typeface="Calibri"/>
              </a:rPr>
              <a:t>amount</a:t>
            </a:r>
            <a:r>
              <a:rPr dirty="0" sz="1600" spc="-35">
                <a:latin typeface="Calibri"/>
                <a:cs typeface="Calibri"/>
              </a:rPr>
              <a:t> </a:t>
            </a:r>
            <a:r>
              <a:rPr dirty="0" sz="1600">
                <a:latin typeface="Calibri"/>
                <a:cs typeface="Calibri"/>
              </a:rPr>
              <a:t>of</a:t>
            </a:r>
            <a:r>
              <a:rPr dirty="0" sz="1600" spc="-25">
                <a:latin typeface="Calibri"/>
                <a:cs typeface="Calibri"/>
              </a:rPr>
              <a:t> </a:t>
            </a:r>
            <a:r>
              <a:rPr dirty="0" sz="1600">
                <a:latin typeface="Calibri"/>
                <a:cs typeface="Calibri"/>
              </a:rPr>
              <a:t>available</a:t>
            </a:r>
            <a:r>
              <a:rPr dirty="0" sz="1600" spc="-65">
                <a:latin typeface="Calibri"/>
                <a:cs typeface="Calibri"/>
              </a:rPr>
              <a:t> </a:t>
            </a:r>
            <a:r>
              <a:rPr dirty="0" sz="1600" spc="-10">
                <a:latin typeface="Calibri"/>
                <a:cs typeface="Calibri"/>
              </a:rPr>
              <a:t>labelled </a:t>
            </a:r>
            <a:r>
              <a:rPr dirty="0" sz="1600">
                <a:latin typeface="Calibri"/>
                <a:cs typeface="Calibri"/>
              </a:rPr>
              <a:t>images.</a:t>
            </a:r>
            <a:r>
              <a:rPr dirty="0" sz="1600" spc="-45">
                <a:latin typeface="Calibri"/>
                <a:cs typeface="Calibri"/>
              </a:rPr>
              <a:t> </a:t>
            </a:r>
            <a:r>
              <a:rPr dirty="0" sz="1600" spc="-25">
                <a:latin typeface="Calibri"/>
                <a:cs typeface="Calibri"/>
              </a:rPr>
              <a:t>Pre-</a:t>
            </a:r>
            <a:r>
              <a:rPr dirty="0" sz="1600">
                <a:latin typeface="Calibri"/>
                <a:cs typeface="Calibri"/>
              </a:rPr>
              <a:t>trained</a:t>
            </a:r>
            <a:r>
              <a:rPr dirty="0" sz="1600" spc="-30">
                <a:latin typeface="Calibri"/>
                <a:cs typeface="Calibri"/>
              </a:rPr>
              <a:t> </a:t>
            </a:r>
            <a:r>
              <a:rPr dirty="0" sz="1600" spc="-10">
                <a:latin typeface="Calibri"/>
                <a:cs typeface="Calibri"/>
              </a:rPr>
              <a:t>parameters</a:t>
            </a:r>
            <a:r>
              <a:rPr dirty="0" sz="1600" spc="-15">
                <a:latin typeface="Calibri"/>
                <a:cs typeface="Calibri"/>
              </a:rPr>
              <a:t> </a:t>
            </a:r>
            <a:r>
              <a:rPr dirty="0" sz="1600">
                <a:latin typeface="Calibri"/>
                <a:cs typeface="Calibri"/>
              </a:rPr>
              <a:t>of</a:t>
            </a:r>
            <a:r>
              <a:rPr dirty="0" sz="1600" spc="-20">
                <a:latin typeface="Calibri"/>
                <a:cs typeface="Calibri"/>
              </a:rPr>
              <a:t> </a:t>
            </a:r>
            <a:r>
              <a:rPr dirty="0" sz="1600">
                <a:latin typeface="Calibri"/>
                <a:cs typeface="Calibri"/>
              </a:rPr>
              <a:t>the</a:t>
            </a:r>
            <a:r>
              <a:rPr dirty="0" sz="1600" spc="-40">
                <a:latin typeface="Calibri"/>
                <a:cs typeface="Calibri"/>
              </a:rPr>
              <a:t> </a:t>
            </a:r>
            <a:r>
              <a:rPr dirty="0" sz="1600">
                <a:latin typeface="Calibri"/>
                <a:cs typeface="Calibri"/>
              </a:rPr>
              <a:t>internal</a:t>
            </a:r>
            <a:r>
              <a:rPr dirty="0" sz="1600" spc="-45">
                <a:latin typeface="Calibri"/>
                <a:cs typeface="Calibri"/>
              </a:rPr>
              <a:t> </a:t>
            </a:r>
            <a:r>
              <a:rPr dirty="0" sz="1600" spc="-10">
                <a:latin typeface="Calibri"/>
                <a:cs typeface="Calibri"/>
              </a:rPr>
              <a:t>layers</a:t>
            </a:r>
            <a:r>
              <a:rPr dirty="0" sz="1600" spc="-40">
                <a:latin typeface="Calibri"/>
                <a:cs typeface="Calibri"/>
              </a:rPr>
              <a:t> </a:t>
            </a:r>
            <a:r>
              <a:rPr dirty="0" sz="1600">
                <a:latin typeface="Calibri"/>
                <a:cs typeface="Calibri"/>
              </a:rPr>
              <a:t>of</a:t>
            </a:r>
            <a:r>
              <a:rPr dirty="0" sz="1600" spc="-20">
                <a:latin typeface="Calibri"/>
                <a:cs typeface="Calibri"/>
              </a:rPr>
              <a:t> </a:t>
            </a:r>
            <a:r>
              <a:rPr dirty="0" sz="1600">
                <a:latin typeface="Calibri"/>
                <a:cs typeface="Calibri"/>
              </a:rPr>
              <a:t>the</a:t>
            </a:r>
            <a:r>
              <a:rPr dirty="0" sz="1600" spc="-40">
                <a:latin typeface="Calibri"/>
                <a:cs typeface="Calibri"/>
              </a:rPr>
              <a:t> </a:t>
            </a:r>
            <a:r>
              <a:rPr dirty="0" sz="1600">
                <a:latin typeface="Calibri"/>
                <a:cs typeface="Calibri"/>
              </a:rPr>
              <a:t>network </a:t>
            </a:r>
            <a:r>
              <a:rPr dirty="0" sz="1600" spc="-10">
                <a:latin typeface="Calibri"/>
                <a:cs typeface="Calibri"/>
              </a:rPr>
              <a:t>(C1-</a:t>
            </a:r>
            <a:r>
              <a:rPr dirty="0" sz="1600">
                <a:latin typeface="Calibri"/>
                <a:cs typeface="Calibri"/>
              </a:rPr>
              <a:t>FC7)</a:t>
            </a:r>
            <a:r>
              <a:rPr dirty="0" sz="1600" spc="-25">
                <a:latin typeface="Calibri"/>
                <a:cs typeface="Calibri"/>
              </a:rPr>
              <a:t> </a:t>
            </a:r>
            <a:r>
              <a:rPr dirty="0" sz="1600">
                <a:latin typeface="Calibri"/>
                <a:cs typeface="Calibri"/>
              </a:rPr>
              <a:t>are</a:t>
            </a:r>
            <a:r>
              <a:rPr dirty="0" sz="1600" spc="-15">
                <a:latin typeface="Calibri"/>
                <a:cs typeface="Calibri"/>
              </a:rPr>
              <a:t> </a:t>
            </a:r>
            <a:r>
              <a:rPr dirty="0" sz="1600">
                <a:latin typeface="Calibri"/>
                <a:cs typeface="Calibri"/>
              </a:rPr>
              <a:t>then</a:t>
            </a:r>
            <a:r>
              <a:rPr dirty="0" sz="1600" spc="-40">
                <a:latin typeface="Calibri"/>
                <a:cs typeface="Calibri"/>
              </a:rPr>
              <a:t> </a:t>
            </a:r>
            <a:r>
              <a:rPr dirty="0" sz="1600" spc="-10">
                <a:latin typeface="Calibri"/>
                <a:cs typeface="Calibri"/>
              </a:rPr>
              <a:t>transferred </a:t>
            </a:r>
            <a:r>
              <a:rPr dirty="0" sz="1600">
                <a:latin typeface="Calibri"/>
                <a:cs typeface="Calibri"/>
              </a:rPr>
              <a:t>to</a:t>
            </a:r>
            <a:r>
              <a:rPr dirty="0" sz="1600" spc="-40">
                <a:latin typeface="Calibri"/>
                <a:cs typeface="Calibri"/>
              </a:rPr>
              <a:t> </a:t>
            </a:r>
            <a:r>
              <a:rPr dirty="0" sz="1600">
                <a:latin typeface="Calibri"/>
                <a:cs typeface="Calibri"/>
              </a:rPr>
              <a:t>the</a:t>
            </a:r>
            <a:r>
              <a:rPr dirty="0" sz="1600" spc="-45">
                <a:latin typeface="Calibri"/>
                <a:cs typeface="Calibri"/>
              </a:rPr>
              <a:t> </a:t>
            </a:r>
            <a:r>
              <a:rPr dirty="0" sz="1600">
                <a:latin typeface="Calibri"/>
                <a:cs typeface="Calibri"/>
              </a:rPr>
              <a:t>target</a:t>
            </a:r>
            <a:r>
              <a:rPr dirty="0" sz="1600" spc="-25">
                <a:latin typeface="Calibri"/>
                <a:cs typeface="Calibri"/>
              </a:rPr>
              <a:t> </a:t>
            </a:r>
            <a:r>
              <a:rPr dirty="0" sz="1600">
                <a:latin typeface="Calibri"/>
                <a:cs typeface="Calibri"/>
              </a:rPr>
              <a:t>tasks</a:t>
            </a:r>
            <a:r>
              <a:rPr dirty="0" sz="1600" spc="-40">
                <a:latin typeface="Calibri"/>
                <a:cs typeface="Calibri"/>
              </a:rPr>
              <a:t> </a:t>
            </a:r>
            <a:r>
              <a:rPr dirty="0" sz="1600">
                <a:latin typeface="Calibri"/>
                <a:cs typeface="Calibri"/>
              </a:rPr>
              <a:t>(bottom</a:t>
            </a:r>
            <a:r>
              <a:rPr dirty="0" sz="1600" spc="-30">
                <a:latin typeface="Calibri"/>
                <a:cs typeface="Calibri"/>
              </a:rPr>
              <a:t> </a:t>
            </a:r>
            <a:r>
              <a:rPr dirty="0" sz="1600">
                <a:latin typeface="Calibri"/>
                <a:cs typeface="Calibri"/>
              </a:rPr>
              <a:t>row).</a:t>
            </a:r>
            <a:r>
              <a:rPr dirty="0" sz="1600" spc="-10">
                <a:latin typeface="Calibri"/>
                <a:cs typeface="Calibri"/>
              </a:rPr>
              <a:t> </a:t>
            </a:r>
            <a:r>
              <a:rPr dirty="0" sz="1600" spc="-60">
                <a:latin typeface="Calibri"/>
                <a:cs typeface="Calibri"/>
              </a:rPr>
              <a:t>To</a:t>
            </a:r>
            <a:r>
              <a:rPr dirty="0" sz="1600" spc="-30">
                <a:latin typeface="Calibri"/>
                <a:cs typeface="Calibri"/>
              </a:rPr>
              <a:t> </a:t>
            </a:r>
            <a:r>
              <a:rPr dirty="0" sz="1600" spc="-10">
                <a:latin typeface="Calibri"/>
                <a:cs typeface="Calibri"/>
              </a:rPr>
              <a:t>compensate</a:t>
            </a:r>
            <a:r>
              <a:rPr dirty="0" sz="1600" spc="-35">
                <a:latin typeface="Calibri"/>
                <a:cs typeface="Calibri"/>
              </a:rPr>
              <a:t> </a:t>
            </a:r>
            <a:r>
              <a:rPr dirty="0" sz="1600">
                <a:latin typeface="Calibri"/>
                <a:cs typeface="Calibri"/>
              </a:rPr>
              <a:t>for</a:t>
            </a:r>
            <a:r>
              <a:rPr dirty="0" sz="1600" spc="-25">
                <a:latin typeface="Calibri"/>
                <a:cs typeface="Calibri"/>
              </a:rPr>
              <a:t> </a:t>
            </a:r>
            <a:r>
              <a:rPr dirty="0" sz="1600">
                <a:latin typeface="Calibri"/>
                <a:cs typeface="Calibri"/>
              </a:rPr>
              <a:t>the</a:t>
            </a:r>
            <a:r>
              <a:rPr dirty="0" sz="1600" spc="-45">
                <a:latin typeface="Calibri"/>
                <a:cs typeface="Calibri"/>
              </a:rPr>
              <a:t> </a:t>
            </a:r>
            <a:r>
              <a:rPr dirty="0" sz="1600" spc="-10">
                <a:latin typeface="Calibri"/>
                <a:cs typeface="Calibri"/>
              </a:rPr>
              <a:t>different</a:t>
            </a:r>
            <a:r>
              <a:rPr dirty="0" sz="1600" spc="-35">
                <a:latin typeface="Calibri"/>
                <a:cs typeface="Calibri"/>
              </a:rPr>
              <a:t> </a:t>
            </a:r>
            <a:r>
              <a:rPr dirty="0" sz="1600">
                <a:latin typeface="Calibri"/>
                <a:cs typeface="Calibri"/>
              </a:rPr>
              <a:t>image</a:t>
            </a:r>
            <a:r>
              <a:rPr dirty="0" sz="1600" spc="-60">
                <a:latin typeface="Calibri"/>
                <a:cs typeface="Calibri"/>
              </a:rPr>
              <a:t> </a:t>
            </a:r>
            <a:r>
              <a:rPr dirty="0" sz="1600" spc="-10">
                <a:latin typeface="Calibri"/>
                <a:cs typeface="Calibri"/>
              </a:rPr>
              <a:t>statistics</a:t>
            </a:r>
            <a:r>
              <a:rPr dirty="0" sz="1600" spc="-75">
                <a:latin typeface="Calibri"/>
                <a:cs typeface="Calibri"/>
              </a:rPr>
              <a:t> </a:t>
            </a:r>
            <a:r>
              <a:rPr dirty="0" sz="1600">
                <a:latin typeface="Calibri"/>
                <a:cs typeface="Calibri"/>
              </a:rPr>
              <a:t>(type</a:t>
            </a:r>
            <a:r>
              <a:rPr dirty="0" sz="1600" spc="-20">
                <a:latin typeface="Calibri"/>
                <a:cs typeface="Calibri"/>
              </a:rPr>
              <a:t> </a:t>
            </a:r>
            <a:r>
              <a:rPr dirty="0" sz="1600">
                <a:latin typeface="Calibri"/>
                <a:cs typeface="Calibri"/>
              </a:rPr>
              <a:t>of</a:t>
            </a:r>
            <a:r>
              <a:rPr dirty="0" sz="1600" spc="-25">
                <a:latin typeface="Calibri"/>
                <a:cs typeface="Calibri"/>
              </a:rPr>
              <a:t> </a:t>
            </a:r>
            <a:r>
              <a:rPr dirty="0" sz="1600" spc="-10">
                <a:latin typeface="Calibri"/>
                <a:cs typeface="Calibri"/>
              </a:rPr>
              <a:t>objects, </a:t>
            </a:r>
            <a:r>
              <a:rPr dirty="0" sz="1600">
                <a:latin typeface="Calibri"/>
                <a:cs typeface="Calibri"/>
              </a:rPr>
              <a:t>typical</a:t>
            </a:r>
            <a:r>
              <a:rPr dirty="0" sz="1600" spc="-60">
                <a:latin typeface="Calibri"/>
                <a:cs typeface="Calibri"/>
              </a:rPr>
              <a:t> </a:t>
            </a:r>
            <a:r>
              <a:rPr dirty="0" sz="1600">
                <a:latin typeface="Calibri"/>
                <a:cs typeface="Calibri"/>
              </a:rPr>
              <a:t>viewpoints,</a:t>
            </a:r>
            <a:r>
              <a:rPr dirty="0" sz="1600" spc="-25">
                <a:latin typeface="Calibri"/>
                <a:cs typeface="Calibri"/>
              </a:rPr>
              <a:t> </a:t>
            </a:r>
            <a:r>
              <a:rPr dirty="0" sz="1600">
                <a:latin typeface="Calibri"/>
                <a:cs typeface="Calibri"/>
              </a:rPr>
              <a:t>imaging</a:t>
            </a:r>
            <a:r>
              <a:rPr dirty="0" sz="1600" spc="-75">
                <a:latin typeface="Calibri"/>
                <a:cs typeface="Calibri"/>
              </a:rPr>
              <a:t> </a:t>
            </a:r>
            <a:r>
              <a:rPr dirty="0" sz="1600">
                <a:latin typeface="Calibri"/>
                <a:cs typeface="Calibri"/>
              </a:rPr>
              <a:t>conditions)</a:t>
            </a:r>
            <a:r>
              <a:rPr dirty="0" sz="1600" spc="-45">
                <a:latin typeface="Calibri"/>
                <a:cs typeface="Calibri"/>
              </a:rPr>
              <a:t> </a:t>
            </a:r>
            <a:r>
              <a:rPr dirty="0" sz="1600">
                <a:latin typeface="Calibri"/>
                <a:cs typeface="Calibri"/>
              </a:rPr>
              <a:t>of</a:t>
            </a:r>
            <a:r>
              <a:rPr dirty="0" sz="1600" spc="-25">
                <a:latin typeface="Calibri"/>
                <a:cs typeface="Calibri"/>
              </a:rPr>
              <a:t> </a:t>
            </a:r>
            <a:r>
              <a:rPr dirty="0" sz="1600">
                <a:latin typeface="Calibri"/>
                <a:cs typeface="Calibri"/>
              </a:rPr>
              <a:t>the</a:t>
            </a:r>
            <a:r>
              <a:rPr dirty="0" sz="1600" spc="-50">
                <a:latin typeface="Calibri"/>
                <a:cs typeface="Calibri"/>
              </a:rPr>
              <a:t> </a:t>
            </a:r>
            <a:r>
              <a:rPr dirty="0" sz="1600">
                <a:latin typeface="Calibri"/>
                <a:cs typeface="Calibri"/>
              </a:rPr>
              <a:t>source</a:t>
            </a:r>
            <a:r>
              <a:rPr dirty="0" sz="1600" spc="-15">
                <a:latin typeface="Calibri"/>
                <a:cs typeface="Calibri"/>
              </a:rPr>
              <a:t> </a:t>
            </a:r>
            <a:r>
              <a:rPr dirty="0" sz="1600">
                <a:latin typeface="Calibri"/>
                <a:cs typeface="Calibri"/>
              </a:rPr>
              <a:t>and</a:t>
            </a:r>
            <a:r>
              <a:rPr dirty="0" sz="1600" spc="-55">
                <a:latin typeface="Calibri"/>
                <a:cs typeface="Calibri"/>
              </a:rPr>
              <a:t> </a:t>
            </a:r>
            <a:r>
              <a:rPr dirty="0" sz="1600">
                <a:latin typeface="Calibri"/>
                <a:cs typeface="Calibri"/>
              </a:rPr>
              <a:t>target</a:t>
            </a:r>
            <a:r>
              <a:rPr dirty="0" sz="1600" spc="-25">
                <a:latin typeface="Calibri"/>
                <a:cs typeface="Calibri"/>
              </a:rPr>
              <a:t> </a:t>
            </a:r>
            <a:r>
              <a:rPr dirty="0" sz="1600">
                <a:latin typeface="Calibri"/>
                <a:cs typeface="Calibri"/>
              </a:rPr>
              <a:t>data,</a:t>
            </a:r>
            <a:r>
              <a:rPr dirty="0" sz="1600" spc="-45">
                <a:latin typeface="Calibri"/>
                <a:cs typeface="Calibri"/>
              </a:rPr>
              <a:t> </a:t>
            </a:r>
            <a:r>
              <a:rPr dirty="0" sz="1600">
                <a:latin typeface="Calibri"/>
                <a:cs typeface="Calibri"/>
              </a:rPr>
              <a:t>an</a:t>
            </a:r>
            <a:r>
              <a:rPr dirty="0" sz="1600" spc="-55">
                <a:latin typeface="Calibri"/>
                <a:cs typeface="Calibri"/>
              </a:rPr>
              <a:t> </a:t>
            </a:r>
            <a:r>
              <a:rPr dirty="0" sz="1600">
                <a:latin typeface="Calibri"/>
                <a:cs typeface="Calibri"/>
              </a:rPr>
              <a:t>adaptation</a:t>
            </a:r>
            <a:r>
              <a:rPr dirty="0" sz="1600" spc="-55">
                <a:latin typeface="Calibri"/>
                <a:cs typeface="Calibri"/>
              </a:rPr>
              <a:t> </a:t>
            </a:r>
            <a:r>
              <a:rPr dirty="0" sz="1600">
                <a:latin typeface="Calibri"/>
                <a:cs typeface="Calibri"/>
              </a:rPr>
              <a:t>layer</a:t>
            </a:r>
            <a:r>
              <a:rPr dirty="0" sz="1600" spc="-50">
                <a:latin typeface="Calibri"/>
                <a:cs typeface="Calibri"/>
              </a:rPr>
              <a:t> </a:t>
            </a:r>
            <a:r>
              <a:rPr dirty="0" sz="1600" spc="-10">
                <a:latin typeface="Calibri"/>
                <a:cs typeface="Calibri"/>
              </a:rPr>
              <a:t>(fully </a:t>
            </a:r>
            <a:r>
              <a:rPr dirty="0" sz="1600">
                <a:latin typeface="Calibri"/>
                <a:cs typeface="Calibri"/>
              </a:rPr>
              <a:t>connected</a:t>
            </a:r>
            <a:r>
              <a:rPr dirty="0" sz="1600" spc="-25">
                <a:latin typeface="Calibri"/>
                <a:cs typeface="Calibri"/>
              </a:rPr>
              <a:t> </a:t>
            </a:r>
            <a:r>
              <a:rPr dirty="0" sz="1600" spc="-10">
                <a:latin typeface="Calibri"/>
                <a:cs typeface="Calibri"/>
              </a:rPr>
              <a:t>layers</a:t>
            </a:r>
            <a:r>
              <a:rPr dirty="0" sz="1600" spc="-25">
                <a:latin typeface="Calibri"/>
                <a:cs typeface="Calibri"/>
              </a:rPr>
              <a:t> </a:t>
            </a:r>
            <a:r>
              <a:rPr dirty="0" sz="1600">
                <a:latin typeface="Calibri"/>
                <a:cs typeface="Calibri"/>
              </a:rPr>
              <a:t>FCa</a:t>
            </a:r>
            <a:r>
              <a:rPr dirty="0" sz="1600" spc="-25">
                <a:latin typeface="Calibri"/>
                <a:cs typeface="Calibri"/>
              </a:rPr>
              <a:t> </a:t>
            </a:r>
            <a:r>
              <a:rPr dirty="0" sz="1600">
                <a:latin typeface="Calibri"/>
                <a:cs typeface="Calibri"/>
              </a:rPr>
              <a:t>and</a:t>
            </a:r>
            <a:r>
              <a:rPr dirty="0" sz="1600" spc="-45">
                <a:latin typeface="Calibri"/>
                <a:cs typeface="Calibri"/>
              </a:rPr>
              <a:t> </a:t>
            </a:r>
            <a:r>
              <a:rPr dirty="0" sz="1600">
                <a:latin typeface="Calibri"/>
                <a:cs typeface="Calibri"/>
              </a:rPr>
              <a:t>FCb)</a:t>
            </a:r>
            <a:r>
              <a:rPr dirty="0" sz="1600" spc="-25">
                <a:latin typeface="Calibri"/>
                <a:cs typeface="Calibri"/>
              </a:rPr>
              <a:t> </a:t>
            </a:r>
            <a:r>
              <a:rPr dirty="0" sz="1600">
                <a:latin typeface="Calibri"/>
                <a:cs typeface="Calibri"/>
              </a:rPr>
              <a:t>is</a:t>
            </a:r>
            <a:r>
              <a:rPr dirty="0" sz="1600" spc="-35">
                <a:latin typeface="Calibri"/>
                <a:cs typeface="Calibri"/>
              </a:rPr>
              <a:t> </a:t>
            </a:r>
            <a:r>
              <a:rPr dirty="0" sz="1600">
                <a:latin typeface="Calibri"/>
                <a:cs typeface="Calibri"/>
              </a:rPr>
              <a:t>added</a:t>
            </a:r>
            <a:r>
              <a:rPr dirty="0" sz="1600" spc="-45">
                <a:latin typeface="Calibri"/>
                <a:cs typeface="Calibri"/>
              </a:rPr>
              <a:t> </a:t>
            </a:r>
            <a:r>
              <a:rPr dirty="0" sz="1600">
                <a:latin typeface="Calibri"/>
                <a:cs typeface="Calibri"/>
              </a:rPr>
              <a:t>and</a:t>
            </a:r>
            <a:r>
              <a:rPr dirty="0" sz="1600" spc="-30">
                <a:latin typeface="Calibri"/>
                <a:cs typeface="Calibri"/>
              </a:rPr>
              <a:t> </a:t>
            </a:r>
            <a:r>
              <a:rPr dirty="0" sz="1600">
                <a:latin typeface="Calibri"/>
                <a:cs typeface="Calibri"/>
              </a:rPr>
              <a:t>trained</a:t>
            </a:r>
            <a:r>
              <a:rPr dirty="0" sz="1600" spc="-35">
                <a:latin typeface="Calibri"/>
                <a:cs typeface="Calibri"/>
              </a:rPr>
              <a:t> </a:t>
            </a:r>
            <a:r>
              <a:rPr dirty="0" sz="1600">
                <a:latin typeface="Calibri"/>
                <a:cs typeface="Calibri"/>
              </a:rPr>
              <a:t>on</a:t>
            </a:r>
            <a:r>
              <a:rPr dirty="0" sz="1600" spc="-20">
                <a:latin typeface="Calibri"/>
                <a:cs typeface="Calibri"/>
              </a:rPr>
              <a:t> </a:t>
            </a:r>
            <a:r>
              <a:rPr dirty="0" sz="1600">
                <a:latin typeface="Calibri"/>
                <a:cs typeface="Calibri"/>
              </a:rPr>
              <a:t>the</a:t>
            </a:r>
            <a:r>
              <a:rPr dirty="0" sz="1600" spc="-35">
                <a:latin typeface="Calibri"/>
                <a:cs typeface="Calibri"/>
              </a:rPr>
              <a:t> </a:t>
            </a:r>
            <a:r>
              <a:rPr dirty="0" sz="1600">
                <a:latin typeface="Calibri"/>
                <a:cs typeface="Calibri"/>
              </a:rPr>
              <a:t>labelled</a:t>
            </a:r>
            <a:r>
              <a:rPr dirty="0" sz="1600" spc="-55">
                <a:latin typeface="Calibri"/>
                <a:cs typeface="Calibri"/>
              </a:rPr>
              <a:t> </a:t>
            </a:r>
            <a:r>
              <a:rPr dirty="0" sz="1600">
                <a:latin typeface="Calibri"/>
                <a:cs typeface="Calibri"/>
              </a:rPr>
              <a:t>data</a:t>
            </a:r>
            <a:r>
              <a:rPr dirty="0" sz="1600" spc="-40">
                <a:latin typeface="Calibri"/>
                <a:cs typeface="Calibri"/>
              </a:rPr>
              <a:t> </a:t>
            </a:r>
            <a:r>
              <a:rPr dirty="0" sz="1600">
                <a:latin typeface="Calibri"/>
                <a:cs typeface="Calibri"/>
              </a:rPr>
              <a:t>of</a:t>
            </a:r>
            <a:r>
              <a:rPr dirty="0" sz="1600" spc="-15">
                <a:latin typeface="Calibri"/>
                <a:cs typeface="Calibri"/>
              </a:rPr>
              <a:t> </a:t>
            </a:r>
            <a:r>
              <a:rPr dirty="0" sz="1600">
                <a:latin typeface="Calibri"/>
                <a:cs typeface="Calibri"/>
              </a:rPr>
              <a:t>the</a:t>
            </a:r>
            <a:r>
              <a:rPr dirty="0" sz="1600" spc="-25">
                <a:latin typeface="Calibri"/>
                <a:cs typeface="Calibri"/>
              </a:rPr>
              <a:t> </a:t>
            </a:r>
            <a:r>
              <a:rPr dirty="0" sz="1600">
                <a:latin typeface="Calibri"/>
                <a:cs typeface="Calibri"/>
              </a:rPr>
              <a:t>target</a:t>
            </a:r>
            <a:r>
              <a:rPr dirty="0" sz="1600" spc="-15">
                <a:latin typeface="Calibri"/>
                <a:cs typeface="Calibri"/>
              </a:rPr>
              <a:t> </a:t>
            </a:r>
            <a:r>
              <a:rPr dirty="0" sz="1600" spc="-10">
                <a:latin typeface="Calibri"/>
                <a:cs typeface="Calibri"/>
              </a:rPr>
              <a:t>task.</a:t>
            </a:r>
            <a:endParaRPr sz="1600">
              <a:latin typeface="Calibri"/>
              <a:cs typeface="Calibri"/>
            </a:endParaRPr>
          </a:p>
        </p:txBody>
      </p:sp>
      <p:pic>
        <p:nvPicPr>
          <p:cNvPr id="4" name="object 4" descr=""/>
          <p:cNvPicPr/>
          <p:nvPr/>
        </p:nvPicPr>
        <p:blipFill>
          <a:blip r:embed="rId2" cstate="print"/>
          <a:stretch>
            <a:fillRect/>
          </a:stretch>
        </p:blipFill>
        <p:spPr>
          <a:xfrm>
            <a:off x="63426" y="847056"/>
            <a:ext cx="9038289" cy="4133567"/>
          </a:xfrm>
          <a:prstGeom prst="rect">
            <a:avLst/>
          </a:prstGeom>
        </p:spPr>
      </p:pic>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54</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txBox="1"/>
          <p:nvPr/>
        </p:nvSpPr>
        <p:spPr>
          <a:xfrm>
            <a:off x="2536189" y="4827461"/>
            <a:ext cx="1371600" cy="685165"/>
          </a:xfrm>
          <a:prstGeom prst="rect">
            <a:avLst/>
          </a:prstGeom>
        </p:spPr>
        <p:txBody>
          <a:bodyPr wrap="square" lIns="0" tIns="12700" rIns="0" bIns="0" rtlCol="0" vert="horz">
            <a:spAutoFit/>
          </a:bodyPr>
          <a:lstStyle/>
          <a:p>
            <a:pPr marL="12700">
              <a:lnSpc>
                <a:spcPct val="100000"/>
              </a:lnSpc>
              <a:spcBef>
                <a:spcPts val="100"/>
              </a:spcBef>
            </a:pPr>
            <a:r>
              <a:rPr dirty="0" sz="2400" b="1">
                <a:solidFill>
                  <a:srgbClr val="000044"/>
                </a:solidFill>
                <a:latin typeface="Calibri"/>
                <a:cs typeface="Calibri"/>
              </a:rPr>
              <a:t>VISIT</a:t>
            </a:r>
            <a:r>
              <a:rPr dirty="0" sz="2400" spc="-35" b="1">
                <a:solidFill>
                  <a:srgbClr val="000044"/>
                </a:solidFill>
                <a:latin typeface="Calibri"/>
                <a:cs typeface="Calibri"/>
              </a:rPr>
              <a:t> </a:t>
            </a:r>
            <a:r>
              <a:rPr dirty="0" sz="2400" spc="-25" b="1">
                <a:solidFill>
                  <a:srgbClr val="000044"/>
                </a:solidFill>
                <a:latin typeface="Calibri"/>
                <a:cs typeface="Calibri"/>
              </a:rPr>
              <a:t>US</a:t>
            </a:r>
            <a:endParaRPr sz="2400">
              <a:latin typeface="Calibri"/>
              <a:cs typeface="Calibri"/>
            </a:endParaRPr>
          </a:p>
          <a:p>
            <a:pPr marL="17145">
              <a:lnSpc>
                <a:spcPct val="100000"/>
              </a:lnSpc>
              <a:spcBef>
                <a:spcPts val="869"/>
              </a:spcBef>
            </a:pPr>
            <a:r>
              <a:rPr dirty="0" u="sng" sz="1200" spc="-10" b="1">
                <a:solidFill>
                  <a:srgbClr val="0000FF"/>
                </a:solidFill>
                <a:uFill>
                  <a:solidFill>
                    <a:srgbClr val="0000FF"/>
                  </a:solidFill>
                </a:uFill>
                <a:latin typeface="Calibri"/>
                <a:cs typeface="Calibri"/>
                <a:hlinkClick r:id="rId2"/>
              </a:rPr>
              <a:t>WWW.XJTLU.EDU.CN</a:t>
            </a:r>
            <a:endParaRPr sz="1200">
              <a:latin typeface="Calibri"/>
              <a:cs typeface="Calibri"/>
            </a:endParaRPr>
          </a:p>
        </p:txBody>
      </p:sp>
      <p:pic>
        <p:nvPicPr>
          <p:cNvPr id="3" name="object 3" descr=""/>
          <p:cNvPicPr/>
          <p:nvPr/>
        </p:nvPicPr>
        <p:blipFill>
          <a:blip r:embed="rId3" cstate="print"/>
          <a:stretch>
            <a:fillRect/>
          </a:stretch>
        </p:blipFill>
        <p:spPr>
          <a:xfrm>
            <a:off x="1530430" y="4628734"/>
            <a:ext cx="869535" cy="869524"/>
          </a:xfrm>
          <a:prstGeom prst="rect">
            <a:avLst/>
          </a:prstGeom>
        </p:spPr>
      </p:pic>
      <p:pic>
        <p:nvPicPr>
          <p:cNvPr id="4" name="object 4" descr=""/>
          <p:cNvPicPr/>
          <p:nvPr/>
        </p:nvPicPr>
        <p:blipFill>
          <a:blip r:embed="rId4" cstate="print"/>
          <a:stretch>
            <a:fillRect/>
          </a:stretch>
        </p:blipFill>
        <p:spPr>
          <a:xfrm>
            <a:off x="3878088" y="5968293"/>
            <a:ext cx="1815057" cy="376760"/>
          </a:xfrm>
          <a:prstGeom prst="rect">
            <a:avLst/>
          </a:prstGeom>
        </p:spPr>
      </p:pic>
      <p:pic>
        <p:nvPicPr>
          <p:cNvPr id="5" name="object 5" descr=""/>
          <p:cNvPicPr/>
          <p:nvPr/>
        </p:nvPicPr>
        <p:blipFill>
          <a:blip r:embed="rId5" cstate="print"/>
          <a:stretch>
            <a:fillRect/>
          </a:stretch>
        </p:blipFill>
        <p:spPr>
          <a:xfrm>
            <a:off x="3468875" y="5953071"/>
            <a:ext cx="324352" cy="408157"/>
          </a:xfrm>
          <a:prstGeom prst="rect">
            <a:avLst/>
          </a:prstGeom>
        </p:spPr>
      </p:pic>
      <p:sp>
        <p:nvSpPr>
          <p:cNvPr id="6" name="object 6"/>
          <p:cNvSpPr txBox="1">
            <a:spLocks noGrp="1"/>
          </p:cNvSpPr>
          <p:nvPr>
            <p:ph type="title"/>
          </p:nvPr>
        </p:nvSpPr>
        <p:spPr>
          <a:xfrm>
            <a:off x="2199132" y="2828544"/>
            <a:ext cx="4732020" cy="1146175"/>
          </a:xfrm>
          <a:prstGeom prst="rect"/>
          <a:solidFill>
            <a:srgbClr val="000544"/>
          </a:solidFill>
        </p:spPr>
        <p:txBody>
          <a:bodyPr wrap="square" lIns="0" tIns="32384" rIns="0" bIns="0" rtlCol="0" vert="horz">
            <a:spAutoFit/>
          </a:bodyPr>
          <a:lstStyle/>
          <a:p>
            <a:pPr marL="475615">
              <a:lnSpc>
                <a:spcPct val="100000"/>
              </a:lnSpc>
              <a:spcBef>
                <a:spcPts val="254"/>
              </a:spcBef>
            </a:pPr>
            <a:r>
              <a:rPr dirty="0" sz="6000">
                <a:solidFill>
                  <a:srgbClr val="FFFFFF"/>
                </a:solidFill>
                <a:latin typeface="Calibri"/>
                <a:cs typeface="Calibri"/>
              </a:rPr>
              <a:t>THANK</a:t>
            </a:r>
            <a:r>
              <a:rPr dirty="0" sz="6000" spc="-100">
                <a:solidFill>
                  <a:srgbClr val="FFFFFF"/>
                </a:solidFill>
                <a:latin typeface="Calibri"/>
                <a:cs typeface="Calibri"/>
              </a:rPr>
              <a:t> </a:t>
            </a:r>
            <a:r>
              <a:rPr dirty="0" sz="6000" spc="-25">
                <a:solidFill>
                  <a:srgbClr val="FFFFFF"/>
                </a:solidFill>
                <a:latin typeface="Calibri"/>
                <a:cs typeface="Calibri"/>
              </a:rPr>
              <a:t>YOU</a:t>
            </a:r>
            <a:endParaRPr sz="6000">
              <a:latin typeface="Calibri"/>
              <a:cs typeface="Calibri"/>
            </a:endParaRPr>
          </a:p>
        </p:txBody>
      </p:sp>
      <p:sp>
        <p:nvSpPr>
          <p:cNvPr id="7" name="object 7" descr=""/>
          <p:cNvSpPr/>
          <p:nvPr/>
        </p:nvSpPr>
        <p:spPr>
          <a:xfrm>
            <a:off x="2558795" y="4643628"/>
            <a:ext cx="289560" cy="66040"/>
          </a:xfrm>
          <a:custGeom>
            <a:avLst/>
            <a:gdLst/>
            <a:ahLst/>
            <a:cxnLst/>
            <a:rect l="l" t="t" r="r" b="b"/>
            <a:pathLst>
              <a:path w="289560" h="66039">
                <a:moveTo>
                  <a:pt x="289560" y="0"/>
                </a:moveTo>
                <a:lnTo>
                  <a:pt x="0" y="0"/>
                </a:lnTo>
                <a:lnTo>
                  <a:pt x="0" y="65532"/>
                </a:lnTo>
                <a:lnTo>
                  <a:pt x="289560" y="65532"/>
                </a:lnTo>
                <a:lnTo>
                  <a:pt x="289560" y="0"/>
                </a:lnTo>
                <a:close/>
              </a:path>
            </a:pathLst>
          </a:custGeom>
          <a:solidFill>
            <a:srgbClr val="BA55A0"/>
          </a:solidFill>
        </p:spPr>
        <p:txBody>
          <a:bodyPr wrap="square" lIns="0" tIns="0" rIns="0" bIns="0" rtlCol="0"/>
          <a:lstStyle/>
          <a:p/>
        </p:txBody>
      </p:sp>
      <p:sp>
        <p:nvSpPr>
          <p:cNvPr id="8" name="object 8" descr=""/>
          <p:cNvSpPr txBox="1"/>
          <p:nvPr/>
        </p:nvSpPr>
        <p:spPr>
          <a:xfrm>
            <a:off x="6728777" y="4821110"/>
            <a:ext cx="1512570" cy="691515"/>
          </a:xfrm>
          <a:prstGeom prst="rect">
            <a:avLst/>
          </a:prstGeom>
        </p:spPr>
        <p:txBody>
          <a:bodyPr wrap="square" lIns="0" tIns="12700" rIns="0" bIns="0" rtlCol="0" vert="horz">
            <a:spAutoFit/>
          </a:bodyPr>
          <a:lstStyle/>
          <a:p>
            <a:pPr marL="12700">
              <a:lnSpc>
                <a:spcPct val="100000"/>
              </a:lnSpc>
              <a:spcBef>
                <a:spcPts val="100"/>
              </a:spcBef>
            </a:pPr>
            <a:r>
              <a:rPr dirty="0" sz="2400" spc="-10" b="1">
                <a:solidFill>
                  <a:srgbClr val="000044"/>
                </a:solidFill>
                <a:latin typeface="Calibri"/>
                <a:cs typeface="Calibri"/>
              </a:rPr>
              <a:t>FOLLOW</a:t>
            </a:r>
            <a:r>
              <a:rPr dirty="0" sz="2400" spc="-95" b="1">
                <a:solidFill>
                  <a:srgbClr val="000044"/>
                </a:solidFill>
                <a:latin typeface="Calibri"/>
                <a:cs typeface="Calibri"/>
              </a:rPr>
              <a:t> </a:t>
            </a:r>
            <a:r>
              <a:rPr dirty="0" sz="2400" spc="-25" b="1">
                <a:solidFill>
                  <a:srgbClr val="000044"/>
                </a:solidFill>
                <a:latin typeface="Calibri"/>
                <a:cs typeface="Calibri"/>
              </a:rPr>
              <a:t>US</a:t>
            </a:r>
            <a:endParaRPr sz="2400">
              <a:latin typeface="Calibri"/>
              <a:cs typeface="Calibri"/>
            </a:endParaRPr>
          </a:p>
          <a:p>
            <a:pPr marL="33020">
              <a:lnSpc>
                <a:spcPct val="100000"/>
              </a:lnSpc>
              <a:spcBef>
                <a:spcPts val="919"/>
              </a:spcBef>
            </a:pPr>
            <a:r>
              <a:rPr dirty="0" sz="1200" spc="-10" b="1">
                <a:solidFill>
                  <a:srgbClr val="BA55A0"/>
                </a:solidFill>
                <a:latin typeface="Calibri"/>
                <a:cs typeface="Calibri"/>
              </a:rPr>
              <a:t>@XJTLU</a:t>
            </a:r>
            <a:endParaRPr sz="1200">
              <a:latin typeface="Calibri"/>
              <a:cs typeface="Calibri"/>
            </a:endParaRPr>
          </a:p>
        </p:txBody>
      </p:sp>
      <p:sp>
        <p:nvSpPr>
          <p:cNvPr id="9" name="object 9" descr=""/>
          <p:cNvSpPr/>
          <p:nvPr/>
        </p:nvSpPr>
        <p:spPr>
          <a:xfrm>
            <a:off x="6751319" y="4643628"/>
            <a:ext cx="289560" cy="66040"/>
          </a:xfrm>
          <a:custGeom>
            <a:avLst/>
            <a:gdLst/>
            <a:ahLst/>
            <a:cxnLst/>
            <a:rect l="l" t="t" r="r" b="b"/>
            <a:pathLst>
              <a:path w="289559" h="66039">
                <a:moveTo>
                  <a:pt x="289559" y="0"/>
                </a:moveTo>
                <a:lnTo>
                  <a:pt x="0" y="0"/>
                </a:lnTo>
                <a:lnTo>
                  <a:pt x="0" y="65532"/>
                </a:lnTo>
                <a:lnTo>
                  <a:pt x="289559" y="65532"/>
                </a:lnTo>
                <a:lnTo>
                  <a:pt x="289559" y="0"/>
                </a:lnTo>
                <a:close/>
              </a:path>
            </a:pathLst>
          </a:custGeom>
          <a:solidFill>
            <a:srgbClr val="BA55A0"/>
          </a:solidFill>
        </p:spPr>
        <p:txBody>
          <a:bodyPr wrap="square" lIns="0" tIns="0" rIns="0" bIns="0" rtlCol="0"/>
          <a:lstStyle/>
          <a:p/>
        </p:txBody>
      </p:sp>
      <p:grpSp>
        <p:nvGrpSpPr>
          <p:cNvPr id="10" name="object 10" descr=""/>
          <p:cNvGrpSpPr/>
          <p:nvPr/>
        </p:nvGrpSpPr>
        <p:grpSpPr>
          <a:xfrm>
            <a:off x="5622035" y="4570476"/>
            <a:ext cx="1036319" cy="975360"/>
            <a:chOff x="5622035" y="4570476"/>
            <a:chExt cx="1036319" cy="975360"/>
          </a:xfrm>
        </p:grpSpPr>
        <p:pic>
          <p:nvPicPr>
            <p:cNvPr id="11" name="object 11" descr=""/>
            <p:cNvPicPr/>
            <p:nvPr/>
          </p:nvPicPr>
          <p:blipFill>
            <a:blip r:embed="rId6" cstate="print"/>
            <a:stretch>
              <a:fillRect/>
            </a:stretch>
          </p:blipFill>
          <p:spPr>
            <a:xfrm>
              <a:off x="5622035" y="4570476"/>
              <a:ext cx="1036307" cy="491470"/>
            </a:xfrm>
            <a:prstGeom prst="rect">
              <a:avLst/>
            </a:prstGeom>
          </p:spPr>
        </p:pic>
        <p:pic>
          <p:nvPicPr>
            <p:cNvPr id="12" name="object 12" descr=""/>
            <p:cNvPicPr/>
            <p:nvPr/>
          </p:nvPicPr>
          <p:blipFill>
            <a:blip r:embed="rId7" cstate="print"/>
            <a:stretch>
              <a:fillRect/>
            </a:stretch>
          </p:blipFill>
          <p:spPr>
            <a:xfrm>
              <a:off x="5629655" y="5078387"/>
              <a:ext cx="492251" cy="463435"/>
            </a:xfrm>
            <a:prstGeom prst="rect">
              <a:avLst/>
            </a:prstGeom>
          </p:spPr>
        </p:pic>
        <p:pic>
          <p:nvPicPr>
            <p:cNvPr id="13" name="object 13" descr=""/>
            <p:cNvPicPr/>
            <p:nvPr/>
          </p:nvPicPr>
          <p:blipFill>
            <a:blip r:embed="rId8" cstate="print"/>
            <a:stretch>
              <a:fillRect/>
            </a:stretch>
          </p:blipFill>
          <p:spPr>
            <a:xfrm>
              <a:off x="6173723" y="5053584"/>
              <a:ext cx="483107" cy="492251"/>
            </a:xfrm>
            <a:prstGeom prst="rect">
              <a:avLst/>
            </a:prstGeom>
          </p:spPr>
        </p:pic>
      </p:grpSp>
      <p:sp>
        <p:nvSpPr>
          <p:cNvPr id="14" name="object 14" descr=""/>
          <p:cNvSpPr txBox="1">
            <a:spLocks noGrp="1"/>
          </p:cNvSpPr>
          <p:nvPr>
            <p:ph type="sldNum" idx="7" sz="quarter"/>
          </p:nvPr>
        </p:nvSpPr>
        <p:spPr>
          <a:prstGeom prst="rect"/>
        </p:spPr>
        <p:txBody>
          <a:bodyPr wrap="square" lIns="0" tIns="0" rIns="0" bIns="0" rtlCol="0" vert="horz">
            <a:spAutoFit/>
          </a:bodyPr>
          <a:lstStyle/>
          <a:p>
            <a:pPr marL="38100">
              <a:lnSpc>
                <a:spcPts val="1240"/>
              </a:lnSpc>
            </a:pPr>
            <a:r>
              <a:rPr dirty="0" spc="-25"/>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2025-12-08T08:03:51Z</dcterms:created>
  <dcterms:modified xsi:type="dcterms:W3CDTF">2025-12-08T08:03:51Z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2025-10-16T00:00:00Z</vt:filetime>
  </property>
  <property fmtid="{D5CDD505-2E9C-101B-9397-08002B2CF9AE}" pid="3" name="LastSaved">
    <vt:filetime>2025-12-08T00:00:00Z</vt:filetime>
  </property>
  <property fmtid="{D5CDD505-2E9C-101B-9397-08002B2CF9AE}" pid="4" name="Producer">
    <vt:lpwstr>iOS Version 18.6.2 (Build 22G100) Quartz PDFContext</vt:lpwstr>
  </property>
</Properties>
</file>