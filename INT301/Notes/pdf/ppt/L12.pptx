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660033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660033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660033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660033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17575" y="1098804"/>
            <a:ext cx="382905" cy="474345"/>
          </a:xfrm>
          <a:custGeom>
            <a:avLst/>
            <a:gdLst/>
            <a:ahLst/>
            <a:cxnLst/>
            <a:rect l="l" t="t" r="r" b="b"/>
            <a:pathLst>
              <a:path w="382905" h="474344">
                <a:moveTo>
                  <a:pt x="0" y="473963"/>
                </a:moveTo>
                <a:lnTo>
                  <a:pt x="382523" y="473963"/>
                </a:lnTo>
                <a:lnTo>
                  <a:pt x="382523" y="0"/>
                </a:lnTo>
                <a:lnTo>
                  <a:pt x="0" y="0"/>
                </a:lnTo>
                <a:lnTo>
                  <a:pt x="0" y="473963"/>
                </a:lnTo>
                <a:close/>
              </a:path>
            </a:pathLst>
          </a:custGeom>
          <a:solidFill>
            <a:srgbClr val="FFCF0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0099" y="1098804"/>
            <a:ext cx="329184" cy="473963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541020" y="1520951"/>
            <a:ext cx="370840" cy="474345"/>
          </a:xfrm>
          <a:custGeom>
            <a:avLst/>
            <a:gdLst/>
            <a:ahLst/>
            <a:cxnLst/>
            <a:rect l="l" t="t" r="r" b="b"/>
            <a:pathLst>
              <a:path w="370840" h="474344">
                <a:moveTo>
                  <a:pt x="0" y="473963"/>
                </a:moveTo>
                <a:lnTo>
                  <a:pt x="370332" y="473963"/>
                </a:lnTo>
                <a:lnTo>
                  <a:pt x="370332" y="0"/>
                </a:lnTo>
                <a:lnTo>
                  <a:pt x="0" y="0"/>
                </a:lnTo>
                <a:lnTo>
                  <a:pt x="0" y="473963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11352" y="1520951"/>
            <a:ext cx="368807" cy="47396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6492" y="1447800"/>
            <a:ext cx="560831" cy="422148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762000" y="990599"/>
            <a:ext cx="32384" cy="1053465"/>
          </a:xfrm>
          <a:custGeom>
            <a:avLst/>
            <a:gdLst/>
            <a:ahLst/>
            <a:cxnLst/>
            <a:rect l="l" t="t" r="r" b="b"/>
            <a:pathLst>
              <a:path w="32384" h="1053464">
                <a:moveTo>
                  <a:pt x="32004" y="822960"/>
                </a:moveTo>
                <a:lnTo>
                  <a:pt x="0" y="822960"/>
                </a:lnTo>
                <a:lnTo>
                  <a:pt x="0" y="1053084"/>
                </a:lnTo>
                <a:lnTo>
                  <a:pt x="32004" y="1053084"/>
                </a:lnTo>
                <a:lnTo>
                  <a:pt x="32004" y="822960"/>
                </a:lnTo>
                <a:close/>
              </a:path>
              <a:path w="32384" h="1053464">
                <a:moveTo>
                  <a:pt x="32004" y="0"/>
                </a:moveTo>
                <a:lnTo>
                  <a:pt x="0" y="0"/>
                </a:lnTo>
                <a:lnTo>
                  <a:pt x="0" y="790956"/>
                </a:lnTo>
                <a:lnTo>
                  <a:pt x="32004" y="790956"/>
                </a:lnTo>
                <a:lnTo>
                  <a:pt x="32004" y="0"/>
                </a:lnTo>
                <a:close/>
              </a:path>
            </a:pathLst>
          </a:custGeom>
          <a:solidFill>
            <a:srgbClr val="1C1C1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" name="bg 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43484" y="1781555"/>
            <a:ext cx="8226552" cy="3200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36040" y="372743"/>
            <a:ext cx="7886090" cy="12130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660033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190" y="2163229"/>
            <a:ext cx="7996555" cy="3538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362950" y="6508663"/>
            <a:ext cx="283845" cy="241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image" Target="../media/image6.jpg"/><Relationship Id="rId4" Type="http://schemas.openxmlformats.org/officeDocument/2006/relationships/image" Target="../media/image7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openxmlformats.org/officeDocument/2006/relationships/image" Target="../media/image16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image" Target="../media/image19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image" Target="../media/image36.png"/><Relationship Id="rId12" Type="http://schemas.openxmlformats.org/officeDocument/2006/relationships/image" Target="../media/image37.png"/><Relationship Id="rId13" Type="http://schemas.openxmlformats.org/officeDocument/2006/relationships/image" Target="../media/image38.pn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Relationship Id="rId9" Type="http://schemas.openxmlformats.org/officeDocument/2006/relationships/image" Target="../media/image64.png"/><Relationship Id="rId10" Type="http://schemas.openxmlformats.org/officeDocument/2006/relationships/image" Target="../media/image65.png"/><Relationship Id="rId11" Type="http://schemas.openxmlformats.org/officeDocument/2006/relationships/image" Target="../media/image45.png"/><Relationship Id="rId12" Type="http://schemas.openxmlformats.org/officeDocument/2006/relationships/image" Target="../media/image66.png"/><Relationship Id="rId13" Type="http://schemas.openxmlformats.org/officeDocument/2006/relationships/image" Target="../media/image67.pn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jpg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jpg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jpg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.png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4.jpg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.png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74.jpg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1.png"/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Relationship Id="rId8" Type="http://schemas.openxmlformats.org/officeDocument/2006/relationships/image" Target="../media/image87.png"/><Relationship Id="rId9" Type="http://schemas.openxmlformats.org/officeDocument/2006/relationships/image" Target="../media/image88.png"/><Relationship Id="rId10" Type="http://schemas.openxmlformats.org/officeDocument/2006/relationships/image" Target="../media/image89.png"/><Relationship Id="rId11" Type="http://schemas.openxmlformats.org/officeDocument/2006/relationships/image" Target="../media/image90.png"/><Relationship Id="rId12" Type="http://schemas.openxmlformats.org/officeDocument/2006/relationships/image" Target="../media/image91.png"/><Relationship Id="rId13" Type="http://schemas.openxmlformats.org/officeDocument/2006/relationships/image" Target="../media/image92.png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3.jpg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4.jpg"/><Relationship Id="rId3" Type="http://schemas.openxmlformats.org/officeDocument/2006/relationships/image" Target="../media/image5.png"/><Relationship Id="rId4" Type="http://schemas.openxmlformats.org/officeDocument/2006/relationships/hyperlink" Target="http://WWW.XJTLU.EDU.CN/" TargetMode="External"/><Relationship Id="rId5" Type="http://schemas.openxmlformats.org/officeDocument/2006/relationships/image" Target="../media/image95.jpg"/><Relationship Id="rId6" Type="http://schemas.openxmlformats.org/officeDocument/2006/relationships/image" Target="../media/image96.png"/><Relationship Id="rId7" Type="http://schemas.openxmlformats.org/officeDocument/2006/relationships/image" Target="../media/image97.png"/><Relationship Id="rId8" Type="http://schemas.openxmlformats.org/officeDocument/2006/relationships/image" Target="../media/image98.jpg"/><Relationship Id="rId9" Type="http://schemas.openxmlformats.org/officeDocument/2006/relationships/image" Target="../media/image99.jpg"/><Relationship Id="rId10" Type="http://schemas.openxmlformats.org/officeDocument/2006/relationships/image" Target="../media/image100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16584" y="4955857"/>
            <a:ext cx="392684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45" b="1">
                <a:solidFill>
                  <a:srgbClr val="000044"/>
                </a:solidFill>
                <a:latin typeface="Arial"/>
                <a:cs typeface="Arial"/>
              </a:rPr>
              <a:t>UNSUPERVISED</a:t>
            </a:r>
            <a:r>
              <a:rPr dirty="0" sz="2800" spc="-140" b="1">
                <a:solidFill>
                  <a:srgbClr val="000044"/>
                </a:solidFill>
                <a:latin typeface="Arial"/>
                <a:cs typeface="Arial"/>
              </a:rPr>
              <a:t> </a:t>
            </a:r>
            <a:r>
              <a:rPr dirty="0" sz="2800" spc="-355" b="1">
                <a:solidFill>
                  <a:srgbClr val="000044"/>
                </a:solidFill>
                <a:latin typeface="Arial"/>
                <a:cs typeface="Arial"/>
              </a:rPr>
              <a:t>LEARNING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5491797"/>
            <a:ext cx="2861310" cy="2044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b="1">
                <a:latin typeface="Arial"/>
                <a:cs typeface="Arial"/>
              </a:rPr>
              <a:t>INT301</a:t>
            </a:r>
            <a:r>
              <a:rPr dirty="0" sz="1150" spc="37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Bio-computation,</a:t>
            </a:r>
            <a:r>
              <a:rPr dirty="0" sz="1150" spc="2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Week</a:t>
            </a:r>
            <a:r>
              <a:rPr dirty="0" sz="1150" spc="2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10,</a:t>
            </a:r>
            <a:r>
              <a:rPr dirty="0" sz="1150" spc="20" b="1">
                <a:latin typeface="Arial"/>
                <a:cs typeface="Arial"/>
              </a:rPr>
              <a:t> </a:t>
            </a:r>
            <a:r>
              <a:rPr dirty="0" sz="1150" spc="-20" b="1">
                <a:latin typeface="Arial"/>
                <a:cs typeface="Arial"/>
              </a:rPr>
              <a:t>2025</a:t>
            </a:r>
            <a:endParaRPr sz="115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641541"/>
            <a:ext cx="9144000" cy="216458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47685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32292" y="5929884"/>
            <a:ext cx="355092" cy="445008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8485505" y="6508750"/>
            <a:ext cx="123189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0">
                <a:latin typeface="Tahoma"/>
                <a:cs typeface="Tahoma"/>
              </a:rPr>
              <a:t>1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55461" rIns="0" bIns="0" rtlCol="0" vert="horz">
            <a:spAutoFit/>
          </a:bodyPr>
          <a:lstStyle/>
          <a:p>
            <a:pPr marL="311785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Introduction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02272" y="2236609"/>
            <a:ext cx="8183880" cy="405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167640" indent="-342900">
              <a:lnSpc>
                <a:spcPct val="100000"/>
              </a:lnSpc>
              <a:spcBef>
                <a:spcPts val="105"/>
              </a:spcBef>
              <a:buClr>
                <a:srgbClr val="3333CC"/>
              </a:buClr>
              <a:buSzPct val="59615"/>
              <a:buChar char="■"/>
              <a:tabLst>
                <a:tab pos="355600" algn="l"/>
              </a:tabLst>
            </a:pPr>
            <a:r>
              <a:rPr dirty="0" sz="2600">
                <a:latin typeface="Tahoma"/>
                <a:cs typeface="Tahoma"/>
              </a:rPr>
              <a:t>So</a:t>
            </a:r>
            <a:r>
              <a:rPr dirty="0" sz="2600" spc="-4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far,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we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mainly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studied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neural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networks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that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learn </a:t>
            </a:r>
            <a:r>
              <a:rPr dirty="0" sz="2600">
                <a:latin typeface="Tahoma"/>
                <a:cs typeface="Tahoma"/>
              </a:rPr>
              <a:t>from</a:t>
            </a:r>
            <a:r>
              <a:rPr dirty="0" sz="2600" spc="-4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their</a:t>
            </a:r>
            <a:r>
              <a:rPr dirty="0" sz="2600" spc="-4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environment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in</a:t>
            </a:r>
            <a:r>
              <a:rPr dirty="0" sz="2600" spc="-4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a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 b="1">
                <a:solidFill>
                  <a:srgbClr val="0000FF"/>
                </a:solidFill>
                <a:latin typeface="Tahoma"/>
                <a:cs typeface="Tahoma"/>
              </a:rPr>
              <a:t>supervised</a:t>
            </a:r>
            <a:r>
              <a:rPr dirty="0" sz="2600" spc="-45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600" spc="-10" b="1">
                <a:solidFill>
                  <a:srgbClr val="0000FF"/>
                </a:solidFill>
                <a:latin typeface="Tahoma"/>
                <a:cs typeface="Tahoma"/>
              </a:rPr>
              <a:t>manner</a:t>
            </a:r>
            <a:endParaRPr sz="2600">
              <a:latin typeface="Tahoma"/>
              <a:cs typeface="Tahoma"/>
            </a:endParaRPr>
          </a:p>
          <a:p>
            <a:pPr marL="355600" marR="478790" indent="-342900">
              <a:lnSpc>
                <a:spcPct val="100000"/>
              </a:lnSpc>
              <a:spcBef>
                <a:spcPts val="1200"/>
              </a:spcBef>
              <a:buClr>
                <a:srgbClr val="3333CC"/>
              </a:buClr>
              <a:buSzPct val="59615"/>
              <a:buChar char="■"/>
              <a:tabLst>
                <a:tab pos="355600" algn="l"/>
              </a:tabLst>
            </a:pPr>
            <a:r>
              <a:rPr dirty="0" sz="2600">
                <a:latin typeface="Tahoma"/>
                <a:cs typeface="Tahoma"/>
              </a:rPr>
              <a:t>Neural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networks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can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also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learn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in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an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unsupervised </a:t>
            </a:r>
            <a:r>
              <a:rPr dirty="0" sz="2600">
                <a:latin typeface="Tahoma"/>
                <a:cs typeface="Tahoma"/>
              </a:rPr>
              <a:t>manner</a:t>
            </a:r>
            <a:r>
              <a:rPr dirty="0" sz="2600" spc="-2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as</a:t>
            </a:r>
            <a:r>
              <a:rPr dirty="0" sz="2600" spc="-20">
                <a:latin typeface="Tahoma"/>
                <a:cs typeface="Tahoma"/>
              </a:rPr>
              <a:t> well</a:t>
            </a:r>
            <a:endParaRPr sz="2600">
              <a:latin typeface="Tahoma"/>
              <a:cs typeface="Tahoma"/>
            </a:endParaRPr>
          </a:p>
          <a:p>
            <a:pPr algn="just" marL="355600" marR="5080" indent="-342900">
              <a:lnSpc>
                <a:spcPts val="3120"/>
              </a:lnSpc>
              <a:spcBef>
                <a:spcPts val="1300"/>
              </a:spcBef>
              <a:buClr>
                <a:srgbClr val="3333CC"/>
              </a:buClr>
              <a:buSzPct val="59615"/>
              <a:buChar char="■"/>
              <a:tabLst>
                <a:tab pos="355600" algn="l"/>
              </a:tabLst>
            </a:pPr>
            <a:r>
              <a:rPr dirty="0" sz="2600">
                <a:latin typeface="Tahoma"/>
                <a:cs typeface="Tahoma"/>
              </a:rPr>
              <a:t>Unsupervised</a:t>
            </a:r>
            <a:r>
              <a:rPr dirty="0" sz="2600" spc="-7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learning</a:t>
            </a:r>
            <a:r>
              <a:rPr dirty="0" sz="2600" spc="-70">
                <a:latin typeface="Tahoma"/>
                <a:cs typeface="Tahoma"/>
              </a:rPr>
              <a:t> </a:t>
            </a:r>
            <a:r>
              <a:rPr dirty="0" sz="2600" b="1">
                <a:solidFill>
                  <a:srgbClr val="FF0000"/>
                </a:solidFill>
                <a:latin typeface="Tahoma"/>
                <a:cs typeface="Tahoma"/>
              </a:rPr>
              <a:t>discovers</a:t>
            </a:r>
            <a:r>
              <a:rPr dirty="0" sz="2600" spc="-20" b="1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significant</a:t>
            </a:r>
            <a:r>
              <a:rPr dirty="0" sz="2600" spc="-65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features </a:t>
            </a:r>
            <a:r>
              <a:rPr dirty="0" sz="2600">
                <a:latin typeface="Tahoma"/>
                <a:cs typeface="Tahoma"/>
              </a:rPr>
              <a:t>or</a:t>
            </a:r>
            <a:r>
              <a:rPr dirty="0" sz="2600" spc="-204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patterns</a:t>
            </a:r>
            <a:r>
              <a:rPr dirty="0" sz="2600" spc="-8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in</a:t>
            </a:r>
            <a:r>
              <a:rPr dirty="0" sz="2600" spc="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the</a:t>
            </a:r>
            <a:r>
              <a:rPr dirty="0" sz="2600" spc="4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input</a:t>
            </a:r>
            <a:r>
              <a:rPr dirty="0" sz="2600" spc="4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data</a:t>
            </a:r>
            <a:r>
              <a:rPr dirty="0" sz="2600" spc="40">
                <a:latin typeface="Tahoma"/>
                <a:cs typeface="Tahoma"/>
              </a:rPr>
              <a:t> </a:t>
            </a:r>
            <a:r>
              <a:rPr dirty="0" sz="2700" spc="-280" b="1" i="1">
                <a:solidFill>
                  <a:srgbClr val="0000FF"/>
                </a:solidFill>
                <a:latin typeface="Verdana"/>
                <a:cs typeface="Verdana"/>
              </a:rPr>
              <a:t>through</a:t>
            </a:r>
            <a:r>
              <a:rPr dirty="0" sz="2700" spc="45" b="1" i="1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dirty="0" sz="2700" spc="-270" b="1" i="1">
                <a:solidFill>
                  <a:srgbClr val="0000FF"/>
                </a:solidFill>
                <a:latin typeface="Verdana"/>
                <a:cs typeface="Verdana"/>
              </a:rPr>
              <a:t>general</a:t>
            </a:r>
            <a:r>
              <a:rPr dirty="0" sz="2700" spc="40" b="1" i="1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dirty="0" sz="2700" spc="-175" b="1" i="1">
                <a:solidFill>
                  <a:srgbClr val="0000FF"/>
                </a:solidFill>
                <a:latin typeface="Verdana"/>
                <a:cs typeface="Verdana"/>
              </a:rPr>
              <a:t>rules </a:t>
            </a:r>
            <a:r>
              <a:rPr dirty="0" sz="2600">
                <a:latin typeface="Tahoma"/>
                <a:cs typeface="Tahoma"/>
              </a:rPr>
              <a:t>that</a:t>
            </a:r>
            <a:r>
              <a:rPr dirty="0" sz="2600" spc="-4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operate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locally</a:t>
            </a:r>
            <a:endParaRPr sz="2600">
              <a:latin typeface="Tahoma"/>
              <a:cs typeface="Tahoma"/>
            </a:endParaRPr>
          </a:p>
          <a:p>
            <a:pPr algn="just" marL="355600" marR="328295" indent="-342900">
              <a:lnSpc>
                <a:spcPct val="100000"/>
              </a:lnSpc>
              <a:spcBef>
                <a:spcPts val="1100"/>
              </a:spcBef>
              <a:buClr>
                <a:srgbClr val="3333CC"/>
              </a:buClr>
              <a:buSzPct val="59615"/>
              <a:buChar char="■"/>
              <a:tabLst>
                <a:tab pos="355600" algn="l"/>
              </a:tabLst>
            </a:pPr>
            <a:r>
              <a:rPr dirty="0" sz="2600">
                <a:latin typeface="Tahoma"/>
                <a:cs typeface="Tahoma"/>
              </a:rPr>
              <a:t>Unsupervised</a:t>
            </a:r>
            <a:r>
              <a:rPr dirty="0" sz="2600" spc="-7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learning</a:t>
            </a:r>
            <a:r>
              <a:rPr dirty="0" sz="2600" spc="-7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networks</a:t>
            </a:r>
            <a:r>
              <a:rPr dirty="0" sz="2600" spc="-6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typically</a:t>
            </a:r>
            <a:r>
              <a:rPr dirty="0" sz="2600" spc="-6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consist</a:t>
            </a:r>
            <a:r>
              <a:rPr dirty="0" sz="2600" spc="-65">
                <a:latin typeface="Tahoma"/>
                <a:cs typeface="Tahoma"/>
              </a:rPr>
              <a:t> </a:t>
            </a:r>
            <a:r>
              <a:rPr dirty="0" sz="2600" spc="-25">
                <a:latin typeface="Tahoma"/>
                <a:cs typeface="Tahoma"/>
              </a:rPr>
              <a:t>of </a:t>
            </a:r>
            <a:r>
              <a:rPr dirty="0" sz="2600" spc="-10">
                <a:latin typeface="Tahoma"/>
                <a:cs typeface="Tahoma"/>
              </a:rPr>
              <a:t>feed-</a:t>
            </a:r>
            <a:r>
              <a:rPr dirty="0" sz="2600">
                <a:latin typeface="Tahoma"/>
                <a:cs typeface="Tahoma"/>
              </a:rPr>
              <a:t>forward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connections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and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elements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to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facilitate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45172" y="6259969"/>
            <a:ext cx="2092960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>
                <a:latin typeface="Tahoma"/>
                <a:cs typeface="Tahoma"/>
              </a:rPr>
              <a:t>‘local’</a:t>
            </a:r>
            <a:r>
              <a:rPr dirty="0" sz="2600" spc="-50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learning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485505" y="6508750"/>
            <a:ext cx="123189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0">
                <a:latin typeface="Tahoma"/>
                <a:cs typeface="Tahoma"/>
              </a:rPr>
              <a:t>2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08674" rIns="0" bIns="0" rtlCol="0" vert="horz">
            <a:spAutoFit/>
          </a:bodyPr>
          <a:lstStyle/>
          <a:p>
            <a:pPr marL="41465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800000"/>
                </a:solidFill>
              </a:rPr>
              <a:t>Hebbian</a:t>
            </a:r>
            <a:r>
              <a:rPr dirty="0" spc="-65">
                <a:solidFill>
                  <a:srgbClr val="800000"/>
                </a:solidFill>
              </a:rPr>
              <a:t> </a:t>
            </a:r>
            <a:r>
              <a:rPr dirty="0" spc="-10">
                <a:solidFill>
                  <a:srgbClr val="800000"/>
                </a:solidFill>
              </a:rPr>
              <a:t>Learning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02743" y="3640264"/>
            <a:ext cx="8434705" cy="1522095"/>
            <a:chOff x="102743" y="3640264"/>
            <a:chExt cx="8434705" cy="1522095"/>
          </a:xfrm>
        </p:grpSpPr>
        <p:sp>
          <p:nvSpPr>
            <p:cNvPr id="4" name="object 4" descr=""/>
            <p:cNvSpPr/>
            <p:nvPr/>
          </p:nvSpPr>
          <p:spPr>
            <a:xfrm>
              <a:off x="108204" y="3645408"/>
              <a:ext cx="8425180" cy="1511935"/>
            </a:xfrm>
            <a:custGeom>
              <a:avLst/>
              <a:gdLst/>
              <a:ahLst/>
              <a:cxnLst/>
              <a:rect l="l" t="t" r="r" b="b"/>
              <a:pathLst>
                <a:path w="8425180" h="1511935">
                  <a:moveTo>
                    <a:pt x="8424672" y="0"/>
                  </a:moveTo>
                  <a:lnTo>
                    <a:pt x="0" y="0"/>
                  </a:lnTo>
                  <a:lnTo>
                    <a:pt x="0" y="1511808"/>
                  </a:lnTo>
                  <a:lnTo>
                    <a:pt x="8424672" y="1511808"/>
                  </a:lnTo>
                  <a:lnTo>
                    <a:pt x="8424672" y="0"/>
                  </a:lnTo>
                  <a:close/>
                </a:path>
              </a:pathLst>
            </a:custGeom>
            <a:solidFill>
              <a:srgbClr val="00E4A8">
                <a:alpha val="187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02743" y="3640264"/>
              <a:ext cx="8434705" cy="1522095"/>
            </a:xfrm>
            <a:custGeom>
              <a:avLst/>
              <a:gdLst/>
              <a:ahLst/>
              <a:cxnLst/>
              <a:rect l="l" t="t" r="r" b="b"/>
              <a:pathLst>
                <a:path w="8434705" h="1522095">
                  <a:moveTo>
                    <a:pt x="8434463" y="0"/>
                  </a:moveTo>
                  <a:lnTo>
                    <a:pt x="0" y="0"/>
                  </a:lnTo>
                  <a:lnTo>
                    <a:pt x="0" y="1521688"/>
                  </a:lnTo>
                  <a:lnTo>
                    <a:pt x="8434463" y="1521688"/>
                  </a:lnTo>
                  <a:lnTo>
                    <a:pt x="8434463" y="1516926"/>
                  </a:lnTo>
                  <a:lnTo>
                    <a:pt x="9525" y="1516926"/>
                  </a:lnTo>
                  <a:lnTo>
                    <a:pt x="4762" y="1512163"/>
                  </a:lnTo>
                  <a:lnTo>
                    <a:pt x="9525" y="1512163"/>
                  </a:lnTo>
                  <a:lnTo>
                    <a:pt x="9525" y="9525"/>
                  </a:lnTo>
                  <a:lnTo>
                    <a:pt x="4762" y="9525"/>
                  </a:lnTo>
                  <a:lnTo>
                    <a:pt x="9525" y="4762"/>
                  </a:lnTo>
                  <a:lnTo>
                    <a:pt x="8434463" y="4762"/>
                  </a:lnTo>
                  <a:lnTo>
                    <a:pt x="8434463" y="0"/>
                  </a:lnTo>
                  <a:close/>
                </a:path>
                <a:path w="8434705" h="1522095">
                  <a:moveTo>
                    <a:pt x="9525" y="1512163"/>
                  </a:moveTo>
                  <a:lnTo>
                    <a:pt x="4762" y="1512163"/>
                  </a:lnTo>
                  <a:lnTo>
                    <a:pt x="9525" y="1516926"/>
                  </a:lnTo>
                  <a:lnTo>
                    <a:pt x="9525" y="1512163"/>
                  </a:lnTo>
                  <a:close/>
                </a:path>
                <a:path w="8434705" h="1522095">
                  <a:moveTo>
                    <a:pt x="8424938" y="1512163"/>
                  </a:moveTo>
                  <a:lnTo>
                    <a:pt x="9525" y="1512163"/>
                  </a:lnTo>
                  <a:lnTo>
                    <a:pt x="9525" y="1516926"/>
                  </a:lnTo>
                  <a:lnTo>
                    <a:pt x="8424938" y="1516926"/>
                  </a:lnTo>
                  <a:lnTo>
                    <a:pt x="8424938" y="1512163"/>
                  </a:lnTo>
                  <a:close/>
                </a:path>
                <a:path w="8434705" h="1522095">
                  <a:moveTo>
                    <a:pt x="8424938" y="4762"/>
                  </a:moveTo>
                  <a:lnTo>
                    <a:pt x="8424938" y="1516926"/>
                  </a:lnTo>
                  <a:lnTo>
                    <a:pt x="8429701" y="1512163"/>
                  </a:lnTo>
                  <a:lnTo>
                    <a:pt x="8434463" y="1512163"/>
                  </a:lnTo>
                  <a:lnTo>
                    <a:pt x="8434463" y="9525"/>
                  </a:lnTo>
                  <a:lnTo>
                    <a:pt x="8429701" y="9525"/>
                  </a:lnTo>
                  <a:lnTo>
                    <a:pt x="8424938" y="4762"/>
                  </a:lnTo>
                  <a:close/>
                </a:path>
                <a:path w="8434705" h="1522095">
                  <a:moveTo>
                    <a:pt x="8434463" y="1512163"/>
                  </a:moveTo>
                  <a:lnTo>
                    <a:pt x="8429701" y="1512163"/>
                  </a:lnTo>
                  <a:lnTo>
                    <a:pt x="8424938" y="1516926"/>
                  </a:lnTo>
                  <a:lnTo>
                    <a:pt x="8434463" y="1516926"/>
                  </a:lnTo>
                  <a:lnTo>
                    <a:pt x="8434463" y="1512163"/>
                  </a:lnTo>
                  <a:close/>
                </a:path>
                <a:path w="8434705" h="1522095">
                  <a:moveTo>
                    <a:pt x="9525" y="4762"/>
                  </a:moveTo>
                  <a:lnTo>
                    <a:pt x="4762" y="9525"/>
                  </a:lnTo>
                  <a:lnTo>
                    <a:pt x="9525" y="9525"/>
                  </a:lnTo>
                  <a:lnTo>
                    <a:pt x="9525" y="4762"/>
                  </a:lnTo>
                  <a:close/>
                </a:path>
                <a:path w="8434705" h="1522095">
                  <a:moveTo>
                    <a:pt x="8424938" y="4762"/>
                  </a:moveTo>
                  <a:lnTo>
                    <a:pt x="9525" y="4762"/>
                  </a:lnTo>
                  <a:lnTo>
                    <a:pt x="9525" y="9525"/>
                  </a:lnTo>
                  <a:lnTo>
                    <a:pt x="8424938" y="9525"/>
                  </a:lnTo>
                  <a:lnTo>
                    <a:pt x="8424938" y="4762"/>
                  </a:lnTo>
                  <a:close/>
                </a:path>
                <a:path w="8434705" h="1522095">
                  <a:moveTo>
                    <a:pt x="8434463" y="4762"/>
                  </a:moveTo>
                  <a:lnTo>
                    <a:pt x="8424938" y="4762"/>
                  </a:lnTo>
                  <a:lnTo>
                    <a:pt x="8429701" y="9525"/>
                  </a:lnTo>
                  <a:lnTo>
                    <a:pt x="8434463" y="9525"/>
                  </a:lnTo>
                  <a:lnTo>
                    <a:pt x="8434463" y="4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232854" y="2165870"/>
            <a:ext cx="8543290" cy="45827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0" marR="30480" indent="-342900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928"/>
              <a:buChar char="■"/>
              <a:tabLst>
                <a:tab pos="381000" algn="l"/>
              </a:tabLst>
            </a:pP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simple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principle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was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proposed</a:t>
            </a:r>
            <a:r>
              <a:rPr dirty="0" sz="2800" spc="-3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by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Hebb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in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1949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in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context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biological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neurons</a:t>
            </a:r>
            <a:endParaRPr sz="2800">
              <a:latin typeface="Tahoma"/>
              <a:cs typeface="Tahoma"/>
            </a:endParaRPr>
          </a:p>
          <a:p>
            <a:pPr marL="380365" indent="-342265">
              <a:lnSpc>
                <a:spcPct val="100000"/>
              </a:lnSpc>
              <a:spcBef>
                <a:spcPts val="670"/>
              </a:spcBef>
              <a:buClr>
                <a:srgbClr val="3333CC"/>
              </a:buClr>
              <a:buSzPct val="58928"/>
              <a:buChar char="■"/>
              <a:tabLst>
                <a:tab pos="380365" algn="l"/>
              </a:tabLst>
            </a:pPr>
            <a:r>
              <a:rPr dirty="0" sz="2800">
                <a:latin typeface="Tahoma"/>
                <a:cs typeface="Tahoma"/>
              </a:rPr>
              <a:t>Hebbian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principle</a:t>
            </a:r>
            <a:endParaRPr sz="2800">
              <a:latin typeface="Tahoma"/>
              <a:cs typeface="Tahoma"/>
            </a:endParaRPr>
          </a:p>
          <a:p>
            <a:pPr marL="38100" marR="387985">
              <a:lnSpc>
                <a:spcPts val="2880"/>
              </a:lnSpc>
              <a:spcBef>
                <a:spcPts val="670"/>
              </a:spcBef>
            </a:pPr>
            <a:r>
              <a:rPr dirty="0" sz="2400">
                <a:latin typeface="Tahoma"/>
                <a:cs typeface="Tahoma"/>
              </a:rPr>
              <a:t>When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neuron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repeatedly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excites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another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neuron,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then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the </a:t>
            </a:r>
            <a:r>
              <a:rPr dirty="0" sz="2400">
                <a:latin typeface="Tahoma"/>
                <a:cs typeface="Tahoma"/>
              </a:rPr>
              <a:t>threshold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latter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neuron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decreased,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or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500" spc="-200" b="1" i="1">
                <a:solidFill>
                  <a:srgbClr val="3333CC"/>
                </a:solidFill>
                <a:latin typeface="Verdana"/>
                <a:cs typeface="Verdana"/>
              </a:rPr>
              <a:t>synaptic </a:t>
            </a:r>
            <a:r>
              <a:rPr dirty="0" sz="2500" spc="-235" b="1" i="1">
                <a:solidFill>
                  <a:srgbClr val="3333CC"/>
                </a:solidFill>
                <a:latin typeface="Verdana"/>
                <a:cs typeface="Verdana"/>
              </a:rPr>
              <a:t>weight</a:t>
            </a:r>
            <a:r>
              <a:rPr dirty="0" sz="2500" spc="-135" b="1" i="1">
                <a:solidFill>
                  <a:srgbClr val="3333CC"/>
                </a:solidFill>
                <a:latin typeface="Verdana"/>
                <a:cs typeface="Verdana"/>
              </a:rPr>
              <a:t> </a:t>
            </a:r>
            <a:r>
              <a:rPr dirty="0" sz="2500" spc="-254" b="1" i="1">
                <a:solidFill>
                  <a:srgbClr val="3333CC"/>
                </a:solidFill>
                <a:latin typeface="Verdana"/>
                <a:cs typeface="Verdana"/>
              </a:rPr>
              <a:t>between</a:t>
            </a:r>
            <a:r>
              <a:rPr dirty="0" sz="2500" spc="-120" b="1" i="1">
                <a:solidFill>
                  <a:srgbClr val="3333CC"/>
                </a:solidFill>
                <a:latin typeface="Verdana"/>
                <a:cs typeface="Verdana"/>
              </a:rPr>
              <a:t> </a:t>
            </a:r>
            <a:r>
              <a:rPr dirty="0" sz="2500" spc="-225" b="1" i="1">
                <a:solidFill>
                  <a:srgbClr val="3333CC"/>
                </a:solidFill>
                <a:latin typeface="Verdana"/>
                <a:cs typeface="Verdana"/>
              </a:rPr>
              <a:t>the</a:t>
            </a:r>
            <a:r>
              <a:rPr dirty="0" sz="2500" spc="-120" b="1" i="1">
                <a:solidFill>
                  <a:srgbClr val="3333CC"/>
                </a:solidFill>
                <a:latin typeface="Verdana"/>
                <a:cs typeface="Verdana"/>
              </a:rPr>
              <a:t> </a:t>
            </a:r>
            <a:r>
              <a:rPr dirty="0" sz="2500" spc="-245" b="1" i="1">
                <a:solidFill>
                  <a:srgbClr val="3333CC"/>
                </a:solidFill>
                <a:latin typeface="Verdana"/>
                <a:cs typeface="Verdana"/>
              </a:rPr>
              <a:t>neurons</a:t>
            </a:r>
            <a:r>
              <a:rPr dirty="0" sz="2500" spc="-114" b="1" i="1">
                <a:solidFill>
                  <a:srgbClr val="3333CC"/>
                </a:solidFill>
                <a:latin typeface="Verdana"/>
                <a:cs typeface="Verdana"/>
              </a:rPr>
              <a:t> </a:t>
            </a:r>
            <a:r>
              <a:rPr dirty="0" sz="2500" spc="-200" b="1" i="1">
                <a:solidFill>
                  <a:srgbClr val="3333CC"/>
                </a:solidFill>
                <a:latin typeface="Verdana"/>
                <a:cs typeface="Verdana"/>
              </a:rPr>
              <a:t>is</a:t>
            </a:r>
            <a:r>
              <a:rPr dirty="0" sz="2500" spc="-120" b="1" i="1">
                <a:solidFill>
                  <a:srgbClr val="3333CC"/>
                </a:solidFill>
                <a:latin typeface="Verdana"/>
                <a:cs typeface="Verdana"/>
              </a:rPr>
              <a:t> </a:t>
            </a:r>
            <a:r>
              <a:rPr dirty="0" sz="2500" spc="-215" b="1" i="1">
                <a:solidFill>
                  <a:srgbClr val="3333CC"/>
                </a:solidFill>
                <a:latin typeface="Verdana"/>
                <a:cs typeface="Verdana"/>
              </a:rPr>
              <a:t>increased</a:t>
            </a:r>
            <a:r>
              <a:rPr dirty="0" sz="2400" spc="-215">
                <a:latin typeface="Tahoma"/>
                <a:cs typeface="Tahoma"/>
              </a:rPr>
              <a:t>,</a:t>
            </a:r>
            <a:r>
              <a:rPr dirty="0" sz="2400" spc="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4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effect </a:t>
            </a:r>
            <a:r>
              <a:rPr dirty="0" sz="2400">
                <a:latin typeface="Tahoma"/>
                <a:cs typeface="Tahoma"/>
              </a:rPr>
              <a:t>increasing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likelihood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second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neuron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excite</a:t>
            </a:r>
            <a:endParaRPr sz="2400">
              <a:latin typeface="Tahoma"/>
              <a:cs typeface="Tahoma"/>
            </a:endParaRPr>
          </a:p>
          <a:p>
            <a:pPr marL="380365" indent="-342265">
              <a:lnSpc>
                <a:spcPct val="100000"/>
              </a:lnSpc>
              <a:spcBef>
                <a:spcPts val="670"/>
              </a:spcBef>
              <a:buClr>
                <a:srgbClr val="3333CC"/>
              </a:buClr>
              <a:buSzPct val="58928"/>
              <a:buChar char="■"/>
              <a:tabLst>
                <a:tab pos="380365" algn="l"/>
                <a:tab pos="4684395" algn="l"/>
              </a:tabLst>
            </a:pPr>
            <a:r>
              <a:rPr dirty="0" sz="2800">
                <a:latin typeface="Tahoma"/>
                <a:cs typeface="Tahoma"/>
              </a:rPr>
              <a:t>Hebbian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learning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rule</a:t>
            </a:r>
            <a:r>
              <a:rPr dirty="0" sz="2800" spc="55">
                <a:latin typeface="Tahoma"/>
                <a:cs typeface="Tahoma"/>
              </a:rPr>
              <a:t> </a:t>
            </a:r>
            <a:r>
              <a:rPr dirty="0" sz="3200" spc="-20">
                <a:latin typeface="Tahoma"/>
                <a:cs typeface="Tahoma"/>
              </a:rPr>
              <a:t>Δw</a:t>
            </a:r>
            <a:r>
              <a:rPr dirty="0" baseline="-17615" sz="3075" spc="-30">
                <a:latin typeface="Tahoma"/>
                <a:cs typeface="Tahoma"/>
              </a:rPr>
              <a:t>ji</a:t>
            </a:r>
            <a:r>
              <a:rPr dirty="0" baseline="-17615" sz="3075">
                <a:latin typeface="Tahoma"/>
                <a:cs typeface="Tahoma"/>
              </a:rPr>
              <a:t>	</a:t>
            </a:r>
            <a:r>
              <a:rPr dirty="0" sz="3200">
                <a:latin typeface="Tahoma"/>
                <a:cs typeface="Tahoma"/>
              </a:rPr>
              <a:t>=</a:t>
            </a:r>
            <a:r>
              <a:rPr dirty="0" sz="3200" spc="-15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ηy</a:t>
            </a:r>
            <a:r>
              <a:rPr dirty="0" baseline="-17615" sz="3075" spc="-15">
                <a:latin typeface="Tahoma"/>
                <a:cs typeface="Tahoma"/>
              </a:rPr>
              <a:t>j</a:t>
            </a:r>
            <a:r>
              <a:rPr dirty="0" sz="3200" spc="-10">
                <a:latin typeface="Tahoma"/>
                <a:cs typeface="Tahoma"/>
              </a:rPr>
              <a:t>x</a:t>
            </a:r>
            <a:r>
              <a:rPr dirty="0" baseline="-17615" sz="3075" spc="-15">
                <a:latin typeface="Tahoma"/>
                <a:cs typeface="Tahoma"/>
              </a:rPr>
              <a:t>i</a:t>
            </a:r>
            <a:endParaRPr baseline="-17615" sz="3075">
              <a:latin typeface="Tahoma"/>
              <a:cs typeface="Tahoma"/>
            </a:endParaRPr>
          </a:p>
          <a:p>
            <a:pPr lvl="1" marL="781050" marR="160655" indent="-285750">
              <a:lnSpc>
                <a:spcPts val="2880"/>
              </a:lnSpc>
              <a:spcBef>
                <a:spcPts val="1295"/>
              </a:spcBef>
              <a:buClr>
                <a:srgbClr val="FF0000"/>
              </a:buClr>
              <a:buSzPct val="54166"/>
              <a:buChar char="■"/>
              <a:tabLst>
                <a:tab pos="781050" algn="l"/>
              </a:tabLst>
            </a:pPr>
            <a:r>
              <a:rPr dirty="0" sz="2400">
                <a:latin typeface="Tahoma"/>
                <a:cs typeface="Tahoma"/>
              </a:rPr>
              <a:t>There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no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desired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or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target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signal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required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Hebb </a:t>
            </a:r>
            <a:r>
              <a:rPr dirty="0" sz="2400">
                <a:latin typeface="Tahoma"/>
                <a:cs typeface="Tahoma"/>
              </a:rPr>
              <a:t>rule,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hence it</a:t>
            </a:r>
            <a:r>
              <a:rPr dirty="0" sz="2400" spc="-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5">
                <a:latin typeface="Tahoma"/>
                <a:cs typeface="Tahoma"/>
              </a:rPr>
              <a:t> </a:t>
            </a:r>
            <a:r>
              <a:rPr dirty="0" sz="2500" spc="-240" b="1" i="1">
                <a:solidFill>
                  <a:srgbClr val="0000FF"/>
                </a:solidFill>
                <a:latin typeface="Verdana"/>
                <a:cs typeface="Verdana"/>
              </a:rPr>
              <a:t>unsupervised</a:t>
            </a:r>
            <a:r>
              <a:rPr dirty="0" sz="2500" spc="-150" b="1" i="1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dirty="0" sz="2500" spc="-80" b="1" i="1">
                <a:solidFill>
                  <a:srgbClr val="0000FF"/>
                </a:solidFill>
                <a:latin typeface="Verdana"/>
                <a:cs typeface="Verdana"/>
              </a:rPr>
              <a:t>learning</a:t>
            </a:r>
            <a:endParaRPr sz="2500">
              <a:latin typeface="Verdana"/>
              <a:cs typeface="Verdana"/>
            </a:endParaRPr>
          </a:p>
          <a:p>
            <a:pPr algn="r" marR="172720">
              <a:lnSpc>
                <a:spcPts val="1380"/>
              </a:lnSpc>
            </a:pPr>
            <a:r>
              <a:rPr dirty="0" sz="1400" spc="-50">
                <a:latin typeface="Tahoma"/>
                <a:cs typeface="Tahoma"/>
              </a:rPr>
              <a:t>3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20891" y="1845398"/>
            <a:ext cx="8425180" cy="4679950"/>
          </a:xfrm>
          <a:custGeom>
            <a:avLst/>
            <a:gdLst/>
            <a:ahLst/>
            <a:cxnLst/>
            <a:rect l="l" t="t" r="r" b="b"/>
            <a:pathLst>
              <a:path w="8425180" h="4679950">
                <a:moveTo>
                  <a:pt x="8424862" y="0"/>
                </a:moveTo>
                <a:lnTo>
                  <a:pt x="0" y="0"/>
                </a:lnTo>
                <a:lnTo>
                  <a:pt x="0" y="4679950"/>
                </a:lnTo>
                <a:lnTo>
                  <a:pt x="8424862" y="4679950"/>
                </a:lnTo>
                <a:lnTo>
                  <a:pt x="84248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274231" y="1878418"/>
            <a:ext cx="8305800" cy="444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79095" marR="30480" indent="-340995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928"/>
              <a:buChar char="■"/>
              <a:tabLst>
                <a:tab pos="381000" algn="l"/>
              </a:tabLst>
            </a:pPr>
            <a:r>
              <a:rPr dirty="0" sz="2800">
                <a:latin typeface="Tahoma"/>
                <a:cs typeface="Tahoma"/>
              </a:rPr>
              <a:t>Consider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update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single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weight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 b="1">
                <a:latin typeface="Tahoma"/>
                <a:cs typeface="Tahoma"/>
              </a:rPr>
              <a:t>w</a:t>
            </a:r>
            <a:r>
              <a:rPr dirty="0" sz="2800" spc="10" b="1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(x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and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 spc="-50">
                <a:latin typeface="Tahoma"/>
                <a:cs typeface="Tahoma"/>
              </a:rPr>
              <a:t>y </a:t>
            </a:r>
            <a:r>
              <a:rPr dirty="0" sz="2800" spc="-50">
                <a:latin typeface="Tahoma"/>
                <a:cs typeface="Tahoma"/>
              </a:rPr>
              <a:t>	</a:t>
            </a:r>
            <a:r>
              <a:rPr dirty="0" sz="2800">
                <a:latin typeface="Tahoma"/>
                <a:cs typeface="Tahoma"/>
              </a:rPr>
              <a:t>are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pre-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and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 spc="-20">
                <a:latin typeface="Tahoma"/>
                <a:cs typeface="Tahoma"/>
              </a:rPr>
              <a:t>post-</a:t>
            </a:r>
            <a:r>
              <a:rPr dirty="0" sz="2800">
                <a:latin typeface="Tahoma"/>
                <a:cs typeface="Tahoma"/>
              </a:rPr>
              <a:t>synaptic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activities)</a:t>
            </a:r>
            <a:endParaRPr sz="2800">
              <a:latin typeface="Tahoma"/>
              <a:cs typeface="Tahoma"/>
            </a:endParaRPr>
          </a:p>
          <a:p>
            <a:pPr algn="just" marL="952500">
              <a:lnSpc>
                <a:spcPct val="100000"/>
              </a:lnSpc>
              <a:spcBef>
                <a:spcPts val="1190"/>
              </a:spcBef>
            </a:pPr>
            <a:r>
              <a:rPr dirty="0" sz="2800" b="1">
                <a:latin typeface="Tahoma"/>
                <a:cs typeface="Tahoma"/>
              </a:rPr>
              <a:t>w</a:t>
            </a:r>
            <a:r>
              <a:rPr dirty="0" sz="2800">
                <a:latin typeface="Tahoma"/>
                <a:cs typeface="Tahoma"/>
              </a:rPr>
              <a:t>(n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+</a:t>
            </a:r>
            <a:r>
              <a:rPr dirty="0" sz="2800" spc="-3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1)</a:t>
            </a:r>
            <a:r>
              <a:rPr dirty="0" sz="2800" spc="-3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=</a:t>
            </a:r>
            <a:r>
              <a:rPr dirty="0" sz="2800" spc="-30">
                <a:latin typeface="Tahoma"/>
                <a:cs typeface="Tahoma"/>
              </a:rPr>
              <a:t> </a:t>
            </a:r>
            <a:r>
              <a:rPr dirty="0" sz="2800" b="1">
                <a:latin typeface="Tahoma"/>
                <a:cs typeface="Tahoma"/>
              </a:rPr>
              <a:t>w</a:t>
            </a:r>
            <a:r>
              <a:rPr dirty="0" sz="2800">
                <a:latin typeface="Tahoma"/>
                <a:cs typeface="Tahoma"/>
              </a:rPr>
              <a:t>(n)</a:t>
            </a:r>
            <a:r>
              <a:rPr dirty="0" sz="2800" spc="-3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+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ηx(n)y(n)</a:t>
            </a:r>
            <a:endParaRPr sz="2800">
              <a:latin typeface="Tahoma"/>
              <a:cs typeface="Tahoma"/>
            </a:endParaRPr>
          </a:p>
          <a:p>
            <a:pPr algn="just" marL="379095" indent="-340995">
              <a:lnSpc>
                <a:spcPct val="100000"/>
              </a:lnSpc>
              <a:spcBef>
                <a:spcPts val="1210"/>
              </a:spcBef>
              <a:buClr>
                <a:srgbClr val="3333CC"/>
              </a:buClr>
              <a:buSzPct val="58928"/>
              <a:buChar char="■"/>
              <a:tabLst>
                <a:tab pos="379095" algn="l"/>
              </a:tabLst>
            </a:pPr>
            <a:r>
              <a:rPr dirty="0" sz="2800">
                <a:latin typeface="Tahoma"/>
                <a:cs typeface="Tahoma"/>
              </a:rPr>
              <a:t>For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linear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activation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function</a:t>
            </a:r>
            <a:endParaRPr sz="2800">
              <a:latin typeface="Tahoma"/>
              <a:cs typeface="Tahoma"/>
            </a:endParaRPr>
          </a:p>
          <a:p>
            <a:pPr algn="just" marL="952500">
              <a:lnSpc>
                <a:spcPct val="100000"/>
              </a:lnSpc>
              <a:spcBef>
                <a:spcPts val="1190"/>
              </a:spcBef>
            </a:pPr>
            <a:r>
              <a:rPr dirty="0" sz="2800" b="1">
                <a:latin typeface="Tahoma"/>
                <a:cs typeface="Tahoma"/>
              </a:rPr>
              <a:t>w</a:t>
            </a:r>
            <a:r>
              <a:rPr dirty="0" sz="2800">
                <a:latin typeface="Tahoma"/>
                <a:cs typeface="Tahoma"/>
              </a:rPr>
              <a:t>(n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+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1)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=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 b="1">
                <a:latin typeface="Tahoma"/>
                <a:cs typeface="Tahoma"/>
              </a:rPr>
              <a:t>w</a:t>
            </a:r>
            <a:r>
              <a:rPr dirty="0" sz="2800">
                <a:latin typeface="Tahoma"/>
                <a:cs typeface="Tahoma"/>
              </a:rPr>
              <a:t>(n)[1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+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ηx(n)x</a:t>
            </a:r>
            <a:r>
              <a:rPr dirty="0" baseline="21604" sz="2700">
                <a:latin typeface="Tahoma"/>
                <a:cs typeface="Tahoma"/>
              </a:rPr>
              <a:t>T</a:t>
            </a:r>
            <a:r>
              <a:rPr dirty="0" sz="2800">
                <a:latin typeface="Tahoma"/>
                <a:cs typeface="Tahoma"/>
              </a:rPr>
              <a:t>(n)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 spc="-50">
                <a:latin typeface="Tahoma"/>
                <a:cs typeface="Tahoma"/>
              </a:rPr>
              <a:t>]</a:t>
            </a:r>
            <a:endParaRPr sz="2800">
              <a:latin typeface="Tahoma"/>
              <a:cs typeface="Tahoma"/>
            </a:endParaRPr>
          </a:p>
          <a:p>
            <a:pPr algn="just" lvl="1" marL="781050" marR="197485" indent="-285750">
              <a:lnSpc>
                <a:spcPct val="100000"/>
              </a:lnSpc>
              <a:spcBef>
                <a:spcPts val="1210"/>
              </a:spcBef>
              <a:buSzPct val="54166"/>
              <a:buFont typeface="Tahoma"/>
              <a:buChar char="■"/>
              <a:tabLst>
                <a:tab pos="781050" algn="l"/>
                <a:tab pos="782955" algn="l"/>
              </a:tabLst>
            </a:pPr>
            <a:r>
              <a:rPr dirty="0" u="heavy" sz="24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r>
              <a:rPr dirty="0" u="heavy" sz="240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Weights</a:t>
            </a:r>
            <a:r>
              <a:rPr dirty="0" u="heavy" sz="2400" spc="-7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240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increase</a:t>
            </a:r>
            <a:r>
              <a:rPr dirty="0" u="heavy" sz="2400" spc="-7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240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without</a:t>
            </a:r>
            <a:r>
              <a:rPr dirty="0" u="heavy" sz="2400" spc="-75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2400" b="1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bounds</a:t>
            </a:r>
            <a:r>
              <a:rPr dirty="0" sz="2400" b="1">
                <a:latin typeface="Tahoma"/>
                <a:cs typeface="Tahoma"/>
              </a:rPr>
              <a:t>.</a:t>
            </a:r>
            <a:r>
              <a:rPr dirty="0" sz="2400" spc="-25" b="1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If</a:t>
            </a:r>
            <a:r>
              <a:rPr dirty="0" sz="2400" spc="-7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initial</a:t>
            </a:r>
            <a:r>
              <a:rPr dirty="0" sz="2400" spc="-7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weight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negative,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then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it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will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increase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negative.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If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it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is </a:t>
            </a:r>
            <a:r>
              <a:rPr dirty="0" sz="2400">
                <a:latin typeface="Tahoma"/>
                <a:cs typeface="Tahoma"/>
              </a:rPr>
              <a:t>positive,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then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it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will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increase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positive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range</a:t>
            </a:r>
            <a:endParaRPr sz="2400">
              <a:latin typeface="Tahoma"/>
              <a:cs typeface="Tahoma"/>
            </a:endParaRPr>
          </a:p>
          <a:p>
            <a:pPr algn="just" marL="379095" indent="-340995">
              <a:lnSpc>
                <a:spcPct val="100000"/>
              </a:lnSpc>
              <a:spcBef>
                <a:spcPts val="1200"/>
              </a:spcBef>
              <a:buClr>
                <a:srgbClr val="3333CC"/>
              </a:buClr>
              <a:buSzPct val="58928"/>
              <a:buChar char="■"/>
              <a:tabLst>
                <a:tab pos="379095" algn="l"/>
              </a:tabLst>
            </a:pPr>
            <a:r>
              <a:rPr dirty="0" sz="2800">
                <a:latin typeface="Tahoma"/>
                <a:cs typeface="Tahoma"/>
              </a:rPr>
              <a:t>Hebbian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learning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is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intrinsically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unstable,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unlike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42531" y="6298019"/>
            <a:ext cx="6728459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0">
                <a:latin typeface="Tahoma"/>
                <a:cs typeface="Tahoma"/>
              </a:rPr>
              <a:t>error-</a:t>
            </a:r>
            <a:r>
              <a:rPr dirty="0" sz="2800">
                <a:latin typeface="Tahoma"/>
                <a:cs typeface="Tahoma"/>
              </a:rPr>
              <a:t>correction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learning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with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BP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algorithm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102743" y="5800496"/>
            <a:ext cx="8218805" cy="1017905"/>
            <a:chOff x="102743" y="5800496"/>
            <a:chExt cx="8218805" cy="1017905"/>
          </a:xfrm>
        </p:grpSpPr>
        <p:sp>
          <p:nvSpPr>
            <p:cNvPr id="6" name="object 6" descr=""/>
            <p:cNvSpPr/>
            <p:nvPr/>
          </p:nvSpPr>
          <p:spPr>
            <a:xfrm>
              <a:off x="108204" y="5804916"/>
              <a:ext cx="8208645" cy="1009015"/>
            </a:xfrm>
            <a:custGeom>
              <a:avLst/>
              <a:gdLst/>
              <a:ahLst/>
              <a:cxnLst/>
              <a:rect l="l" t="t" r="r" b="b"/>
              <a:pathLst>
                <a:path w="8208645" h="1009015">
                  <a:moveTo>
                    <a:pt x="8208264" y="0"/>
                  </a:moveTo>
                  <a:lnTo>
                    <a:pt x="0" y="0"/>
                  </a:lnTo>
                  <a:lnTo>
                    <a:pt x="0" y="1008888"/>
                  </a:lnTo>
                  <a:lnTo>
                    <a:pt x="8208264" y="1008888"/>
                  </a:lnTo>
                  <a:lnTo>
                    <a:pt x="8208264" y="0"/>
                  </a:lnTo>
                  <a:close/>
                </a:path>
              </a:pathLst>
            </a:custGeom>
            <a:solidFill>
              <a:srgbClr val="00E4A8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2743" y="5800496"/>
              <a:ext cx="8218805" cy="1017905"/>
            </a:xfrm>
            <a:custGeom>
              <a:avLst/>
              <a:gdLst/>
              <a:ahLst/>
              <a:cxnLst/>
              <a:rect l="l" t="t" r="r" b="b"/>
              <a:pathLst>
                <a:path w="8218805" h="1017904">
                  <a:moveTo>
                    <a:pt x="8218436" y="0"/>
                  </a:moveTo>
                  <a:lnTo>
                    <a:pt x="0" y="0"/>
                  </a:lnTo>
                  <a:lnTo>
                    <a:pt x="0" y="1017638"/>
                  </a:lnTo>
                  <a:lnTo>
                    <a:pt x="8218436" y="1017638"/>
                  </a:lnTo>
                  <a:lnTo>
                    <a:pt x="8218436" y="1012875"/>
                  </a:lnTo>
                  <a:lnTo>
                    <a:pt x="9525" y="1012875"/>
                  </a:lnTo>
                  <a:lnTo>
                    <a:pt x="4762" y="1008113"/>
                  </a:lnTo>
                  <a:lnTo>
                    <a:pt x="9525" y="1008113"/>
                  </a:lnTo>
                  <a:lnTo>
                    <a:pt x="9525" y="9524"/>
                  </a:lnTo>
                  <a:lnTo>
                    <a:pt x="4762" y="9524"/>
                  </a:lnTo>
                  <a:lnTo>
                    <a:pt x="9525" y="4762"/>
                  </a:lnTo>
                  <a:lnTo>
                    <a:pt x="8218436" y="4762"/>
                  </a:lnTo>
                  <a:lnTo>
                    <a:pt x="8218436" y="0"/>
                  </a:lnTo>
                  <a:close/>
                </a:path>
                <a:path w="8218805" h="1017904">
                  <a:moveTo>
                    <a:pt x="9525" y="1008113"/>
                  </a:moveTo>
                  <a:lnTo>
                    <a:pt x="4762" y="1008113"/>
                  </a:lnTo>
                  <a:lnTo>
                    <a:pt x="9525" y="1012875"/>
                  </a:lnTo>
                  <a:lnTo>
                    <a:pt x="9525" y="1008113"/>
                  </a:lnTo>
                  <a:close/>
                </a:path>
                <a:path w="8218805" h="1017904">
                  <a:moveTo>
                    <a:pt x="8208911" y="1008113"/>
                  </a:moveTo>
                  <a:lnTo>
                    <a:pt x="9525" y="1008113"/>
                  </a:lnTo>
                  <a:lnTo>
                    <a:pt x="9525" y="1012875"/>
                  </a:lnTo>
                  <a:lnTo>
                    <a:pt x="8208911" y="1012875"/>
                  </a:lnTo>
                  <a:lnTo>
                    <a:pt x="8208911" y="1008113"/>
                  </a:lnTo>
                  <a:close/>
                </a:path>
                <a:path w="8218805" h="1017904">
                  <a:moveTo>
                    <a:pt x="8208911" y="4762"/>
                  </a:moveTo>
                  <a:lnTo>
                    <a:pt x="8208911" y="1012875"/>
                  </a:lnTo>
                  <a:lnTo>
                    <a:pt x="8213674" y="1008113"/>
                  </a:lnTo>
                  <a:lnTo>
                    <a:pt x="8218436" y="1008113"/>
                  </a:lnTo>
                  <a:lnTo>
                    <a:pt x="8218436" y="9524"/>
                  </a:lnTo>
                  <a:lnTo>
                    <a:pt x="8213674" y="9524"/>
                  </a:lnTo>
                  <a:lnTo>
                    <a:pt x="8208911" y="4762"/>
                  </a:lnTo>
                  <a:close/>
                </a:path>
                <a:path w="8218805" h="1017904">
                  <a:moveTo>
                    <a:pt x="8218436" y="1008113"/>
                  </a:moveTo>
                  <a:lnTo>
                    <a:pt x="8213674" y="1008113"/>
                  </a:lnTo>
                  <a:lnTo>
                    <a:pt x="8208911" y="1012875"/>
                  </a:lnTo>
                  <a:lnTo>
                    <a:pt x="8218436" y="1012875"/>
                  </a:lnTo>
                  <a:lnTo>
                    <a:pt x="8218436" y="1008113"/>
                  </a:lnTo>
                  <a:close/>
                </a:path>
                <a:path w="8218805" h="1017904">
                  <a:moveTo>
                    <a:pt x="9525" y="4762"/>
                  </a:moveTo>
                  <a:lnTo>
                    <a:pt x="4762" y="9524"/>
                  </a:lnTo>
                  <a:lnTo>
                    <a:pt x="9525" y="9524"/>
                  </a:lnTo>
                  <a:lnTo>
                    <a:pt x="9525" y="4762"/>
                  </a:lnTo>
                  <a:close/>
                </a:path>
                <a:path w="8218805" h="1017904">
                  <a:moveTo>
                    <a:pt x="8208911" y="4762"/>
                  </a:moveTo>
                  <a:lnTo>
                    <a:pt x="9525" y="4762"/>
                  </a:lnTo>
                  <a:lnTo>
                    <a:pt x="9525" y="9524"/>
                  </a:lnTo>
                  <a:lnTo>
                    <a:pt x="8208911" y="9524"/>
                  </a:lnTo>
                  <a:lnTo>
                    <a:pt x="8208911" y="4762"/>
                  </a:lnTo>
                  <a:close/>
                </a:path>
                <a:path w="8218805" h="1017904">
                  <a:moveTo>
                    <a:pt x="8218436" y="4762"/>
                  </a:moveTo>
                  <a:lnTo>
                    <a:pt x="8208911" y="4762"/>
                  </a:lnTo>
                  <a:lnTo>
                    <a:pt x="8213674" y="9524"/>
                  </a:lnTo>
                  <a:lnTo>
                    <a:pt x="8218436" y="9524"/>
                  </a:lnTo>
                  <a:lnTo>
                    <a:pt x="8218436" y="4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08674" rIns="0" bIns="0" rtlCol="0" vert="horz">
            <a:spAutoFit/>
          </a:bodyPr>
          <a:lstStyle/>
          <a:p>
            <a:pPr marL="41465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800000"/>
                </a:solidFill>
              </a:rPr>
              <a:t>Hebbian</a:t>
            </a:r>
            <a:r>
              <a:rPr dirty="0" spc="-65">
                <a:solidFill>
                  <a:srgbClr val="800000"/>
                </a:solidFill>
              </a:rPr>
              <a:t> </a:t>
            </a:r>
            <a:r>
              <a:rPr dirty="0" spc="-10">
                <a:solidFill>
                  <a:srgbClr val="800000"/>
                </a:solidFill>
              </a:rPr>
              <a:t>Learning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8485505" y="6508750"/>
            <a:ext cx="123189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0">
                <a:latin typeface="Tahoma"/>
                <a:cs typeface="Tahoma"/>
              </a:rPr>
              <a:t>4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48627" y="2135814"/>
            <a:ext cx="7912734" cy="4282440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795"/>
              </a:spcBef>
              <a:buClr>
                <a:srgbClr val="3333CC"/>
              </a:buClr>
              <a:buSzPct val="58928"/>
              <a:buChar char="■"/>
              <a:tabLst>
                <a:tab pos="380365" algn="l"/>
              </a:tabLst>
            </a:pPr>
            <a:r>
              <a:rPr dirty="0" sz="2800">
                <a:latin typeface="Tahoma"/>
                <a:cs typeface="Tahoma"/>
              </a:rPr>
              <a:t>Consider</a:t>
            </a:r>
            <a:r>
              <a:rPr dirty="0" sz="2800" spc="-10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single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linear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neuron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with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900" spc="-275" i="1">
                <a:latin typeface="Verdana"/>
                <a:cs typeface="Verdana"/>
              </a:rPr>
              <a:t>p</a:t>
            </a:r>
            <a:r>
              <a:rPr dirty="0" sz="2900" spc="-140" i="1">
                <a:latin typeface="Verdana"/>
                <a:cs typeface="Verdana"/>
              </a:rPr>
              <a:t> </a:t>
            </a:r>
            <a:r>
              <a:rPr dirty="0" sz="2800" spc="-10">
                <a:latin typeface="Tahoma"/>
                <a:cs typeface="Tahoma"/>
              </a:rPr>
              <a:t>inputs</a:t>
            </a:r>
            <a:endParaRPr sz="2800">
              <a:latin typeface="Tahoma"/>
              <a:cs typeface="Tahoma"/>
            </a:endParaRPr>
          </a:p>
          <a:p>
            <a:pPr marL="1866900">
              <a:lnSpc>
                <a:spcPct val="100000"/>
              </a:lnSpc>
              <a:spcBef>
                <a:spcPts val="550"/>
              </a:spcBef>
            </a:pPr>
            <a:r>
              <a:rPr dirty="0" sz="2400">
                <a:latin typeface="Tahoma"/>
                <a:cs typeface="Tahoma"/>
              </a:rPr>
              <a:t>y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=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w</a:t>
            </a:r>
            <a:r>
              <a:rPr dirty="0" baseline="21505" sz="2325">
                <a:latin typeface="Tahoma"/>
                <a:cs typeface="Tahoma"/>
              </a:rPr>
              <a:t>T</a:t>
            </a:r>
            <a:r>
              <a:rPr dirty="0" sz="2400" b="1">
                <a:latin typeface="Tahoma"/>
                <a:cs typeface="Tahoma"/>
              </a:rPr>
              <a:t>x</a:t>
            </a:r>
            <a:r>
              <a:rPr dirty="0" sz="2400" spc="25" b="1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=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25" b="1">
                <a:latin typeface="Tahoma"/>
                <a:cs typeface="Tahoma"/>
              </a:rPr>
              <a:t>x</a:t>
            </a:r>
            <a:r>
              <a:rPr dirty="0" baseline="21505" sz="2325" spc="-37">
                <a:latin typeface="Tahoma"/>
                <a:cs typeface="Tahoma"/>
              </a:rPr>
              <a:t>T</a:t>
            </a:r>
            <a:r>
              <a:rPr dirty="0" sz="2400" spc="-25" b="1">
                <a:latin typeface="Tahoma"/>
                <a:cs typeface="Tahoma"/>
              </a:rPr>
              <a:t>w</a:t>
            </a:r>
            <a:endParaRPr sz="2400">
              <a:latin typeface="Tahoma"/>
              <a:cs typeface="Tahoma"/>
            </a:endParaRPr>
          </a:p>
          <a:p>
            <a:pPr marL="371475">
              <a:lnSpc>
                <a:spcPct val="100000"/>
              </a:lnSpc>
              <a:spcBef>
                <a:spcPts val="675"/>
              </a:spcBef>
            </a:pPr>
            <a:r>
              <a:rPr dirty="0" sz="2800" spc="-25">
                <a:latin typeface="Tahoma"/>
                <a:cs typeface="Tahoma"/>
              </a:rPr>
              <a:t>and</a:t>
            </a:r>
            <a:endParaRPr sz="2800">
              <a:latin typeface="Tahoma"/>
              <a:cs typeface="Tahoma"/>
            </a:endParaRPr>
          </a:p>
          <a:p>
            <a:pPr marL="1866900">
              <a:lnSpc>
                <a:spcPct val="100000"/>
              </a:lnSpc>
              <a:spcBef>
                <a:spcPts val="565"/>
              </a:spcBef>
              <a:tabLst>
                <a:tab pos="3626485" algn="l"/>
                <a:tab pos="4227830" algn="l"/>
              </a:tabLst>
            </a:pPr>
            <a:r>
              <a:rPr dirty="0" sz="2400">
                <a:latin typeface="Tahoma"/>
                <a:cs typeface="Tahoma"/>
              </a:rPr>
              <a:t>Δ</a:t>
            </a:r>
            <a:r>
              <a:rPr dirty="0" sz="2400" b="1">
                <a:latin typeface="Tahoma"/>
                <a:cs typeface="Tahoma"/>
              </a:rPr>
              <a:t>w</a:t>
            </a:r>
            <a:r>
              <a:rPr dirty="0" sz="2400" spc="15" b="1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=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η[x</a:t>
            </a:r>
            <a:r>
              <a:rPr dirty="0" baseline="-17921" sz="2325" spc="-30">
                <a:latin typeface="Tahoma"/>
                <a:cs typeface="Tahoma"/>
              </a:rPr>
              <a:t>1</a:t>
            </a:r>
            <a:r>
              <a:rPr dirty="0" sz="2400" spc="-20">
                <a:latin typeface="Tahoma"/>
                <a:cs typeface="Tahoma"/>
              </a:rPr>
              <a:t>y</a:t>
            </a:r>
            <a:r>
              <a:rPr dirty="0" sz="2400">
                <a:latin typeface="Tahoma"/>
                <a:cs typeface="Tahoma"/>
              </a:rPr>
              <a:t>	</a:t>
            </a:r>
            <a:r>
              <a:rPr dirty="0" sz="2400" spc="-25">
                <a:latin typeface="Tahoma"/>
                <a:cs typeface="Tahoma"/>
              </a:rPr>
              <a:t>x</a:t>
            </a:r>
            <a:r>
              <a:rPr dirty="0" baseline="-17921" sz="2325" spc="-37">
                <a:latin typeface="Tahoma"/>
                <a:cs typeface="Tahoma"/>
              </a:rPr>
              <a:t>2</a:t>
            </a:r>
            <a:r>
              <a:rPr dirty="0" sz="2400" spc="-25">
                <a:latin typeface="Tahoma"/>
                <a:cs typeface="Tahoma"/>
              </a:rPr>
              <a:t>y</a:t>
            </a:r>
            <a:r>
              <a:rPr dirty="0" sz="2400">
                <a:latin typeface="Tahoma"/>
                <a:cs typeface="Tahoma"/>
              </a:rPr>
              <a:t>	</a:t>
            </a:r>
            <a:r>
              <a:rPr dirty="0" sz="2400" spc="944">
                <a:latin typeface="Courier New"/>
                <a:cs typeface="Courier New"/>
              </a:rPr>
              <a:t>…</a:t>
            </a:r>
            <a:r>
              <a:rPr dirty="0" sz="2400" spc="-95">
                <a:latin typeface="Courier New"/>
                <a:cs typeface="Courier New"/>
              </a:rPr>
              <a:t> </a:t>
            </a:r>
            <a:r>
              <a:rPr dirty="0" sz="2400" spc="-10">
                <a:latin typeface="Tahoma"/>
                <a:cs typeface="Tahoma"/>
              </a:rPr>
              <a:t>x</a:t>
            </a:r>
            <a:r>
              <a:rPr dirty="0" baseline="-17921" sz="2325" spc="-15">
                <a:latin typeface="Tahoma"/>
                <a:cs typeface="Tahoma"/>
              </a:rPr>
              <a:t>p</a:t>
            </a:r>
            <a:r>
              <a:rPr dirty="0" sz="2400" spc="-10">
                <a:latin typeface="Tahoma"/>
                <a:cs typeface="Tahoma"/>
              </a:rPr>
              <a:t>y]</a:t>
            </a:r>
            <a:r>
              <a:rPr dirty="0" baseline="21505" sz="2325" spc="-15">
                <a:latin typeface="Tahoma"/>
                <a:cs typeface="Tahoma"/>
              </a:rPr>
              <a:t>T</a:t>
            </a:r>
            <a:endParaRPr baseline="21505" sz="2325">
              <a:latin typeface="Tahoma"/>
              <a:cs typeface="Tahoma"/>
            </a:endParaRPr>
          </a:p>
          <a:p>
            <a:pPr marL="380365" indent="-342265">
              <a:lnSpc>
                <a:spcPct val="100000"/>
              </a:lnSpc>
              <a:spcBef>
                <a:spcPts val="680"/>
              </a:spcBef>
              <a:buClr>
                <a:srgbClr val="3333CC"/>
              </a:buClr>
              <a:buSzPct val="58928"/>
              <a:buChar char="■"/>
              <a:tabLst>
                <a:tab pos="380365" algn="l"/>
              </a:tabLst>
            </a:pP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dot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product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can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be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written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as</a:t>
            </a:r>
            <a:endParaRPr sz="2800">
              <a:latin typeface="Tahoma"/>
              <a:cs typeface="Tahoma"/>
            </a:endParaRPr>
          </a:p>
          <a:p>
            <a:pPr marL="1866900">
              <a:lnSpc>
                <a:spcPct val="100000"/>
              </a:lnSpc>
              <a:spcBef>
                <a:spcPts val="570"/>
              </a:spcBef>
            </a:pPr>
            <a:r>
              <a:rPr dirty="0" sz="2400">
                <a:latin typeface="Tahoma"/>
                <a:cs typeface="Tahoma"/>
              </a:rPr>
              <a:t>y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=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|</a:t>
            </a:r>
            <a:r>
              <a:rPr dirty="0" sz="2400" b="1">
                <a:latin typeface="Tahoma"/>
                <a:cs typeface="Tahoma"/>
              </a:rPr>
              <a:t>w</a:t>
            </a:r>
            <a:r>
              <a:rPr dirty="0" sz="2400">
                <a:latin typeface="Tahoma"/>
                <a:cs typeface="Tahoma"/>
              </a:rPr>
              <a:t>||</a:t>
            </a:r>
            <a:r>
              <a:rPr dirty="0" sz="2400" b="1">
                <a:latin typeface="Tahoma"/>
                <a:cs typeface="Tahoma"/>
              </a:rPr>
              <a:t>x</a:t>
            </a:r>
            <a:r>
              <a:rPr dirty="0" sz="2400">
                <a:latin typeface="Tahoma"/>
                <a:cs typeface="Tahoma"/>
              </a:rPr>
              <a:t>|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cos(</a:t>
            </a:r>
            <a:r>
              <a:rPr dirty="0" sz="2400" spc="-10">
                <a:latin typeface="Courier New"/>
                <a:cs typeface="Courier New"/>
              </a:rPr>
              <a:t>α</a:t>
            </a:r>
            <a:r>
              <a:rPr dirty="0" sz="2400" spc="-10"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  <a:p>
            <a:pPr lvl="1" marL="780415" indent="-285115">
              <a:lnSpc>
                <a:spcPct val="100000"/>
              </a:lnSpc>
              <a:spcBef>
                <a:spcPts val="665"/>
              </a:spcBef>
              <a:buClr>
                <a:srgbClr val="FF0000"/>
              </a:buClr>
              <a:buSzPct val="53571"/>
              <a:buFont typeface="Tahoma"/>
              <a:buChar char="■"/>
              <a:tabLst>
                <a:tab pos="780415" algn="l"/>
              </a:tabLst>
            </a:pPr>
            <a:r>
              <a:rPr dirty="0" sz="2800" spc="80">
                <a:latin typeface="Courier New"/>
                <a:cs typeface="Courier New"/>
              </a:rPr>
              <a:t>α</a:t>
            </a:r>
            <a:r>
              <a:rPr dirty="0" sz="2800" spc="-805">
                <a:latin typeface="Courier New"/>
                <a:cs typeface="Courier New"/>
              </a:rPr>
              <a:t> </a:t>
            </a:r>
            <a:r>
              <a:rPr dirty="0" sz="2800">
                <a:latin typeface="Tahoma"/>
                <a:cs typeface="Tahoma"/>
              </a:rPr>
              <a:t>=</a:t>
            </a:r>
            <a:r>
              <a:rPr dirty="0" sz="2800" spc="-8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angle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between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vectors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 b="1">
                <a:latin typeface="Tahoma"/>
                <a:cs typeface="Tahoma"/>
              </a:rPr>
              <a:t>x</a:t>
            </a:r>
            <a:r>
              <a:rPr dirty="0" sz="2800" spc="20" b="1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and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 spc="-50" b="1">
                <a:latin typeface="Tahoma"/>
                <a:cs typeface="Tahoma"/>
              </a:rPr>
              <a:t>w</a:t>
            </a:r>
            <a:endParaRPr sz="2800">
              <a:latin typeface="Tahoma"/>
              <a:cs typeface="Tahoma"/>
            </a:endParaRPr>
          </a:p>
          <a:p>
            <a:pPr lvl="2" marL="1180465" indent="-227965">
              <a:lnSpc>
                <a:spcPct val="100000"/>
              </a:lnSpc>
              <a:spcBef>
                <a:spcPts val="580"/>
              </a:spcBef>
              <a:buClr>
                <a:srgbClr val="3333CC"/>
              </a:buClr>
              <a:buSzPct val="50000"/>
              <a:buChar char="■"/>
              <a:tabLst>
                <a:tab pos="1180465" algn="l"/>
              </a:tabLst>
            </a:pPr>
            <a:r>
              <a:rPr dirty="0" sz="2400">
                <a:latin typeface="Tahoma"/>
                <a:cs typeface="Tahoma"/>
              </a:rPr>
              <a:t>If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 spc="70">
                <a:latin typeface="Courier New"/>
                <a:cs typeface="Courier New"/>
              </a:rPr>
              <a:t>α</a:t>
            </a:r>
            <a:r>
              <a:rPr dirty="0" sz="2400" spc="-690">
                <a:latin typeface="Courier New"/>
                <a:cs typeface="Courier New"/>
              </a:rPr>
              <a:t> </a:t>
            </a:r>
            <a:r>
              <a:rPr dirty="0" sz="2400">
                <a:latin typeface="Tahoma"/>
                <a:cs typeface="Tahoma"/>
              </a:rPr>
              <a:t>approaches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0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(</a:t>
            </a:r>
            <a:r>
              <a:rPr dirty="0" sz="2400" b="1">
                <a:latin typeface="Tahoma"/>
                <a:cs typeface="Tahoma"/>
              </a:rPr>
              <a:t>x</a:t>
            </a:r>
            <a:r>
              <a:rPr dirty="0" sz="2400" spc="25" b="1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and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w</a:t>
            </a:r>
            <a:r>
              <a:rPr dirty="0" sz="2400" spc="25" b="1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are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‘close’),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y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large</a:t>
            </a:r>
            <a:endParaRPr sz="2400">
              <a:latin typeface="Tahoma"/>
              <a:cs typeface="Tahoma"/>
            </a:endParaRPr>
          </a:p>
          <a:p>
            <a:pPr lvl="2" marL="1180465" indent="-227965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50000"/>
              <a:buChar char="■"/>
              <a:tabLst>
                <a:tab pos="1180465" algn="l"/>
              </a:tabLst>
            </a:pPr>
            <a:r>
              <a:rPr dirty="0" sz="2400">
                <a:latin typeface="Tahoma"/>
                <a:cs typeface="Tahoma"/>
              </a:rPr>
              <a:t>If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 spc="70">
                <a:latin typeface="Courier New"/>
                <a:cs typeface="Courier New"/>
              </a:rPr>
              <a:t>α</a:t>
            </a:r>
            <a:r>
              <a:rPr dirty="0" sz="2400" spc="-690">
                <a:latin typeface="Courier New"/>
                <a:cs typeface="Courier New"/>
              </a:rPr>
              <a:t> </a:t>
            </a:r>
            <a:r>
              <a:rPr dirty="0" sz="2400">
                <a:latin typeface="Tahoma"/>
                <a:cs typeface="Tahoma"/>
              </a:rPr>
              <a:t>approaches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90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(</a:t>
            </a:r>
            <a:r>
              <a:rPr dirty="0" sz="2400" b="1">
                <a:latin typeface="Tahoma"/>
                <a:cs typeface="Tahoma"/>
              </a:rPr>
              <a:t>x</a:t>
            </a:r>
            <a:r>
              <a:rPr dirty="0" sz="2400" spc="20" b="1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and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w</a:t>
            </a:r>
            <a:r>
              <a:rPr dirty="0" sz="2400" spc="25" b="1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are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‘far’),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y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zero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13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08674" rIns="0" bIns="0" rtlCol="0" vert="horz">
            <a:spAutoFit/>
          </a:bodyPr>
          <a:lstStyle/>
          <a:p>
            <a:pPr marL="41465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800000"/>
                </a:solidFill>
              </a:rPr>
              <a:t>Hebbian</a:t>
            </a:r>
            <a:r>
              <a:rPr dirty="0" spc="-65">
                <a:solidFill>
                  <a:srgbClr val="800000"/>
                </a:solidFill>
              </a:rPr>
              <a:t> </a:t>
            </a:r>
            <a:r>
              <a:rPr dirty="0" spc="-10">
                <a:solidFill>
                  <a:srgbClr val="800000"/>
                </a:solidFill>
              </a:rPr>
              <a:t>Learning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41655" y="2256548"/>
            <a:ext cx="8683625" cy="330644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355600" marR="24130" indent="-342900">
              <a:lnSpc>
                <a:spcPts val="3020"/>
              </a:lnSpc>
              <a:spcBef>
                <a:spcPts val="475"/>
              </a:spcBef>
              <a:buClr>
                <a:srgbClr val="3333CC"/>
              </a:buClr>
              <a:buSzPct val="58928"/>
              <a:buFont typeface="Tahoma"/>
              <a:buChar char="■"/>
              <a:tabLst>
                <a:tab pos="355600" algn="l"/>
              </a:tabLst>
            </a:pPr>
            <a:r>
              <a:rPr dirty="0" sz="2800" spc="180">
                <a:latin typeface="Courier New"/>
                <a:cs typeface="Courier New"/>
              </a:rPr>
              <a:t>A</a:t>
            </a:r>
            <a:r>
              <a:rPr dirty="0" sz="2800" spc="-875">
                <a:latin typeface="Courier New"/>
                <a:cs typeface="Courier New"/>
              </a:rPr>
              <a:t> </a:t>
            </a:r>
            <a:r>
              <a:rPr dirty="0" sz="2800" spc="-290">
                <a:latin typeface="Courier New"/>
                <a:cs typeface="Courier New"/>
              </a:rPr>
              <a:t>network</a:t>
            </a:r>
            <a:r>
              <a:rPr dirty="0" sz="2800" spc="-880">
                <a:latin typeface="Courier New"/>
                <a:cs typeface="Courier New"/>
              </a:rPr>
              <a:t> </a:t>
            </a:r>
            <a:r>
              <a:rPr dirty="0" sz="2800" spc="-470">
                <a:latin typeface="Courier New"/>
                <a:cs typeface="Courier New"/>
              </a:rPr>
              <a:t>trained</a:t>
            </a:r>
            <a:r>
              <a:rPr dirty="0" sz="2800" spc="-880">
                <a:latin typeface="Courier New"/>
                <a:cs typeface="Courier New"/>
              </a:rPr>
              <a:t> </a:t>
            </a:r>
            <a:r>
              <a:rPr dirty="0" sz="2800" spc="-445">
                <a:latin typeface="Courier New"/>
                <a:cs typeface="Courier New"/>
              </a:rPr>
              <a:t>with</a:t>
            </a:r>
            <a:r>
              <a:rPr dirty="0" sz="2800" spc="-880">
                <a:latin typeface="Courier New"/>
                <a:cs typeface="Courier New"/>
              </a:rPr>
              <a:t> </a:t>
            </a:r>
            <a:r>
              <a:rPr dirty="0" sz="2800" spc="-204">
                <a:latin typeface="Courier New"/>
                <a:cs typeface="Courier New"/>
              </a:rPr>
              <a:t>Hebbian</a:t>
            </a:r>
            <a:r>
              <a:rPr dirty="0" sz="2800" spc="-880">
                <a:latin typeface="Courier New"/>
                <a:cs typeface="Courier New"/>
              </a:rPr>
              <a:t> </a:t>
            </a:r>
            <a:r>
              <a:rPr dirty="0" sz="2800" spc="-445">
                <a:latin typeface="Courier New"/>
                <a:cs typeface="Courier New"/>
              </a:rPr>
              <a:t>learning</a:t>
            </a:r>
            <a:r>
              <a:rPr dirty="0" sz="2800" spc="-880">
                <a:latin typeface="Courier New"/>
                <a:cs typeface="Courier New"/>
              </a:rPr>
              <a:t> </a:t>
            </a:r>
            <a:r>
              <a:rPr dirty="0" sz="2800" spc="-380">
                <a:latin typeface="Courier New"/>
                <a:cs typeface="Courier New"/>
              </a:rPr>
              <a:t>creates</a:t>
            </a:r>
            <a:r>
              <a:rPr dirty="0" sz="2800" spc="-880">
                <a:latin typeface="Courier New"/>
                <a:cs typeface="Courier New"/>
              </a:rPr>
              <a:t> </a:t>
            </a:r>
            <a:r>
              <a:rPr dirty="0" sz="2800" spc="-50">
                <a:latin typeface="Courier New"/>
                <a:cs typeface="Courier New"/>
              </a:rPr>
              <a:t>a </a:t>
            </a:r>
            <a:r>
              <a:rPr dirty="0" sz="2800" spc="-600">
                <a:latin typeface="Courier New"/>
                <a:cs typeface="Courier New"/>
              </a:rPr>
              <a:t>similarity</a:t>
            </a:r>
            <a:r>
              <a:rPr dirty="0" sz="2800" spc="-880">
                <a:latin typeface="Courier New"/>
                <a:cs typeface="Courier New"/>
              </a:rPr>
              <a:t> </a:t>
            </a:r>
            <a:r>
              <a:rPr dirty="0" sz="2800" spc="-140">
                <a:latin typeface="Courier New"/>
                <a:cs typeface="Courier New"/>
              </a:rPr>
              <a:t>measure</a:t>
            </a:r>
            <a:r>
              <a:rPr dirty="0" sz="2800" spc="-880">
                <a:latin typeface="Courier New"/>
                <a:cs typeface="Courier New"/>
              </a:rPr>
              <a:t> </a:t>
            </a:r>
            <a:r>
              <a:rPr dirty="0" sz="2800" spc="-500">
                <a:latin typeface="Courier New"/>
                <a:cs typeface="Courier New"/>
              </a:rPr>
              <a:t>(</a:t>
            </a:r>
            <a:r>
              <a:rPr dirty="0" sz="2800" spc="-500">
                <a:solidFill>
                  <a:srgbClr val="FF0000"/>
                </a:solidFill>
                <a:latin typeface="Courier New"/>
                <a:cs typeface="Courier New"/>
              </a:rPr>
              <a:t>inner</a:t>
            </a:r>
            <a:r>
              <a:rPr dirty="0" sz="2800" spc="-885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2800" spc="-405">
                <a:solidFill>
                  <a:srgbClr val="FF0000"/>
                </a:solidFill>
                <a:latin typeface="Courier New"/>
                <a:cs typeface="Courier New"/>
              </a:rPr>
              <a:t>product</a:t>
            </a:r>
            <a:r>
              <a:rPr dirty="0" sz="2800" spc="-405">
                <a:latin typeface="Courier New"/>
                <a:cs typeface="Courier New"/>
              </a:rPr>
              <a:t>)</a:t>
            </a:r>
            <a:r>
              <a:rPr dirty="0" sz="2800" spc="-885">
                <a:latin typeface="Courier New"/>
                <a:cs typeface="Courier New"/>
              </a:rPr>
              <a:t> </a:t>
            </a:r>
            <a:r>
              <a:rPr dirty="0" sz="2800" spc="-600">
                <a:latin typeface="Courier New"/>
                <a:cs typeface="Courier New"/>
              </a:rPr>
              <a:t>in</a:t>
            </a:r>
            <a:r>
              <a:rPr dirty="0" sz="2800" spc="-880">
                <a:latin typeface="Courier New"/>
                <a:cs typeface="Courier New"/>
              </a:rPr>
              <a:t> </a:t>
            </a:r>
            <a:r>
              <a:rPr dirty="0" sz="2800" spc="-750">
                <a:latin typeface="Courier New"/>
                <a:cs typeface="Courier New"/>
              </a:rPr>
              <a:t>its</a:t>
            </a:r>
            <a:r>
              <a:rPr dirty="0" sz="2800" spc="-880">
                <a:latin typeface="Courier New"/>
                <a:cs typeface="Courier New"/>
              </a:rPr>
              <a:t> </a:t>
            </a:r>
            <a:r>
              <a:rPr dirty="0" sz="2800" spc="-475">
                <a:latin typeface="Courier New"/>
                <a:cs typeface="Courier New"/>
              </a:rPr>
              <a:t>input</a:t>
            </a:r>
            <a:r>
              <a:rPr dirty="0" sz="2800" spc="-880">
                <a:latin typeface="Courier New"/>
                <a:cs typeface="Courier New"/>
              </a:rPr>
              <a:t> </a:t>
            </a:r>
            <a:r>
              <a:rPr dirty="0" sz="2800" spc="-10">
                <a:latin typeface="Courier New"/>
                <a:cs typeface="Courier New"/>
              </a:rPr>
              <a:t>space </a:t>
            </a:r>
            <a:r>
              <a:rPr dirty="0" sz="2800" spc="-340">
                <a:latin typeface="Courier New"/>
                <a:cs typeface="Courier New"/>
              </a:rPr>
              <a:t>according</a:t>
            </a:r>
            <a:r>
              <a:rPr dirty="0" sz="2800" spc="-894">
                <a:latin typeface="Courier New"/>
                <a:cs typeface="Courier New"/>
              </a:rPr>
              <a:t> </a:t>
            </a:r>
            <a:r>
              <a:rPr dirty="0" sz="2800" spc="-520">
                <a:latin typeface="Courier New"/>
                <a:cs typeface="Courier New"/>
              </a:rPr>
              <a:t>to</a:t>
            </a:r>
            <a:r>
              <a:rPr dirty="0" sz="2800" spc="-890">
                <a:latin typeface="Courier New"/>
                <a:cs typeface="Courier New"/>
              </a:rPr>
              <a:t> </a:t>
            </a:r>
            <a:r>
              <a:rPr dirty="0" sz="2800" spc="-395">
                <a:latin typeface="Courier New"/>
                <a:cs typeface="Courier New"/>
              </a:rPr>
              <a:t>the</a:t>
            </a:r>
            <a:r>
              <a:rPr dirty="0" sz="2800" spc="-890">
                <a:latin typeface="Courier New"/>
                <a:cs typeface="Courier New"/>
              </a:rPr>
              <a:t> </a:t>
            </a:r>
            <a:r>
              <a:rPr dirty="0" sz="2800" spc="-430">
                <a:latin typeface="Courier New"/>
                <a:cs typeface="Courier New"/>
              </a:rPr>
              <a:t>information</a:t>
            </a:r>
            <a:r>
              <a:rPr dirty="0" sz="2800" spc="-890">
                <a:latin typeface="Courier New"/>
                <a:cs typeface="Courier New"/>
              </a:rPr>
              <a:t> </a:t>
            </a:r>
            <a:r>
              <a:rPr dirty="0" sz="2800" spc="-340">
                <a:latin typeface="Courier New"/>
                <a:cs typeface="Courier New"/>
              </a:rPr>
              <a:t>contained</a:t>
            </a:r>
            <a:r>
              <a:rPr dirty="0" sz="2800" spc="-890">
                <a:latin typeface="Courier New"/>
                <a:cs typeface="Courier New"/>
              </a:rPr>
              <a:t> </a:t>
            </a:r>
            <a:r>
              <a:rPr dirty="0" sz="2800" spc="-600">
                <a:latin typeface="Courier New"/>
                <a:cs typeface="Courier New"/>
              </a:rPr>
              <a:t>in</a:t>
            </a:r>
            <a:r>
              <a:rPr dirty="0" sz="2800" spc="-890">
                <a:latin typeface="Courier New"/>
                <a:cs typeface="Courier New"/>
              </a:rPr>
              <a:t> </a:t>
            </a:r>
            <a:r>
              <a:rPr dirty="0" sz="2800" spc="-395">
                <a:latin typeface="Courier New"/>
                <a:cs typeface="Courier New"/>
              </a:rPr>
              <a:t>the</a:t>
            </a:r>
            <a:r>
              <a:rPr dirty="0" sz="2800" spc="-890">
                <a:latin typeface="Courier New"/>
                <a:cs typeface="Courier New"/>
              </a:rPr>
              <a:t> </a:t>
            </a:r>
            <a:r>
              <a:rPr dirty="0" sz="2800" spc="-345">
                <a:latin typeface="Courier New"/>
                <a:cs typeface="Courier New"/>
              </a:rPr>
              <a:t>weights</a:t>
            </a:r>
            <a:endParaRPr sz="2800">
              <a:latin typeface="Courier New"/>
              <a:cs typeface="Courier New"/>
            </a:endParaRPr>
          </a:p>
          <a:p>
            <a:pPr lvl="1" marL="755650" marR="200025" indent="-285750">
              <a:lnSpc>
                <a:spcPts val="3020"/>
              </a:lnSpc>
              <a:spcBef>
                <a:spcPts val="670"/>
              </a:spcBef>
              <a:buClr>
                <a:srgbClr val="FF0000"/>
              </a:buClr>
              <a:buSzPct val="53571"/>
              <a:buFont typeface="Tahoma"/>
              <a:buChar char="■"/>
              <a:tabLst>
                <a:tab pos="755650" algn="l"/>
              </a:tabLst>
            </a:pPr>
            <a:r>
              <a:rPr dirty="0" sz="2800" spc="-90">
                <a:latin typeface="Courier New"/>
                <a:cs typeface="Courier New"/>
              </a:rPr>
              <a:t>The</a:t>
            </a:r>
            <a:r>
              <a:rPr dirty="0" sz="2800" spc="-885">
                <a:latin typeface="Courier New"/>
                <a:cs typeface="Courier New"/>
              </a:rPr>
              <a:t> </a:t>
            </a:r>
            <a:r>
              <a:rPr dirty="0" sz="2800" spc="-335">
                <a:latin typeface="Courier New"/>
                <a:cs typeface="Courier New"/>
              </a:rPr>
              <a:t>weights</a:t>
            </a:r>
            <a:r>
              <a:rPr dirty="0" sz="2800" spc="-880">
                <a:latin typeface="Courier New"/>
                <a:cs typeface="Courier New"/>
              </a:rPr>
              <a:t> </a:t>
            </a:r>
            <a:r>
              <a:rPr dirty="0" sz="2800" spc="-355">
                <a:latin typeface="Courier New"/>
                <a:cs typeface="Courier New"/>
              </a:rPr>
              <a:t>capture</a:t>
            </a:r>
            <a:r>
              <a:rPr dirty="0" sz="2800" spc="-885">
                <a:latin typeface="Courier New"/>
                <a:cs typeface="Courier New"/>
              </a:rPr>
              <a:t> </a:t>
            </a:r>
            <a:r>
              <a:rPr dirty="0" sz="2800" spc="-275">
                <a:latin typeface="Courier New"/>
                <a:cs typeface="Courier New"/>
              </a:rPr>
              <a:t>(memorizes)</a:t>
            </a:r>
            <a:r>
              <a:rPr dirty="0" sz="2800" spc="-885">
                <a:latin typeface="Courier New"/>
                <a:cs typeface="Courier New"/>
              </a:rPr>
              <a:t> </a:t>
            </a:r>
            <a:r>
              <a:rPr dirty="0" sz="2800" spc="-395">
                <a:latin typeface="Courier New"/>
                <a:cs typeface="Courier New"/>
              </a:rPr>
              <a:t>the</a:t>
            </a:r>
            <a:r>
              <a:rPr dirty="0" sz="2800" spc="-885">
                <a:latin typeface="Courier New"/>
                <a:cs typeface="Courier New"/>
              </a:rPr>
              <a:t> </a:t>
            </a:r>
            <a:r>
              <a:rPr dirty="0" sz="2800" spc="-440">
                <a:latin typeface="Courier New"/>
                <a:cs typeface="Courier New"/>
              </a:rPr>
              <a:t>information </a:t>
            </a:r>
            <a:r>
              <a:rPr dirty="0" sz="2800" spc="-600">
                <a:latin typeface="Courier New"/>
                <a:cs typeface="Courier New"/>
              </a:rPr>
              <a:t>in</a:t>
            </a:r>
            <a:r>
              <a:rPr dirty="0" sz="2800" spc="-890">
                <a:latin typeface="Courier New"/>
                <a:cs typeface="Courier New"/>
              </a:rPr>
              <a:t> </a:t>
            </a:r>
            <a:r>
              <a:rPr dirty="0" sz="2800" spc="-395">
                <a:latin typeface="Courier New"/>
                <a:cs typeface="Courier New"/>
              </a:rPr>
              <a:t>the</a:t>
            </a:r>
            <a:r>
              <a:rPr dirty="0" sz="2800" spc="-890">
                <a:latin typeface="Courier New"/>
                <a:cs typeface="Courier New"/>
              </a:rPr>
              <a:t> </a:t>
            </a:r>
            <a:r>
              <a:rPr dirty="0" sz="2800" spc="-330">
                <a:latin typeface="Courier New"/>
                <a:cs typeface="Courier New"/>
              </a:rPr>
              <a:t>data</a:t>
            </a:r>
            <a:r>
              <a:rPr dirty="0" sz="2800" spc="-885">
                <a:latin typeface="Courier New"/>
                <a:cs typeface="Courier New"/>
              </a:rPr>
              <a:t> </a:t>
            </a:r>
            <a:r>
              <a:rPr dirty="0" sz="2800" spc="-395">
                <a:latin typeface="Courier New"/>
                <a:cs typeface="Courier New"/>
              </a:rPr>
              <a:t>during</a:t>
            </a:r>
            <a:r>
              <a:rPr dirty="0" sz="2800" spc="-890">
                <a:latin typeface="Courier New"/>
                <a:cs typeface="Courier New"/>
              </a:rPr>
              <a:t> </a:t>
            </a:r>
            <a:r>
              <a:rPr dirty="0" sz="2800" spc="-550">
                <a:latin typeface="Courier New"/>
                <a:cs typeface="Courier New"/>
              </a:rPr>
              <a:t>training</a:t>
            </a:r>
            <a:endParaRPr sz="2800">
              <a:latin typeface="Courier New"/>
              <a:cs typeface="Courier New"/>
            </a:endParaRPr>
          </a:p>
          <a:p>
            <a:pPr algn="just" marL="353695" marR="5080" indent="-340995">
              <a:lnSpc>
                <a:spcPts val="3020"/>
              </a:lnSpc>
              <a:spcBef>
                <a:spcPts val="670"/>
              </a:spcBef>
              <a:buClr>
                <a:srgbClr val="3333CC"/>
              </a:buClr>
              <a:buSzPct val="58928"/>
              <a:buFont typeface="Tahoma"/>
              <a:buChar char="■"/>
              <a:tabLst>
                <a:tab pos="355600" algn="l"/>
              </a:tabLst>
            </a:pPr>
            <a:r>
              <a:rPr dirty="0" sz="2800" spc="-315">
                <a:latin typeface="Courier New"/>
                <a:cs typeface="Courier New"/>
              </a:rPr>
              <a:t>During</a:t>
            </a:r>
            <a:r>
              <a:rPr dirty="0" sz="2800" spc="-900">
                <a:latin typeface="Courier New"/>
                <a:cs typeface="Courier New"/>
              </a:rPr>
              <a:t> </a:t>
            </a:r>
            <a:r>
              <a:rPr dirty="0" sz="2800" spc="-445">
                <a:latin typeface="Courier New"/>
                <a:cs typeface="Courier New"/>
              </a:rPr>
              <a:t>operation,</a:t>
            </a:r>
            <a:r>
              <a:rPr dirty="0" sz="2800" spc="-900">
                <a:latin typeface="Courier New"/>
                <a:cs typeface="Courier New"/>
              </a:rPr>
              <a:t> </a:t>
            </a:r>
            <a:r>
              <a:rPr dirty="0" sz="2800" spc="-20">
                <a:latin typeface="Courier New"/>
                <a:cs typeface="Courier New"/>
              </a:rPr>
              <a:t>when</a:t>
            </a:r>
            <a:r>
              <a:rPr dirty="0" sz="2800" spc="-900">
                <a:latin typeface="Courier New"/>
                <a:cs typeface="Courier New"/>
              </a:rPr>
              <a:t> </a:t>
            </a:r>
            <a:r>
              <a:rPr dirty="0" sz="2800" spc="-395">
                <a:latin typeface="Courier New"/>
                <a:cs typeface="Courier New"/>
              </a:rPr>
              <a:t>the</a:t>
            </a:r>
            <a:r>
              <a:rPr dirty="0" sz="2800" spc="-900">
                <a:latin typeface="Courier New"/>
                <a:cs typeface="Courier New"/>
              </a:rPr>
              <a:t> </a:t>
            </a:r>
            <a:r>
              <a:rPr dirty="0" sz="2800" spc="-335">
                <a:latin typeface="Courier New"/>
                <a:cs typeface="Courier New"/>
              </a:rPr>
              <a:t>weights</a:t>
            </a:r>
            <a:r>
              <a:rPr dirty="0" sz="2800" spc="-900">
                <a:latin typeface="Courier New"/>
                <a:cs typeface="Courier New"/>
              </a:rPr>
              <a:t> </a:t>
            </a:r>
            <a:r>
              <a:rPr dirty="0" sz="2800" spc="-345">
                <a:latin typeface="Courier New"/>
                <a:cs typeface="Courier New"/>
              </a:rPr>
              <a:t>are</a:t>
            </a:r>
            <a:r>
              <a:rPr dirty="0" sz="2800" spc="-900">
                <a:latin typeface="Courier New"/>
                <a:cs typeface="Courier New"/>
              </a:rPr>
              <a:t> </a:t>
            </a:r>
            <a:r>
              <a:rPr dirty="0" sz="2800" spc="-575">
                <a:latin typeface="Courier New"/>
                <a:cs typeface="Courier New"/>
              </a:rPr>
              <a:t>fixed,</a:t>
            </a:r>
            <a:r>
              <a:rPr dirty="0" sz="2800" spc="-900">
                <a:latin typeface="Courier New"/>
                <a:cs typeface="Courier New"/>
              </a:rPr>
              <a:t> </a:t>
            </a:r>
            <a:r>
              <a:rPr dirty="0" sz="2800" spc="-135">
                <a:latin typeface="Courier New"/>
                <a:cs typeface="Courier New"/>
              </a:rPr>
              <a:t>a</a:t>
            </a:r>
            <a:r>
              <a:rPr dirty="0" sz="2800" spc="-900">
                <a:latin typeface="Courier New"/>
                <a:cs typeface="Courier New"/>
              </a:rPr>
              <a:t> </a:t>
            </a:r>
            <a:r>
              <a:rPr dirty="0" sz="2800" spc="-445">
                <a:latin typeface="Courier New"/>
                <a:cs typeface="Courier New"/>
              </a:rPr>
              <a:t>large</a:t>
            </a:r>
            <a:r>
              <a:rPr dirty="0" sz="2800" spc="-135">
                <a:latin typeface="Courier New"/>
                <a:cs typeface="Courier New"/>
              </a:rPr>
              <a:t> </a:t>
            </a:r>
            <a:r>
              <a:rPr dirty="0" sz="2800" spc="-135">
                <a:latin typeface="Courier New"/>
                <a:cs typeface="Courier New"/>
              </a:rPr>
              <a:t>	</a:t>
            </a:r>
            <a:r>
              <a:rPr dirty="0" sz="2800" spc="-395">
                <a:latin typeface="Courier New"/>
                <a:cs typeface="Courier New"/>
              </a:rPr>
              <a:t>output</a:t>
            </a:r>
            <a:r>
              <a:rPr dirty="0" sz="2800" spc="-900">
                <a:latin typeface="Courier New"/>
                <a:cs typeface="Courier New"/>
              </a:rPr>
              <a:t> </a:t>
            </a:r>
            <a:r>
              <a:rPr dirty="0" sz="2800" spc="-285">
                <a:latin typeface="Courier New"/>
                <a:cs typeface="Courier New"/>
              </a:rPr>
              <a:t>y</a:t>
            </a:r>
            <a:r>
              <a:rPr dirty="0" sz="2800" spc="-900">
                <a:latin typeface="Courier New"/>
                <a:cs typeface="Courier New"/>
              </a:rPr>
              <a:t> </a:t>
            </a:r>
            <a:r>
              <a:rPr dirty="0" sz="2800" spc="-565">
                <a:latin typeface="Courier New"/>
                <a:cs typeface="Courier New"/>
              </a:rPr>
              <a:t>signifies</a:t>
            </a:r>
            <a:r>
              <a:rPr dirty="0" sz="2800" spc="-900">
                <a:latin typeface="Courier New"/>
                <a:cs typeface="Courier New"/>
              </a:rPr>
              <a:t> </a:t>
            </a:r>
            <a:r>
              <a:rPr dirty="0" sz="2800" spc="-520">
                <a:latin typeface="Courier New"/>
                <a:cs typeface="Courier New"/>
              </a:rPr>
              <a:t>that</a:t>
            </a:r>
            <a:r>
              <a:rPr dirty="0" sz="2800" spc="-900">
                <a:latin typeface="Courier New"/>
                <a:cs typeface="Courier New"/>
              </a:rPr>
              <a:t> </a:t>
            </a:r>
            <a:r>
              <a:rPr dirty="0" sz="2800" spc="-395">
                <a:latin typeface="Courier New"/>
                <a:cs typeface="Courier New"/>
              </a:rPr>
              <a:t>the</a:t>
            </a:r>
            <a:r>
              <a:rPr dirty="0" sz="2800" spc="-900">
                <a:latin typeface="Courier New"/>
                <a:cs typeface="Courier New"/>
              </a:rPr>
              <a:t> </a:t>
            </a:r>
            <a:r>
              <a:rPr dirty="0" sz="2800" spc="-355">
                <a:latin typeface="Courier New"/>
                <a:cs typeface="Courier New"/>
              </a:rPr>
              <a:t>present</a:t>
            </a:r>
            <a:r>
              <a:rPr dirty="0" sz="2800" spc="-900">
                <a:latin typeface="Courier New"/>
                <a:cs typeface="Courier New"/>
              </a:rPr>
              <a:t> </a:t>
            </a:r>
            <a:r>
              <a:rPr dirty="0" sz="2800" spc="-475">
                <a:latin typeface="Courier New"/>
                <a:cs typeface="Courier New"/>
              </a:rPr>
              <a:t>input</a:t>
            </a:r>
            <a:r>
              <a:rPr dirty="0" sz="2800" spc="-900">
                <a:latin typeface="Courier New"/>
                <a:cs typeface="Courier New"/>
              </a:rPr>
              <a:t> </a:t>
            </a:r>
            <a:r>
              <a:rPr dirty="0" sz="2800" spc="-675">
                <a:latin typeface="Courier New"/>
                <a:cs typeface="Courier New"/>
              </a:rPr>
              <a:t>is</a:t>
            </a:r>
            <a:r>
              <a:rPr dirty="0" sz="2800" spc="-900">
                <a:latin typeface="Courier New"/>
                <a:cs typeface="Courier New"/>
              </a:rPr>
              <a:t> </a:t>
            </a:r>
            <a:r>
              <a:rPr dirty="0" sz="2800" spc="-565">
                <a:latin typeface="Courier New"/>
                <a:cs typeface="Courier New"/>
              </a:rPr>
              <a:t>"similar"</a:t>
            </a:r>
            <a:r>
              <a:rPr dirty="0" sz="2800" spc="-900">
                <a:latin typeface="Courier New"/>
                <a:cs typeface="Courier New"/>
              </a:rPr>
              <a:t> </a:t>
            </a:r>
            <a:r>
              <a:rPr dirty="0" sz="2800" spc="-520">
                <a:latin typeface="Courier New"/>
                <a:cs typeface="Courier New"/>
              </a:rPr>
              <a:t>to</a:t>
            </a:r>
            <a:r>
              <a:rPr dirty="0" sz="2800" spc="-135">
                <a:latin typeface="Courier New"/>
                <a:cs typeface="Courier New"/>
              </a:rPr>
              <a:t> </a:t>
            </a:r>
            <a:r>
              <a:rPr dirty="0" sz="2800" spc="-135">
                <a:latin typeface="Courier New"/>
                <a:cs typeface="Courier New"/>
              </a:rPr>
              <a:t>	</a:t>
            </a:r>
            <a:r>
              <a:rPr dirty="0" sz="2800" spc="-395">
                <a:latin typeface="Courier New"/>
                <a:cs typeface="Courier New"/>
              </a:rPr>
              <a:t>the</a:t>
            </a:r>
            <a:r>
              <a:rPr dirty="0" sz="2800" spc="-900">
                <a:latin typeface="Courier New"/>
                <a:cs typeface="Courier New"/>
              </a:rPr>
              <a:t> </a:t>
            </a:r>
            <a:r>
              <a:rPr dirty="0" sz="2800" spc="-445">
                <a:latin typeface="Courier New"/>
                <a:cs typeface="Courier New"/>
              </a:rPr>
              <a:t>inputs</a:t>
            </a:r>
            <a:r>
              <a:rPr dirty="0" sz="2800" spc="-900">
                <a:latin typeface="Courier New"/>
                <a:cs typeface="Courier New"/>
              </a:rPr>
              <a:t> </a:t>
            </a:r>
            <a:r>
              <a:rPr dirty="0" sz="2800" spc="-20" b="1">
                <a:latin typeface="Arial"/>
                <a:cs typeface="Arial"/>
              </a:rPr>
              <a:t>x</a:t>
            </a:r>
            <a:r>
              <a:rPr dirty="0" sz="2800" b="1">
                <a:latin typeface="Arial"/>
                <a:cs typeface="Arial"/>
              </a:rPr>
              <a:t> </a:t>
            </a:r>
            <a:r>
              <a:rPr dirty="0" sz="2800" spc="-520">
                <a:latin typeface="Courier New"/>
                <a:cs typeface="Courier New"/>
              </a:rPr>
              <a:t>that</a:t>
            </a:r>
            <a:r>
              <a:rPr dirty="0" sz="2800" spc="-900">
                <a:latin typeface="Courier New"/>
                <a:cs typeface="Courier New"/>
              </a:rPr>
              <a:t> </a:t>
            </a:r>
            <a:r>
              <a:rPr dirty="0" sz="2800" spc="-355">
                <a:latin typeface="Courier New"/>
                <a:cs typeface="Courier New"/>
              </a:rPr>
              <a:t>created</a:t>
            </a:r>
            <a:r>
              <a:rPr dirty="0" sz="2800" spc="-900">
                <a:latin typeface="Courier New"/>
                <a:cs typeface="Courier New"/>
              </a:rPr>
              <a:t> </a:t>
            </a:r>
            <a:r>
              <a:rPr dirty="0" sz="2800" spc="-395">
                <a:latin typeface="Courier New"/>
                <a:cs typeface="Courier New"/>
              </a:rPr>
              <a:t>the</a:t>
            </a:r>
            <a:r>
              <a:rPr dirty="0" sz="2800" spc="-900">
                <a:latin typeface="Courier New"/>
                <a:cs typeface="Courier New"/>
              </a:rPr>
              <a:t> </a:t>
            </a:r>
            <a:r>
              <a:rPr dirty="0" sz="2800" spc="-335">
                <a:latin typeface="Courier New"/>
                <a:cs typeface="Courier New"/>
              </a:rPr>
              <a:t>weights</a:t>
            </a:r>
            <a:r>
              <a:rPr dirty="0" sz="2800" spc="-900">
                <a:latin typeface="Courier New"/>
                <a:cs typeface="Courier New"/>
              </a:rPr>
              <a:t> </a:t>
            </a:r>
            <a:r>
              <a:rPr dirty="0" sz="2800" spc="-395">
                <a:latin typeface="Courier New"/>
                <a:cs typeface="Courier New"/>
              </a:rPr>
              <a:t>during</a:t>
            </a:r>
            <a:r>
              <a:rPr dirty="0" sz="2800" spc="-900">
                <a:latin typeface="Courier New"/>
                <a:cs typeface="Courier New"/>
              </a:rPr>
              <a:t> </a:t>
            </a:r>
            <a:r>
              <a:rPr dirty="0" sz="2800" spc="-540">
                <a:latin typeface="Courier New"/>
                <a:cs typeface="Courier New"/>
              </a:rPr>
              <a:t>training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13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08674" rIns="0" bIns="0" rtlCol="0" vert="horz">
            <a:spAutoFit/>
          </a:bodyPr>
          <a:lstStyle/>
          <a:p>
            <a:pPr marL="41465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800000"/>
                </a:solidFill>
              </a:rPr>
              <a:t>Hebbian</a:t>
            </a:r>
            <a:r>
              <a:rPr dirty="0" spc="-65">
                <a:solidFill>
                  <a:srgbClr val="800000"/>
                </a:solidFill>
              </a:rPr>
              <a:t> </a:t>
            </a:r>
            <a:r>
              <a:rPr dirty="0" spc="-10">
                <a:solidFill>
                  <a:srgbClr val="800000"/>
                </a:solidFill>
              </a:rPr>
              <a:t>Learning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51523" y="1340764"/>
            <a:ext cx="8714105" cy="5400675"/>
          </a:xfrm>
          <a:custGeom>
            <a:avLst/>
            <a:gdLst/>
            <a:ahLst/>
            <a:cxnLst/>
            <a:rect l="l" t="t" r="r" b="b"/>
            <a:pathLst>
              <a:path w="8714105" h="5400675">
                <a:moveTo>
                  <a:pt x="8713787" y="0"/>
                </a:moveTo>
                <a:lnTo>
                  <a:pt x="0" y="0"/>
                </a:lnTo>
                <a:lnTo>
                  <a:pt x="0" y="5400599"/>
                </a:lnTo>
                <a:lnTo>
                  <a:pt x="8713787" y="5400599"/>
                </a:lnTo>
                <a:lnTo>
                  <a:pt x="87137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330263" y="1338224"/>
            <a:ext cx="7700009" cy="130365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355600" marR="5080" indent="-342900">
              <a:lnSpc>
                <a:spcPts val="3020"/>
              </a:lnSpc>
              <a:spcBef>
                <a:spcPts val="475"/>
              </a:spcBef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simple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Hebbian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rule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causes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weights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to </a:t>
            </a:r>
            <a:r>
              <a:rPr dirty="0" sz="2800">
                <a:latin typeface="Tahoma"/>
                <a:cs typeface="Tahoma"/>
              </a:rPr>
              <a:t>increase</a:t>
            </a:r>
            <a:r>
              <a:rPr dirty="0" sz="2800" spc="-8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(or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decrease)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without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bounds</a:t>
            </a:r>
            <a:endParaRPr sz="2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290"/>
              </a:spcBef>
              <a:buClr>
                <a:srgbClr val="3333CC"/>
              </a:buClr>
              <a:buSzPct val="58928"/>
              <a:buChar char="■"/>
              <a:tabLst>
                <a:tab pos="354965" algn="l"/>
              </a:tabLst>
            </a:pP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weights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need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to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be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normalized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to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one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as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2969107" y="3342894"/>
            <a:ext cx="4073525" cy="633095"/>
            <a:chOff x="2969107" y="3342894"/>
            <a:chExt cx="4073525" cy="633095"/>
          </a:xfrm>
        </p:grpSpPr>
        <p:sp>
          <p:nvSpPr>
            <p:cNvPr id="5" name="object 5" descr=""/>
            <p:cNvSpPr/>
            <p:nvPr/>
          </p:nvSpPr>
          <p:spPr>
            <a:xfrm>
              <a:off x="3010306" y="3403676"/>
              <a:ext cx="3994785" cy="572135"/>
            </a:xfrm>
            <a:custGeom>
              <a:avLst/>
              <a:gdLst/>
              <a:ahLst/>
              <a:cxnLst/>
              <a:rect l="l" t="t" r="r" b="b"/>
              <a:pathLst>
                <a:path w="3994784" h="572135">
                  <a:moveTo>
                    <a:pt x="0" y="385178"/>
                  </a:moveTo>
                  <a:lnTo>
                    <a:pt x="35458" y="355333"/>
                  </a:lnTo>
                </a:path>
                <a:path w="3994784" h="572135">
                  <a:moveTo>
                    <a:pt x="35458" y="355333"/>
                  </a:moveTo>
                  <a:lnTo>
                    <a:pt x="122212" y="571715"/>
                  </a:lnTo>
                </a:path>
                <a:path w="3994784" h="572135">
                  <a:moveTo>
                    <a:pt x="122212" y="571715"/>
                  </a:moveTo>
                  <a:lnTo>
                    <a:pt x="217360" y="0"/>
                  </a:lnTo>
                </a:path>
                <a:path w="3994784" h="572135">
                  <a:moveTo>
                    <a:pt x="217360" y="0"/>
                  </a:moveTo>
                  <a:lnTo>
                    <a:pt x="399450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006572" y="3395281"/>
              <a:ext cx="3998595" cy="580390"/>
            </a:xfrm>
            <a:custGeom>
              <a:avLst/>
              <a:gdLst/>
              <a:ahLst/>
              <a:cxnLst/>
              <a:rect l="l" t="t" r="r" b="b"/>
              <a:pathLst>
                <a:path w="3998595" h="580389">
                  <a:moveTo>
                    <a:pt x="3998239" y="0"/>
                  </a:moveTo>
                  <a:lnTo>
                    <a:pt x="214566" y="0"/>
                  </a:lnTo>
                  <a:lnTo>
                    <a:pt x="125945" y="529742"/>
                  </a:lnTo>
                  <a:lnTo>
                    <a:pt x="49453" y="348805"/>
                  </a:lnTo>
                  <a:lnTo>
                    <a:pt x="0" y="388912"/>
                  </a:lnTo>
                  <a:lnTo>
                    <a:pt x="7467" y="398246"/>
                  </a:lnTo>
                  <a:lnTo>
                    <a:pt x="29857" y="379590"/>
                  </a:lnTo>
                  <a:lnTo>
                    <a:pt x="117551" y="580110"/>
                  </a:lnTo>
                  <a:lnTo>
                    <a:pt x="135267" y="580110"/>
                  </a:lnTo>
                  <a:lnTo>
                    <a:pt x="228561" y="17716"/>
                  </a:lnTo>
                  <a:lnTo>
                    <a:pt x="3998239" y="17716"/>
                  </a:lnTo>
                  <a:lnTo>
                    <a:pt x="39982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976727" y="3350514"/>
              <a:ext cx="4058285" cy="0"/>
            </a:xfrm>
            <a:custGeom>
              <a:avLst/>
              <a:gdLst/>
              <a:ahLst/>
              <a:cxnLst/>
              <a:rect l="l" t="t" r="r" b="b"/>
              <a:pathLst>
                <a:path w="4058284" h="0">
                  <a:moveTo>
                    <a:pt x="0" y="0"/>
                  </a:moveTo>
                  <a:lnTo>
                    <a:pt x="4057929" y="0"/>
                  </a:lnTo>
                </a:path>
              </a:pathLst>
            </a:custGeom>
            <a:ln w="149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834454" y="3413671"/>
            <a:ext cx="129539" cy="2749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00" spc="-100">
                <a:latin typeface="Courier New"/>
                <a:cs typeface="Courier New"/>
              </a:rPr>
              <a:t>2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568475" y="3312947"/>
            <a:ext cx="141605" cy="2749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00" spc="-535" i="1">
                <a:latin typeface="Courier New"/>
                <a:cs typeface="Courier New"/>
              </a:rPr>
              <a:t>ji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632885" y="3723309"/>
            <a:ext cx="83185" cy="2749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00" spc="-565" i="1">
                <a:latin typeface="Courier New"/>
                <a:cs typeface="Courier New"/>
              </a:rPr>
              <a:t>i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541255" y="2781184"/>
            <a:ext cx="2927350" cy="475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800" spc="-225" i="1">
                <a:latin typeface="Courier New"/>
                <a:cs typeface="Courier New"/>
              </a:rPr>
              <a:t>w</a:t>
            </a:r>
            <a:r>
              <a:rPr dirty="0" baseline="-26041" sz="2400" spc="-337" i="1">
                <a:latin typeface="Courier New"/>
                <a:cs typeface="Courier New"/>
              </a:rPr>
              <a:t>ji</a:t>
            </a:r>
            <a:r>
              <a:rPr dirty="0" baseline="-26041" sz="2400" spc="-855" i="1">
                <a:latin typeface="Courier New"/>
                <a:cs typeface="Courier New"/>
              </a:rPr>
              <a:t> </a:t>
            </a:r>
            <a:r>
              <a:rPr dirty="0" sz="2800" spc="-565">
                <a:latin typeface="Courier New"/>
                <a:cs typeface="Courier New"/>
              </a:rPr>
              <a:t>(</a:t>
            </a:r>
            <a:r>
              <a:rPr dirty="0" sz="2800" spc="-565" i="1">
                <a:latin typeface="Courier New"/>
                <a:cs typeface="Courier New"/>
              </a:rPr>
              <a:t>n</a:t>
            </a:r>
            <a:r>
              <a:rPr dirty="0" sz="2800" spc="-565">
                <a:latin typeface="Courier New"/>
                <a:cs typeface="Courier New"/>
              </a:rPr>
              <a:t>)</a:t>
            </a:r>
            <a:r>
              <a:rPr dirty="0" sz="2800" spc="-1170">
                <a:latin typeface="Courier New"/>
                <a:cs typeface="Courier New"/>
              </a:rPr>
              <a:t> </a:t>
            </a:r>
            <a:r>
              <a:rPr dirty="0" sz="2800" spc="-210">
                <a:latin typeface="Courier New"/>
                <a:cs typeface="Courier New"/>
              </a:rPr>
              <a:t>+</a:t>
            </a:r>
            <a:r>
              <a:rPr dirty="0" sz="2950" spc="-210" i="1">
                <a:latin typeface="Courier New"/>
                <a:cs typeface="Courier New"/>
              </a:rPr>
              <a:t>η</a:t>
            </a:r>
            <a:r>
              <a:rPr dirty="0" sz="2800" spc="-210" i="1">
                <a:latin typeface="Courier New"/>
                <a:cs typeface="Courier New"/>
              </a:rPr>
              <a:t>x</a:t>
            </a:r>
            <a:r>
              <a:rPr dirty="0" baseline="-26041" sz="2400" spc="-315" i="1">
                <a:latin typeface="Courier New"/>
                <a:cs typeface="Courier New"/>
              </a:rPr>
              <a:t>i</a:t>
            </a:r>
            <a:r>
              <a:rPr dirty="0" baseline="-26041" sz="2400" spc="-855" i="1">
                <a:latin typeface="Courier New"/>
                <a:cs typeface="Courier New"/>
              </a:rPr>
              <a:t> </a:t>
            </a:r>
            <a:r>
              <a:rPr dirty="0" sz="2800" spc="-565">
                <a:latin typeface="Courier New"/>
                <a:cs typeface="Courier New"/>
              </a:rPr>
              <a:t>(</a:t>
            </a:r>
            <a:r>
              <a:rPr dirty="0" sz="2800" spc="-565" i="1">
                <a:latin typeface="Courier New"/>
                <a:cs typeface="Courier New"/>
              </a:rPr>
              <a:t>n</a:t>
            </a:r>
            <a:r>
              <a:rPr dirty="0" sz="2800" spc="-565">
                <a:latin typeface="Courier New"/>
                <a:cs typeface="Courier New"/>
              </a:rPr>
              <a:t>)</a:t>
            </a:r>
            <a:r>
              <a:rPr dirty="0" sz="2800" spc="-1350">
                <a:latin typeface="Courier New"/>
                <a:cs typeface="Courier New"/>
              </a:rPr>
              <a:t> </a:t>
            </a:r>
            <a:r>
              <a:rPr dirty="0" sz="2800" spc="-440" i="1">
                <a:latin typeface="Courier New"/>
                <a:cs typeface="Courier New"/>
              </a:rPr>
              <a:t>y</a:t>
            </a:r>
            <a:r>
              <a:rPr dirty="0" sz="2800" spc="-1335" i="1">
                <a:latin typeface="Courier New"/>
                <a:cs typeface="Courier New"/>
              </a:rPr>
              <a:t> </a:t>
            </a:r>
            <a:r>
              <a:rPr dirty="0" baseline="-26041" sz="2400" spc="-772" i="1">
                <a:latin typeface="Courier New"/>
                <a:cs typeface="Courier New"/>
              </a:rPr>
              <a:t>j</a:t>
            </a:r>
            <a:r>
              <a:rPr dirty="0" baseline="-26041" sz="2400" spc="-810" i="1">
                <a:latin typeface="Courier New"/>
                <a:cs typeface="Courier New"/>
              </a:rPr>
              <a:t> </a:t>
            </a:r>
            <a:r>
              <a:rPr dirty="0" sz="2800" spc="-590">
                <a:latin typeface="Courier New"/>
                <a:cs typeface="Courier New"/>
              </a:rPr>
              <a:t>(</a:t>
            </a:r>
            <a:r>
              <a:rPr dirty="0" sz="2800" spc="-590" i="1">
                <a:latin typeface="Courier New"/>
                <a:cs typeface="Courier New"/>
              </a:rPr>
              <a:t>n</a:t>
            </a:r>
            <a:r>
              <a:rPr dirty="0" sz="2800" spc="-590">
                <a:latin typeface="Courier New"/>
                <a:cs typeface="Courier New"/>
              </a:rPr>
              <a:t>)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307274" y="3072269"/>
            <a:ext cx="158877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180" i="1">
                <a:latin typeface="Courier New"/>
                <a:cs typeface="Courier New"/>
              </a:rPr>
              <a:t>w</a:t>
            </a:r>
            <a:r>
              <a:rPr dirty="0" sz="2800" spc="-204" i="1">
                <a:latin typeface="Courier New"/>
                <a:cs typeface="Courier New"/>
              </a:rPr>
              <a:t> </a:t>
            </a:r>
            <a:r>
              <a:rPr dirty="0" sz="2800" spc="-495">
                <a:latin typeface="Courier New"/>
                <a:cs typeface="Courier New"/>
              </a:rPr>
              <a:t>(</a:t>
            </a:r>
            <a:r>
              <a:rPr dirty="0" sz="2800" spc="-495" i="1">
                <a:latin typeface="Courier New"/>
                <a:cs typeface="Courier New"/>
              </a:rPr>
              <a:t>n</a:t>
            </a:r>
            <a:r>
              <a:rPr dirty="0" sz="2800" spc="-1160" i="1">
                <a:latin typeface="Courier New"/>
                <a:cs typeface="Courier New"/>
              </a:rPr>
              <a:t> </a:t>
            </a:r>
            <a:r>
              <a:rPr dirty="0" sz="2800" spc="-405">
                <a:latin typeface="Courier New"/>
                <a:cs typeface="Courier New"/>
              </a:rPr>
              <a:t>+1)</a:t>
            </a:r>
            <a:r>
              <a:rPr dirty="0" sz="2800" spc="-1015">
                <a:latin typeface="Courier New"/>
                <a:cs typeface="Courier New"/>
              </a:rPr>
              <a:t> </a:t>
            </a:r>
            <a:r>
              <a:rPr dirty="0" sz="2800" spc="-50">
                <a:latin typeface="Courier New"/>
                <a:cs typeface="Courier New"/>
              </a:rPr>
              <a:t>=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696106" y="3407002"/>
            <a:ext cx="3175000" cy="475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800" spc="-320">
                <a:latin typeface="Courier New"/>
                <a:cs typeface="Courier New"/>
              </a:rPr>
              <a:t>[</a:t>
            </a:r>
            <a:r>
              <a:rPr dirty="0" sz="2800" spc="-320" i="1">
                <a:latin typeface="Courier New"/>
                <a:cs typeface="Courier New"/>
              </a:rPr>
              <a:t>w</a:t>
            </a:r>
            <a:r>
              <a:rPr dirty="0" baseline="-26041" sz="2400" spc="-480" i="1">
                <a:latin typeface="Courier New"/>
                <a:cs typeface="Courier New"/>
              </a:rPr>
              <a:t>ji</a:t>
            </a:r>
            <a:r>
              <a:rPr dirty="0" baseline="-26041" sz="2400" spc="-907" i="1">
                <a:latin typeface="Courier New"/>
                <a:cs typeface="Courier New"/>
              </a:rPr>
              <a:t> </a:t>
            </a:r>
            <a:r>
              <a:rPr dirty="0" sz="2800" spc="-560">
                <a:latin typeface="Courier New"/>
                <a:cs typeface="Courier New"/>
              </a:rPr>
              <a:t>(</a:t>
            </a:r>
            <a:r>
              <a:rPr dirty="0" sz="2800" spc="-560" i="1">
                <a:latin typeface="Courier New"/>
                <a:cs typeface="Courier New"/>
              </a:rPr>
              <a:t>n</a:t>
            </a:r>
            <a:r>
              <a:rPr dirty="0" sz="2800" spc="-560">
                <a:latin typeface="Courier New"/>
                <a:cs typeface="Courier New"/>
              </a:rPr>
              <a:t>)</a:t>
            </a:r>
            <a:r>
              <a:rPr dirty="0" sz="2800" spc="-1155">
                <a:latin typeface="Courier New"/>
                <a:cs typeface="Courier New"/>
              </a:rPr>
              <a:t> </a:t>
            </a:r>
            <a:r>
              <a:rPr dirty="0" sz="2800" spc="-210">
                <a:latin typeface="Courier New"/>
                <a:cs typeface="Courier New"/>
              </a:rPr>
              <a:t>+</a:t>
            </a:r>
            <a:r>
              <a:rPr dirty="0" sz="2950" spc="-210" i="1">
                <a:latin typeface="Courier New"/>
                <a:cs typeface="Courier New"/>
              </a:rPr>
              <a:t>η</a:t>
            </a:r>
            <a:r>
              <a:rPr dirty="0" sz="2800" spc="-210" i="1">
                <a:latin typeface="Courier New"/>
                <a:cs typeface="Courier New"/>
              </a:rPr>
              <a:t>x</a:t>
            </a:r>
            <a:r>
              <a:rPr dirty="0" baseline="-26041" sz="2400" spc="-315" i="1">
                <a:latin typeface="Courier New"/>
                <a:cs typeface="Courier New"/>
              </a:rPr>
              <a:t>i</a:t>
            </a:r>
            <a:r>
              <a:rPr dirty="0" baseline="-26041" sz="2400" spc="-900" i="1">
                <a:latin typeface="Courier New"/>
                <a:cs typeface="Courier New"/>
              </a:rPr>
              <a:t> </a:t>
            </a:r>
            <a:r>
              <a:rPr dirty="0" sz="2800" spc="-560">
                <a:latin typeface="Courier New"/>
                <a:cs typeface="Courier New"/>
              </a:rPr>
              <a:t>(</a:t>
            </a:r>
            <a:r>
              <a:rPr dirty="0" sz="2800" spc="-560" i="1">
                <a:latin typeface="Courier New"/>
                <a:cs typeface="Courier New"/>
              </a:rPr>
              <a:t>n</a:t>
            </a:r>
            <a:r>
              <a:rPr dirty="0" sz="2800" spc="-560">
                <a:latin typeface="Courier New"/>
                <a:cs typeface="Courier New"/>
              </a:rPr>
              <a:t>)</a:t>
            </a:r>
            <a:r>
              <a:rPr dirty="0" sz="2800" spc="-1335">
                <a:latin typeface="Courier New"/>
                <a:cs typeface="Courier New"/>
              </a:rPr>
              <a:t> </a:t>
            </a:r>
            <a:r>
              <a:rPr dirty="0" sz="2800" spc="-440" i="1">
                <a:latin typeface="Courier New"/>
                <a:cs typeface="Courier New"/>
              </a:rPr>
              <a:t>y</a:t>
            </a:r>
            <a:r>
              <a:rPr dirty="0" sz="2800" spc="-1340" i="1">
                <a:latin typeface="Courier New"/>
                <a:cs typeface="Courier New"/>
              </a:rPr>
              <a:t> </a:t>
            </a:r>
            <a:r>
              <a:rPr dirty="0" baseline="-26041" sz="2400" spc="-772" i="1">
                <a:latin typeface="Courier New"/>
                <a:cs typeface="Courier New"/>
              </a:rPr>
              <a:t>j</a:t>
            </a:r>
            <a:r>
              <a:rPr dirty="0" baseline="-26041" sz="2400" spc="-855" i="1">
                <a:latin typeface="Courier New"/>
                <a:cs typeface="Courier New"/>
              </a:rPr>
              <a:t> </a:t>
            </a:r>
            <a:r>
              <a:rPr dirty="0" sz="2800" spc="-635">
                <a:latin typeface="Courier New"/>
                <a:cs typeface="Courier New"/>
              </a:rPr>
              <a:t>(</a:t>
            </a:r>
            <a:r>
              <a:rPr dirty="0" sz="2800" spc="-635" i="1">
                <a:latin typeface="Courier New"/>
                <a:cs typeface="Courier New"/>
              </a:rPr>
              <a:t>n</a:t>
            </a:r>
            <a:r>
              <a:rPr dirty="0" sz="2800" spc="-635">
                <a:latin typeface="Courier New"/>
                <a:cs typeface="Courier New"/>
              </a:rPr>
              <a:t>)]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228022" y="3329813"/>
            <a:ext cx="40640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200" spc="400">
                <a:latin typeface="Courier New"/>
                <a:cs typeface="Courier New"/>
              </a:rPr>
              <a:t>Σ</a:t>
            </a:r>
            <a:endParaRPr sz="4200">
              <a:latin typeface="Courier New"/>
              <a:cs typeface="Courier New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1250823" y="2803779"/>
            <a:ext cx="5869940" cy="1243330"/>
          </a:xfrm>
          <a:custGeom>
            <a:avLst/>
            <a:gdLst/>
            <a:ahLst/>
            <a:cxnLst/>
            <a:rect l="l" t="t" r="r" b="b"/>
            <a:pathLst>
              <a:path w="5869940" h="1243329">
                <a:moveTo>
                  <a:pt x="5869685" y="0"/>
                </a:moveTo>
                <a:lnTo>
                  <a:pt x="0" y="0"/>
                </a:lnTo>
                <a:lnTo>
                  <a:pt x="0" y="1242822"/>
                </a:lnTo>
                <a:lnTo>
                  <a:pt x="5869685" y="1242822"/>
                </a:lnTo>
                <a:lnTo>
                  <a:pt x="5869685" y="1238059"/>
                </a:lnTo>
                <a:lnTo>
                  <a:pt x="9525" y="1238059"/>
                </a:lnTo>
                <a:lnTo>
                  <a:pt x="4762" y="1233297"/>
                </a:lnTo>
                <a:lnTo>
                  <a:pt x="9525" y="1233297"/>
                </a:lnTo>
                <a:lnTo>
                  <a:pt x="9525" y="9525"/>
                </a:lnTo>
                <a:lnTo>
                  <a:pt x="4762" y="9525"/>
                </a:lnTo>
                <a:lnTo>
                  <a:pt x="9525" y="4762"/>
                </a:lnTo>
                <a:lnTo>
                  <a:pt x="5869685" y="4762"/>
                </a:lnTo>
                <a:lnTo>
                  <a:pt x="5869685" y="0"/>
                </a:lnTo>
                <a:close/>
              </a:path>
              <a:path w="5869940" h="1243329">
                <a:moveTo>
                  <a:pt x="9525" y="1233297"/>
                </a:moveTo>
                <a:lnTo>
                  <a:pt x="4762" y="1233297"/>
                </a:lnTo>
                <a:lnTo>
                  <a:pt x="9525" y="1238059"/>
                </a:lnTo>
                <a:lnTo>
                  <a:pt x="9525" y="1233297"/>
                </a:lnTo>
                <a:close/>
              </a:path>
              <a:path w="5869940" h="1243329">
                <a:moveTo>
                  <a:pt x="5860160" y="1233297"/>
                </a:moveTo>
                <a:lnTo>
                  <a:pt x="9525" y="1233297"/>
                </a:lnTo>
                <a:lnTo>
                  <a:pt x="9525" y="1238059"/>
                </a:lnTo>
                <a:lnTo>
                  <a:pt x="5860160" y="1238059"/>
                </a:lnTo>
                <a:lnTo>
                  <a:pt x="5860160" y="1233297"/>
                </a:lnTo>
                <a:close/>
              </a:path>
              <a:path w="5869940" h="1243329">
                <a:moveTo>
                  <a:pt x="5860160" y="4762"/>
                </a:moveTo>
                <a:lnTo>
                  <a:pt x="5860160" y="1238059"/>
                </a:lnTo>
                <a:lnTo>
                  <a:pt x="5864923" y="1233297"/>
                </a:lnTo>
                <a:lnTo>
                  <a:pt x="5869685" y="1233297"/>
                </a:lnTo>
                <a:lnTo>
                  <a:pt x="5869685" y="9525"/>
                </a:lnTo>
                <a:lnTo>
                  <a:pt x="5864923" y="9525"/>
                </a:lnTo>
                <a:lnTo>
                  <a:pt x="5860160" y="4762"/>
                </a:lnTo>
                <a:close/>
              </a:path>
              <a:path w="5869940" h="1243329">
                <a:moveTo>
                  <a:pt x="5869685" y="1233297"/>
                </a:moveTo>
                <a:lnTo>
                  <a:pt x="5864923" y="1233297"/>
                </a:lnTo>
                <a:lnTo>
                  <a:pt x="5860160" y="1238059"/>
                </a:lnTo>
                <a:lnTo>
                  <a:pt x="5869685" y="1238059"/>
                </a:lnTo>
                <a:lnTo>
                  <a:pt x="5869685" y="1233297"/>
                </a:lnTo>
                <a:close/>
              </a:path>
              <a:path w="5869940" h="1243329">
                <a:moveTo>
                  <a:pt x="9525" y="4762"/>
                </a:moveTo>
                <a:lnTo>
                  <a:pt x="4762" y="9525"/>
                </a:lnTo>
                <a:lnTo>
                  <a:pt x="9525" y="9525"/>
                </a:lnTo>
                <a:lnTo>
                  <a:pt x="9525" y="4762"/>
                </a:lnTo>
                <a:close/>
              </a:path>
              <a:path w="5869940" h="1243329">
                <a:moveTo>
                  <a:pt x="5860160" y="4762"/>
                </a:moveTo>
                <a:lnTo>
                  <a:pt x="9525" y="4762"/>
                </a:lnTo>
                <a:lnTo>
                  <a:pt x="9525" y="9525"/>
                </a:lnTo>
                <a:lnTo>
                  <a:pt x="5860160" y="9525"/>
                </a:lnTo>
                <a:lnTo>
                  <a:pt x="5860160" y="4762"/>
                </a:lnTo>
                <a:close/>
              </a:path>
              <a:path w="5869940" h="1243329">
                <a:moveTo>
                  <a:pt x="5869685" y="4762"/>
                </a:moveTo>
                <a:lnTo>
                  <a:pt x="5860160" y="4762"/>
                </a:lnTo>
                <a:lnTo>
                  <a:pt x="5864923" y="9525"/>
                </a:lnTo>
                <a:lnTo>
                  <a:pt x="5869685" y="9525"/>
                </a:lnTo>
                <a:lnTo>
                  <a:pt x="5869685" y="476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304863" y="4064914"/>
            <a:ext cx="7533640" cy="250253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381000" marR="353695" indent="-342900">
              <a:lnSpc>
                <a:spcPts val="3020"/>
              </a:lnSpc>
              <a:spcBef>
                <a:spcPts val="475"/>
              </a:spcBef>
              <a:buClr>
                <a:srgbClr val="3333CC"/>
              </a:buClr>
              <a:buSzPct val="58928"/>
              <a:buChar char="■"/>
              <a:tabLst>
                <a:tab pos="381000" algn="l"/>
              </a:tabLst>
            </a:pPr>
            <a:r>
              <a:rPr dirty="0" sz="2800">
                <a:latin typeface="Tahoma"/>
                <a:cs typeface="Tahoma"/>
              </a:rPr>
              <a:t>Oja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proves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that,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for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small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η&lt;&lt;1,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above </a:t>
            </a:r>
            <a:r>
              <a:rPr dirty="0" sz="2800">
                <a:latin typeface="Tahoma"/>
                <a:cs typeface="Tahoma"/>
              </a:rPr>
              <a:t>normalization</a:t>
            </a:r>
            <a:r>
              <a:rPr dirty="0" sz="2800" spc="-9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can</a:t>
            </a:r>
            <a:r>
              <a:rPr dirty="0" sz="2800" spc="-9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be</a:t>
            </a:r>
            <a:r>
              <a:rPr dirty="0" sz="2800" spc="-9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approximated</a:t>
            </a:r>
            <a:r>
              <a:rPr dirty="0" sz="2800" spc="-85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as:</a:t>
            </a:r>
            <a:endParaRPr sz="2800">
              <a:latin typeface="Tahoma"/>
              <a:cs typeface="Tahoma"/>
            </a:endParaRPr>
          </a:p>
          <a:p>
            <a:pPr algn="ctr" marL="340360">
              <a:lnSpc>
                <a:spcPct val="100000"/>
              </a:lnSpc>
              <a:spcBef>
                <a:spcPts val="370"/>
              </a:spcBef>
            </a:pPr>
            <a:r>
              <a:rPr dirty="0" sz="2450" spc="-200" i="1">
                <a:latin typeface="Courier New"/>
                <a:cs typeface="Courier New"/>
              </a:rPr>
              <a:t>w</a:t>
            </a:r>
            <a:r>
              <a:rPr dirty="0" baseline="-25793" sz="2100" spc="-300" i="1">
                <a:latin typeface="Courier New"/>
                <a:cs typeface="Courier New"/>
              </a:rPr>
              <a:t>ji</a:t>
            </a:r>
            <a:r>
              <a:rPr dirty="0" baseline="-25793" sz="2100" spc="-765" i="1">
                <a:latin typeface="Courier New"/>
                <a:cs typeface="Courier New"/>
              </a:rPr>
              <a:t> </a:t>
            </a:r>
            <a:r>
              <a:rPr dirty="0" sz="2450" spc="-434">
                <a:latin typeface="Courier New"/>
                <a:cs typeface="Courier New"/>
              </a:rPr>
              <a:t>(</a:t>
            </a:r>
            <a:r>
              <a:rPr dirty="0" sz="2450" spc="-434" i="1">
                <a:latin typeface="Courier New"/>
                <a:cs typeface="Courier New"/>
              </a:rPr>
              <a:t>n</a:t>
            </a:r>
            <a:r>
              <a:rPr dirty="0" sz="2450" spc="-1015" i="1">
                <a:latin typeface="Courier New"/>
                <a:cs typeface="Courier New"/>
              </a:rPr>
              <a:t> </a:t>
            </a:r>
            <a:r>
              <a:rPr dirty="0" sz="2450" spc="-360">
                <a:latin typeface="Courier New"/>
                <a:cs typeface="Courier New"/>
              </a:rPr>
              <a:t>+1)</a:t>
            </a:r>
            <a:r>
              <a:rPr dirty="0" sz="2450" spc="-885">
                <a:latin typeface="Courier New"/>
                <a:cs typeface="Courier New"/>
              </a:rPr>
              <a:t> </a:t>
            </a:r>
            <a:r>
              <a:rPr dirty="0" sz="2450" spc="-140">
                <a:latin typeface="Courier New"/>
                <a:cs typeface="Courier New"/>
              </a:rPr>
              <a:t>=</a:t>
            </a:r>
            <a:r>
              <a:rPr dirty="0" sz="2450" spc="-865">
                <a:latin typeface="Courier New"/>
                <a:cs typeface="Courier New"/>
              </a:rPr>
              <a:t> </a:t>
            </a:r>
            <a:r>
              <a:rPr dirty="0" sz="2450" spc="-200" i="1">
                <a:latin typeface="Courier New"/>
                <a:cs typeface="Courier New"/>
              </a:rPr>
              <a:t>w</a:t>
            </a:r>
            <a:r>
              <a:rPr dirty="0" baseline="-25793" sz="2100" spc="-300" i="1">
                <a:latin typeface="Courier New"/>
                <a:cs typeface="Courier New"/>
              </a:rPr>
              <a:t>ji</a:t>
            </a:r>
            <a:r>
              <a:rPr dirty="0" baseline="-25793" sz="2100" spc="-757" i="1">
                <a:latin typeface="Courier New"/>
                <a:cs typeface="Courier New"/>
              </a:rPr>
              <a:t> </a:t>
            </a:r>
            <a:r>
              <a:rPr dirty="0" sz="2450" spc="-495">
                <a:latin typeface="Courier New"/>
                <a:cs typeface="Courier New"/>
              </a:rPr>
              <a:t>(</a:t>
            </a:r>
            <a:r>
              <a:rPr dirty="0" sz="2450" spc="-495" i="1">
                <a:latin typeface="Courier New"/>
                <a:cs typeface="Courier New"/>
              </a:rPr>
              <a:t>n</a:t>
            </a:r>
            <a:r>
              <a:rPr dirty="0" sz="2450" spc="-495">
                <a:latin typeface="Courier New"/>
                <a:cs typeface="Courier New"/>
              </a:rPr>
              <a:t>)</a:t>
            </a:r>
            <a:r>
              <a:rPr dirty="0" sz="2450" spc="-1045">
                <a:latin typeface="Courier New"/>
                <a:cs typeface="Courier New"/>
              </a:rPr>
              <a:t> </a:t>
            </a:r>
            <a:r>
              <a:rPr dirty="0" sz="2450" spc="-60">
                <a:latin typeface="Courier New"/>
                <a:cs typeface="Courier New"/>
              </a:rPr>
              <a:t>+</a:t>
            </a:r>
            <a:r>
              <a:rPr dirty="0" sz="2550" spc="-60" i="1">
                <a:latin typeface="Courier New"/>
                <a:cs typeface="Courier New"/>
              </a:rPr>
              <a:t>η</a:t>
            </a:r>
            <a:r>
              <a:rPr dirty="0" sz="2450" spc="-60" i="1">
                <a:latin typeface="Courier New"/>
                <a:cs typeface="Courier New"/>
              </a:rPr>
              <a:t>y</a:t>
            </a:r>
            <a:r>
              <a:rPr dirty="0" baseline="-25793" sz="2100" spc="-89" i="1">
                <a:latin typeface="Courier New"/>
                <a:cs typeface="Courier New"/>
              </a:rPr>
              <a:t>j</a:t>
            </a:r>
            <a:r>
              <a:rPr dirty="0" baseline="-25793" sz="2100" spc="-719" i="1">
                <a:latin typeface="Courier New"/>
                <a:cs typeface="Courier New"/>
              </a:rPr>
              <a:t> </a:t>
            </a:r>
            <a:r>
              <a:rPr dirty="0" sz="2450" spc="-484">
                <a:latin typeface="Courier New"/>
                <a:cs typeface="Courier New"/>
              </a:rPr>
              <a:t>(</a:t>
            </a:r>
            <a:r>
              <a:rPr dirty="0" sz="2450" spc="-484" i="1">
                <a:latin typeface="Courier New"/>
                <a:cs typeface="Courier New"/>
              </a:rPr>
              <a:t>n</a:t>
            </a:r>
            <a:r>
              <a:rPr dirty="0" sz="2450" spc="-484">
                <a:latin typeface="Courier New"/>
                <a:cs typeface="Courier New"/>
              </a:rPr>
              <a:t>)[</a:t>
            </a:r>
            <a:r>
              <a:rPr dirty="0" sz="2450" spc="-484" i="1">
                <a:latin typeface="Courier New"/>
                <a:cs typeface="Courier New"/>
              </a:rPr>
              <a:t>x</a:t>
            </a:r>
            <a:r>
              <a:rPr dirty="0" baseline="-25793" sz="2100" spc="-727" i="1">
                <a:latin typeface="Courier New"/>
                <a:cs typeface="Courier New"/>
              </a:rPr>
              <a:t>i</a:t>
            </a:r>
            <a:r>
              <a:rPr dirty="0" baseline="-25793" sz="2100" spc="-757" i="1">
                <a:latin typeface="Courier New"/>
                <a:cs typeface="Courier New"/>
              </a:rPr>
              <a:t> </a:t>
            </a:r>
            <a:r>
              <a:rPr dirty="0" sz="2450" spc="-495">
                <a:latin typeface="Courier New"/>
                <a:cs typeface="Courier New"/>
              </a:rPr>
              <a:t>(</a:t>
            </a:r>
            <a:r>
              <a:rPr dirty="0" sz="2450" spc="-495" i="1">
                <a:latin typeface="Courier New"/>
                <a:cs typeface="Courier New"/>
              </a:rPr>
              <a:t>n</a:t>
            </a:r>
            <a:r>
              <a:rPr dirty="0" sz="2450" spc="-495">
                <a:latin typeface="Courier New"/>
                <a:cs typeface="Courier New"/>
              </a:rPr>
              <a:t>)</a:t>
            </a:r>
            <a:r>
              <a:rPr dirty="0" sz="2450" spc="-1040">
                <a:latin typeface="Courier New"/>
                <a:cs typeface="Courier New"/>
              </a:rPr>
              <a:t> </a:t>
            </a:r>
            <a:r>
              <a:rPr dirty="0" sz="2450" spc="-140">
                <a:latin typeface="Courier New"/>
                <a:cs typeface="Courier New"/>
              </a:rPr>
              <a:t>–</a:t>
            </a:r>
            <a:r>
              <a:rPr dirty="0" sz="2450" spc="-830">
                <a:latin typeface="Courier New"/>
                <a:cs typeface="Courier New"/>
              </a:rPr>
              <a:t> </a:t>
            </a:r>
            <a:r>
              <a:rPr dirty="0" sz="2450" spc="-400" i="1">
                <a:latin typeface="Courier New"/>
                <a:cs typeface="Courier New"/>
              </a:rPr>
              <a:t>y</a:t>
            </a:r>
            <a:r>
              <a:rPr dirty="0" sz="2450" spc="-1180" i="1">
                <a:latin typeface="Courier New"/>
                <a:cs typeface="Courier New"/>
              </a:rPr>
              <a:t> </a:t>
            </a:r>
            <a:r>
              <a:rPr dirty="0" baseline="-25793" sz="2100" spc="-667" i="1">
                <a:latin typeface="Courier New"/>
                <a:cs typeface="Courier New"/>
              </a:rPr>
              <a:t>j</a:t>
            </a:r>
            <a:r>
              <a:rPr dirty="0" baseline="-25793" sz="2100" spc="-719" i="1">
                <a:latin typeface="Courier New"/>
                <a:cs typeface="Courier New"/>
              </a:rPr>
              <a:t> </a:t>
            </a:r>
            <a:r>
              <a:rPr dirty="0" sz="2450" spc="-330">
                <a:latin typeface="Courier New"/>
                <a:cs typeface="Courier New"/>
              </a:rPr>
              <a:t>(</a:t>
            </a:r>
            <a:r>
              <a:rPr dirty="0" sz="2450" spc="-330" i="1">
                <a:latin typeface="Courier New"/>
                <a:cs typeface="Courier New"/>
              </a:rPr>
              <a:t>n</a:t>
            </a:r>
            <a:r>
              <a:rPr dirty="0" sz="2450" spc="-330">
                <a:latin typeface="Courier New"/>
                <a:cs typeface="Courier New"/>
              </a:rPr>
              <a:t>)</a:t>
            </a:r>
            <a:r>
              <a:rPr dirty="0" sz="2450" spc="-330" i="1">
                <a:latin typeface="Courier New"/>
                <a:cs typeface="Courier New"/>
              </a:rPr>
              <a:t>w</a:t>
            </a:r>
            <a:r>
              <a:rPr dirty="0" baseline="-25793" sz="2100" spc="-494" i="1">
                <a:latin typeface="Courier New"/>
                <a:cs typeface="Courier New"/>
              </a:rPr>
              <a:t>ji</a:t>
            </a:r>
            <a:r>
              <a:rPr dirty="0" baseline="-25793" sz="2100" spc="-765" i="1">
                <a:latin typeface="Courier New"/>
                <a:cs typeface="Courier New"/>
              </a:rPr>
              <a:t> </a:t>
            </a:r>
            <a:r>
              <a:rPr dirty="0" sz="2450" spc="-565">
                <a:latin typeface="Courier New"/>
                <a:cs typeface="Courier New"/>
              </a:rPr>
              <a:t>(</a:t>
            </a:r>
            <a:r>
              <a:rPr dirty="0" sz="2450" spc="-565" i="1">
                <a:latin typeface="Courier New"/>
                <a:cs typeface="Courier New"/>
              </a:rPr>
              <a:t>n</a:t>
            </a:r>
            <a:r>
              <a:rPr dirty="0" sz="2450" spc="-565">
                <a:latin typeface="Courier New"/>
                <a:cs typeface="Courier New"/>
              </a:rPr>
              <a:t>)]</a:t>
            </a:r>
            <a:endParaRPr sz="2450">
              <a:latin typeface="Courier New"/>
              <a:cs typeface="Courier New"/>
            </a:endParaRPr>
          </a:p>
          <a:p>
            <a:pPr lvl="1" marL="780415" indent="-285115">
              <a:lnSpc>
                <a:spcPct val="100000"/>
              </a:lnSpc>
              <a:spcBef>
                <a:spcPts val="1015"/>
              </a:spcBef>
              <a:buClr>
                <a:srgbClr val="FF0000"/>
              </a:buClr>
              <a:buSzPct val="54166"/>
              <a:buChar char="■"/>
              <a:tabLst>
                <a:tab pos="780415" algn="l"/>
              </a:tabLst>
            </a:pPr>
            <a:r>
              <a:rPr dirty="0" sz="2400">
                <a:latin typeface="Tahoma"/>
                <a:cs typeface="Tahoma"/>
              </a:rPr>
              <a:t>This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130">
                <a:latin typeface="Tahoma"/>
                <a:cs typeface="Tahoma"/>
              </a:rPr>
              <a:t>Oja</a:t>
            </a:r>
            <a:r>
              <a:rPr dirty="0" sz="2400" spc="-130">
                <a:latin typeface="Courier New"/>
                <a:cs typeface="Courier New"/>
              </a:rPr>
              <a:t>’</a:t>
            </a:r>
            <a:r>
              <a:rPr dirty="0" sz="2400" spc="-130">
                <a:latin typeface="Tahoma"/>
                <a:cs typeface="Tahoma"/>
              </a:rPr>
              <a:t>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rule,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or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normalized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Hebbian</a:t>
            </a:r>
            <a:r>
              <a:rPr dirty="0" sz="2400" spc="-20">
                <a:latin typeface="Tahoma"/>
                <a:cs typeface="Tahoma"/>
              </a:rPr>
              <a:t> rule</a:t>
            </a:r>
            <a:endParaRPr sz="2400">
              <a:latin typeface="Tahoma"/>
              <a:cs typeface="Tahoma"/>
            </a:endParaRPr>
          </a:p>
          <a:p>
            <a:pPr lvl="1" marL="781050" marR="30480" indent="-285750">
              <a:lnSpc>
                <a:spcPts val="2600"/>
              </a:lnSpc>
              <a:spcBef>
                <a:spcPts val="605"/>
              </a:spcBef>
              <a:buClr>
                <a:srgbClr val="FF0000"/>
              </a:buClr>
              <a:buSzPct val="54166"/>
              <a:buChar char="■"/>
              <a:tabLst>
                <a:tab pos="781050" algn="l"/>
              </a:tabLst>
            </a:pPr>
            <a:r>
              <a:rPr dirty="0" sz="2400">
                <a:latin typeface="Tahoma"/>
                <a:cs typeface="Tahoma"/>
              </a:rPr>
              <a:t>It</a:t>
            </a:r>
            <a:r>
              <a:rPr dirty="0" sz="2400" spc="-6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involves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60">
                <a:latin typeface="Courier New"/>
                <a:cs typeface="Courier New"/>
              </a:rPr>
              <a:t>‘</a:t>
            </a:r>
            <a:r>
              <a:rPr dirty="0" sz="2400" spc="-60" b="1">
                <a:solidFill>
                  <a:srgbClr val="3333CC"/>
                </a:solidFill>
                <a:latin typeface="Tahoma"/>
                <a:cs typeface="Tahoma"/>
              </a:rPr>
              <a:t>forgetting</a:t>
            </a:r>
            <a:r>
              <a:rPr dirty="0" sz="2400" spc="-30" b="1">
                <a:solidFill>
                  <a:srgbClr val="3333CC"/>
                </a:solidFill>
                <a:latin typeface="Tahoma"/>
                <a:cs typeface="Tahoma"/>
              </a:rPr>
              <a:t> </a:t>
            </a:r>
            <a:r>
              <a:rPr dirty="0" sz="2400" spc="-140" b="1">
                <a:solidFill>
                  <a:srgbClr val="3333CC"/>
                </a:solidFill>
                <a:latin typeface="Tahoma"/>
                <a:cs typeface="Tahoma"/>
              </a:rPr>
              <a:t>term</a:t>
            </a:r>
            <a:r>
              <a:rPr dirty="0" sz="2400" spc="-140">
                <a:latin typeface="Courier New"/>
                <a:cs typeface="Courier New"/>
              </a:rPr>
              <a:t>’</a:t>
            </a:r>
            <a:r>
              <a:rPr dirty="0" sz="2400" spc="-690">
                <a:latin typeface="Courier New"/>
                <a:cs typeface="Courier New"/>
              </a:rPr>
              <a:t> </a:t>
            </a:r>
            <a:r>
              <a:rPr dirty="0" sz="2400">
                <a:latin typeface="Tahoma"/>
                <a:cs typeface="Tahoma"/>
              </a:rPr>
              <a:t>that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prevents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the </a:t>
            </a:r>
            <a:r>
              <a:rPr dirty="0" sz="2400">
                <a:latin typeface="Tahoma"/>
                <a:cs typeface="Tahoma"/>
              </a:rPr>
              <a:t>weights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from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growing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without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bounds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1250823" y="4938903"/>
            <a:ext cx="5996305" cy="516255"/>
          </a:xfrm>
          <a:custGeom>
            <a:avLst/>
            <a:gdLst/>
            <a:ahLst/>
            <a:cxnLst/>
            <a:rect l="l" t="t" r="r" b="b"/>
            <a:pathLst>
              <a:path w="5996305" h="516254">
                <a:moveTo>
                  <a:pt x="5996177" y="0"/>
                </a:moveTo>
                <a:lnTo>
                  <a:pt x="0" y="0"/>
                </a:lnTo>
                <a:lnTo>
                  <a:pt x="0" y="515874"/>
                </a:lnTo>
                <a:lnTo>
                  <a:pt x="5996177" y="515874"/>
                </a:lnTo>
                <a:lnTo>
                  <a:pt x="5996177" y="511111"/>
                </a:lnTo>
                <a:lnTo>
                  <a:pt x="9525" y="511111"/>
                </a:lnTo>
                <a:lnTo>
                  <a:pt x="4762" y="506349"/>
                </a:lnTo>
                <a:lnTo>
                  <a:pt x="9525" y="506349"/>
                </a:lnTo>
                <a:lnTo>
                  <a:pt x="9525" y="9525"/>
                </a:lnTo>
                <a:lnTo>
                  <a:pt x="4762" y="9525"/>
                </a:lnTo>
                <a:lnTo>
                  <a:pt x="9525" y="4762"/>
                </a:lnTo>
                <a:lnTo>
                  <a:pt x="5996177" y="4762"/>
                </a:lnTo>
                <a:lnTo>
                  <a:pt x="5996177" y="0"/>
                </a:lnTo>
                <a:close/>
              </a:path>
              <a:path w="5996305" h="516254">
                <a:moveTo>
                  <a:pt x="9525" y="506349"/>
                </a:moveTo>
                <a:lnTo>
                  <a:pt x="4762" y="506349"/>
                </a:lnTo>
                <a:lnTo>
                  <a:pt x="9525" y="511111"/>
                </a:lnTo>
                <a:lnTo>
                  <a:pt x="9525" y="506349"/>
                </a:lnTo>
                <a:close/>
              </a:path>
              <a:path w="5996305" h="516254">
                <a:moveTo>
                  <a:pt x="5986652" y="506349"/>
                </a:moveTo>
                <a:lnTo>
                  <a:pt x="9525" y="506349"/>
                </a:lnTo>
                <a:lnTo>
                  <a:pt x="9525" y="511111"/>
                </a:lnTo>
                <a:lnTo>
                  <a:pt x="5986652" y="511111"/>
                </a:lnTo>
                <a:lnTo>
                  <a:pt x="5986652" y="506349"/>
                </a:lnTo>
                <a:close/>
              </a:path>
              <a:path w="5996305" h="516254">
                <a:moveTo>
                  <a:pt x="5986652" y="4762"/>
                </a:moveTo>
                <a:lnTo>
                  <a:pt x="5986652" y="511111"/>
                </a:lnTo>
                <a:lnTo>
                  <a:pt x="5991415" y="506349"/>
                </a:lnTo>
                <a:lnTo>
                  <a:pt x="5996177" y="506349"/>
                </a:lnTo>
                <a:lnTo>
                  <a:pt x="5996177" y="9525"/>
                </a:lnTo>
                <a:lnTo>
                  <a:pt x="5991415" y="9525"/>
                </a:lnTo>
                <a:lnTo>
                  <a:pt x="5986652" y="4762"/>
                </a:lnTo>
                <a:close/>
              </a:path>
              <a:path w="5996305" h="516254">
                <a:moveTo>
                  <a:pt x="5996177" y="506349"/>
                </a:moveTo>
                <a:lnTo>
                  <a:pt x="5991415" y="506349"/>
                </a:lnTo>
                <a:lnTo>
                  <a:pt x="5986652" y="511111"/>
                </a:lnTo>
                <a:lnTo>
                  <a:pt x="5996177" y="511111"/>
                </a:lnTo>
                <a:lnTo>
                  <a:pt x="5996177" y="506349"/>
                </a:lnTo>
                <a:close/>
              </a:path>
              <a:path w="5996305" h="516254">
                <a:moveTo>
                  <a:pt x="9525" y="4762"/>
                </a:moveTo>
                <a:lnTo>
                  <a:pt x="4762" y="9525"/>
                </a:lnTo>
                <a:lnTo>
                  <a:pt x="9525" y="9525"/>
                </a:lnTo>
                <a:lnTo>
                  <a:pt x="9525" y="4762"/>
                </a:lnTo>
                <a:close/>
              </a:path>
              <a:path w="5996305" h="516254">
                <a:moveTo>
                  <a:pt x="5986652" y="4762"/>
                </a:moveTo>
                <a:lnTo>
                  <a:pt x="9525" y="4762"/>
                </a:lnTo>
                <a:lnTo>
                  <a:pt x="9525" y="9525"/>
                </a:lnTo>
                <a:lnTo>
                  <a:pt x="5986652" y="9525"/>
                </a:lnTo>
                <a:lnTo>
                  <a:pt x="5986652" y="4762"/>
                </a:lnTo>
                <a:close/>
              </a:path>
              <a:path w="5996305" h="516254">
                <a:moveTo>
                  <a:pt x="5996177" y="4762"/>
                </a:moveTo>
                <a:lnTo>
                  <a:pt x="5986652" y="4762"/>
                </a:lnTo>
                <a:lnTo>
                  <a:pt x="5991415" y="9525"/>
                </a:lnTo>
                <a:lnTo>
                  <a:pt x="5996177" y="9525"/>
                </a:lnTo>
                <a:lnTo>
                  <a:pt x="5996177" y="4762"/>
                </a:lnTo>
                <a:close/>
              </a:path>
            </a:pathLst>
          </a:custGeom>
          <a:solidFill>
            <a:srgbClr val="00E4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1309255" y="463714"/>
            <a:ext cx="286321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Oja’s</a:t>
            </a:r>
            <a:r>
              <a:rPr dirty="0" spc="-70"/>
              <a:t> </a:t>
            </a:r>
            <a:r>
              <a:rPr dirty="0" spc="-20"/>
              <a:t>Rule</a:t>
            </a:r>
          </a:p>
        </p:txBody>
      </p:sp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29565" y="2093861"/>
            <a:ext cx="8161655" cy="43808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151765" indent="-342900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It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has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been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proved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that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using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Lyapunov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function </a:t>
            </a:r>
            <a:r>
              <a:rPr dirty="0" sz="2800">
                <a:latin typeface="Tahoma"/>
                <a:cs typeface="Tahoma"/>
              </a:rPr>
              <a:t>analysis,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FF0000"/>
                </a:solidFill>
                <a:latin typeface="Tahoma"/>
                <a:cs typeface="Tahoma"/>
              </a:rPr>
              <a:t>Oja’s</a:t>
            </a:r>
            <a:r>
              <a:rPr dirty="0" sz="2800" spc="-7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FF0000"/>
                </a:solidFill>
                <a:latin typeface="Tahoma"/>
                <a:cs typeface="Tahoma"/>
              </a:rPr>
              <a:t>rule</a:t>
            </a:r>
            <a:r>
              <a:rPr dirty="0" sz="2800" spc="-7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FF0000"/>
                </a:solidFill>
                <a:latin typeface="Tahoma"/>
                <a:cs typeface="Tahoma"/>
              </a:rPr>
              <a:t>converges</a:t>
            </a:r>
            <a:r>
              <a:rPr dirty="0" sz="2800" spc="-7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800" spc="-10">
                <a:solidFill>
                  <a:srgbClr val="FF0000"/>
                </a:solidFill>
                <a:latin typeface="Tahoma"/>
                <a:cs typeface="Tahoma"/>
              </a:rPr>
              <a:t>asymptotically</a:t>
            </a:r>
            <a:r>
              <a:rPr dirty="0" sz="2800" spc="-10">
                <a:latin typeface="Tahoma"/>
                <a:cs typeface="Tahoma"/>
              </a:rPr>
              <a:t>, </a:t>
            </a:r>
            <a:r>
              <a:rPr dirty="0" sz="2800">
                <a:latin typeface="Tahoma"/>
                <a:cs typeface="Tahoma"/>
              </a:rPr>
              <a:t>unlike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Hebbian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rule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which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is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unstable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20"/>
              </a:spcBef>
              <a:buClr>
                <a:srgbClr val="3333CC"/>
              </a:buClr>
              <a:buFont typeface="Tahoma"/>
              <a:buChar char="■"/>
            </a:pPr>
            <a:endParaRPr sz="2800">
              <a:latin typeface="Tahoma"/>
              <a:cs typeface="Tahoma"/>
            </a:endParaRPr>
          </a:p>
          <a:p>
            <a:pPr algn="just" marL="353695" marR="5080" indent="-340995">
              <a:lnSpc>
                <a:spcPts val="3020"/>
              </a:lnSpc>
              <a:spcBef>
                <a:spcPts val="5"/>
              </a:spcBef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Oja’s</a:t>
            </a:r>
            <a:r>
              <a:rPr dirty="0" sz="2800" spc="-22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rule</a:t>
            </a:r>
            <a:r>
              <a:rPr dirty="0" sz="2800" spc="1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creates</a:t>
            </a:r>
            <a:r>
              <a:rPr dirty="0" sz="2800" spc="3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35">
                <a:latin typeface="Tahoma"/>
                <a:cs typeface="Tahoma"/>
              </a:rPr>
              <a:t> </a:t>
            </a:r>
            <a:r>
              <a:rPr dirty="0" sz="2900" spc="-250" b="1" i="1">
                <a:solidFill>
                  <a:srgbClr val="000099"/>
                </a:solidFill>
                <a:latin typeface="Verdana"/>
                <a:cs typeface="Verdana"/>
              </a:rPr>
              <a:t>principal</a:t>
            </a:r>
            <a:r>
              <a:rPr dirty="0" sz="2900" spc="5" b="1" i="1">
                <a:solidFill>
                  <a:srgbClr val="000099"/>
                </a:solidFill>
                <a:latin typeface="Verdana"/>
                <a:cs typeface="Verdana"/>
              </a:rPr>
              <a:t> </a:t>
            </a:r>
            <a:r>
              <a:rPr dirty="0" sz="2900" spc="-300" b="1" i="1">
                <a:solidFill>
                  <a:srgbClr val="000099"/>
                </a:solidFill>
                <a:latin typeface="Verdana"/>
                <a:cs typeface="Verdana"/>
              </a:rPr>
              <a:t>component</a:t>
            </a:r>
            <a:r>
              <a:rPr dirty="0" sz="2900" spc="50" b="1" i="1">
                <a:solidFill>
                  <a:srgbClr val="000099"/>
                </a:solidFill>
                <a:latin typeface="Verdana"/>
                <a:cs typeface="Verdana"/>
              </a:rPr>
              <a:t> </a:t>
            </a:r>
            <a:r>
              <a:rPr dirty="0" sz="2800">
                <a:latin typeface="Tahoma"/>
                <a:cs typeface="Tahoma"/>
              </a:rPr>
              <a:t>in</a:t>
            </a:r>
            <a:r>
              <a:rPr dirty="0" sz="2800" spc="35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the </a:t>
            </a:r>
            <a:r>
              <a:rPr dirty="0" sz="2800" spc="-25">
                <a:latin typeface="Tahoma"/>
                <a:cs typeface="Tahoma"/>
              </a:rPr>
              <a:t>	</a:t>
            </a:r>
            <a:r>
              <a:rPr dirty="0" sz="2800">
                <a:latin typeface="Tahoma"/>
                <a:cs typeface="Tahoma"/>
              </a:rPr>
              <a:t>input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space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as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weight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vector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when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applied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to </a:t>
            </a:r>
            <a:r>
              <a:rPr dirty="0" sz="2800" spc="-25">
                <a:latin typeface="Tahoma"/>
                <a:cs typeface="Tahoma"/>
              </a:rPr>
              <a:t>	</a:t>
            </a: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single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neuron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75"/>
              </a:spcBef>
              <a:buClr>
                <a:srgbClr val="3333CC"/>
              </a:buClr>
              <a:buFont typeface="Tahoma"/>
              <a:buChar char="■"/>
            </a:pPr>
            <a:endParaRPr sz="2800">
              <a:latin typeface="Tahoma"/>
              <a:cs typeface="Tahoma"/>
            </a:endParaRPr>
          </a:p>
          <a:p>
            <a:pPr marL="355600" marR="313690" indent="-342900">
              <a:lnSpc>
                <a:spcPts val="3020"/>
              </a:lnSpc>
              <a:spcBef>
                <a:spcPts val="5"/>
              </a:spcBef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How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can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we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find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other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components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in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input </a:t>
            </a:r>
            <a:r>
              <a:rPr dirty="0" sz="2800">
                <a:latin typeface="Tahoma"/>
                <a:cs typeface="Tahoma"/>
              </a:rPr>
              <a:t>space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with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significant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variance?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13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2342" rIns="0" bIns="0" rtlCol="0" vert="horz">
            <a:spAutoFit/>
          </a:bodyPr>
          <a:lstStyle/>
          <a:p>
            <a:pPr marL="385445">
              <a:lnSpc>
                <a:spcPct val="100000"/>
              </a:lnSpc>
              <a:spcBef>
                <a:spcPts val="105"/>
              </a:spcBef>
            </a:pPr>
            <a:r>
              <a:rPr dirty="0"/>
              <a:t>Oja’s</a:t>
            </a:r>
            <a:r>
              <a:rPr dirty="0" spc="-70"/>
              <a:t> </a:t>
            </a:r>
            <a:r>
              <a:rPr dirty="0" spc="-20"/>
              <a:t>Rule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5809" rIns="0" bIns="0" rtlCol="0" vert="horz">
            <a:spAutoFit/>
          </a:bodyPr>
          <a:lstStyle/>
          <a:p>
            <a:pPr marL="268605">
              <a:lnSpc>
                <a:spcPct val="100000"/>
              </a:lnSpc>
              <a:spcBef>
                <a:spcPts val="95"/>
              </a:spcBef>
            </a:pPr>
            <a:r>
              <a:rPr dirty="0" sz="4000" spc="-10">
                <a:solidFill>
                  <a:srgbClr val="800000"/>
                </a:solidFill>
              </a:rPr>
              <a:t>Dimensionality</a:t>
            </a:r>
            <a:r>
              <a:rPr dirty="0" sz="4000" spc="-160">
                <a:solidFill>
                  <a:srgbClr val="800000"/>
                </a:solidFill>
              </a:rPr>
              <a:t> </a:t>
            </a:r>
            <a:r>
              <a:rPr dirty="0" sz="4000" spc="-10">
                <a:solidFill>
                  <a:srgbClr val="800000"/>
                </a:solidFill>
              </a:rPr>
              <a:t>Reduction</a:t>
            </a:r>
            <a:endParaRPr sz="4000"/>
          </a:p>
        </p:txBody>
      </p:sp>
      <p:sp>
        <p:nvSpPr>
          <p:cNvPr id="3" name="object 3" descr=""/>
          <p:cNvSpPr/>
          <p:nvPr/>
        </p:nvSpPr>
        <p:spPr>
          <a:xfrm>
            <a:off x="2124075" y="5537200"/>
            <a:ext cx="2952750" cy="104775"/>
          </a:xfrm>
          <a:custGeom>
            <a:avLst/>
            <a:gdLst/>
            <a:ahLst/>
            <a:cxnLst/>
            <a:rect l="l" t="t" r="r" b="b"/>
            <a:pathLst>
              <a:path w="2952750" h="104775">
                <a:moveTo>
                  <a:pt x="2847975" y="0"/>
                </a:moveTo>
                <a:lnTo>
                  <a:pt x="2847975" y="104775"/>
                </a:lnTo>
                <a:lnTo>
                  <a:pt x="2917825" y="69850"/>
                </a:lnTo>
                <a:lnTo>
                  <a:pt x="2874162" y="69850"/>
                </a:lnTo>
                <a:lnTo>
                  <a:pt x="2874162" y="34925"/>
                </a:lnTo>
                <a:lnTo>
                  <a:pt x="2917824" y="34925"/>
                </a:lnTo>
                <a:lnTo>
                  <a:pt x="2847975" y="0"/>
                </a:lnTo>
                <a:close/>
              </a:path>
              <a:path w="2952750" h="104775">
                <a:moveTo>
                  <a:pt x="2847975" y="34925"/>
                </a:moveTo>
                <a:lnTo>
                  <a:pt x="0" y="34925"/>
                </a:lnTo>
                <a:lnTo>
                  <a:pt x="0" y="69850"/>
                </a:lnTo>
                <a:lnTo>
                  <a:pt x="2847975" y="69850"/>
                </a:lnTo>
                <a:lnTo>
                  <a:pt x="2847975" y="34925"/>
                </a:lnTo>
                <a:close/>
              </a:path>
              <a:path w="2952750" h="104775">
                <a:moveTo>
                  <a:pt x="2917824" y="34925"/>
                </a:moveTo>
                <a:lnTo>
                  <a:pt x="2874162" y="34925"/>
                </a:lnTo>
                <a:lnTo>
                  <a:pt x="2874162" y="69850"/>
                </a:lnTo>
                <a:lnTo>
                  <a:pt x="2917825" y="69850"/>
                </a:lnTo>
                <a:lnTo>
                  <a:pt x="2952750" y="52387"/>
                </a:lnTo>
                <a:lnTo>
                  <a:pt x="2917824" y="349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6522402" y="5175567"/>
            <a:ext cx="100774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40">
                <a:latin typeface="Courier New"/>
                <a:cs typeface="Courier New"/>
              </a:rPr>
              <a:t>(K&lt;&lt;N)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8" name="object 1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13</a:t>
            </a:fld>
          </a:p>
        </p:txBody>
      </p:sp>
      <p:sp>
        <p:nvSpPr>
          <p:cNvPr id="5" name="object 5" descr=""/>
          <p:cNvSpPr txBox="1"/>
          <p:nvPr/>
        </p:nvSpPr>
        <p:spPr>
          <a:xfrm>
            <a:off x="1407744" y="4539221"/>
            <a:ext cx="685800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500" spc="-1550">
                <a:latin typeface="Courier New"/>
                <a:cs typeface="Courier New"/>
              </a:rPr>
              <a:t></a:t>
            </a:r>
            <a:r>
              <a:rPr dirty="0" sz="2500" spc="-915">
                <a:latin typeface="Courier New"/>
                <a:cs typeface="Courier New"/>
              </a:rPr>
              <a:t> </a:t>
            </a:r>
            <a:r>
              <a:rPr dirty="0" baseline="3333" sz="3750" spc="-562" i="1">
                <a:latin typeface="Courier New"/>
                <a:cs typeface="Courier New"/>
              </a:rPr>
              <a:t>x</a:t>
            </a:r>
            <a:r>
              <a:rPr dirty="0" baseline="-17241" sz="2175" spc="-562">
                <a:latin typeface="Courier New"/>
                <a:cs typeface="Courier New"/>
              </a:rPr>
              <a:t>1</a:t>
            </a:r>
            <a:r>
              <a:rPr dirty="0" baseline="-17241" sz="2175" spc="-322">
                <a:latin typeface="Courier New"/>
                <a:cs typeface="Courier New"/>
              </a:rPr>
              <a:t> </a:t>
            </a:r>
            <a:r>
              <a:rPr dirty="0" sz="2500" spc="-1600">
                <a:latin typeface="Courier New"/>
                <a:cs typeface="Courier New"/>
              </a:rPr>
              <a:t>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407744" y="4899215"/>
            <a:ext cx="3609975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10000" sz="3750" spc="-2325">
                <a:latin typeface="Courier New"/>
                <a:cs typeface="Courier New"/>
              </a:rPr>
              <a:t></a:t>
            </a:r>
            <a:r>
              <a:rPr dirty="0" baseline="10000" sz="3750" spc="-1575">
                <a:latin typeface="Courier New"/>
                <a:cs typeface="Courier New"/>
              </a:rPr>
              <a:t> </a:t>
            </a:r>
            <a:r>
              <a:rPr dirty="0" baseline="-15555" sz="3750" spc="-607" i="1">
                <a:latin typeface="Courier New"/>
                <a:cs typeface="Courier New"/>
              </a:rPr>
              <a:t>x</a:t>
            </a:r>
            <a:r>
              <a:rPr dirty="0" baseline="-15555" sz="3750" spc="-270" i="1">
                <a:latin typeface="Courier New"/>
                <a:cs typeface="Courier New"/>
              </a:rPr>
              <a:t> </a:t>
            </a:r>
            <a:r>
              <a:rPr dirty="0" baseline="10000" sz="3750" spc="-2325">
                <a:latin typeface="Courier New"/>
                <a:cs typeface="Courier New"/>
              </a:rPr>
              <a:t></a:t>
            </a:r>
            <a:r>
              <a:rPr dirty="0" baseline="10000" sz="3750" spc="-359">
                <a:latin typeface="Courier New"/>
                <a:cs typeface="Courier New"/>
              </a:rPr>
              <a:t> </a:t>
            </a:r>
            <a:r>
              <a:rPr dirty="0" sz="2000" b="1">
                <a:solidFill>
                  <a:srgbClr val="FF0000"/>
                </a:solidFill>
                <a:latin typeface="Arial"/>
                <a:cs typeface="Arial"/>
              </a:rPr>
              <a:t>Reduce</a:t>
            </a:r>
            <a:r>
              <a:rPr dirty="0" sz="2000" spc="-8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FF0000"/>
                </a:solidFill>
                <a:latin typeface="Arial"/>
                <a:cs typeface="Arial"/>
              </a:rPr>
              <a:t>dimensionality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723796" y="5070944"/>
            <a:ext cx="370205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450" spc="-155">
                <a:latin typeface="Courier New"/>
                <a:cs typeface="Courier New"/>
              </a:rPr>
              <a:t>2</a:t>
            </a:r>
            <a:r>
              <a:rPr dirty="0" sz="1450" spc="-245">
                <a:latin typeface="Courier New"/>
                <a:cs typeface="Courier New"/>
              </a:rPr>
              <a:t> </a:t>
            </a:r>
            <a:r>
              <a:rPr dirty="0" baseline="-12222" sz="3750" spc="-2400">
                <a:latin typeface="Courier New"/>
                <a:cs typeface="Courier New"/>
              </a:rPr>
              <a:t></a:t>
            </a:r>
            <a:endParaRPr baseline="-12222" sz="375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15187" y="5229313"/>
            <a:ext cx="690880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500" spc="-254">
                <a:latin typeface="Courier New"/>
                <a:cs typeface="Courier New"/>
              </a:rPr>
              <a:t>x</a:t>
            </a:r>
            <a:r>
              <a:rPr dirty="0" sz="2500" spc="-850">
                <a:latin typeface="Courier New"/>
                <a:cs typeface="Courier New"/>
              </a:rPr>
              <a:t> </a:t>
            </a:r>
            <a:r>
              <a:rPr dirty="0" sz="2500" spc="-135">
                <a:latin typeface="Courier New"/>
                <a:cs typeface="Courier New"/>
              </a:rPr>
              <a:t>=</a:t>
            </a:r>
            <a:r>
              <a:rPr dirty="0" sz="2500" spc="-894">
                <a:latin typeface="Courier New"/>
                <a:cs typeface="Courier New"/>
              </a:rPr>
              <a:t> </a:t>
            </a:r>
            <a:r>
              <a:rPr dirty="0" baseline="15555" sz="3750" spc="-2400">
                <a:latin typeface="Courier New"/>
                <a:cs typeface="Courier New"/>
              </a:rPr>
              <a:t></a:t>
            </a:r>
            <a:endParaRPr baseline="15555" sz="375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407744" y="5469737"/>
            <a:ext cx="685800" cy="6832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ts val="2590"/>
              </a:lnSpc>
              <a:spcBef>
                <a:spcPts val="95"/>
              </a:spcBef>
            </a:pPr>
            <a:r>
              <a:rPr dirty="0" baseline="4444" sz="3750" spc="-2325">
                <a:latin typeface="Courier New"/>
                <a:cs typeface="Courier New"/>
              </a:rPr>
              <a:t></a:t>
            </a:r>
            <a:r>
              <a:rPr dirty="0" baseline="4444" sz="3750" spc="-1530">
                <a:latin typeface="Courier New"/>
                <a:cs typeface="Courier New"/>
              </a:rPr>
              <a:t> </a:t>
            </a:r>
            <a:r>
              <a:rPr dirty="0" sz="2500" spc="-885">
                <a:latin typeface="Courier New"/>
                <a:cs typeface="Courier New"/>
              </a:rPr>
              <a:t>...</a:t>
            </a:r>
            <a:r>
              <a:rPr dirty="0" sz="2500" spc="-975">
                <a:latin typeface="Courier New"/>
                <a:cs typeface="Courier New"/>
              </a:rPr>
              <a:t> </a:t>
            </a:r>
            <a:r>
              <a:rPr dirty="0" baseline="4444" sz="3750" spc="-2400">
                <a:latin typeface="Courier New"/>
                <a:cs typeface="Courier New"/>
              </a:rPr>
              <a:t></a:t>
            </a:r>
            <a:endParaRPr baseline="4444" sz="3750">
              <a:latin typeface="Courier New"/>
              <a:cs typeface="Courier New"/>
            </a:endParaRPr>
          </a:p>
          <a:p>
            <a:pPr marL="38100">
              <a:lnSpc>
                <a:spcPts val="2590"/>
              </a:lnSpc>
            </a:pPr>
            <a:r>
              <a:rPr dirty="0" sz="2500" spc="-1550">
                <a:latin typeface="Courier New"/>
                <a:cs typeface="Courier New"/>
              </a:rPr>
              <a:t></a:t>
            </a:r>
            <a:r>
              <a:rPr dirty="0" sz="2500" spc="-1285">
                <a:latin typeface="Courier New"/>
                <a:cs typeface="Courier New"/>
              </a:rPr>
              <a:t> </a:t>
            </a:r>
            <a:r>
              <a:rPr dirty="0" baseline="-34444" sz="3750" spc="-607" i="1">
                <a:latin typeface="Courier New"/>
                <a:cs typeface="Courier New"/>
              </a:rPr>
              <a:t>x</a:t>
            </a:r>
            <a:r>
              <a:rPr dirty="0" baseline="-34444" sz="3750" spc="82" i="1">
                <a:latin typeface="Courier New"/>
                <a:cs typeface="Courier New"/>
              </a:rPr>
              <a:t> </a:t>
            </a:r>
            <a:r>
              <a:rPr dirty="0" sz="2500" spc="-1600">
                <a:latin typeface="Courier New"/>
                <a:cs typeface="Courier New"/>
              </a:rPr>
              <a:t>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433144" y="6027724"/>
            <a:ext cx="635000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-1550">
                <a:latin typeface="Courier New"/>
                <a:cs typeface="Courier New"/>
              </a:rPr>
              <a:t></a:t>
            </a:r>
            <a:r>
              <a:rPr dirty="0" sz="2500" spc="-140">
                <a:latin typeface="Courier New"/>
                <a:cs typeface="Courier New"/>
              </a:rPr>
              <a:t> </a:t>
            </a:r>
            <a:r>
              <a:rPr dirty="0" baseline="1915" sz="2175" spc="127" i="1">
                <a:latin typeface="Courier New"/>
                <a:cs typeface="Courier New"/>
              </a:rPr>
              <a:t>N</a:t>
            </a:r>
            <a:r>
              <a:rPr dirty="0" baseline="1915" sz="2175" spc="-487" i="1">
                <a:latin typeface="Courier New"/>
                <a:cs typeface="Courier New"/>
              </a:rPr>
              <a:t> </a:t>
            </a:r>
            <a:r>
              <a:rPr dirty="0" sz="2500" spc="-1600">
                <a:latin typeface="Courier New"/>
                <a:cs typeface="Courier New"/>
              </a:rPr>
              <a:t>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05447" y="2150897"/>
            <a:ext cx="8133715" cy="27387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79730" marR="30480" indent="-341630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928"/>
              <a:buChar char="•"/>
              <a:tabLst>
                <a:tab pos="379730" algn="l"/>
              </a:tabLst>
            </a:pPr>
            <a:r>
              <a:rPr dirty="0" sz="2800">
                <a:latin typeface="Tahoma"/>
                <a:cs typeface="Tahoma"/>
              </a:rPr>
              <a:t>One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approach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to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deal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with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high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dimensional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 spc="-20">
                <a:latin typeface="Tahoma"/>
                <a:cs typeface="Tahoma"/>
              </a:rPr>
              <a:t>data </a:t>
            </a:r>
            <a:r>
              <a:rPr dirty="0" sz="2800">
                <a:latin typeface="Tahoma"/>
                <a:cs typeface="Tahoma"/>
              </a:rPr>
              <a:t>is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by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reducing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their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dimensionality.</a:t>
            </a:r>
            <a:endParaRPr sz="2800">
              <a:latin typeface="Tahoma"/>
              <a:cs typeface="Tahoma"/>
            </a:endParaRPr>
          </a:p>
          <a:p>
            <a:pPr marL="379730" marR="154305" indent="-341630">
              <a:lnSpc>
                <a:spcPct val="100000"/>
              </a:lnSpc>
              <a:spcBef>
                <a:spcPts val="670"/>
              </a:spcBef>
              <a:buClr>
                <a:srgbClr val="3333CC"/>
              </a:buClr>
              <a:buSzPct val="58928"/>
              <a:buChar char="•"/>
              <a:tabLst>
                <a:tab pos="379730" algn="l"/>
              </a:tabLst>
            </a:pPr>
            <a:r>
              <a:rPr dirty="0" sz="2800">
                <a:latin typeface="Tahoma"/>
                <a:cs typeface="Tahoma"/>
              </a:rPr>
              <a:t>Project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high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dimensional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data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onto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lower </a:t>
            </a:r>
            <a:r>
              <a:rPr dirty="0" sz="2800">
                <a:latin typeface="Tahoma"/>
                <a:cs typeface="Tahoma"/>
              </a:rPr>
              <a:t>dimensional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 spc="-20">
                <a:latin typeface="Tahoma"/>
                <a:cs typeface="Tahoma"/>
              </a:rPr>
              <a:t>sub-</a:t>
            </a:r>
            <a:r>
              <a:rPr dirty="0" sz="2800">
                <a:latin typeface="Tahoma"/>
                <a:cs typeface="Tahoma"/>
              </a:rPr>
              <a:t>space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using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u="heavy" sz="28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linear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or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u="heavy" sz="2800" spc="-2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non-</a:t>
            </a:r>
            <a:r>
              <a:rPr dirty="0" u="heavy" sz="2800" spc="-1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linear</a:t>
            </a:r>
            <a:r>
              <a:rPr dirty="0" sz="2800" spc="-10">
                <a:latin typeface="Tahoma"/>
                <a:cs typeface="Tahoma"/>
              </a:rPr>
              <a:t> transformations.</a:t>
            </a:r>
            <a:endParaRPr sz="2800">
              <a:latin typeface="Tahoma"/>
              <a:cs typeface="Tahoma"/>
            </a:endParaRPr>
          </a:p>
          <a:p>
            <a:pPr marL="5302250">
              <a:lnSpc>
                <a:spcPct val="100000"/>
              </a:lnSpc>
              <a:spcBef>
                <a:spcPts val="830"/>
              </a:spcBef>
            </a:pPr>
            <a:r>
              <a:rPr dirty="0" sz="2550" spc="-1585">
                <a:latin typeface="Courier New"/>
                <a:cs typeface="Courier New"/>
              </a:rPr>
              <a:t></a:t>
            </a:r>
            <a:r>
              <a:rPr dirty="0" sz="2550" spc="-1015">
                <a:latin typeface="Courier New"/>
                <a:cs typeface="Courier New"/>
              </a:rPr>
              <a:t> </a:t>
            </a:r>
            <a:r>
              <a:rPr dirty="0" baseline="4357" sz="3825" spc="-532" i="1">
                <a:latin typeface="Courier New"/>
                <a:cs typeface="Courier New"/>
              </a:rPr>
              <a:t>y</a:t>
            </a:r>
            <a:r>
              <a:rPr dirty="0" baseline="-18518" sz="2250" spc="-532">
                <a:latin typeface="Courier New"/>
                <a:cs typeface="Courier New"/>
              </a:rPr>
              <a:t>1</a:t>
            </a:r>
            <a:r>
              <a:rPr dirty="0" baseline="-18518" sz="2250" spc="-697">
                <a:latin typeface="Courier New"/>
                <a:cs typeface="Courier New"/>
              </a:rPr>
              <a:t> </a:t>
            </a:r>
            <a:r>
              <a:rPr dirty="0" sz="2550" spc="-1635">
                <a:latin typeface="Courier New"/>
                <a:cs typeface="Courier New"/>
              </a:rPr>
              <a:t></a:t>
            </a:r>
            <a:endParaRPr sz="2550">
              <a:latin typeface="Courier New"/>
              <a:cs typeface="Courier New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669876" y="4784915"/>
            <a:ext cx="669290" cy="4178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sz="2550" spc="-1585">
                <a:latin typeface="Courier New"/>
                <a:cs typeface="Courier New"/>
              </a:rPr>
              <a:t></a:t>
            </a:r>
            <a:r>
              <a:rPr dirty="0" sz="2550" spc="-1170">
                <a:latin typeface="Courier New"/>
                <a:cs typeface="Courier New"/>
              </a:rPr>
              <a:t> </a:t>
            </a:r>
            <a:r>
              <a:rPr dirty="0" baseline="-26143" sz="3825" spc="-600" i="1">
                <a:latin typeface="Courier New"/>
                <a:cs typeface="Courier New"/>
              </a:rPr>
              <a:t>y</a:t>
            </a:r>
            <a:r>
              <a:rPr dirty="0" baseline="-26143" sz="3825" spc="-517" i="1">
                <a:latin typeface="Courier New"/>
                <a:cs typeface="Courier New"/>
              </a:rPr>
              <a:t> </a:t>
            </a:r>
            <a:r>
              <a:rPr dirty="0" sz="2550" spc="-1635">
                <a:latin typeface="Courier New"/>
                <a:cs typeface="Courier New"/>
              </a:rPr>
              <a:t></a:t>
            </a:r>
            <a:endParaRPr sz="2550">
              <a:latin typeface="Courier New"/>
              <a:cs typeface="Courier New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989713" y="5023307"/>
            <a:ext cx="349250" cy="4178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sz="1500" spc="-160">
                <a:latin typeface="Courier New"/>
                <a:cs typeface="Courier New"/>
              </a:rPr>
              <a:t>2</a:t>
            </a:r>
            <a:r>
              <a:rPr dirty="0" sz="1500" spc="-490">
                <a:latin typeface="Courier New"/>
                <a:cs typeface="Courier New"/>
              </a:rPr>
              <a:t> </a:t>
            </a:r>
            <a:r>
              <a:rPr dirty="0" baseline="-13071" sz="3825" spc="-2452">
                <a:latin typeface="Courier New"/>
                <a:cs typeface="Courier New"/>
              </a:rPr>
              <a:t></a:t>
            </a:r>
            <a:endParaRPr baseline="-13071" sz="3825">
              <a:latin typeface="Courier New"/>
              <a:cs typeface="Courier New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169712" y="5187632"/>
            <a:ext cx="702310" cy="4178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sz="2550" spc="-250">
                <a:latin typeface="Courier New"/>
                <a:cs typeface="Courier New"/>
              </a:rPr>
              <a:t>y</a:t>
            </a:r>
            <a:r>
              <a:rPr dirty="0" sz="2550" spc="-925">
                <a:latin typeface="Courier New"/>
                <a:cs typeface="Courier New"/>
              </a:rPr>
              <a:t> </a:t>
            </a:r>
            <a:r>
              <a:rPr dirty="0" sz="2550" spc="-130">
                <a:latin typeface="Courier New"/>
                <a:cs typeface="Courier New"/>
              </a:rPr>
              <a:t>=</a:t>
            </a:r>
            <a:r>
              <a:rPr dirty="0" sz="2550" spc="-890">
                <a:latin typeface="Courier New"/>
                <a:cs typeface="Courier New"/>
              </a:rPr>
              <a:t> </a:t>
            </a:r>
            <a:r>
              <a:rPr dirty="0" baseline="15250" sz="3825" spc="-2452">
                <a:latin typeface="Courier New"/>
                <a:cs typeface="Courier New"/>
              </a:rPr>
              <a:t></a:t>
            </a:r>
            <a:endParaRPr baseline="15250" sz="3825">
              <a:latin typeface="Courier New"/>
              <a:cs typeface="Courier New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669876" y="5437098"/>
            <a:ext cx="669290" cy="70548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ts val="2665"/>
              </a:lnSpc>
              <a:spcBef>
                <a:spcPts val="120"/>
              </a:spcBef>
            </a:pPr>
            <a:r>
              <a:rPr dirty="0" baseline="4357" sz="3825" spc="-2377">
                <a:latin typeface="Courier New"/>
                <a:cs typeface="Courier New"/>
              </a:rPr>
              <a:t></a:t>
            </a:r>
            <a:r>
              <a:rPr dirty="0" baseline="4357" sz="3825" spc="-1747">
                <a:latin typeface="Courier New"/>
                <a:cs typeface="Courier New"/>
              </a:rPr>
              <a:t> </a:t>
            </a:r>
            <a:r>
              <a:rPr dirty="0" sz="2550" spc="-885">
                <a:latin typeface="Courier New"/>
                <a:cs typeface="Courier New"/>
              </a:rPr>
              <a:t>...</a:t>
            </a:r>
            <a:r>
              <a:rPr dirty="0" sz="2550" spc="-1130">
                <a:latin typeface="Courier New"/>
                <a:cs typeface="Courier New"/>
              </a:rPr>
              <a:t> </a:t>
            </a:r>
            <a:r>
              <a:rPr dirty="0" baseline="4357" sz="3825" spc="-2452">
                <a:latin typeface="Courier New"/>
                <a:cs typeface="Courier New"/>
              </a:rPr>
              <a:t></a:t>
            </a:r>
            <a:endParaRPr baseline="4357" sz="3825">
              <a:latin typeface="Courier New"/>
              <a:cs typeface="Courier New"/>
            </a:endParaRPr>
          </a:p>
          <a:p>
            <a:pPr marL="38100">
              <a:lnSpc>
                <a:spcPts val="2665"/>
              </a:lnSpc>
            </a:pPr>
            <a:r>
              <a:rPr dirty="0" sz="2550" spc="-1585">
                <a:latin typeface="Courier New"/>
                <a:cs typeface="Courier New"/>
              </a:rPr>
              <a:t></a:t>
            </a:r>
            <a:r>
              <a:rPr dirty="0" sz="2550" spc="-1190">
                <a:latin typeface="Courier New"/>
                <a:cs typeface="Courier New"/>
              </a:rPr>
              <a:t> </a:t>
            </a:r>
            <a:r>
              <a:rPr dirty="0" baseline="-34858" sz="3825" spc="-600" i="1">
                <a:latin typeface="Courier New"/>
                <a:cs typeface="Courier New"/>
              </a:rPr>
              <a:t>y</a:t>
            </a:r>
            <a:r>
              <a:rPr dirty="0" baseline="-34858" sz="3825" spc="-487" i="1">
                <a:latin typeface="Courier New"/>
                <a:cs typeface="Courier New"/>
              </a:rPr>
              <a:t> </a:t>
            </a:r>
            <a:r>
              <a:rPr dirty="0" sz="2550" spc="-1635">
                <a:latin typeface="Courier New"/>
                <a:cs typeface="Courier New"/>
              </a:rPr>
              <a:t></a:t>
            </a:r>
            <a:endParaRPr sz="2550">
              <a:latin typeface="Courier New"/>
              <a:cs typeface="Courier New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695276" y="6016053"/>
            <a:ext cx="618490" cy="4178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50" spc="-1585">
                <a:latin typeface="Courier New"/>
                <a:cs typeface="Courier New"/>
              </a:rPr>
              <a:t></a:t>
            </a:r>
            <a:r>
              <a:rPr dirty="0" sz="2550" spc="-10">
                <a:latin typeface="Courier New"/>
                <a:cs typeface="Courier New"/>
              </a:rPr>
              <a:t> </a:t>
            </a:r>
            <a:r>
              <a:rPr dirty="0" baseline="1851" sz="2250" spc="-375" i="1">
                <a:latin typeface="Courier New"/>
                <a:cs typeface="Courier New"/>
              </a:rPr>
              <a:t>k</a:t>
            </a:r>
            <a:r>
              <a:rPr dirty="0" baseline="1851" sz="2250" spc="-585" i="1">
                <a:latin typeface="Courier New"/>
                <a:cs typeface="Courier New"/>
              </a:rPr>
              <a:t> </a:t>
            </a:r>
            <a:r>
              <a:rPr dirty="0" sz="2550" spc="-1635">
                <a:latin typeface="Courier New"/>
                <a:cs typeface="Courier New"/>
              </a:rPr>
              <a:t></a:t>
            </a:r>
            <a:endParaRPr sz="2550">
              <a:latin typeface="Courier New"/>
              <a:cs typeface="Courier New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354590" y="5637695"/>
            <a:ext cx="3048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0" b="1">
                <a:solidFill>
                  <a:srgbClr val="FF0000"/>
                </a:solidFill>
                <a:latin typeface="Arial"/>
                <a:cs typeface="Arial"/>
              </a:rPr>
              <a:t>?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90295" y="2383421"/>
            <a:ext cx="7529195" cy="275272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355600" marR="445134" indent="-342900">
              <a:lnSpc>
                <a:spcPct val="79900"/>
              </a:lnSpc>
              <a:spcBef>
                <a:spcPts val="770"/>
              </a:spcBef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How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to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find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projection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onto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orthogonal direction?</a:t>
            </a:r>
            <a:endParaRPr sz="2800">
              <a:latin typeface="Tahoma"/>
              <a:cs typeface="Tahoma"/>
            </a:endParaRPr>
          </a:p>
          <a:p>
            <a:pPr lvl="1" marL="812800" marR="48260" indent="-342900">
              <a:lnSpc>
                <a:spcPct val="79900"/>
              </a:lnSpc>
              <a:spcBef>
                <a:spcPts val="670"/>
              </a:spcBef>
              <a:buClr>
                <a:srgbClr val="3333CC"/>
              </a:buClr>
              <a:buSzPct val="58928"/>
              <a:buFont typeface="Tahoma"/>
              <a:buChar char="■"/>
              <a:tabLst>
                <a:tab pos="812800" algn="l"/>
              </a:tabLst>
            </a:pPr>
            <a:r>
              <a:rPr dirty="0" sz="2800" b="1">
                <a:solidFill>
                  <a:srgbClr val="FF0000"/>
                </a:solidFill>
                <a:latin typeface="Tahoma"/>
                <a:cs typeface="Tahoma"/>
              </a:rPr>
              <a:t>Deflation</a:t>
            </a:r>
            <a:r>
              <a:rPr dirty="0" sz="2800" spc="-65" b="1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800" b="1">
                <a:solidFill>
                  <a:srgbClr val="FF0000"/>
                </a:solidFill>
                <a:latin typeface="Tahoma"/>
                <a:cs typeface="Tahoma"/>
              </a:rPr>
              <a:t>method</a:t>
            </a:r>
            <a:r>
              <a:rPr dirty="0" sz="2800">
                <a:latin typeface="Tahoma"/>
                <a:cs typeface="Tahoma"/>
              </a:rPr>
              <a:t>: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subtract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principal </a:t>
            </a:r>
            <a:r>
              <a:rPr dirty="0" sz="2800">
                <a:latin typeface="Tahoma"/>
                <a:cs typeface="Tahoma"/>
              </a:rPr>
              <a:t>component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from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input</a:t>
            </a:r>
            <a:endParaRPr sz="28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645"/>
              </a:spcBef>
              <a:buClr>
                <a:srgbClr val="3333CC"/>
              </a:buClr>
              <a:buFont typeface="Tahoma"/>
              <a:buChar char="■"/>
            </a:pPr>
            <a:endParaRPr sz="2800">
              <a:latin typeface="Tahoma"/>
              <a:cs typeface="Tahoma"/>
            </a:endParaRPr>
          </a:p>
          <a:p>
            <a:pPr marL="355600" marR="5080" indent="-342900">
              <a:lnSpc>
                <a:spcPct val="79900"/>
              </a:lnSpc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Oja’s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rule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can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be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extended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to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extract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multiple </a:t>
            </a:r>
            <a:r>
              <a:rPr dirty="0" sz="2800">
                <a:latin typeface="Tahoma"/>
                <a:cs typeface="Tahoma"/>
              </a:rPr>
              <a:t>principal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components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13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2342" rIns="0" bIns="0" rtlCol="0" vert="horz">
            <a:spAutoFit/>
          </a:bodyPr>
          <a:lstStyle/>
          <a:p>
            <a:pPr marL="385445">
              <a:lnSpc>
                <a:spcPct val="100000"/>
              </a:lnSpc>
              <a:spcBef>
                <a:spcPts val="105"/>
              </a:spcBef>
            </a:pPr>
            <a:r>
              <a:rPr dirty="0"/>
              <a:t>Oja’s</a:t>
            </a:r>
            <a:r>
              <a:rPr dirty="0" spc="-70"/>
              <a:t> </a:t>
            </a:r>
            <a:r>
              <a:rPr dirty="0" spc="-20"/>
              <a:t>Rule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46277" y="2276805"/>
            <a:ext cx="7866380" cy="174307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algn="just" marL="353060" marR="213360" indent="-340995">
              <a:lnSpc>
                <a:spcPct val="79900"/>
              </a:lnSpc>
              <a:spcBef>
                <a:spcPts val="770"/>
              </a:spcBef>
              <a:buClr>
                <a:srgbClr val="3333CC"/>
              </a:buClr>
              <a:buSzPct val="58928"/>
              <a:buFont typeface="Tahoma"/>
              <a:buChar char="■"/>
              <a:tabLst>
                <a:tab pos="354965" algn="l"/>
              </a:tabLst>
            </a:pPr>
            <a:r>
              <a:rPr dirty="0" sz="2800" spc="-459">
                <a:latin typeface="Courier New"/>
                <a:cs typeface="Courier New"/>
              </a:rPr>
              <a:t>Deflation</a:t>
            </a:r>
            <a:r>
              <a:rPr dirty="0" sz="2800" spc="-900">
                <a:latin typeface="Courier New"/>
                <a:cs typeface="Courier New"/>
              </a:rPr>
              <a:t> </a:t>
            </a:r>
            <a:r>
              <a:rPr dirty="0" sz="2800" spc="-290">
                <a:latin typeface="Courier New"/>
                <a:cs typeface="Courier New"/>
              </a:rPr>
              <a:t>procedure</a:t>
            </a:r>
            <a:r>
              <a:rPr dirty="0" sz="2800" spc="-900">
                <a:latin typeface="Courier New"/>
                <a:cs typeface="Courier New"/>
              </a:rPr>
              <a:t> </a:t>
            </a:r>
            <a:r>
              <a:rPr dirty="0" sz="2800" spc="-675">
                <a:latin typeface="Courier New"/>
                <a:cs typeface="Courier New"/>
              </a:rPr>
              <a:t>is</a:t>
            </a:r>
            <a:r>
              <a:rPr dirty="0" sz="2800" spc="-900">
                <a:latin typeface="Courier New"/>
                <a:cs typeface="Courier New"/>
              </a:rPr>
              <a:t> </a:t>
            </a:r>
            <a:r>
              <a:rPr dirty="0" sz="2800" spc="-245">
                <a:latin typeface="Courier New"/>
                <a:cs typeface="Courier New"/>
              </a:rPr>
              <a:t>adopted</a:t>
            </a:r>
            <a:r>
              <a:rPr dirty="0" sz="2800" spc="-900">
                <a:latin typeface="Courier New"/>
                <a:cs typeface="Courier New"/>
              </a:rPr>
              <a:t> </a:t>
            </a:r>
            <a:r>
              <a:rPr dirty="0" sz="2800" spc="-520">
                <a:latin typeface="Courier New"/>
                <a:cs typeface="Courier New"/>
              </a:rPr>
              <a:t>to</a:t>
            </a:r>
            <a:r>
              <a:rPr dirty="0" sz="2800" spc="-900">
                <a:latin typeface="Courier New"/>
                <a:cs typeface="Courier New"/>
              </a:rPr>
              <a:t> </a:t>
            </a:r>
            <a:r>
              <a:rPr dirty="0" sz="2800" spc="-155">
                <a:latin typeface="Courier New"/>
                <a:cs typeface="Courier New"/>
              </a:rPr>
              <a:t>compute</a:t>
            </a:r>
            <a:r>
              <a:rPr dirty="0" sz="2800" spc="-900">
                <a:latin typeface="Courier New"/>
                <a:cs typeface="Courier New"/>
              </a:rPr>
              <a:t> </a:t>
            </a:r>
            <a:r>
              <a:rPr dirty="0" sz="2800" spc="-395">
                <a:latin typeface="Courier New"/>
                <a:cs typeface="Courier New"/>
              </a:rPr>
              <a:t>the</a:t>
            </a:r>
            <a:r>
              <a:rPr dirty="0" sz="2800" spc="-135">
                <a:latin typeface="Courier New"/>
                <a:cs typeface="Courier New"/>
              </a:rPr>
              <a:t> </a:t>
            </a:r>
            <a:r>
              <a:rPr dirty="0" sz="2800" spc="-135">
                <a:latin typeface="Courier New"/>
                <a:cs typeface="Courier New"/>
              </a:rPr>
              <a:t>	</a:t>
            </a:r>
            <a:r>
              <a:rPr dirty="0" sz="2800" spc="-415">
                <a:latin typeface="Courier New"/>
                <a:cs typeface="Courier New"/>
              </a:rPr>
              <a:t>other</a:t>
            </a:r>
            <a:r>
              <a:rPr dirty="0" sz="2800" spc="-905">
                <a:latin typeface="Courier New"/>
                <a:cs typeface="Courier New"/>
              </a:rPr>
              <a:t> </a:t>
            </a:r>
            <a:r>
              <a:rPr dirty="0" sz="2800" spc="-370">
                <a:latin typeface="Courier New"/>
                <a:cs typeface="Courier New"/>
              </a:rPr>
              <a:t>eigenvectors</a:t>
            </a:r>
            <a:endParaRPr sz="2800">
              <a:latin typeface="Courier New"/>
              <a:cs typeface="Courier New"/>
            </a:endParaRPr>
          </a:p>
          <a:p>
            <a:pPr algn="just" lvl="1" marL="753110" marR="5080" indent="-340995">
              <a:lnSpc>
                <a:spcPct val="79900"/>
              </a:lnSpc>
              <a:spcBef>
                <a:spcPts val="585"/>
              </a:spcBef>
              <a:buClr>
                <a:srgbClr val="3333CC"/>
              </a:buClr>
              <a:buSzPct val="60416"/>
              <a:buFont typeface="Tahoma"/>
              <a:buChar char="■"/>
              <a:tabLst>
                <a:tab pos="755015" algn="l"/>
              </a:tabLst>
            </a:pPr>
            <a:r>
              <a:rPr dirty="0" sz="2400" spc="-5">
                <a:latin typeface="Courier New"/>
                <a:cs typeface="Courier New"/>
              </a:rPr>
              <a:t>Assume</a:t>
            </a:r>
            <a:r>
              <a:rPr dirty="0" sz="2400" spc="-775">
                <a:latin typeface="Courier New"/>
                <a:cs typeface="Courier New"/>
              </a:rPr>
              <a:t> </a:t>
            </a:r>
            <a:r>
              <a:rPr dirty="0" sz="2400" spc="-450">
                <a:latin typeface="Courier New"/>
                <a:cs typeface="Courier New"/>
              </a:rPr>
              <a:t>that</a:t>
            </a:r>
            <a:r>
              <a:rPr dirty="0" sz="2400" spc="-780">
                <a:latin typeface="Courier New"/>
                <a:cs typeface="Courier New"/>
              </a:rPr>
              <a:t> </a:t>
            </a:r>
            <a:r>
              <a:rPr dirty="0" sz="2400" spc="-340">
                <a:latin typeface="Courier New"/>
                <a:cs typeface="Courier New"/>
              </a:rPr>
              <a:t>the</a:t>
            </a:r>
            <a:r>
              <a:rPr dirty="0" sz="2400" spc="-775">
                <a:latin typeface="Courier New"/>
                <a:cs typeface="Courier New"/>
              </a:rPr>
              <a:t> </a:t>
            </a:r>
            <a:r>
              <a:rPr dirty="0" sz="2400" spc="-675">
                <a:latin typeface="Courier New"/>
                <a:cs typeface="Courier New"/>
              </a:rPr>
              <a:t>first</a:t>
            </a:r>
            <a:r>
              <a:rPr dirty="0" sz="2400" spc="-780">
                <a:latin typeface="Courier New"/>
                <a:cs typeface="Courier New"/>
              </a:rPr>
              <a:t> </a:t>
            </a:r>
            <a:r>
              <a:rPr dirty="0" sz="2400" spc="-130">
                <a:latin typeface="Courier New"/>
                <a:cs typeface="Courier New"/>
              </a:rPr>
              <a:t>component</a:t>
            </a:r>
            <a:r>
              <a:rPr dirty="0" sz="2400" spc="-780">
                <a:latin typeface="Courier New"/>
                <a:cs typeface="Courier New"/>
              </a:rPr>
              <a:t> </a:t>
            </a:r>
            <a:r>
              <a:rPr dirty="0" sz="2400" spc="-575">
                <a:latin typeface="Courier New"/>
                <a:cs typeface="Courier New"/>
              </a:rPr>
              <a:t>is</a:t>
            </a:r>
            <a:r>
              <a:rPr dirty="0" sz="2400" spc="-780">
                <a:latin typeface="Courier New"/>
                <a:cs typeface="Courier New"/>
              </a:rPr>
              <a:t> </a:t>
            </a:r>
            <a:r>
              <a:rPr dirty="0" sz="2400" spc="-325">
                <a:latin typeface="Courier New"/>
                <a:cs typeface="Courier New"/>
              </a:rPr>
              <a:t>already</a:t>
            </a:r>
            <a:r>
              <a:rPr dirty="0" sz="2400" spc="-780">
                <a:latin typeface="Courier New"/>
                <a:cs typeface="Courier New"/>
              </a:rPr>
              <a:t> </a:t>
            </a:r>
            <a:r>
              <a:rPr dirty="0" sz="2400" spc="-355">
                <a:latin typeface="Courier New"/>
                <a:cs typeface="Courier New"/>
              </a:rPr>
              <a:t>obtained,</a:t>
            </a:r>
            <a:r>
              <a:rPr dirty="0" sz="2400" spc="-780">
                <a:latin typeface="Courier New"/>
                <a:cs typeface="Courier New"/>
              </a:rPr>
              <a:t> </a:t>
            </a:r>
            <a:r>
              <a:rPr dirty="0" sz="2400" spc="-780">
                <a:latin typeface="Courier New"/>
                <a:cs typeface="Courier New"/>
              </a:rPr>
              <a:t>	</a:t>
            </a:r>
            <a:r>
              <a:rPr dirty="0" sz="2400" spc="-135">
                <a:latin typeface="Courier New"/>
                <a:cs typeface="Courier New"/>
              </a:rPr>
              <a:t>compute</a:t>
            </a:r>
            <a:r>
              <a:rPr dirty="0" sz="2400" spc="-775">
                <a:latin typeface="Courier New"/>
                <a:cs typeface="Courier New"/>
              </a:rPr>
              <a:t> </a:t>
            </a:r>
            <a:r>
              <a:rPr dirty="0" sz="2400" spc="-340">
                <a:latin typeface="Courier New"/>
                <a:cs typeface="Courier New"/>
              </a:rPr>
              <a:t>the</a:t>
            </a:r>
            <a:r>
              <a:rPr dirty="0" sz="2400" spc="-775">
                <a:latin typeface="Courier New"/>
                <a:cs typeface="Courier New"/>
              </a:rPr>
              <a:t> </a:t>
            </a:r>
            <a:r>
              <a:rPr dirty="0" sz="2400" spc="-409">
                <a:latin typeface="Courier New"/>
                <a:cs typeface="Courier New"/>
              </a:rPr>
              <a:t>projection</a:t>
            </a:r>
            <a:r>
              <a:rPr dirty="0" sz="2400" spc="-775">
                <a:latin typeface="Courier New"/>
                <a:cs typeface="Courier New"/>
              </a:rPr>
              <a:t> </a:t>
            </a:r>
            <a:r>
              <a:rPr dirty="0" sz="2400" spc="-450">
                <a:latin typeface="Courier New"/>
                <a:cs typeface="Courier New"/>
              </a:rPr>
              <a:t>of</a:t>
            </a:r>
            <a:r>
              <a:rPr dirty="0" sz="2400" spc="-780">
                <a:latin typeface="Courier New"/>
                <a:cs typeface="Courier New"/>
              </a:rPr>
              <a:t> </a:t>
            </a:r>
            <a:r>
              <a:rPr dirty="0" sz="2400" spc="-340">
                <a:latin typeface="Courier New"/>
                <a:cs typeface="Courier New"/>
              </a:rPr>
              <a:t>the</a:t>
            </a:r>
            <a:r>
              <a:rPr dirty="0" sz="2400" spc="-775">
                <a:latin typeface="Courier New"/>
                <a:cs typeface="Courier New"/>
              </a:rPr>
              <a:t> </a:t>
            </a:r>
            <a:r>
              <a:rPr dirty="0" sz="2400" spc="-675">
                <a:latin typeface="Courier New"/>
                <a:cs typeface="Courier New"/>
              </a:rPr>
              <a:t>first</a:t>
            </a:r>
            <a:r>
              <a:rPr dirty="0" sz="2400" spc="-780">
                <a:latin typeface="Courier New"/>
                <a:cs typeface="Courier New"/>
              </a:rPr>
              <a:t> </a:t>
            </a:r>
            <a:r>
              <a:rPr dirty="0" sz="2400" spc="-320">
                <a:latin typeface="Courier New"/>
                <a:cs typeface="Courier New"/>
              </a:rPr>
              <a:t>eigenvector</a:t>
            </a:r>
            <a:r>
              <a:rPr dirty="0" sz="2400" spc="-775">
                <a:latin typeface="Courier New"/>
                <a:cs typeface="Courier New"/>
              </a:rPr>
              <a:t> </a:t>
            </a:r>
            <a:r>
              <a:rPr dirty="0" sz="2400" spc="-114">
                <a:latin typeface="Courier New"/>
                <a:cs typeface="Courier New"/>
              </a:rPr>
              <a:t>on</a:t>
            </a:r>
            <a:r>
              <a:rPr dirty="0" sz="2400" spc="-775">
                <a:latin typeface="Courier New"/>
                <a:cs typeface="Courier New"/>
              </a:rPr>
              <a:t> </a:t>
            </a:r>
            <a:r>
              <a:rPr dirty="0" sz="2400" spc="-340">
                <a:latin typeface="Courier New"/>
                <a:cs typeface="Courier New"/>
              </a:rPr>
              <a:t>the</a:t>
            </a:r>
            <a:r>
              <a:rPr dirty="0" sz="2400" spc="-114">
                <a:latin typeface="Courier New"/>
                <a:cs typeface="Courier New"/>
              </a:rPr>
              <a:t> </a:t>
            </a:r>
            <a:r>
              <a:rPr dirty="0" sz="2400" spc="-114">
                <a:latin typeface="Courier New"/>
                <a:cs typeface="Courier New"/>
              </a:rPr>
              <a:t>	</a:t>
            </a:r>
            <a:r>
              <a:rPr dirty="0" sz="2400" spc="-409">
                <a:latin typeface="Courier New"/>
                <a:cs typeface="Courier New"/>
              </a:rPr>
              <a:t>input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13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908227" y="4392313"/>
            <a:ext cx="5645785" cy="151447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393065" indent="-342265">
              <a:lnSpc>
                <a:spcPct val="100000"/>
              </a:lnSpc>
              <a:spcBef>
                <a:spcPts val="315"/>
              </a:spcBef>
              <a:buClr>
                <a:srgbClr val="3333CC"/>
              </a:buClr>
              <a:buSzPct val="60416"/>
              <a:buFont typeface="Tahoma"/>
              <a:buChar char="■"/>
              <a:tabLst>
                <a:tab pos="393065" algn="l"/>
              </a:tabLst>
            </a:pPr>
            <a:r>
              <a:rPr dirty="0" sz="2400" spc="-204">
                <a:latin typeface="Courier New"/>
                <a:cs typeface="Courier New"/>
              </a:rPr>
              <a:t>Generate</a:t>
            </a:r>
            <a:r>
              <a:rPr dirty="0" sz="2400" spc="-750">
                <a:latin typeface="Courier New"/>
                <a:cs typeface="Courier New"/>
              </a:rPr>
              <a:t> </a:t>
            </a:r>
            <a:r>
              <a:rPr dirty="0" sz="2400" spc="-340">
                <a:latin typeface="Courier New"/>
                <a:cs typeface="Courier New"/>
              </a:rPr>
              <a:t>the</a:t>
            </a:r>
            <a:r>
              <a:rPr dirty="0" sz="2400" spc="-750">
                <a:latin typeface="Courier New"/>
                <a:cs typeface="Courier New"/>
              </a:rPr>
              <a:t> </a:t>
            </a:r>
            <a:r>
              <a:rPr dirty="0" sz="2400" spc="-315">
                <a:latin typeface="Courier New"/>
                <a:cs typeface="Courier New"/>
              </a:rPr>
              <a:t>modified</a:t>
            </a:r>
            <a:r>
              <a:rPr dirty="0" sz="2400" spc="-745">
                <a:latin typeface="Courier New"/>
                <a:cs typeface="Courier New"/>
              </a:rPr>
              <a:t> </a:t>
            </a:r>
            <a:r>
              <a:rPr dirty="0" sz="2400" spc="-409">
                <a:latin typeface="Courier New"/>
                <a:cs typeface="Courier New"/>
              </a:rPr>
              <a:t>input</a:t>
            </a:r>
            <a:r>
              <a:rPr dirty="0" sz="2400" spc="-755">
                <a:latin typeface="Courier New"/>
                <a:cs typeface="Courier New"/>
              </a:rPr>
              <a:t> </a:t>
            </a:r>
            <a:r>
              <a:rPr dirty="0" sz="2400" spc="-25">
                <a:latin typeface="Courier New"/>
                <a:cs typeface="Courier New"/>
              </a:rPr>
              <a:t>as</a:t>
            </a:r>
            <a:endParaRPr sz="2400">
              <a:latin typeface="Courier New"/>
              <a:cs typeface="Courier New"/>
            </a:endParaRPr>
          </a:p>
          <a:p>
            <a:pPr marL="1726564">
              <a:lnSpc>
                <a:spcPts val="2960"/>
              </a:lnSpc>
              <a:spcBef>
                <a:spcPts val="285"/>
              </a:spcBef>
            </a:pPr>
            <a:r>
              <a:rPr dirty="0" sz="3150" spc="-2090" i="1">
                <a:latin typeface="Courier New"/>
                <a:cs typeface="Courier New"/>
              </a:rPr>
              <a:t>x</a:t>
            </a:r>
            <a:r>
              <a:rPr dirty="0" baseline="2645" sz="4725" spc="-862">
                <a:latin typeface="Courier New"/>
                <a:cs typeface="Courier New"/>
              </a:rPr>
              <a:t>ˆ</a:t>
            </a:r>
            <a:r>
              <a:rPr dirty="0" baseline="2645" sz="4725" spc="-1575">
                <a:latin typeface="Courier New"/>
                <a:cs typeface="Courier New"/>
              </a:rPr>
              <a:t> </a:t>
            </a:r>
            <a:r>
              <a:rPr dirty="0" sz="3150" spc="-175">
                <a:latin typeface="Courier New"/>
                <a:cs typeface="Courier New"/>
              </a:rPr>
              <a:t>=</a:t>
            </a:r>
            <a:r>
              <a:rPr dirty="0" sz="3150" spc="-1000">
                <a:latin typeface="Courier New"/>
                <a:cs typeface="Courier New"/>
              </a:rPr>
              <a:t> </a:t>
            </a:r>
            <a:r>
              <a:rPr dirty="0" sz="3150" spc="-495" i="1">
                <a:latin typeface="Courier New"/>
                <a:cs typeface="Courier New"/>
              </a:rPr>
              <a:t>x</a:t>
            </a:r>
            <a:r>
              <a:rPr dirty="0" sz="3150" spc="-1310" i="1">
                <a:latin typeface="Courier New"/>
                <a:cs typeface="Courier New"/>
              </a:rPr>
              <a:t> </a:t>
            </a:r>
            <a:r>
              <a:rPr dirty="0" sz="3150" spc="-175">
                <a:latin typeface="Courier New"/>
                <a:cs typeface="Courier New"/>
              </a:rPr>
              <a:t>–</a:t>
            </a:r>
            <a:r>
              <a:rPr dirty="0" sz="3150" spc="-1295">
                <a:latin typeface="Courier New"/>
                <a:cs typeface="Courier New"/>
              </a:rPr>
              <a:t> </a:t>
            </a:r>
            <a:r>
              <a:rPr dirty="0" sz="3150" spc="204" i="1">
                <a:latin typeface="Courier New"/>
                <a:cs typeface="Courier New"/>
              </a:rPr>
              <a:t>w</a:t>
            </a:r>
            <a:r>
              <a:rPr dirty="0" sz="3150" spc="-940" i="1">
                <a:latin typeface="Courier New"/>
                <a:cs typeface="Courier New"/>
              </a:rPr>
              <a:t> </a:t>
            </a:r>
            <a:r>
              <a:rPr dirty="0" sz="3150" spc="-495" i="1">
                <a:latin typeface="Courier New"/>
                <a:cs typeface="Courier New"/>
              </a:rPr>
              <a:t>y</a:t>
            </a:r>
            <a:r>
              <a:rPr dirty="0" sz="3150" spc="-1060" i="1">
                <a:latin typeface="Courier New"/>
                <a:cs typeface="Courier New"/>
              </a:rPr>
              <a:t> </a:t>
            </a:r>
            <a:r>
              <a:rPr dirty="0" sz="3150" spc="-175">
                <a:latin typeface="Courier New"/>
                <a:cs typeface="Courier New"/>
              </a:rPr>
              <a:t>=</a:t>
            </a:r>
            <a:r>
              <a:rPr dirty="0" sz="3150" spc="-1000">
                <a:latin typeface="Courier New"/>
                <a:cs typeface="Courier New"/>
              </a:rPr>
              <a:t> </a:t>
            </a:r>
            <a:r>
              <a:rPr dirty="0" sz="3150" spc="-495" i="1">
                <a:latin typeface="Courier New"/>
                <a:cs typeface="Courier New"/>
              </a:rPr>
              <a:t>x</a:t>
            </a:r>
            <a:r>
              <a:rPr dirty="0" sz="3150" spc="-1315" i="1">
                <a:latin typeface="Courier New"/>
                <a:cs typeface="Courier New"/>
              </a:rPr>
              <a:t> </a:t>
            </a:r>
            <a:r>
              <a:rPr dirty="0" sz="3150" spc="-175">
                <a:latin typeface="Courier New"/>
                <a:cs typeface="Courier New"/>
              </a:rPr>
              <a:t>–</a:t>
            </a:r>
            <a:r>
              <a:rPr dirty="0" sz="3150" spc="-1295">
                <a:latin typeface="Courier New"/>
                <a:cs typeface="Courier New"/>
              </a:rPr>
              <a:t> </a:t>
            </a:r>
            <a:r>
              <a:rPr dirty="0" sz="3150" spc="204" i="1">
                <a:latin typeface="Courier New"/>
                <a:cs typeface="Courier New"/>
              </a:rPr>
              <a:t>w</a:t>
            </a:r>
            <a:r>
              <a:rPr dirty="0" sz="3150" spc="-1190" i="1">
                <a:latin typeface="Courier New"/>
                <a:cs typeface="Courier New"/>
              </a:rPr>
              <a:t> </a:t>
            </a:r>
            <a:r>
              <a:rPr dirty="0" sz="3150" spc="65" i="1">
                <a:latin typeface="Courier New"/>
                <a:cs typeface="Courier New"/>
              </a:rPr>
              <a:t>w</a:t>
            </a:r>
            <a:r>
              <a:rPr dirty="0" baseline="43209" sz="2700" spc="97" i="1">
                <a:latin typeface="Courier New"/>
                <a:cs typeface="Courier New"/>
              </a:rPr>
              <a:t>T</a:t>
            </a:r>
            <a:r>
              <a:rPr dirty="0" baseline="43209" sz="2700" spc="-794" i="1">
                <a:latin typeface="Courier New"/>
                <a:cs typeface="Courier New"/>
              </a:rPr>
              <a:t> </a:t>
            </a:r>
            <a:r>
              <a:rPr dirty="0" sz="3150" spc="-545" i="1">
                <a:latin typeface="Courier New"/>
                <a:cs typeface="Courier New"/>
              </a:rPr>
              <a:t>x</a:t>
            </a:r>
            <a:endParaRPr sz="3150">
              <a:latin typeface="Courier New"/>
              <a:cs typeface="Courier New"/>
            </a:endParaRPr>
          </a:p>
          <a:p>
            <a:pPr marL="3111500">
              <a:lnSpc>
                <a:spcPts val="1340"/>
              </a:lnSpc>
              <a:tabLst>
                <a:tab pos="4658995" algn="l"/>
                <a:tab pos="5013960" algn="l"/>
              </a:tabLst>
            </a:pPr>
            <a:r>
              <a:rPr dirty="0" sz="1800" spc="-50">
                <a:latin typeface="Courier New"/>
                <a:cs typeface="Courier New"/>
              </a:rPr>
              <a:t>1</a:t>
            </a:r>
            <a:r>
              <a:rPr dirty="0" sz="1800">
                <a:latin typeface="Courier New"/>
                <a:cs typeface="Courier New"/>
              </a:rPr>
              <a:t>	</a:t>
            </a:r>
            <a:r>
              <a:rPr dirty="0" sz="1800" spc="-50">
                <a:latin typeface="Courier New"/>
                <a:cs typeface="Courier New"/>
              </a:rPr>
              <a:t>1</a:t>
            </a:r>
            <a:r>
              <a:rPr dirty="0" sz="1800">
                <a:latin typeface="Courier New"/>
                <a:cs typeface="Courier New"/>
              </a:rPr>
              <a:t>	</a:t>
            </a:r>
            <a:r>
              <a:rPr dirty="0" sz="1800" spc="-50">
                <a:latin typeface="Courier New"/>
                <a:cs typeface="Courier New"/>
              </a:rPr>
              <a:t>1</a:t>
            </a:r>
            <a:endParaRPr sz="1800">
              <a:latin typeface="Courier New"/>
              <a:cs typeface="Courier New"/>
            </a:endParaRPr>
          </a:p>
          <a:p>
            <a:pPr marL="393065" indent="-342265">
              <a:lnSpc>
                <a:spcPct val="100000"/>
              </a:lnSpc>
              <a:spcBef>
                <a:spcPts val="1160"/>
              </a:spcBef>
              <a:buClr>
                <a:srgbClr val="3333CC"/>
              </a:buClr>
              <a:buSzPct val="60416"/>
              <a:buFont typeface="Tahoma"/>
              <a:buChar char="■"/>
              <a:tabLst>
                <a:tab pos="393065" algn="l"/>
              </a:tabLst>
            </a:pPr>
            <a:r>
              <a:rPr dirty="0" sz="2400" spc="-165">
                <a:latin typeface="Courier New"/>
                <a:cs typeface="Courier New"/>
              </a:rPr>
              <a:t>Repeat</a:t>
            </a:r>
            <a:r>
              <a:rPr dirty="0" sz="2400" spc="-765">
                <a:latin typeface="Courier New"/>
                <a:cs typeface="Courier New"/>
              </a:rPr>
              <a:t> </a:t>
            </a:r>
            <a:r>
              <a:rPr dirty="0" sz="2400" spc="-355">
                <a:latin typeface="Courier New"/>
                <a:cs typeface="Courier New"/>
              </a:rPr>
              <a:t>Oja’s</a:t>
            </a:r>
            <a:r>
              <a:rPr dirty="0" sz="2400" spc="-760">
                <a:latin typeface="Courier New"/>
                <a:cs typeface="Courier New"/>
              </a:rPr>
              <a:t> </a:t>
            </a:r>
            <a:r>
              <a:rPr dirty="0" sz="2400" spc="-450">
                <a:latin typeface="Courier New"/>
                <a:cs typeface="Courier New"/>
              </a:rPr>
              <a:t>rule</a:t>
            </a:r>
            <a:r>
              <a:rPr dirty="0" sz="2400" spc="-755">
                <a:latin typeface="Courier New"/>
                <a:cs typeface="Courier New"/>
              </a:rPr>
              <a:t> </a:t>
            </a:r>
            <a:r>
              <a:rPr dirty="0" sz="2400" spc="-114">
                <a:latin typeface="Courier New"/>
                <a:cs typeface="Courier New"/>
              </a:rPr>
              <a:t>on</a:t>
            </a:r>
            <a:r>
              <a:rPr dirty="0" sz="2400" spc="-760">
                <a:latin typeface="Courier New"/>
                <a:cs typeface="Courier New"/>
              </a:rPr>
              <a:t> </a:t>
            </a:r>
            <a:r>
              <a:rPr dirty="0" sz="2400" spc="-340">
                <a:latin typeface="Courier New"/>
                <a:cs typeface="Courier New"/>
              </a:rPr>
              <a:t>the</a:t>
            </a:r>
            <a:r>
              <a:rPr dirty="0" sz="2400" spc="-755">
                <a:latin typeface="Courier New"/>
                <a:cs typeface="Courier New"/>
              </a:rPr>
              <a:t> </a:t>
            </a:r>
            <a:r>
              <a:rPr dirty="0" sz="2400" spc="-315">
                <a:latin typeface="Courier New"/>
                <a:cs typeface="Courier New"/>
              </a:rPr>
              <a:t>modified</a:t>
            </a:r>
            <a:r>
              <a:rPr dirty="0" sz="2400" spc="-755">
                <a:latin typeface="Courier New"/>
                <a:cs typeface="Courier New"/>
              </a:rPr>
              <a:t> </a:t>
            </a:r>
            <a:r>
              <a:rPr dirty="0" sz="2400" spc="-305">
                <a:latin typeface="Courier New"/>
                <a:cs typeface="Courier New"/>
              </a:rPr>
              <a:t>data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2342" rIns="0" bIns="0" rtlCol="0" vert="horz">
            <a:spAutoFit/>
          </a:bodyPr>
          <a:lstStyle/>
          <a:p>
            <a:pPr marL="385445">
              <a:lnSpc>
                <a:spcPct val="100000"/>
              </a:lnSpc>
              <a:spcBef>
                <a:spcPts val="105"/>
              </a:spcBef>
            </a:pPr>
            <a:r>
              <a:rPr dirty="0"/>
              <a:t>Oja’s</a:t>
            </a:r>
            <a:r>
              <a:rPr dirty="0" spc="-70"/>
              <a:t> </a:t>
            </a:r>
            <a:r>
              <a:rPr dirty="0" spc="-20"/>
              <a:t>Rule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4486059" y="3981183"/>
            <a:ext cx="132080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-105">
                <a:latin typeface="Courier New"/>
                <a:cs typeface="Courier New"/>
              </a:rPr>
              <a:t>1</a:t>
            </a:r>
            <a:endParaRPr sz="165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559555" y="3737343"/>
            <a:ext cx="1393825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2850" spc="-450" i="1">
                <a:latin typeface="Courier New"/>
                <a:cs typeface="Courier New"/>
              </a:rPr>
              <a:t>y</a:t>
            </a:r>
            <a:r>
              <a:rPr dirty="0" sz="2850" spc="-580" i="1">
                <a:latin typeface="Courier New"/>
                <a:cs typeface="Courier New"/>
              </a:rPr>
              <a:t> </a:t>
            </a:r>
            <a:r>
              <a:rPr dirty="0" sz="2850" spc="-145">
                <a:latin typeface="Courier New"/>
                <a:cs typeface="Courier New"/>
              </a:rPr>
              <a:t>=</a:t>
            </a:r>
            <a:r>
              <a:rPr dirty="0" sz="2850" spc="-560">
                <a:latin typeface="Courier New"/>
                <a:cs typeface="Courier New"/>
              </a:rPr>
              <a:t> </a:t>
            </a:r>
            <a:r>
              <a:rPr dirty="0" sz="2850" spc="204" i="1">
                <a:latin typeface="Courier New"/>
                <a:cs typeface="Courier New"/>
              </a:rPr>
              <a:t>w</a:t>
            </a:r>
            <a:r>
              <a:rPr dirty="0" sz="2850" spc="-1380" i="1">
                <a:latin typeface="Courier New"/>
                <a:cs typeface="Courier New"/>
              </a:rPr>
              <a:t> </a:t>
            </a:r>
            <a:r>
              <a:rPr dirty="0" baseline="43771" sz="2475" spc="-97" i="1">
                <a:latin typeface="Courier New"/>
                <a:cs typeface="Courier New"/>
              </a:rPr>
              <a:t>T</a:t>
            </a:r>
            <a:r>
              <a:rPr dirty="0" baseline="43771" sz="2475" spc="-330" i="1">
                <a:latin typeface="Courier New"/>
                <a:cs typeface="Courier New"/>
              </a:rPr>
              <a:t> </a:t>
            </a:r>
            <a:r>
              <a:rPr dirty="0" sz="2850" spc="-500" i="1">
                <a:latin typeface="Courier New"/>
                <a:cs typeface="Courier New"/>
              </a:rPr>
              <a:t>x</a:t>
            </a:r>
            <a:endParaRPr sz="28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50838" rIns="0" bIns="0" rtlCol="0" vert="horz">
            <a:spAutoFit/>
          </a:bodyPr>
          <a:lstStyle/>
          <a:p>
            <a:pPr marL="198755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PCA</a:t>
            </a:r>
            <a:r>
              <a:rPr dirty="0" sz="4000" spc="-80"/>
              <a:t> </a:t>
            </a:r>
            <a:r>
              <a:rPr dirty="0" sz="4000"/>
              <a:t>in</a:t>
            </a:r>
            <a:r>
              <a:rPr dirty="0" sz="4000" spc="-75"/>
              <a:t> </a:t>
            </a:r>
            <a:r>
              <a:rPr dirty="0" sz="4000"/>
              <a:t>Neural</a:t>
            </a:r>
            <a:r>
              <a:rPr dirty="0" sz="4000" spc="-85"/>
              <a:t> </a:t>
            </a:r>
            <a:r>
              <a:rPr dirty="0" sz="4000" spc="-10"/>
              <a:t>Networks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669607" y="2148725"/>
            <a:ext cx="6640830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3333CC"/>
              </a:buClr>
              <a:buSzPct val="59615"/>
              <a:buFont typeface="Tahoma"/>
              <a:buChar char="■"/>
              <a:tabLst>
                <a:tab pos="354965" algn="l"/>
              </a:tabLst>
            </a:pPr>
            <a:r>
              <a:rPr dirty="0" sz="2600" spc="-10" b="1">
                <a:latin typeface="Arial"/>
                <a:cs typeface="Arial"/>
              </a:rPr>
              <a:t>Multi-</a:t>
            </a:r>
            <a:r>
              <a:rPr dirty="0" sz="2600" b="1">
                <a:latin typeface="Arial"/>
                <a:cs typeface="Arial"/>
              </a:rPr>
              <a:t>layer</a:t>
            </a:r>
            <a:r>
              <a:rPr dirty="0" sz="2600" spc="-85" b="1">
                <a:latin typeface="Arial"/>
                <a:cs typeface="Arial"/>
              </a:rPr>
              <a:t> </a:t>
            </a:r>
            <a:r>
              <a:rPr dirty="0" sz="2600" b="1">
                <a:latin typeface="Arial"/>
                <a:cs typeface="Arial"/>
              </a:rPr>
              <a:t>networks</a:t>
            </a:r>
            <a:r>
              <a:rPr dirty="0" sz="2600" spc="-35" b="1">
                <a:latin typeface="Arial"/>
                <a:cs typeface="Arial"/>
              </a:rPr>
              <a:t> </a:t>
            </a:r>
            <a:r>
              <a:rPr dirty="0" sz="2600" spc="-415">
                <a:latin typeface="Courier New"/>
                <a:cs typeface="Courier New"/>
              </a:rPr>
              <a:t>with</a:t>
            </a:r>
            <a:r>
              <a:rPr dirty="0" sz="2600" spc="-844">
                <a:latin typeface="Courier New"/>
                <a:cs typeface="Courier New"/>
              </a:rPr>
              <a:t> </a:t>
            </a:r>
            <a:r>
              <a:rPr dirty="0" sz="2600" spc="-390">
                <a:latin typeface="Courier New"/>
                <a:cs typeface="Courier New"/>
              </a:rPr>
              <a:t>bottleneck</a:t>
            </a:r>
            <a:r>
              <a:rPr dirty="0" sz="2600" spc="-844">
                <a:latin typeface="Courier New"/>
                <a:cs typeface="Courier New"/>
              </a:rPr>
              <a:t> </a:t>
            </a:r>
            <a:r>
              <a:rPr dirty="0" sz="2600" spc="-455">
                <a:latin typeface="Courier New"/>
                <a:cs typeface="Courier New"/>
              </a:rPr>
              <a:t>layer</a:t>
            </a:r>
            <a:endParaRPr sz="2600">
              <a:latin typeface="Courier New"/>
              <a:cs typeface="Courier New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2237" y="2564904"/>
            <a:ext cx="3262312" cy="2448267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2682430" y="2690672"/>
            <a:ext cx="273685" cy="1214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ourier New"/>
                <a:cs typeface="Courier New"/>
              </a:rPr>
              <a:t>x</a:t>
            </a:r>
            <a:r>
              <a:rPr dirty="0" baseline="-16908" sz="1725" spc="-37">
                <a:latin typeface="Courier New"/>
                <a:cs typeface="Courier New"/>
              </a:rPr>
              <a:t>1</a:t>
            </a:r>
            <a:endParaRPr baseline="-16908" sz="1725">
              <a:latin typeface="Courier New"/>
              <a:cs typeface="Courier New"/>
            </a:endParaRPr>
          </a:p>
          <a:p>
            <a:pPr marL="38100" marR="30480">
              <a:lnSpc>
                <a:spcPct val="166700"/>
              </a:lnSpc>
            </a:pPr>
            <a:r>
              <a:rPr dirty="0" sz="1800" spc="-130">
                <a:latin typeface="Courier New"/>
                <a:cs typeface="Courier New"/>
              </a:rPr>
              <a:t>x</a:t>
            </a:r>
            <a:r>
              <a:rPr dirty="0" baseline="-16908" sz="1725" spc="-195">
                <a:latin typeface="Courier New"/>
                <a:cs typeface="Courier New"/>
              </a:rPr>
              <a:t>2 </a:t>
            </a:r>
            <a:r>
              <a:rPr dirty="0" sz="1800" spc="-130">
                <a:latin typeface="Courier New"/>
                <a:cs typeface="Courier New"/>
              </a:rPr>
              <a:t>x</a:t>
            </a:r>
            <a:r>
              <a:rPr dirty="0" baseline="-16908" sz="1725" spc="-195">
                <a:latin typeface="Courier New"/>
                <a:cs typeface="Courier New"/>
              </a:rPr>
              <a:t>3</a:t>
            </a:r>
            <a:endParaRPr baseline="-16908" sz="1725">
              <a:latin typeface="Courier New"/>
              <a:cs typeface="Courier New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5995987" y="2718104"/>
            <a:ext cx="314325" cy="313690"/>
            <a:chOff x="5995987" y="2718104"/>
            <a:chExt cx="314325" cy="313690"/>
          </a:xfrm>
        </p:grpSpPr>
        <p:sp>
          <p:nvSpPr>
            <p:cNvPr id="7" name="object 7" descr=""/>
            <p:cNvSpPr/>
            <p:nvPr/>
          </p:nvSpPr>
          <p:spPr>
            <a:xfrm>
              <a:off x="6001512" y="2722245"/>
              <a:ext cx="304165" cy="304800"/>
            </a:xfrm>
            <a:custGeom>
              <a:avLst/>
              <a:gdLst/>
              <a:ahLst/>
              <a:cxnLst/>
              <a:rect l="l" t="t" r="r" b="b"/>
              <a:pathLst>
                <a:path w="304164" h="304800">
                  <a:moveTo>
                    <a:pt x="151637" y="0"/>
                  </a:moveTo>
                  <a:lnTo>
                    <a:pt x="103475" y="7765"/>
                  </a:lnTo>
                  <a:lnTo>
                    <a:pt x="61683" y="29377"/>
                  </a:lnTo>
                  <a:lnTo>
                    <a:pt x="28808" y="62309"/>
                  </a:lnTo>
                  <a:lnTo>
                    <a:pt x="7398" y="104031"/>
                  </a:lnTo>
                  <a:lnTo>
                    <a:pt x="0" y="152018"/>
                  </a:lnTo>
                  <a:lnTo>
                    <a:pt x="7398" y="200373"/>
                  </a:lnTo>
                  <a:lnTo>
                    <a:pt x="28808" y="242320"/>
                  </a:lnTo>
                  <a:lnTo>
                    <a:pt x="61683" y="275369"/>
                  </a:lnTo>
                  <a:lnTo>
                    <a:pt x="103475" y="297026"/>
                  </a:lnTo>
                  <a:lnTo>
                    <a:pt x="151637" y="304800"/>
                  </a:lnTo>
                  <a:lnTo>
                    <a:pt x="199806" y="297030"/>
                  </a:lnTo>
                  <a:lnTo>
                    <a:pt x="241641" y="275394"/>
                  </a:lnTo>
                  <a:lnTo>
                    <a:pt x="274632" y="242403"/>
                  </a:lnTo>
                  <a:lnTo>
                    <a:pt x="296268" y="200568"/>
                  </a:lnTo>
                  <a:lnTo>
                    <a:pt x="304038" y="152400"/>
                  </a:lnTo>
                  <a:lnTo>
                    <a:pt x="296268" y="104226"/>
                  </a:lnTo>
                  <a:lnTo>
                    <a:pt x="274632" y="62391"/>
                  </a:lnTo>
                  <a:lnTo>
                    <a:pt x="241641" y="29402"/>
                  </a:lnTo>
                  <a:lnTo>
                    <a:pt x="199806" y="7768"/>
                  </a:lnTo>
                  <a:lnTo>
                    <a:pt x="151637" y="0"/>
                  </a:lnTo>
                  <a:close/>
                </a:path>
              </a:pathLst>
            </a:custGeom>
            <a:solidFill>
              <a:srgbClr val="00E4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995987" y="2718104"/>
              <a:ext cx="314325" cy="313690"/>
            </a:xfrm>
            <a:custGeom>
              <a:avLst/>
              <a:gdLst/>
              <a:ahLst/>
              <a:cxnLst/>
              <a:rect l="l" t="t" r="r" b="b"/>
              <a:pathLst>
                <a:path w="314325" h="313689">
                  <a:moveTo>
                    <a:pt x="180975" y="1269"/>
                  </a:moveTo>
                  <a:lnTo>
                    <a:pt x="133121" y="1269"/>
                  </a:lnTo>
                  <a:lnTo>
                    <a:pt x="125374" y="3810"/>
                  </a:lnTo>
                  <a:lnTo>
                    <a:pt x="117779" y="5079"/>
                  </a:lnTo>
                  <a:lnTo>
                    <a:pt x="82143" y="19050"/>
                  </a:lnTo>
                  <a:lnTo>
                    <a:pt x="63220" y="31750"/>
                  </a:lnTo>
                  <a:lnTo>
                    <a:pt x="57276" y="35560"/>
                  </a:lnTo>
                  <a:lnTo>
                    <a:pt x="31292" y="63500"/>
                  </a:lnTo>
                  <a:lnTo>
                    <a:pt x="27413" y="67997"/>
                  </a:lnTo>
                  <a:lnTo>
                    <a:pt x="26875" y="68644"/>
                  </a:lnTo>
                  <a:lnTo>
                    <a:pt x="22694" y="76200"/>
                  </a:lnTo>
                  <a:lnTo>
                    <a:pt x="19024" y="82550"/>
                  </a:lnTo>
                  <a:lnTo>
                    <a:pt x="15455" y="88900"/>
                  </a:lnTo>
                  <a:lnTo>
                    <a:pt x="12306" y="96519"/>
                  </a:lnTo>
                  <a:lnTo>
                    <a:pt x="9499" y="102869"/>
                  </a:lnTo>
                  <a:lnTo>
                    <a:pt x="800" y="140969"/>
                  </a:lnTo>
                  <a:lnTo>
                    <a:pt x="0" y="157479"/>
                  </a:lnTo>
                  <a:lnTo>
                    <a:pt x="215" y="165100"/>
                  </a:lnTo>
                  <a:lnTo>
                    <a:pt x="738" y="172719"/>
                  </a:lnTo>
                  <a:lnTo>
                    <a:pt x="825" y="173989"/>
                  </a:lnTo>
                  <a:lnTo>
                    <a:pt x="9575" y="210819"/>
                  </a:lnTo>
                  <a:lnTo>
                    <a:pt x="12395" y="218439"/>
                  </a:lnTo>
                  <a:lnTo>
                    <a:pt x="15557" y="224789"/>
                  </a:lnTo>
                  <a:lnTo>
                    <a:pt x="19024" y="232410"/>
                  </a:lnTo>
                  <a:lnTo>
                    <a:pt x="22694" y="238760"/>
                  </a:lnTo>
                  <a:lnTo>
                    <a:pt x="26829" y="245176"/>
                  </a:lnTo>
                  <a:lnTo>
                    <a:pt x="31217" y="251529"/>
                  </a:lnTo>
                  <a:lnTo>
                    <a:pt x="35873" y="256616"/>
                  </a:lnTo>
                  <a:lnTo>
                    <a:pt x="40754" y="262889"/>
                  </a:lnTo>
                  <a:lnTo>
                    <a:pt x="69380" y="287019"/>
                  </a:lnTo>
                  <a:lnTo>
                    <a:pt x="75564" y="292100"/>
                  </a:lnTo>
                  <a:lnTo>
                    <a:pt x="75768" y="292100"/>
                  </a:lnTo>
                  <a:lnTo>
                    <a:pt x="82346" y="295910"/>
                  </a:lnTo>
                  <a:lnTo>
                    <a:pt x="89290" y="298538"/>
                  </a:lnTo>
                  <a:lnTo>
                    <a:pt x="96314" y="302340"/>
                  </a:lnTo>
                  <a:lnTo>
                    <a:pt x="117779" y="309879"/>
                  </a:lnTo>
                  <a:lnTo>
                    <a:pt x="118008" y="309879"/>
                  </a:lnTo>
                  <a:lnTo>
                    <a:pt x="141224" y="313689"/>
                  </a:lnTo>
                  <a:lnTo>
                    <a:pt x="173342" y="313689"/>
                  </a:lnTo>
                  <a:lnTo>
                    <a:pt x="196545" y="309879"/>
                  </a:lnTo>
                  <a:lnTo>
                    <a:pt x="211315" y="304800"/>
                  </a:lnTo>
                  <a:lnTo>
                    <a:pt x="149682" y="304800"/>
                  </a:lnTo>
                  <a:lnTo>
                    <a:pt x="141947" y="303529"/>
                  </a:lnTo>
                  <a:lnTo>
                    <a:pt x="134785" y="303529"/>
                  </a:lnTo>
                  <a:lnTo>
                    <a:pt x="127753" y="302340"/>
                  </a:lnTo>
                  <a:lnTo>
                    <a:pt x="120346" y="299790"/>
                  </a:lnTo>
                  <a:lnTo>
                    <a:pt x="120805" y="299790"/>
                  </a:lnTo>
                  <a:lnTo>
                    <a:pt x="113648" y="298538"/>
                  </a:lnTo>
                  <a:lnTo>
                    <a:pt x="106286" y="295910"/>
                  </a:lnTo>
                  <a:lnTo>
                    <a:pt x="106514" y="295910"/>
                  </a:lnTo>
                  <a:lnTo>
                    <a:pt x="99593" y="293369"/>
                  </a:lnTo>
                  <a:lnTo>
                    <a:pt x="99809" y="293369"/>
                  </a:lnTo>
                  <a:lnTo>
                    <a:pt x="93230" y="290896"/>
                  </a:lnTo>
                  <a:lnTo>
                    <a:pt x="93104" y="290741"/>
                  </a:lnTo>
                  <a:lnTo>
                    <a:pt x="86690" y="287019"/>
                  </a:lnTo>
                  <a:lnTo>
                    <a:pt x="86893" y="287019"/>
                  </a:lnTo>
                  <a:lnTo>
                    <a:pt x="80505" y="283210"/>
                  </a:lnTo>
                  <a:lnTo>
                    <a:pt x="80708" y="283210"/>
                  </a:lnTo>
                  <a:lnTo>
                    <a:pt x="77282" y="281099"/>
                  </a:lnTo>
                  <a:lnTo>
                    <a:pt x="68871" y="275670"/>
                  </a:lnTo>
                  <a:lnTo>
                    <a:pt x="68822" y="275501"/>
                  </a:lnTo>
                  <a:lnTo>
                    <a:pt x="64608" y="271779"/>
                  </a:lnTo>
                  <a:lnTo>
                    <a:pt x="63334" y="271779"/>
                  </a:lnTo>
                  <a:lnTo>
                    <a:pt x="57810" y="266700"/>
                  </a:lnTo>
                  <a:lnTo>
                    <a:pt x="57975" y="266700"/>
                  </a:lnTo>
                  <a:lnTo>
                    <a:pt x="52679" y="261619"/>
                  </a:lnTo>
                  <a:lnTo>
                    <a:pt x="52844" y="261619"/>
                  </a:lnTo>
                  <a:lnTo>
                    <a:pt x="49691" y="258442"/>
                  </a:lnTo>
                  <a:lnTo>
                    <a:pt x="49100" y="257810"/>
                  </a:lnTo>
                  <a:lnTo>
                    <a:pt x="47878" y="256616"/>
                  </a:lnTo>
                  <a:lnTo>
                    <a:pt x="43738" y="252066"/>
                  </a:lnTo>
                  <a:lnTo>
                    <a:pt x="37993" y="243996"/>
                  </a:lnTo>
                  <a:lnTo>
                    <a:pt x="34671" y="240029"/>
                  </a:lnTo>
                  <a:lnTo>
                    <a:pt x="14147" y="194310"/>
                  </a:lnTo>
                  <a:lnTo>
                    <a:pt x="11417" y="180339"/>
                  </a:lnTo>
                  <a:lnTo>
                    <a:pt x="11239" y="180339"/>
                  </a:lnTo>
                  <a:lnTo>
                    <a:pt x="10274" y="172719"/>
                  </a:lnTo>
                  <a:lnTo>
                    <a:pt x="9715" y="165100"/>
                  </a:lnTo>
                  <a:lnTo>
                    <a:pt x="9525" y="157479"/>
                  </a:lnTo>
                  <a:lnTo>
                    <a:pt x="9728" y="149860"/>
                  </a:lnTo>
                  <a:lnTo>
                    <a:pt x="18516" y="106679"/>
                  </a:lnTo>
                  <a:lnTo>
                    <a:pt x="21170" y="99060"/>
                  </a:lnTo>
                  <a:lnTo>
                    <a:pt x="21589" y="99060"/>
                  </a:lnTo>
                  <a:lnTo>
                    <a:pt x="24129" y="92710"/>
                  </a:lnTo>
                  <a:lnTo>
                    <a:pt x="27393" y="86360"/>
                  </a:lnTo>
                  <a:lnTo>
                    <a:pt x="30949" y="80010"/>
                  </a:lnTo>
                  <a:lnTo>
                    <a:pt x="31628" y="80010"/>
                  </a:lnTo>
                  <a:lnTo>
                    <a:pt x="34798" y="74929"/>
                  </a:lnTo>
                  <a:lnTo>
                    <a:pt x="38883" y="68644"/>
                  </a:lnTo>
                  <a:lnTo>
                    <a:pt x="38728" y="68644"/>
                  </a:lnTo>
                  <a:lnTo>
                    <a:pt x="43307" y="63500"/>
                  </a:lnTo>
                  <a:lnTo>
                    <a:pt x="43167" y="63500"/>
                  </a:lnTo>
                  <a:lnTo>
                    <a:pt x="46987" y="59446"/>
                  </a:lnTo>
                  <a:lnTo>
                    <a:pt x="52844" y="52069"/>
                  </a:lnTo>
                  <a:lnTo>
                    <a:pt x="54003" y="52069"/>
                  </a:lnTo>
                  <a:lnTo>
                    <a:pt x="57975" y="48260"/>
                  </a:lnTo>
                  <a:lnTo>
                    <a:pt x="57810" y="48260"/>
                  </a:lnTo>
                  <a:lnTo>
                    <a:pt x="63245" y="43262"/>
                  </a:lnTo>
                  <a:lnTo>
                    <a:pt x="63284" y="43103"/>
                  </a:lnTo>
                  <a:lnTo>
                    <a:pt x="67975" y="39996"/>
                  </a:lnTo>
                  <a:lnTo>
                    <a:pt x="68648" y="39451"/>
                  </a:lnTo>
                  <a:lnTo>
                    <a:pt x="74604" y="34384"/>
                  </a:lnTo>
                  <a:lnTo>
                    <a:pt x="74661" y="34204"/>
                  </a:lnTo>
                  <a:lnTo>
                    <a:pt x="80708" y="30479"/>
                  </a:lnTo>
                  <a:lnTo>
                    <a:pt x="80505" y="30479"/>
                  </a:lnTo>
                  <a:lnTo>
                    <a:pt x="86893" y="26669"/>
                  </a:lnTo>
                  <a:lnTo>
                    <a:pt x="88878" y="26669"/>
                  </a:lnTo>
                  <a:lnTo>
                    <a:pt x="93104" y="24218"/>
                  </a:lnTo>
                  <a:lnTo>
                    <a:pt x="93230" y="24063"/>
                  </a:lnTo>
                  <a:lnTo>
                    <a:pt x="99809" y="21589"/>
                  </a:lnTo>
                  <a:lnTo>
                    <a:pt x="99593" y="21589"/>
                  </a:lnTo>
                  <a:lnTo>
                    <a:pt x="106514" y="19050"/>
                  </a:lnTo>
                  <a:lnTo>
                    <a:pt x="106286" y="19050"/>
                  </a:lnTo>
                  <a:lnTo>
                    <a:pt x="113372" y="16510"/>
                  </a:lnTo>
                  <a:lnTo>
                    <a:pt x="113144" y="16510"/>
                  </a:lnTo>
                  <a:lnTo>
                    <a:pt x="120167" y="14041"/>
                  </a:lnTo>
                  <a:lnTo>
                    <a:pt x="119726" y="14041"/>
                  </a:lnTo>
                  <a:lnTo>
                    <a:pt x="127520" y="12700"/>
                  </a:lnTo>
                  <a:lnTo>
                    <a:pt x="127279" y="12700"/>
                  </a:lnTo>
                  <a:lnTo>
                    <a:pt x="134785" y="11429"/>
                  </a:lnTo>
                  <a:lnTo>
                    <a:pt x="134556" y="11429"/>
                  </a:lnTo>
                  <a:lnTo>
                    <a:pt x="142176" y="10160"/>
                  </a:lnTo>
                  <a:lnTo>
                    <a:pt x="164884" y="10160"/>
                  </a:lnTo>
                  <a:lnTo>
                    <a:pt x="157048" y="8889"/>
                  </a:lnTo>
                  <a:lnTo>
                    <a:pt x="211086" y="8889"/>
                  </a:lnTo>
                  <a:lnTo>
                    <a:pt x="203784" y="7619"/>
                  </a:lnTo>
                  <a:lnTo>
                    <a:pt x="188709" y="2539"/>
                  </a:lnTo>
                  <a:lnTo>
                    <a:pt x="180975" y="1269"/>
                  </a:lnTo>
                  <a:close/>
                </a:path>
                <a:path w="314325" h="313689">
                  <a:moveTo>
                    <a:pt x="251155" y="270510"/>
                  </a:moveTo>
                  <a:lnTo>
                    <a:pt x="245502" y="275501"/>
                  </a:lnTo>
                  <a:lnTo>
                    <a:pt x="245453" y="275670"/>
                  </a:lnTo>
                  <a:lnTo>
                    <a:pt x="239477" y="279485"/>
                  </a:lnTo>
                  <a:lnTo>
                    <a:pt x="239663" y="279485"/>
                  </a:lnTo>
                  <a:lnTo>
                    <a:pt x="233616" y="283210"/>
                  </a:lnTo>
                  <a:lnTo>
                    <a:pt x="233819" y="283210"/>
                  </a:lnTo>
                  <a:lnTo>
                    <a:pt x="227431" y="287019"/>
                  </a:lnTo>
                  <a:lnTo>
                    <a:pt x="227634" y="287019"/>
                  </a:lnTo>
                  <a:lnTo>
                    <a:pt x="221220" y="290741"/>
                  </a:lnTo>
                  <a:lnTo>
                    <a:pt x="221094" y="290896"/>
                  </a:lnTo>
                  <a:lnTo>
                    <a:pt x="214515" y="293369"/>
                  </a:lnTo>
                  <a:lnTo>
                    <a:pt x="214731" y="293369"/>
                  </a:lnTo>
                  <a:lnTo>
                    <a:pt x="207810" y="295910"/>
                  </a:lnTo>
                  <a:lnTo>
                    <a:pt x="208038" y="295910"/>
                  </a:lnTo>
                  <a:lnTo>
                    <a:pt x="200705" y="298538"/>
                  </a:lnTo>
                  <a:lnTo>
                    <a:pt x="193550" y="299790"/>
                  </a:lnTo>
                  <a:lnTo>
                    <a:pt x="193975" y="299790"/>
                  </a:lnTo>
                  <a:lnTo>
                    <a:pt x="186559" y="302340"/>
                  </a:lnTo>
                  <a:lnTo>
                    <a:pt x="179539" y="303529"/>
                  </a:lnTo>
                  <a:lnTo>
                    <a:pt x="172377" y="303529"/>
                  </a:lnTo>
                  <a:lnTo>
                    <a:pt x="164642" y="304800"/>
                  </a:lnTo>
                  <a:lnTo>
                    <a:pt x="211315" y="304800"/>
                  </a:lnTo>
                  <a:lnTo>
                    <a:pt x="218214" y="302340"/>
                  </a:lnTo>
                  <a:lnTo>
                    <a:pt x="225237" y="298538"/>
                  </a:lnTo>
                  <a:lnTo>
                    <a:pt x="232181" y="295910"/>
                  </a:lnTo>
                  <a:lnTo>
                    <a:pt x="238760" y="292100"/>
                  </a:lnTo>
                  <a:lnTo>
                    <a:pt x="245135" y="287019"/>
                  </a:lnTo>
                  <a:lnTo>
                    <a:pt x="251104" y="283210"/>
                  </a:lnTo>
                  <a:lnTo>
                    <a:pt x="257048" y="278129"/>
                  </a:lnTo>
                  <a:lnTo>
                    <a:pt x="264156" y="271779"/>
                  </a:lnTo>
                  <a:lnTo>
                    <a:pt x="250990" y="271779"/>
                  </a:lnTo>
                  <a:lnTo>
                    <a:pt x="251155" y="270510"/>
                  </a:lnTo>
                  <a:close/>
                </a:path>
                <a:path w="314325" h="313689">
                  <a:moveTo>
                    <a:pt x="93104" y="290741"/>
                  </a:moveTo>
                  <a:lnTo>
                    <a:pt x="93230" y="290896"/>
                  </a:lnTo>
                  <a:lnTo>
                    <a:pt x="93629" y="291046"/>
                  </a:lnTo>
                  <a:lnTo>
                    <a:pt x="93104" y="290741"/>
                  </a:lnTo>
                  <a:close/>
                </a:path>
                <a:path w="314325" h="313689">
                  <a:moveTo>
                    <a:pt x="221220" y="290741"/>
                  </a:moveTo>
                  <a:lnTo>
                    <a:pt x="220695" y="291046"/>
                  </a:lnTo>
                  <a:lnTo>
                    <a:pt x="221094" y="290896"/>
                  </a:lnTo>
                  <a:lnTo>
                    <a:pt x="221220" y="290741"/>
                  </a:lnTo>
                  <a:close/>
                </a:path>
                <a:path w="314325" h="313689">
                  <a:moveTo>
                    <a:pt x="68822" y="275501"/>
                  </a:moveTo>
                  <a:lnTo>
                    <a:pt x="68871" y="275670"/>
                  </a:lnTo>
                  <a:lnTo>
                    <a:pt x="69386" y="275999"/>
                  </a:lnTo>
                  <a:lnTo>
                    <a:pt x="68822" y="275501"/>
                  </a:lnTo>
                  <a:close/>
                </a:path>
                <a:path w="314325" h="313689">
                  <a:moveTo>
                    <a:pt x="245502" y="275501"/>
                  </a:moveTo>
                  <a:lnTo>
                    <a:pt x="244938" y="275999"/>
                  </a:lnTo>
                  <a:lnTo>
                    <a:pt x="245453" y="275670"/>
                  </a:lnTo>
                  <a:lnTo>
                    <a:pt x="245502" y="275501"/>
                  </a:lnTo>
                  <a:close/>
                </a:path>
                <a:path w="314325" h="313689">
                  <a:moveTo>
                    <a:pt x="63169" y="270510"/>
                  </a:moveTo>
                  <a:lnTo>
                    <a:pt x="63334" y="271779"/>
                  </a:lnTo>
                  <a:lnTo>
                    <a:pt x="64608" y="271779"/>
                  </a:lnTo>
                  <a:lnTo>
                    <a:pt x="63169" y="270510"/>
                  </a:lnTo>
                  <a:close/>
                </a:path>
                <a:path w="314325" h="313689">
                  <a:moveTo>
                    <a:pt x="303057" y="99060"/>
                  </a:moveTo>
                  <a:lnTo>
                    <a:pt x="293154" y="99060"/>
                  </a:lnTo>
                  <a:lnTo>
                    <a:pt x="295884" y="106679"/>
                  </a:lnTo>
                  <a:lnTo>
                    <a:pt x="298196" y="113029"/>
                  </a:lnTo>
                  <a:lnTo>
                    <a:pt x="301828" y="127000"/>
                  </a:lnTo>
                  <a:lnTo>
                    <a:pt x="303123" y="134619"/>
                  </a:lnTo>
                  <a:lnTo>
                    <a:pt x="304050" y="142239"/>
                  </a:lnTo>
                  <a:lnTo>
                    <a:pt x="304516" y="148589"/>
                  </a:lnTo>
                  <a:lnTo>
                    <a:pt x="304609" y="149860"/>
                  </a:lnTo>
                  <a:lnTo>
                    <a:pt x="304800" y="157479"/>
                  </a:lnTo>
                  <a:lnTo>
                    <a:pt x="304596" y="165100"/>
                  </a:lnTo>
                  <a:lnTo>
                    <a:pt x="304025" y="172719"/>
                  </a:lnTo>
                  <a:lnTo>
                    <a:pt x="303085" y="180339"/>
                  </a:lnTo>
                  <a:lnTo>
                    <a:pt x="302899" y="180339"/>
                  </a:lnTo>
                  <a:lnTo>
                    <a:pt x="301777" y="186689"/>
                  </a:lnTo>
                  <a:lnTo>
                    <a:pt x="300126" y="194310"/>
                  </a:lnTo>
                  <a:lnTo>
                    <a:pt x="298132" y="200660"/>
                  </a:lnTo>
                  <a:lnTo>
                    <a:pt x="295808" y="208279"/>
                  </a:lnTo>
                  <a:lnTo>
                    <a:pt x="276528" y="243719"/>
                  </a:lnTo>
                  <a:lnTo>
                    <a:pt x="275473" y="245176"/>
                  </a:lnTo>
                  <a:lnTo>
                    <a:pt x="270586" y="252066"/>
                  </a:lnTo>
                  <a:lnTo>
                    <a:pt x="266297" y="256616"/>
                  </a:lnTo>
                  <a:lnTo>
                    <a:pt x="266446" y="256616"/>
                  </a:lnTo>
                  <a:lnTo>
                    <a:pt x="261480" y="261619"/>
                  </a:lnTo>
                  <a:lnTo>
                    <a:pt x="261645" y="261619"/>
                  </a:lnTo>
                  <a:lnTo>
                    <a:pt x="256349" y="266700"/>
                  </a:lnTo>
                  <a:lnTo>
                    <a:pt x="256514" y="266700"/>
                  </a:lnTo>
                  <a:lnTo>
                    <a:pt x="250990" y="271779"/>
                  </a:lnTo>
                  <a:lnTo>
                    <a:pt x="264156" y="271779"/>
                  </a:lnTo>
                  <a:lnTo>
                    <a:pt x="291630" y="238760"/>
                  </a:lnTo>
                  <a:lnTo>
                    <a:pt x="298869" y="224789"/>
                  </a:lnTo>
                  <a:lnTo>
                    <a:pt x="302018" y="218439"/>
                  </a:lnTo>
                  <a:lnTo>
                    <a:pt x="304825" y="210819"/>
                  </a:lnTo>
                  <a:lnTo>
                    <a:pt x="307225" y="204469"/>
                  </a:lnTo>
                  <a:lnTo>
                    <a:pt x="307289" y="203200"/>
                  </a:lnTo>
                  <a:lnTo>
                    <a:pt x="309410" y="196850"/>
                  </a:lnTo>
                  <a:lnTo>
                    <a:pt x="311111" y="189229"/>
                  </a:lnTo>
                  <a:lnTo>
                    <a:pt x="312534" y="180339"/>
                  </a:lnTo>
                  <a:lnTo>
                    <a:pt x="303085" y="180339"/>
                  </a:lnTo>
                  <a:lnTo>
                    <a:pt x="303240" y="179085"/>
                  </a:lnTo>
                  <a:lnTo>
                    <a:pt x="312697" y="179085"/>
                  </a:lnTo>
                  <a:lnTo>
                    <a:pt x="313524" y="172719"/>
                  </a:lnTo>
                  <a:lnTo>
                    <a:pt x="314121" y="165100"/>
                  </a:lnTo>
                  <a:lnTo>
                    <a:pt x="314325" y="157479"/>
                  </a:lnTo>
                  <a:lnTo>
                    <a:pt x="314139" y="149860"/>
                  </a:lnTo>
                  <a:lnTo>
                    <a:pt x="314109" y="148589"/>
                  </a:lnTo>
                  <a:lnTo>
                    <a:pt x="313601" y="142239"/>
                  </a:lnTo>
                  <a:lnTo>
                    <a:pt x="313499" y="140969"/>
                  </a:lnTo>
                  <a:lnTo>
                    <a:pt x="304749" y="102869"/>
                  </a:lnTo>
                  <a:lnTo>
                    <a:pt x="303057" y="99060"/>
                  </a:lnTo>
                  <a:close/>
                </a:path>
                <a:path w="314325" h="313689">
                  <a:moveTo>
                    <a:pt x="37993" y="243996"/>
                  </a:moveTo>
                  <a:lnTo>
                    <a:pt x="38832" y="245176"/>
                  </a:lnTo>
                  <a:lnTo>
                    <a:pt x="38980" y="245176"/>
                  </a:lnTo>
                  <a:lnTo>
                    <a:pt x="37993" y="243996"/>
                  </a:lnTo>
                  <a:close/>
                </a:path>
                <a:path w="314325" h="313689">
                  <a:moveTo>
                    <a:pt x="276309" y="243996"/>
                  </a:moveTo>
                  <a:lnTo>
                    <a:pt x="275345" y="245176"/>
                  </a:lnTo>
                  <a:lnTo>
                    <a:pt x="275473" y="245176"/>
                  </a:lnTo>
                  <a:lnTo>
                    <a:pt x="276309" y="243996"/>
                  </a:lnTo>
                  <a:close/>
                </a:path>
                <a:path w="314325" h="313689">
                  <a:moveTo>
                    <a:pt x="11204" y="179085"/>
                  </a:moveTo>
                  <a:lnTo>
                    <a:pt x="11239" y="180339"/>
                  </a:lnTo>
                  <a:lnTo>
                    <a:pt x="11417" y="180339"/>
                  </a:lnTo>
                  <a:lnTo>
                    <a:pt x="11204" y="179085"/>
                  </a:lnTo>
                  <a:close/>
                </a:path>
                <a:path w="314325" h="313689">
                  <a:moveTo>
                    <a:pt x="21589" y="99060"/>
                  </a:moveTo>
                  <a:lnTo>
                    <a:pt x="21170" y="99060"/>
                  </a:lnTo>
                  <a:lnTo>
                    <a:pt x="21082" y="100329"/>
                  </a:lnTo>
                  <a:lnTo>
                    <a:pt x="21589" y="99060"/>
                  </a:lnTo>
                  <a:close/>
                </a:path>
                <a:path w="314325" h="313689">
                  <a:moveTo>
                    <a:pt x="293832" y="80010"/>
                  </a:moveTo>
                  <a:lnTo>
                    <a:pt x="283375" y="80010"/>
                  </a:lnTo>
                  <a:lnTo>
                    <a:pt x="287045" y="86360"/>
                  </a:lnTo>
                  <a:lnTo>
                    <a:pt x="290296" y="92710"/>
                  </a:lnTo>
                  <a:lnTo>
                    <a:pt x="293242" y="100329"/>
                  </a:lnTo>
                  <a:lnTo>
                    <a:pt x="293154" y="99060"/>
                  </a:lnTo>
                  <a:lnTo>
                    <a:pt x="303057" y="99060"/>
                  </a:lnTo>
                  <a:lnTo>
                    <a:pt x="301929" y="96519"/>
                  </a:lnTo>
                  <a:lnTo>
                    <a:pt x="298767" y="88900"/>
                  </a:lnTo>
                  <a:lnTo>
                    <a:pt x="295300" y="82550"/>
                  </a:lnTo>
                  <a:lnTo>
                    <a:pt x="293832" y="80010"/>
                  </a:lnTo>
                  <a:close/>
                </a:path>
                <a:path w="314325" h="313689">
                  <a:moveTo>
                    <a:pt x="31628" y="80010"/>
                  </a:moveTo>
                  <a:lnTo>
                    <a:pt x="30949" y="80010"/>
                  </a:lnTo>
                  <a:lnTo>
                    <a:pt x="30835" y="81279"/>
                  </a:lnTo>
                  <a:lnTo>
                    <a:pt x="31628" y="80010"/>
                  </a:lnTo>
                  <a:close/>
                </a:path>
                <a:path w="314325" h="313689">
                  <a:moveTo>
                    <a:pt x="273570" y="52069"/>
                  </a:moveTo>
                  <a:lnTo>
                    <a:pt x="261480" y="52069"/>
                  </a:lnTo>
                  <a:lnTo>
                    <a:pt x="267337" y="59446"/>
                  </a:lnTo>
                  <a:lnTo>
                    <a:pt x="269560" y="61804"/>
                  </a:lnTo>
                  <a:lnTo>
                    <a:pt x="275596" y="68644"/>
                  </a:lnTo>
                  <a:lnTo>
                    <a:pt x="275442" y="68644"/>
                  </a:lnTo>
                  <a:lnTo>
                    <a:pt x="279653" y="74929"/>
                  </a:lnTo>
                  <a:lnTo>
                    <a:pt x="283489" y="81279"/>
                  </a:lnTo>
                  <a:lnTo>
                    <a:pt x="283375" y="80010"/>
                  </a:lnTo>
                  <a:lnTo>
                    <a:pt x="293832" y="80010"/>
                  </a:lnTo>
                  <a:lnTo>
                    <a:pt x="291630" y="76200"/>
                  </a:lnTo>
                  <a:lnTo>
                    <a:pt x="287540" y="69850"/>
                  </a:lnTo>
                  <a:lnTo>
                    <a:pt x="286711" y="68644"/>
                  </a:lnTo>
                  <a:lnTo>
                    <a:pt x="275596" y="68644"/>
                  </a:lnTo>
                  <a:lnTo>
                    <a:pt x="275021" y="67997"/>
                  </a:lnTo>
                  <a:lnTo>
                    <a:pt x="286266" y="67997"/>
                  </a:lnTo>
                  <a:lnTo>
                    <a:pt x="283171" y="63500"/>
                  </a:lnTo>
                  <a:lnTo>
                    <a:pt x="278511" y="57150"/>
                  </a:lnTo>
                  <a:lnTo>
                    <a:pt x="273570" y="52069"/>
                  </a:lnTo>
                  <a:close/>
                </a:path>
                <a:path w="314325" h="313689">
                  <a:moveTo>
                    <a:pt x="39303" y="67997"/>
                  </a:moveTo>
                  <a:lnTo>
                    <a:pt x="38728" y="68644"/>
                  </a:lnTo>
                  <a:lnTo>
                    <a:pt x="38883" y="68644"/>
                  </a:lnTo>
                  <a:lnTo>
                    <a:pt x="39303" y="67997"/>
                  </a:lnTo>
                  <a:close/>
                </a:path>
                <a:path w="314325" h="313689">
                  <a:moveTo>
                    <a:pt x="47861" y="58345"/>
                  </a:moveTo>
                  <a:lnTo>
                    <a:pt x="46987" y="59446"/>
                  </a:lnTo>
                  <a:lnTo>
                    <a:pt x="47883" y="58496"/>
                  </a:lnTo>
                  <a:lnTo>
                    <a:pt x="47861" y="58345"/>
                  </a:lnTo>
                  <a:close/>
                </a:path>
                <a:path w="314325" h="313689">
                  <a:moveTo>
                    <a:pt x="266463" y="58345"/>
                  </a:moveTo>
                  <a:lnTo>
                    <a:pt x="266441" y="58496"/>
                  </a:lnTo>
                  <a:lnTo>
                    <a:pt x="267337" y="59446"/>
                  </a:lnTo>
                  <a:lnTo>
                    <a:pt x="266582" y="58496"/>
                  </a:lnTo>
                  <a:lnTo>
                    <a:pt x="266463" y="58345"/>
                  </a:lnTo>
                  <a:close/>
                </a:path>
                <a:path w="314325" h="313689">
                  <a:moveTo>
                    <a:pt x="54003" y="52069"/>
                  </a:moveTo>
                  <a:lnTo>
                    <a:pt x="52844" y="52069"/>
                  </a:lnTo>
                  <a:lnTo>
                    <a:pt x="52679" y="53339"/>
                  </a:lnTo>
                  <a:lnTo>
                    <a:pt x="54003" y="52069"/>
                  </a:lnTo>
                  <a:close/>
                </a:path>
                <a:path w="314325" h="313689">
                  <a:moveTo>
                    <a:pt x="230802" y="28680"/>
                  </a:moveTo>
                  <a:lnTo>
                    <a:pt x="239663" y="34204"/>
                  </a:lnTo>
                  <a:lnTo>
                    <a:pt x="239732" y="34384"/>
                  </a:lnTo>
                  <a:lnTo>
                    <a:pt x="246316" y="39996"/>
                  </a:lnTo>
                  <a:lnTo>
                    <a:pt x="251040" y="43103"/>
                  </a:lnTo>
                  <a:lnTo>
                    <a:pt x="251079" y="43262"/>
                  </a:lnTo>
                  <a:lnTo>
                    <a:pt x="256514" y="48260"/>
                  </a:lnTo>
                  <a:lnTo>
                    <a:pt x="256349" y="48260"/>
                  </a:lnTo>
                  <a:lnTo>
                    <a:pt x="261645" y="53339"/>
                  </a:lnTo>
                  <a:lnTo>
                    <a:pt x="261480" y="52069"/>
                  </a:lnTo>
                  <a:lnTo>
                    <a:pt x="273570" y="52069"/>
                  </a:lnTo>
                  <a:lnTo>
                    <a:pt x="268376" y="45719"/>
                  </a:lnTo>
                  <a:lnTo>
                    <a:pt x="262915" y="40639"/>
                  </a:lnTo>
                  <a:lnTo>
                    <a:pt x="257225" y="35560"/>
                  </a:lnTo>
                  <a:lnTo>
                    <a:pt x="251282" y="31750"/>
                  </a:lnTo>
                  <a:lnTo>
                    <a:pt x="249697" y="30479"/>
                  </a:lnTo>
                  <a:lnTo>
                    <a:pt x="233819" y="30479"/>
                  </a:lnTo>
                  <a:lnTo>
                    <a:pt x="230802" y="28680"/>
                  </a:lnTo>
                  <a:close/>
                </a:path>
                <a:path w="314325" h="313689">
                  <a:moveTo>
                    <a:pt x="63759" y="42789"/>
                  </a:moveTo>
                  <a:lnTo>
                    <a:pt x="63284" y="43103"/>
                  </a:lnTo>
                  <a:lnTo>
                    <a:pt x="63245" y="43262"/>
                  </a:lnTo>
                  <a:lnTo>
                    <a:pt x="63759" y="42789"/>
                  </a:lnTo>
                  <a:close/>
                </a:path>
                <a:path w="314325" h="313689">
                  <a:moveTo>
                    <a:pt x="250565" y="42789"/>
                  </a:moveTo>
                  <a:lnTo>
                    <a:pt x="251079" y="43262"/>
                  </a:lnTo>
                  <a:lnTo>
                    <a:pt x="251040" y="43103"/>
                  </a:lnTo>
                  <a:lnTo>
                    <a:pt x="250565" y="42789"/>
                  </a:lnTo>
                  <a:close/>
                </a:path>
                <a:path w="314325" h="313689">
                  <a:moveTo>
                    <a:pt x="68848" y="39282"/>
                  </a:moveTo>
                  <a:lnTo>
                    <a:pt x="68023" y="39996"/>
                  </a:lnTo>
                  <a:lnTo>
                    <a:pt x="68799" y="39451"/>
                  </a:lnTo>
                  <a:lnTo>
                    <a:pt x="68848" y="39282"/>
                  </a:lnTo>
                  <a:close/>
                </a:path>
                <a:path w="314325" h="313689">
                  <a:moveTo>
                    <a:pt x="245476" y="39282"/>
                  </a:moveTo>
                  <a:lnTo>
                    <a:pt x="245525" y="39451"/>
                  </a:lnTo>
                  <a:lnTo>
                    <a:pt x="246348" y="39996"/>
                  </a:lnTo>
                  <a:lnTo>
                    <a:pt x="245476" y="39282"/>
                  </a:lnTo>
                  <a:close/>
                </a:path>
                <a:path w="314325" h="313689">
                  <a:moveTo>
                    <a:pt x="75182" y="33891"/>
                  </a:moveTo>
                  <a:lnTo>
                    <a:pt x="74661" y="34204"/>
                  </a:lnTo>
                  <a:lnTo>
                    <a:pt x="74603" y="34384"/>
                  </a:lnTo>
                  <a:lnTo>
                    <a:pt x="75182" y="33891"/>
                  </a:lnTo>
                  <a:close/>
                </a:path>
                <a:path w="314325" h="313689">
                  <a:moveTo>
                    <a:pt x="239153" y="33891"/>
                  </a:moveTo>
                  <a:lnTo>
                    <a:pt x="239732" y="34384"/>
                  </a:lnTo>
                  <a:lnTo>
                    <a:pt x="239663" y="34204"/>
                  </a:lnTo>
                  <a:lnTo>
                    <a:pt x="239153" y="33891"/>
                  </a:lnTo>
                  <a:close/>
                </a:path>
                <a:path w="314325" h="313689">
                  <a:moveTo>
                    <a:pt x="244944" y="26669"/>
                  </a:moveTo>
                  <a:lnTo>
                    <a:pt x="227431" y="26669"/>
                  </a:lnTo>
                  <a:lnTo>
                    <a:pt x="233819" y="30479"/>
                  </a:lnTo>
                  <a:lnTo>
                    <a:pt x="249697" y="30479"/>
                  </a:lnTo>
                  <a:lnTo>
                    <a:pt x="244944" y="26669"/>
                  </a:lnTo>
                  <a:close/>
                </a:path>
                <a:path w="314325" h="313689">
                  <a:moveTo>
                    <a:pt x="88878" y="26669"/>
                  </a:moveTo>
                  <a:lnTo>
                    <a:pt x="86893" y="26669"/>
                  </a:lnTo>
                  <a:lnTo>
                    <a:pt x="86690" y="27939"/>
                  </a:lnTo>
                  <a:lnTo>
                    <a:pt x="88878" y="26669"/>
                  </a:lnTo>
                  <a:close/>
                </a:path>
                <a:path w="314325" h="313689">
                  <a:moveTo>
                    <a:pt x="211086" y="8889"/>
                  </a:moveTo>
                  <a:lnTo>
                    <a:pt x="157276" y="8889"/>
                  </a:lnTo>
                  <a:lnTo>
                    <a:pt x="149440" y="10160"/>
                  </a:lnTo>
                  <a:lnTo>
                    <a:pt x="172148" y="10160"/>
                  </a:lnTo>
                  <a:lnTo>
                    <a:pt x="179768" y="11429"/>
                  </a:lnTo>
                  <a:lnTo>
                    <a:pt x="179539" y="11429"/>
                  </a:lnTo>
                  <a:lnTo>
                    <a:pt x="187032" y="12700"/>
                  </a:lnTo>
                  <a:lnTo>
                    <a:pt x="186804" y="12700"/>
                  </a:lnTo>
                  <a:lnTo>
                    <a:pt x="194598" y="14041"/>
                  </a:lnTo>
                  <a:lnTo>
                    <a:pt x="194157" y="14041"/>
                  </a:lnTo>
                  <a:lnTo>
                    <a:pt x="201180" y="16510"/>
                  </a:lnTo>
                  <a:lnTo>
                    <a:pt x="200952" y="16510"/>
                  </a:lnTo>
                  <a:lnTo>
                    <a:pt x="208038" y="19050"/>
                  </a:lnTo>
                  <a:lnTo>
                    <a:pt x="207810" y="19050"/>
                  </a:lnTo>
                  <a:lnTo>
                    <a:pt x="214731" y="21589"/>
                  </a:lnTo>
                  <a:lnTo>
                    <a:pt x="214515" y="21589"/>
                  </a:lnTo>
                  <a:lnTo>
                    <a:pt x="221094" y="24063"/>
                  </a:lnTo>
                  <a:lnTo>
                    <a:pt x="221220" y="24218"/>
                  </a:lnTo>
                  <a:lnTo>
                    <a:pt x="227634" y="27939"/>
                  </a:lnTo>
                  <a:lnTo>
                    <a:pt x="227431" y="26669"/>
                  </a:lnTo>
                  <a:lnTo>
                    <a:pt x="244944" y="26669"/>
                  </a:lnTo>
                  <a:lnTo>
                    <a:pt x="238760" y="22860"/>
                  </a:lnTo>
                  <a:lnTo>
                    <a:pt x="238556" y="22860"/>
                  </a:lnTo>
                  <a:lnTo>
                    <a:pt x="231978" y="19050"/>
                  </a:lnTo>
                  <a:lnTo>
                    <a:pt x="225196" y="15239"/>
                  </a:lnTo>
                  <a:lnTo>
                    <a:pt x="218236" y="12700"/>
                  </a:lnTo>
                  <a:lnTo>
                    <a:pt x="211086" y="8889"/>
                  </a:lnTo>
                  <a:close/>
                </a:path>
                <a:path w="314325" h="313689">
                  <a:moveTo>
                    <a:pt x="93629" y="23913"/>
                  </a:moveTo>
                  <a:lnTo>
                    <a:pt x="93230" y="24063"/>
                  </a:lnTo>
                  <a:lnTo>
                    <a:pt x="93104" y="24218"/>
                  </a:lnTo>
                  <a:lnTo>
                    <a:pt x="93629" y="23913"/>
                  </a:lnTo>
                  <a:close/>
                </a:path>
                <a:path w="314325" h="313689">
                  <a:moveTo>
                    <a:pt x="220695" y="23913"/>
                  </a:moveTo>
                  <a:lnTo>
                    <a:pt x="221220" y="24218"/>
                  </a:lnTo>
                  <a:lnTo>
                    <a:pt x="221094" y="24063"/>
                  </a:lnTo>
                  <a:lnTo>
                    <a:pt x="220695" y="23913"/>
                  </a:lnTo>
                  <a:close/>
                </a:path>
                <a:path w="314325" h="313689">
                  <a:moveTo>
                    <a:pt x="157276" y="8889"/>
                  </a:moveTo>
                  <a:lnTo>
                    <a:pt x="157048" y="8889"/>
                  </a:lnTo>
                  <a:lnTo>
                    <a:pt x="164884" y="10160"/>
                  </a:lnTo>
                  <a:lnTo>
                    <a:pt x="149440" y="10160"/>
                  </a:lnTo>
                  <a:lnTo>
                    <a:pt x="157276" y="8889"/>
                  </a:lnTo>
                  <a:close/>
                </a:path>
                <a:path w="314325" h="313689">
                  <a:moveTo>
                    <a:pt x="165125" y="0"/>
                  </a:moveTo>
                  <a:lnTo>
                    <a:pt x="148958" y="0"/>
                  </a:lnTo>
                  <a:lnTo>
                    <a:pt x="140982" y="1269"/>
                  </a:lnTo>
                  <a:lnTo>
                    <a:pt x="173100" y="1269"/>
                  </a:lnTo>
                  <a:lnTo>
                    <a:pt x="1651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5995987" y="3175304"/>
            <a:ext cx="314325" cy="313690"/>
            <a:chOff x="5995987" y="3175304"/>
            <a:chExt cx="314325" cy="313690"/>
          </a:xfrm>
        </p:grpSpPr>
        <p:sp>
          <p:nvSpPr>
            <p:cNvPr id="10" name="object 10" descr=""/>
            <p:cNvSpPr/>
            <p:nvPr/>
          </p:nvSpPr>
          <p:spPr>
            <a:xfrm>
              <a:off x="6001512" y="3179445"/>
              <a:ext cx="304165" cy="304800"/>
            </a:xfrm>
            <a:custGeom>
              <a:avLst/>
              <a:gdLst/>
              <a:ahLst/>
              <a:cxnLst/>
              <a:rect l="l" t="t" r="r" b="b"/>
              <a:pathLst>
                <a:path w="304164" h="304800">
                  <a:moveTo>
                    <a:pt x="151637" y="0"/>
                  </a:moveTo>
                  <a:lnTo>
                    <a:pt x="103475" y="7765"/>
                  </a:lnTo>
                  <a:lnTo>
                    <a:pt x="61683" y="29377"/>
                  </a:lnTo>
                  <a:lnTo>
                    <a:pt x="28808" y="62309"/>
                  </a:lnTo>
                  <a:lnTo>
                    <a:pt x="7398" y="104031"/>
                  </a:lnTo>
                  <a:lnTo>
                    <a:pt x="0" y="152018"/>
                  </a:lnTo>
                  <a:lnTo>
                    <a:pt x="7398" y="200373"/>
                  </a:lnTo>
                  <a:lnTo>
                    <a:pt x="28808" y="242320"/>
                  </a:lnTo>
                  <a:lnTo>
                    <a:pt x="61683" y="275369"/>
                  </a:lnTo>
                  <a:lnTo>
                    <a:pt x="103475" y="297026"/>
                  </a:lnTo>
                  <a:lnTo>
                    <a:pt x="151637" y="304800"/>
                  </a:lnTo>
                  <a:lnTo>
                    <a:pt x="199806" y="297030"/>
                  </a:lnTo>
                  <a:lnTo>
                    <a:pt x="241641" y="275394"/>
                  </a:lnTo>
                  <a:lnTo>
                    <a:pt x="274632" y="242403"/>
                  </a:lnTo>
                  <a:lnTo>
                    <a:pt x="296268" y="200568"/>
                  </a:lnTo>
                  <a:lnTo>
                    <a:pt x="304038" y="152400"/>
                  </a:lnTo>
                  <a:lnTo>
                    <a:pt x="296268" y="104226"/>
                  </a:lnTo>
                  <a:lnTo>
                    <a:pt x="274632" y="62391"/>
                  </a:lnTo>
                  <a:lnTo>
                    <a:pt x="241641" y="29402"/>
                  </a:lnTo>
                  <a:lnTo>
                    <a:pt x="199806" y="7768"/>
                  </a:lnTo>
                  <a:lnTo>
                    <a:pt x="151637" y="0"/>
                  </a:lnTo>
                  <a:close/>
                </a:path>
              </a:pathLst>
            </a:custGeom>
            <a:solidFill>
              <a:srgbClr val="00E4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995987" y="3175304"/>
              <a:ext cx="314325" cy="313690"/>
            </a:xfrm>
            <a:custGeom>
              <a:avLst/>
              <a:gdLst/>
              <a:ahLst/>
              <a:cxnLst/>
              <a:rect l="l" t="t" r="r" b="b"/>
              <a:pathLst>
                <a:path w="314325" h="313689">
                  <a:moveTo>
                    <a:pt x="180975" y="1269"/>
                  </a:moveTo>
                  <a:lnTo>
                    <a:pt x="133121" y="1269"/>
                  </a:lnTo>
                  <a:lnTo>
                    <a:pt x="125374" y="3810"/>
                  </a:lnTo>
                  <a:lnTo>
                    <a:pt x="117779" y="5079"/>
                  </a:lnTo>
                  <a:lnTo>
                    <a:pt x="82143" y="19050"/>
                  </a:lnTo>
                  <a:lnTo>
                    <a:pt x="63220" y="31750"/>
                  </a:lnTo>
                  <a:lnTo>
                    <a:pt x="57276" y="35560"/>
                  </a:lnTo>
                  <a:lnTo>
                    <a:pt x="31292" y="63500"/>
                  </a:lnTo>
                  <a:lnTo>
                    <a:pt x="27413" y="67997"/>
                  </a:lnTo>
                  <a:lnTo>
                    <a:pt x="26875" y="68644"/>
                  </a:lnTo>
                  <a:lnTo>
                    <a:pt x="22694" y="76200"/>
                  </a:lnTo>
                  <a:lnTo>
                    <a:pt x="19024" y="82550"/>
                  </a:lnTo>
                  <a:lnTo>
                    <a:pt x="15455" y="88900"/>
                  </a:lnTo>
                  <a:lnTo>
                    <a:pt x="12306" y="96519"/>
                  </a:lnTo>
                  <a:lnTo>
                    <a:pt x="9499" y="102869"/>
                  </a:lnTo>
                  <a:lnTo>
                    <a:pt x="800" y="140969"/>
                  </a:lnTo>
                  <a:lnTo>
                    <a:pt x="0" y="157479"/>
                  </a:lnTo>
                  <a:lnTo>
                    <a:pt x="215" y="165100"/>
                  </a:lnTo>
                  <a:lnTo>
                    <a:pt x="738" y="172719"/>
                  </a:lnTo>
                  <a:lnTo>
                    <a:pt x="825" y="173989"/>
                  </a:lnTo>
                  <a:lnTo>
                    <a:pt x="9575" y="210819"/>
                  </a:lnTo>
                  <a:lnTo>
                    <a:pt x="12395" y="218439"/>
                  </a:lnTo>
                  <a:lnTo>
                    <a:pt x="15557" y="224789"/>
                  </a:lnTo>
                  <a:lnTo>
                    <a:pt x="19024" y="232410"/>
                  </a:lnTo>
                  <a:lnTo>
                    <a:pt x="22694" y="238760"/>
                  </a:lnTo>
                  <a:lnTo>
                    <a:pt x="26829" y="245176"/>
                  </a:lnTo>
                  <a:lnTo>
                    <a:pt x="31217" y="251529"/>
                  </a:lnTo>
                  <a:lnTo>
                    <a:pt x="35873" y="256616"/>
                  </a:lnTo>
                  <a:lnTo>
                    <a:pt x="40754" y="262889"/>
                  </a:lnTo>
                  <a:lnTo>
                    <a:pt x="69380" y="287019"/>
                  </a:lnTo>
                  <a:lnTo>
                    <a:pt x="75564" y="292100"/>
                  </a:lnTo>
                  <a:lnTo>
                    <a:pt x="75768" y="292100"/>
                  </a:lnTo>
                  <a:lnTo>
                    <a:pt x="82346" y="295910"/>
                  </a:lnTo>
                  <a:lnTo>
                    <a:pt x="89290" y="298538"/>
                  </a:lnTo>
                  <a:lnTo>
                    <a:pt x="96314" y="302340"/>
                  </a:lnTo>
                  <a:lnTo>
                    <a:pt x="117779" y="309879"/>
                  </a:lnTo>
                  <a:lnTo>
                    <a:pt x="118008" y="309879"/>
                  </a:lnTo>
                  <a:lnTo>
                    <a:pt x="133121" y="312419"/>
                  </a:lnTo>
                  <a:lnTo>
                    <a:pt x="133350" y="312419"/>
                  </a:lnTo>
                  <a:lnTo>
                    <a:pt x="141224" y="313689"/>
                  </a:lnTo>
                  <a:lnTo>
                    <a:pt x="173342" y="313689"/>
                  </a:lnTo>
                  <a:lnTo>
                    <a:pt x="196545" y="309879"/>
                  </a:lnTo>
                  <a:lnTo>
                    <a:pt x="211315" y="304800"/>
                  </a:lnTo>
                  <a:lnTo>
                    <a:pt x="149682" y="304800"/>
                  </a:lnTo>
                  <a:lnTo>
                    <a:pt x="141947" y="303529"/>
                  </a:lnTo>
                  <a:lnTo>
                    <a:pt x="134785" y="303529"/>
                  </a:lnTo>
                  <a:lnTo>
                    <a:pt x="127753" y="302340"/>
                  </a:lnTo>
                  <a:lnTo>
                    <a:pt x="120346" y="299790"/>
                  </a:lnTo>
                  <a:lnTo>
                    <a:pt x="120805" y="299790"/>
                  </a:lnTo>
                  <a:lnTo>
                    <a:pt x="113648" y="298538"/>
                  </a:lnTo>
                  <a:lnTo>
                    <a:pt x="106286" y="295910"/>
                  </a:lnTo>
                  <a:lnTo>
                    <a:pt x="106514" y="295910"/>
                  </a:lnTo>
                  <a:lnTo>
                    <a:pt x="99593" y="293369"/>
                  </a:lnTo>
                  <a:lnTo>
                    <a:pt x="99809" y="293369"/>
                  </a:lnTo>
                  <a:lnTo>
                    <a:pt x="93230" y="290896"/>
                  </a:lnTo>
                  <a:lnTo>
                    <a:pt x="93104" y="290741"/>
                  </a:lnTo>
                  <a:lnTo>
                    <a:pt x="86690" y="287019"/>
                  </a:lnTo>
                  <a:lnTo>
                    <a:pt x="86893" y="287019"/>
                  </a:lnTo>
                  <a:lnTo>
                    <a:pt x="80505" y="283210"/>
                  </a:lnTo>
                  <a:lnTo>
                    <a:pt x="80708" y="283210"/>
                  </a:lnTo>
                  <a:lnTo>
                    <a:pt x="77282" y="281099"/>
                  </a:lnTo>
                  <a:lnTo>
                    <a:pt x="68871" y="275670"/>
                  </a:lnTo>
                  <a:lnTo>
                    <a:pt x="68822" y="275501"/>
                  </a:lnTo>
                  <a:lnTo>
                    <a:pt x="64608" y="271779"/>
                  </a:lnTo>
                  <a:lnTo>
                    <a:pt x="63334" y="271779"/>
                  </a:lnTo>
                  <a:lnTo>
                    <a:pt x="57810" y="266700"/>
                  </a:lnTo>
                  <a:lnTo>
                    <a:pt x="57975" y="266700"/>
                  </a:lnTo>
                  <a:lnTo>
                    <a:pt x="52679" y="261619"/>
                  </a:lnTo>
                  <a:lnTo>
                    <a:pt x="52844" y="261619"/>
                  </a:lnTo>
                  <a:lnTo>
                    <a:pt x="49691" y="258442"/>
                  </a:lnTo>
                  <a:lnTo>
                    <a:pt x="49100" y="257810"/>
                  </a:lnTo>
                  <a:lnTo>
                    <a:pt x="47878" y="256616"/>
                  </a:lnTo>
                  <a:lnTo>
                    <a:pt x="43738" y="252066"/>
                  </a:lnTo>
                  <a:lnTo>
                    <a:pt x="37993" y="243996"/>
                  </a:lnTo>
                  <a:lnTo>
                    <a:pt x="34671" y="240029"/>
                  </a:lnTo>
                  <a:lnTo>
                    <a:pt x="14147" y="194310"/>
                  </a:lnTo>
                  <a:lnTo>
                    <a:pt x="11417" y="180339"/>
                  </a:lnTo>
                  <a:lnTo>
                    <a:pt x="11239" y="180339"/>
                  </a:lnTo>
                  <a:lnTo>
                    <a:pt x="10274" y="172719"/>
                  </a:lnTo>
                  <a:lnTo>
                    <a:pt x="9715" y="165100"/>
                  </a:lnTo>
                  <a:lnTo>
                    <a:pt x="9525" y="157479"/>
                  </a:lnTo>
                  <a:lnTo>
                    <a:pt x="9728" y="149860"/>
                  </a:lnTo>
                  <a:lnTo>
                    <a:pt x="18516" y="106679"/>
                  </a:lnTo>
                  <a:lnTo>
                    <a:pt x="21170" y="99060"/>
                  </a:lnTo>
                  <a:lnTo>
                    <a:pt x="21589" y="99060"/>
                  </a:lnTo>
                  <a:lnTo>
                    <a:pt x="24129" y="92710"/>
                  </a:lnTo>
                  <a:lnTo>
                    <a:pt x="27393" y="86360"/>
                  </a:lnTo>
                  <a:lnTo>
                    <a:pt x="30949" y="80010"/>
                  </a:lnTo>
                  <a:lnTo>
                    <a:pt x="31628" y="80010"/>
                  </a:lnTo>
                  <a:lnTo>
                    <a:pt x="34798" y="74929"/>
                  </a:lnTo>
                  <a:lnTo>
                    <a:pt x="38883" y="68644"/>
                  </a:lnTo>
                  <a:lnTo>
                    <a:pt x="38728" y="68644"/>
                  </a:lnTo>
                  <a:lnTo>
                    <a:pt x="43307" y="63500"/>
                  </a:lnTo>
                  <a:lnTo>
                    <a:pt x="43167" y="63500"/>
                  </a:lnTo>
                  <a:lnTo>
                    <a:pt x="46987" y="59446"/>
                  </a:lnTo>
                  <a:lnTo>
                    <a:pt x="52844" y="52069"/>
                  </a:lnTo>
                  <a:lnTo>
                    <a:pt x="54003" y="52069"/>
                  </a:lnTo>
                  <a:lnTo>
                    <a:pt x="57975" y="48260"/>
                  </a:lnTo>
                  <a:lnTo>
                    <a:pt x="57810" y="48260"/>
                  </a:lnTo>
                  <a:lnTo>
                    <a:pt x="63245" y="43262"/>
                  </a:lnTo>
                  <a:lnTo>
                    <a:pt x="63284" y="43103"/>
                  </a:lnTo>
                  <a:lnTo>
                    <a:pt x="67975" y="39996"/>
                  </a:lnTo>
                  <a:lnTo>
                    <a:pt x="68648" y="39451"/>
                  </a:lnTo>
                  <a:lnTo>
                    <a:pt x="74604" y="34384"/>
                  </a:lnTo>
                  <a:lnTo>
                    <a:pt x="74661" y="34204"/>
                  </a:lnTo>
                  <a:lnTo>
                    <a:pt x="80708" y="30479"/>
                  </a:lnTo>
                  <a:lnTo>
                    <a:pt x="80505" y="30479"/>
                  </a:lnTo>
                  <a:lnTo>
                    <a:pt x="86893" y="26669"/>
                  </a:lnTo>
                  <a:lnTo>
                    <a:pt x="88878" y="26669"/>
                  </a:lnTo>
                  <a:lnTo>
                    <a:pt x="93104" y="24218"/>
                  </a:lnTo>
                  <a:lnTo>
                    <a:pt x="93230" y="24063"/>
                  </a:lnTo>
                  <a:lnTo>
                    <a:pt x="99809" y="21589"/>
                  </a:lnTo>
                  <a:lnTo>
                    <a:pt x="99593" y="21589"/>
                  </a:lnTo>
                  <a:lnTo>
                    <a:pt x="106514" y="19050"/>
                  </a:lnTo>
                  <a:lnTo>
                    <a:pt x="106286" y="19050"/>
                  </a:lnTo>
                  <a:lnTo>
                    <a:pt x="113372" y="16510"/>
                  </a:lnTo>
                  <a:lnTo>
                    <a:pt x="113144" y="16510"/>
                  </a:lnTo>
                  <a:lnTo>
                    <a:pt x="120167" y="14041"/>
                  </a:lnTo>
                  <a:lnTo>
                    <a:pt x="119726" y="14041"/>
                  </a:lnTo>
                  <a:lnTo>
                    <a:pt x="127520" y="12700"/>
                  </a:lnTo>
                  <a:lnTo>
                    <a:pt x="127279" y="12700"/>
                  </a:lnTo>
                  <a:lnTo>
                    <a:pt x="134785" y="11429"/>
                  </a:lnTo>
                  <a:lnTo>
                    <a:pt x="134556" y="11429"/>
                  </a:lnTo>
                  <a:lnTo>
                    <a:pt x="142176" y="10160"/>
                  </a:lnTo>
                  <a:lnTo>
                    <a:pt x="164884" y="10160"/>
                  </a:lnTo>
                  <a:lnTo>
                    <a:pt x="157048" y="8889"/>
                  </a:lnTo>
                  <a:lnTo>
                    <a:pt x="211086" y="8889"/>
                  </a:lnTo>
                  <a:lnTo>
                    <a:pt x="203784" y="7619"/>
                  </a:lnTo>
                  <a:lnTo>
                    <a:pt x="188709" y="2539"/>
                  </a:lnTo>
                  <a:lnTo>
                    <a:pt x="180975" y="1269"/>
                  </a:lnTo>
                  <a:close/>
                </a:path>
                <a:path w="314325" h="313689">
                  <a:moveTo>
                    <a:pt x="251155" y="270510"/>
                  </a:moveTo>
                  <a:lnTo>
                    <a:pt x="245502" y="275501"/>
                  </a:lnTo>
                  <a:lnTo>
                    <a:pt x="245453" y="275670"/>
                  </a:lnTo>
                  <a:lnTo>
                    <a:pt x="239477" y="279485"/>
                  </a:lnTo>
                  <a:lnTo>
                    <a:pt x="239663" y="279485"/>
                  </a:lnTo>
                  <a:lnTo>
                    <a:pt x="233616" y="283210"/>
                  </a:lnTo>
                  <a:lnTo>
                    <a:pt x="233819" y="283210"/>
                  </a:lnTo>
                  <a:lnTo>
                    <a:pt x="227431" y="287019"/>
                  </a:lnTo>
                  <a:lnTo>
                    <a:pt x="227634" y="287019"/>
                  </a:lnTo>
                  <a:lnTo>
                    <a:pt x="221220" y="290741"/>
                  </a:lnTo>
                  <a:lnTo>
                    <a:pt x="221094" y="290896"/>
                  </a:lnTo>
                  <a:lnTo>
                    <a:pt x="214515" y="293369"/>
                  </a:lnTo>
                  <a:lnTo>
                    <a:pt x="214731" y="293369"/>
                  </a:lnTo>
                  <a:lnTo>
                    <a:pt x="207810" y="295910"/>
                  </a:lnTo>
                  <a:lnTo>
                    <a:pt x="208038" y="295910"/>
                  </a:lnTo>
                  <a:lnTo>
                    <a:pt x="200705" y="298538"/>
                  </a:lnTo>
                  <a:lnTo>
                    <a:pt x="193550" y="299790"/>
                  </a:lnTo>
                  <a:lnTo>
                    <a:pt x="193975" y="299790"/>
                  </a:lnTo>
                  <a:lnTo>
                    <a:pt x="186559" y="302340"/>
                  </a:lnTo>
                  <a:lnTo>
                    <a:pt x="179539" y="303529"/>
                  </a:lnTo>
                  <a:lnTo>
                    <a:pt x="172377" y="303529"/>
                  </a:lnTo>
                  <a:lnTo>
                    <a:pt x="164642" y="304800"/>
                  </a:lnTo>
                  <a:lnTo>
                    <a:pt x="211315" y="304800"/>
                  </a:lnTo>
                  <a:lnTo>
                    <a:pt x="218214" y="302340"/>
                  </a:lnTo>
                  <a:lnTo>
                    <a:pt x="225237" y="298538"/>
                  </a:lnTo>
                  <a:lnTo>
                    <a:pt x="232181" y="295910"/>
                  </a:lnTo>
                  <a:lnTo>
                    <a:pt x="238760" y="292100"/>
                  </a:lnTo>
                  <a:lnTo>
                    <a:pt x="245135" y="287019"/>
                  </a:lnTo>
                  <a:lnTo>
                    <a:pt x="251104" y="283210"/>
                  </a:lnTo>
                  <a:lnTo>
                    <a:pt x="257048" y="278129"/>
                  </a:lnTo>
                  <a:lnTo>
                    <a:pt x="264156" y="271779"/>
                  </a:lnTo>
                  <a:lnTo>
                    <a:pt x="250990" y="271779"/>
                  </a:lnTo>
                  <a:lnTo>
                    <a:pt x="251155" y="270510"/>
                  </a:lnTo>
                  <a:close/>
                </a:path>
                <a:path w="314325" h="313689">
                  <a:moveTo>
                    <a:pt x="93104" y="290741"/>
                  </a:moveTo>
                  <a:lnTo>
                    <a:pt x="93230" y="290896"/>
                  </a:lnTo>
                  <a:lnTo>
                    <a:pt x="93629" y="291046"/>
                  </a:lnTo>
                  <a:lnTo>
                    <a:pt x="93104" y="290741"/>
                  </a:lnTo>
                  <a:close/>
                </a:path>
                <a:path w="314325" h="313689">
                  <a:moveTo>
                    <a:pt x="221220" y="290741"/>
                  </a:moveTo>
                  <a:lnTo>
                    <a:pt x="220695" y="291046"/>
                  </a:lnTo>
                  <a:lnTo>
                    <a:pt x="221094" y="290896"/>
                  </a:lnTo>
                  <a:lnTo>
                    <a:pt x="221220" y="290741"/>
                  </a:lnTo>
                  <a:close/>
                </a:path>
                <a:path w="314325" h="313689">
                  <a:moveTo>
                    <a:pt x="68822" y="275501"/>
                  </a:moveTo>
                  <a:lnTo>
                    <a:pt x="68871" y="275670"/>
                  </a:lnTo>
                  <a:lnTo>
                    <a:pt x="69386" y="275999"/>
                  </a:lnTo>
                  <a:lnTo>
                    <a:pt x="68822" y="275501"/>
                  </a:lnTo>
                  <a:close/>
                </a:path>
                <a:path w="314325" h="313689">
                  <a:moveTo>
                    <a:pt x="245502" y="275501"/>
                  </a:moveTo>
                  <a:lnTo>
                    <a:pt x="244938" y="275999"/>
                  </a:lnTo>
                  <a:lnTo>
                    <a:pt x="245453" y="275670"/>
                  </a:lnTo>
                  <a:lnTo>
                    <a:pt x="245502" y="275501"/>
                  </a:lnTo>
                  <a:close/>
                </a:path>
                <a:path w="314325" h="313689">
                  <a:moveTo>
                    <a:pt x="63169" y="270510"/>
                  </a:moveTo>
                  <a:lnTo>
                    <a:pt x="63334" y="271779"/>
                  </a:lnTo>
                  <a:lnTo>
                    <a:pt x="64608" y="271779"/>
                  </a:lnTo>
                  <a:lnTo>
                    <a:pt x="63169" y="270510"/>
                  </a:lnTo>
                  <a:close/>
                </a:path>
                <a:path w="314325" h="313689">
                  <a:moveTo>
                    <a:pt x="303057" y="99060"/>
                  </a:moveTo>
                  <a:lnTo>
                    <a:pt x="293154" y="99060"/>
                  </a:lnTo>
                  <a:lnTo>
                    <a:pt x="295884" y="106679"/>
                  </a:lnTo>
                  <a:lnTo>
                    <a:pt x="298196" y="113029"/>
                  </a:lnTo>
                  <a:lnTo>
                    <a:pt x="301828" y="127000"/>
                  </a:lnTo>
                  <a:lnTo>
                    <a:pt x="303123" y="134619"/>
                  </a:lnTo>
                  <a:lnTo>
                    <a:pt x="304050" y="142239"/>
                  </a:lnTo>
                  <a:lnTo>
                    <a:pt x="304516" y="148589"/>
                  </a:lnTo>
                  <a:lnTo>
                    <a:pt x="304609" y="149860"/>
                  </a:lnTo>
                  <a:lnTo>
                    <a:pt x="304800" y="157479"/>
                  </a:lnTo>
                  <a:lnTo>
                    <a:pt x="304596" y="165100"/>
                  </a:lnTo>
                  <a:lnTo>
                    <a:pt x="304025" y="172719"/>
                  </a:lnTo>
                  <a:lnTo>
                    <a:pt x="303085" y="180339"/>
                  </a:lnTo>
                  <a:lnTo>
                    <a:pt x="302899" y="180339"/>
                  </a:lnTo>
                  <a:lnTo>
                    <a:pt x="301777" y="186689"/>
                  </a:lnTo>
                  <a:lnTo>
                    <a:pt x="300126" y="194310"/>
                  </a:lnTo>
                  <a:lnTo>
                    <a:pt x="298132" y="200660"/>
                  </a:lnTo>
                  <a:lnTo>
                    <a:pt x="295808" y="208279"/>
                  </a:lnTo>
                  <a:lnTo>
                    <a:pt x="276528" y="243719"/>
                  </a:lnTo>
                  <a:lnTo>
                    <a:pt x="275473" y="245176"/>
                  </a:lnTo>
                  <a:lnTo>
                    <a:pt x="270586" y="252066"/>
                  </a:lnTo>
                  <a:lnTo>
                    <a:pt x="266297" y="256616"/>
                  </a:lnTo>
                  <a:lnTo>
                    <a:pt x="266446" y="256616"/>
                  </a:lnTo>
                  <a:lnTo>
                    <a:pt x="261480" y="261619"/>
                  </a:lnTo>
                  <a:lnTo>
                    <a:pt x="261645" y="261619"/>
                  </a:lnTo>
                  <a:lnTo>
                    <a:pt x="256349" y="266700"/>
                  </a:lnTo>
                  <a:lnTo>
                    <a:pt x="256514" y="266700"/>
                  </a:lnTo>
                  <a:lnTo>
                    <a:pt x="250990" y="271779"/>
                  </a:lnTo>
                  <a:lnTo>
                    <a:pt x="264156" y="271779"/>
                  </a:lnTo>
                  <a:lnTo>
                    <a:pt x="291630" y="238760"/>
                  </a:lnTo>
                  <a:lnTo>
                    <a:pt x="298869" y="224789"/>
                  </a:lnTo>
                  <a:lnTo>
                    <a:pt x="302018" y="218439"/>
                  </a:lnTo>
                  <a:lnTo>
                    <a:pt x="304825" y="210819"/>
                  </a:lnTo>
                  <a:lnTo>
                    <a:pt x="307225" y="204469"/>
                  </a:lnTo>
                  <a:lnTo>
                    <a:pt x="307289" y="203200"/>
                  </a:lnTo>
                  <a:lnTo>
                    <a:pt x="309410" y="196850"/>
                  </a:lnTo>
                  <a:lnTo>
                    <a:pt x="311111" y="189229"/>
                  </a:lnTo>
                  <a:lnTo>
                    <a:pt x="312534" y="180339"/>
                  </a:lnTo>
                  <a:lnTo>
                    <a:pt x="303085" y="180339"/>
                  </a:lnTo>
                  <a:lnTo>
                    <a:pt x="303240" y="179085"/>
                  </a:lnTo>
                  <a:lnTo>
                    <a:pt x="312697" y="179085"/>
                  </a:lnTo>
                  <a:lnTo>
                    <a:pt x="313524" y="172719"/>
                  </a:lnTo>
                  <a:lnTo>
                    <a:pt x="314121" y="165100"/>
                  </a:lnTo>
                  <a:lnTo>
                    <a:pt x="314325" y="157479"/>
                  </a:lnTo>
                  <a:lnTo>
                    <a:pt x="314139" y="149860"/>
                  </a:lnTo>
                  <a:lnTo>
                    <a:pt x="314109" y="148589"/>
                  </a:lnTo>
                  <a:lnTo>
                    <a:pt x="313601" y="142239"/>
                  </a:lnTo>
                  <a:lnTo>
                    <a:pt x="313499" y="140969"/>
                  </a:lnTo>
                  <a:lnTo>
                    <a:pt x="304749" y="102869"/>
                  </a:lnTo>
                  <a:lnTo>
                    <a:pt x="303057" y="99060"/>
                  </a:lnTo>
                  <a:close/>
                </a:path>
                <a:path w="314325" h="313689">
                  <a:moveTo>
                    <a:pt x="37993" y="243996"/>
                  </a:moveTo>
                  <a:lnTo>
                    <a:pt x="38832" y="245176"/>
                  </a:lnTo>
                  <a:lnTo>
                    <a:pt x="38980" y="245176"/>
                  </a:lnTo>
                  <a:lnTo>
                    <a:pt x="37993" y="243996"/>
                  </a:lnTo>
                  <a:close/>
                </a:path>
                <a:path w="314325" h="313689">
                  <a:moveTo>
                    <a:pt x="276309" y="243996"/>
                  </a:moveTo>
                  <a:lnTo>
                    <a:pt x="275345" y="245176"/>
                  </a:lnTo>
                  <a:lnTo>
                    <a:pt x="275473" y="245176"/>
                  </a:lnTo>
                  <a:lnTo>
                    <a:pt x="276309" y="243996"/>
                  </a:lnTo>
                  <a:close/>
                </a:path>
                <a:path w="314325" h="313689">
                  <a:moveTo>
                    <a:pt x="11204" y="179085"/>
                  </a:moveTo>
                  <a:lnTo>
                    <a:pt x="11239" y="180339"/>
                  </a:lnTo>
                  <a:lnTo>
                    <a:pt x="11417" y="180339"/>
                  </a:lnTo>
                  <a:lnTo>
                    <a:pt x="11204" y="179085"/>
                  </a:lnTo>
                  <a:close/>
                </a:path>
                <a:path w="314325" h="313689">
                  <a:moveTo>
                    <a:pt x="21589" y="99060"/>
                  </a:moveTo>
                  <a:lnTo>
                    <a:pt x="21170" y="99060"/>
                  </a:lnTo>
                  <a:lnTo>
                    <a:pt x="21082" y="100329"/>
                  </a:lnTo>
                  <a:lnTo>
                    <a:pt x="21589" y="99060"/>
                  </a:lnTo>
                  <a:close/>
                </a:path>
                <a:path w="314325" h="313689">
                  <a:moveTo>
                    <a:pt x="293832" y="80010"/>
                  </a:moveTo>
                  <a:lnTo>
                    <a:pt x="283375" y="80010"/>
                  </a:lnTo>
                  <a:lnTo>
                    <a:pt x="287045" y="86360"/>
                  </a:lnTo>
                  <a:lnTo>
                    <a:pt x="290296" y="92710"/>
                  </a:lnTo>
                  <a:lnTo>
                    <a:pt x="293242" y="100329"/>
                  </a:lnTo>
                  <a:lnTo>
                    <a:pt x="293154" y="99060"/>
                  </a:lnTo>
                  <a:lnTo>
                    <a:pt x="303057" y="99060"/>
                  </a:lnTo>
                  <a:lnTo>
                    <a:pt x="301929" y="96519"/>
                  </a:lnTo>
                  <a:lnTo>
                    <a:pt x="298767" y="88900"/>
                  </a:lnTo>
                  <a:lnTo>
                    <a:pt x="295300" y="82550"/>
                  </a:lnTo>
                  <a:lnTo>
                    <a:pt x="293832" y="80010"/>
                  </a:lnTo>
                  <a:close/>
                </a:path>
                <a:path w="314325" h="313689">
                  <a:moveTo>
                    <a:pt x="31628" y="80010"/>
                  </a:moveTo>
                  <a:lnTo>
                    <a:pt x="30949" y="80010"/>
                  </a:lnTo>
                  <a:lnTo>
                    <a:pt x="30835" y="81279"/>
                  </a:lnTo>
                  <a:lnTo>
                    <a:pt x="31628" y="80010"/>
                  </a:lnTo>
                  <a:close/>
                </a:path>
                <a:path w="314325" h="313689">
                  <a:moveTo>
                    <a:pt x="273570" y="52069"/>
                  </a:moveTo>
                  <a:lnTo>
                    <a:pt x="261480" y="52069"/>
                  </a:lnTo>
                  <a:lnTo>
                    <a:pt x="267337" y="59446"/>
                  </a:lnTo>
                  <a:lnTo>
                    <a:pt x="269560" y="61804"/>
                  </a:lnTo>
                  <a:lnTo>
                    <a:pt x="275596" y="68644"/>
                  </a:lnTo>
                  <a:lnTo>
                    <a:pt x="275442" y="68644"/>
                  </a:lnTo>
                  <a:lnTo>
                    <a:pt x="279653" y="74929"/>
                  </a:lnTo>
                  <a:lnTo>
                    <a:pt x="283489" y="81279"/>
                  </a:lnTo>
                  <a:lnTo>
                    <a:pt x="283375" y="80010"/>
                  </a:lnTo>
                  <a:lnTo>
                    <a:pt x="293832" y="80010"/>
                  </a:lnTo>
                  <a:lnTo>
                    <a:pt x="291630" y="76200"/>
                  </a:lnTo>
                  <a:lnTo>
                    <a:pt x="287540" y="69850"/>
                  </a:lnTo>
                  <a:lnTo>
                    <a:pt x="286711" y="68644"/>
                  </a:lnTo>
                  <a:lnTo>
                    <a:pt x="275596" y="68644"/>
                  </a:lnTo>
                  <a:lnTo>
                    <a:pt x="275021" y="67997"/>
                  </a:lnTo>
                  <a:lnTo>
                    <a:pt x="286266" y="67997"/>
                  </a:lnTo>
                  <a:lnTo>
                    <a:pt x="283171" y="63500"/>
                  </a:lnTo>
                  <a:lnTo>
                    <a:pt x="278511" y="57150"/>
                  </a:lnTo>
                  <a:lnTo>
                    <a:pt x="273570" y="52069"/>
                  </a:lnTo>
                  <a:close/>
                </a:path>
                <a:path w="314325" h="313689">
                  <a:moveTo>
                    <a:pt x="39303" y="67997"/>
                  </a:moveTo>
                  <a:lnTo>
                    <a:pt x="38728" y="68644"/>
                  </a:lnTo>
                  <a:lnTo>
                    <a:pt x="38883" y="68644"/>
                  </a:lnTo>
                  <a:lnTo>
                    <a:pt x="39303" y="67997"/>
                  </a:lnTo>
                  <a:close/>
                </a:path>
                <a:path w="314325" h="313689">
                  <a:moveTo>
                    <a:pt x="47861" y="58345"/>
                  </a:moveTo>
                  <a:lnTo>
                    <a:pt x="46987" y="59446"/>
                  </a:lnTo>
                  <a:lnTo>
                    <a:pt x="47883" y="58496"/>
                  </a:lnTo>
                  <a:lnTo>
                    <a:pt x="47861" y="58345"/>
                  </a:lnTo>
                  <a:close/>
                </a:path>
                <a:path w="314325" h="313689">
                  <a:moveTo>
                    <a:pt x="266463" y="58345"/>
                  </a:moveTo>
                  <a:lnTo>
                    <a:pt x="266441" y="58496"/>
                  </a:lnTo>
                  <a:lnTo>
                    <a:pt x="267337" y="59446"/>
                  </a:lnTo>
                  <a:lnTo>
                    <a:pt x="266582" y="58496"/>
                  </a:lnTo>
                  <a:lnTo>
                    <a:pt x="266463" y="58345"/>
                  </a:lnTo>
                  <a:close/>
                </a:path>
                <a:path w="314325" h="313689">
                  <a:moveTo>
                    <a:pt x="54003" y="52069"/>
                  </a:moveTo>
                  <a:lnTo>
                    <a:pt x="52844" y="52069"/>
                  </a:lnTo>
                  <a:lnTo>
                    <a:pt x="52679" y="53339"/>
                  </a:lnTo>
                  <a:lnTo>
                    <a:pt x="54003" y="52069"/>
                  </a:lnTo>
                  <a:close/>
                </a:path>
                <a:path w="314325" h="313689">
                  <a:moveTo>
                    <a:pt x="230802" y="28680"/>
                  </a:moveTo>
                  <a:lnTo>
                    <a:pt x="239663" y="34204"/>
                  </a:lnTo>
                  <a:lnTo>
                    <a:pt x="239732" y="34384"/>
                  </a:lnTo>
                  <a:lnTo>
                    <a:pt x="246316" y="39996"/>
                  </a:lnTo>
                  <a:lnTo>
                    <a:pt x="251040" y="43103"/>
                  </a:lnTo>
                  <a:lnTo>
                    <a:pt x="251079" y="43262"/>
                  </a:lnTo>
                  <a:lnTo>
                    <a:pt x="256514" y="48260"/>
                  </a:lnTo>
                  <a:lnTo>
                    <a:pt x="256349" y="48260"/>
                  </a:lnTo>
                  <a:lnTo>
                    <a:pt x="261645" y="53339"/>
                  </a:lnTo>
                  <a:lnTo>
                    <a:pt x="261480" y="52069"/>
                  </a:lnTo>
                  <a:lnTo>
                    <a:pt x="273570" y="52069"/>
                  </a:lnTo>
                  <a:lnTo>
                    <a:pt x="268376" y="45719"/>
                  </a:lnTo>
                  <a:lnTo>
                    <a:pt x="262915" y="40639"/>
                  </a:lnTo>
                  <a:lnTo>
                    <a:pt x="257225" y="35560"/>
                  </a:lnTo>
                  <a:lnTo>
                    <a:pt x="251282" y="31750"/>
                  </a:lnTo>
                  <a:lnTo>
                    <a:pt x="249697" y="30479"/>
                  </a:lnTo>
                  <a:lnTo>
                    <a:pt x="233819" y="30479"/>
                  </a:lnTo>
                  <a:lnTo>
                    <a:pt x="230802" y="28680"/>
                  </a:lnTo>
                  <a:close/>
                </a:path>
                <a:path w="314325" h="313689">
                  <a:moveTo>
                    <a:pt x="63759" y="42789"/>
                  </a:moveTo>
                  <a:lnTo>
                    <a:pt x="63284" y="43103"/>
                  </a:lnTo>
                  <a:lnTo>
                    <a:pt x="63245" y="43262"/>
                  </a:lnTo>
                  <a:lnTo>
                    <a:pt x="63759" y="42789"/>
                  </a:lnTo>
                  <a:close/>
                </a:path>
                <a:path w="314325" h="313689">
                  <a:moveTo>
                    <a:pt x="250565" y="42789"/>
                  </a:moveTo>
                  <a:lnTo>
                    <a:pt x="251079" y="43262"/>
                  </a:lnTo>
                  <a:lnTo>
                    <a:pt x="251040" y="43103"/>
                  </a:lnTo>
                  <a:lnTo>
                    <a:pt x="250565" y="42789"/>
                  </a:lnTo>
                  <a:close/>
                </a:path>
                <a:path w="314325" h="313689">
                  <a:moveTo>
                    <a:pt x="68848" y="39282"/>
                  </a:moveTo>
                  <a:lnTo>
                    <a:pt x="68023" y="39996"/>
                  </a:lnTo>
                  <a:lnTo>
                    <a:pt x="68799" y="39451"/>
                  </a:lnTo>
                  <a:lnTo>
                    <a:pt x="68848" y="39282"/>
                  </a:lnTo>
                  <a:close/>
                </a:path>
                <a:path w="314325" h="313689">
                  <a:moveTo>
                    <a:pt x="245476" y="39282"/>
                  </a:moveTo>
                  <a:lnTo>
                    <a:pt x="245525" y="39451"/>
                  </a:lnTo>
                  <a:lnTo>
                    <a:pt x="246348" y="39996"/>
                  </a:lnTo>
                  <a:lnTo>
                    <a:pt x="245476" y="39282"/>
                  </a:lnTo>
                  <a:close/>
                </a:path>
                <a:path w="314325" h="313689">
                  <a:moveTo>
                    <a:pt x="75182" y="33891"/>
                  </a:moveTo>
                  <a:lnTo>
                    <a:pt x="74661" y="34204"/>
                  </a:lnTo>
                  <a:lnTo>
                    <a:pt x="74603" y="34384"/>
                  </a:lnTo>
                  <a:lnTo>
                    <a:pt x="75182" y="33891"/>
                  </a:lnTo>
                  <a:close/>
                </a:path>
                <a:path w="314325" h="313689">
                  <a:moveTo>
                    <a:pt x="239153" y="33891"/>
                  </a:moveTo>
                  <a:lnTo>
                    <a:pt x="239732" y="34384"/>
                  </a:lnTo>
                  <a:lnTo>
                    <a:pt x="239663" y="34204"/>
                  </a:lnTo>
                  <a:lnTo>
                    <a:pt x="239153" y="33891"/>
                  </a:lnTo>
                  <a:close/>
                </a:path>
                <a:path w="314325" h="313689">
                  <a:moveTo>
                    <a:pt x="244944" y="26669"/>
                  </a:moveTo>
                  <a:lnTo>
                    <a:pt x="227431" y="26669"/>
                  </a:lnTo>
                  <a:lnTo>
                    <a:pt x="233819" y="30479"/>
                  </a:lnTo>
                  <a:lnTo>
                    <a:pt x="249697" y="30479"/>
                  </a:lnTo>
                  <a:lnTo>
                    <a:pt x="244944" y="26669"/>
                  </a:lnTo>
                  <a:close/>
                </a:path>
                <a:path w="314325" h="313689">
                  <a:moveTo>
                    <a:pt x="88878" y="26669"/>
                  </a:moveTo>
                  <a:lnTo>
                    <a:pt x="86893" y="26669"/>
                  </a:lnTo>
                  <a:lnTo>
                    <a:pt x="86690" y="27939"/>
                  </a:lnTo>
                  <a:lnTo>
                    <a:pt x="88878" y="26669"/>
                  </a:lnTo>
                  <a:close/>
                </a:path>
                <a:path w="314325" h="313689">
                  <a:moveTo>
                    <a:pt x="211086" y="8889"/>
                  </a:moveTo>
                  <a:lnTo>
                    <a:pt x="157276" y="8889"/>
                  </a:lnTo>
                  <a:lnTo>
                    <a:pt x="149440" y="10160"/>
                  </a:lnTo>
                  <a:lnTo>
                    <a:pt x="172148" y="10160"/>
                  </a:lnTo>
                  <a:lnTo>
                    <a:pt x="179768" y="11429"/>
                  </a:lnTo>
                  <a:lnTo>
                    <a:pt x="179539" y="11429"/>
                  </a:lnTo>
                  <a:lnTo>
                    <a:pt x="187032" y="12700"/>
                  </a:lnTo>
                  <a:lnTo>
                    <a:pt x="186804" y="12700"/>
                  </a:lnTo>
                  <a:lnTo>
                    <a:pt x="194598" y="14041"/>
                  </a:lnTo>
                  <a:lnTo>
                    <a:pt x="194157" y="14041"/>
                  </a:lnTo>
                  <a:lnTo>
                    <a:pt x="201180" y="16510"/>
                  </a:lnTo>
                  <a:lnTo>
                    <a:pt x="200952" y="16510"/>
                  </a:lnTo>
                  <a:lnTo>
                    <a:pt x="208038" y="19050"/>
                  </a:lnTo>
                  <a:lnTo>
                    <a:pt x="207810" y="19050"/>
                  </a:lnTo>
                  <a:lnTo>
                    <a:pt x="214731" y="21589"/>
                  </a:lnTo>
                  <a:lnTo>
                    <a:pt x="214515" y="21589"/>
                  </a:lnTo>
                  <a:lnTo>
                    <a:pt x="221094" y="24063"/>
                  </a:lnTo>
                  <a:lnTo>
                    <a:pt x="221220" y="24218"/>
                  </a:lnTo>
                  <a:lnTo>
                    <a:pt x="227634" y="27939"/>
                  </a:lnTo>
                  <a:lnTo>
                    <a:pt x="227431" y="26669"/>
                  </a:lnTo>
                  <a:lnTo>
                    <a:pt x="244944" y="26669"/>
                  </a:lnTo>
                  <a:lnTo>
                    <a:pt x="238760" y="22860"/>
                  </a:lnTo>
                  <a:lnTo>
                    <a:pt x="238556" y="22860"/>
                  </a:lnTo>
                  <a:lnTo>
                    <a:pt x="231978" y="19050"/>
                  </a:lnTo>
                  <a:lnTo>
                    <a:pt x="225196" y="15239"/>
                  </a:lnTo>
                  <a:lnTo>
                    <a:pt x="218236" y="12700"/>
                  </a:lnTo>
                  <a:lnTo>
                    <a:pt x="211086" y="8889"/>
                  </a:lnTo>
                  <a:close/>
                </a:path>
                <a:path w="314325" h="313689">
                  <a:moveTo>
                    <a:pt x="93629" y="23913"/>
                  </a:moveTo>
                  <a:lnTo>
                    <a:pt x="93230" y="24063"/>
                  </a:lnTo>
                  <a:lnTo>
                    <a:pt x="93104" y="24218"/>
                  </a:lnTo>
                  <a:lnTo>
                    <a:pt x="93629" y="23913"/>
                  </a:lnTo>
                  <a:close/>
                </a:path>
                <a:path w="314325" h="313689">
                  <a:moveTo>
                    <a:pt x="220695" y="23913"/>
                  </a:moveTo>
                  <a:lnTo>
                    <a:pt x="221220" y="24218"/>
                  </a:lnTo>
                  <a:lnTo>
                    <a:pt x="221094" y="24063"/>
                  </a:lnTo>
                  <a:lnTo>
                    <a:pt x="220695" y="23913"/>
                  </a:lnTo>
                  <a:close/>
                </a:path>
                <a:path w="314325" h="313689">
                  <a:moveTo>
                    <a:pt x="157276" y="8889"/>
                  </a:moveTo>
                  <a:lnTo>
                    <a:pt x="157048" y="8889"/>
                  </a:lnTo>
                  <a:lnTo>
                    <a:pt x="164884" y="10160"/>
                  </a:lnTo>
                  <a:lnTo>
                    <a:pt x="149440" y="10160"/>
                  </a:lnTo>
                  <a:lnTo>
                    <a:pt x="157276" y="8889"/>
                  </a:lnTo>
                  <a:close/>
                </a:path>
                <a:path w="314325" h="313689">
                  <a:moveTo>
                    <a:pt x="165125" y="0"/>
                  </a:moveTo>
                  <a:lnTo>
                    <a:pt x="148958" y="0"/>
                  </a:lnTo>
                  <a:lnTo>
                    <a:pt x="140982" y="1269"/>
                  </a:lnTo>
                  <a:lnTo>
                    <a:pt x="173100" y="1269"/>
                  </a:lnTo>
                  <a:lnTo>
                    <a:pt x="1651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5995987" y="3632504"/>
            <a:ext cx="314325" cy="313690"/>
            <a:chOff x="5995987" y="3632504"/>
            <a:chExt cx="314325" cy="313690"/>
          </a:xfrm>
        </p:grpSpPr>
        <p:sp>
          <p:nvSpPr>
            <p:cNvPr id="13" name="object 13" descr=""/>
            <p:cNvSpPr/>
            <p:nvPr/>
          </p:nvSpPr>
          <p:spPr>
            <a:xfrm>
              <a:off x="6001512" y="3636644"/>
              <a:ext cx="304165" cy="304800"/>
            </a:xfrm>
            <a:custGeom>
              <a:avLst/>
              <a:gdLst/>
              <a:ahLst/>
              <a:cxnLst/>
              <a:rect l="l" t="t" r="r" b="b"/>
              <a:pathLst>
                <a:path w="304164" h="304800">
                  <a:moveTo>
                    <a:pt x="151637" y="0"/>
                  </a:moveTo>
                  <a:lnTo>
                    <a:pt x="103475" y="7765"/>
                  </a:lnTo>
                  <a:lnTo>
                    <a:pt x="61683" y="29377"/>
                  </a:lnTo>
                  <a:lnTo>
                    <a:pt x="28808" y="62309"/>
                  </a:lnTo>
                  <a:lnTo>
                    <a:pt x="7398" y="104031"/>
                  </a:lnTo>
                  <a:lnTo>
                    <a:pt x="0" y="152018"/>
                  </a:lnTo>
                  <a:lnTo>
                    <a:pt x="7398" y="200373"/>
                  </a:lnTo>
                  <a:lnTo>
                    <a:pt x="28808" y="242320"/>
                  </a:lnTo>
                  <a:lnTo>
                    <a:pt x="61683" y="275369"/>
                  </a:lnTo>
                  <a:lnTo>
                    <a:pt x="103475" y="297026"/>
                  </a:lnTo>
                  <a:lnTo>
                    <a:pt x="151637" y="304799"/>
                  </a:lnTo>
                  <a:lnTo>
                    <a:pt x="199806" y="297030"/>
                  </a:lnTo>
                  <a:lnTo>
                    <a:pt x="241641" y="275394"/>
                  </a:lnTo>
                  <a:lnTo>
                    <a:pt x="274632" y="242403"/>
                  </a:lnTo>
                  <a:lnTo>
                    <a:pt x="296268" y="200568"/>
                  </a:lnTo>
                  <a:lnTo>
                    <a:pt x="304038" y="152399"/>
                  </a:lnTo>
                  <a:lnTo>
                    <a:pt x="296268" y="104226"/>
                  </a:lnTo>
                  <a:lnTo>
                    <a:pt x="274632" y="62391"/>
                  </a:lnTo>
                  <a:lnTo>
                    <a:pt x="241641" y="29402"/>
                  </a:lnTo>
                  <a:lnTo>
                    <a:pt x="199806" y="7768"/>
                  </a:lnTo>
                  <a:lnTo>
                    <a:pt x="151637" y="0"/>
                  </a:lnTo>
                  <a:close/>
                </a:path>
              </a:pathLst>
            </a:custGeom>
            <a:solidFill>
              <a:srgbClr val="00E4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995987" y="3632504"/>
              <a:ext cx="314325" cy="313690"/>
            </a:xfrm>
            <a:custGeom>
              <a:avLst/>
              <a:gdLst/>
              <a:ahLst/>
              <a:cxnLst/>
              <a:rect l="l" t="t" r="r" b="b"/>
              <a:pathLst>
                <a:path w="314325" h="313689">
                  <a:moveTo>
                    <a:pt x="180975" y="1269"/>
                  </a:moveTo>
                  <a:lnTo>
                    <a:pt x="133121" y="1269"/>
                  </a:lnTo>
                  <a:lnTo>
                    <a:pt x="125374" y="3809"/>
                  </a:lnTo>
                  <a:lnTo>
                    <a:pt x="117779" y="5079"/>
                  </a:lnTo>
                  <a:lnTo>
                    <a:pt x="82143" y="19050"/>
                  </a:lnTo>
                  <a:lnTo>
                    <a:pt x="63220" y="31750"/>
                  </a:lnTo>
                  <a:lnTo>
                    <a:pt x="57276" y="35559"/>
                  </a:lnTo>
                  <a:lnTo>
                    <a:pt x="31292" y="63500"/>
                  </a:lnTo>
                  <a:lnTo>
                    <a:pt x="27413" y="67997"/>
                  </a:lnTo>
                  <a:lnTo>
                    <a:pt x="26875" y="68644"/>
                  </a:lnTo>
                  <a:lnTo>
                    <a:pt x="22694" y="76200"/>
                  </a:lnTo>
                  <a:lnTo>
                    <a:pt x="19024" y="82550"/>
                  </a:lnTo>
                  <a:lnTo>
                    <a:pt x="15455" y="88900"/>
                  </a:lnTo>
                  <a:lnTo>
                    <a:pt x="12306" y="96519"/>
                  </a:lnTo>
                  <a:lnTo>
                    <a:pt x="9499" y="102869"/>
                  </a:lnTo>
                  <a:lnTo>
                    <a:pt x="800" y="140969"/>
                  </a:lnTo>
                  <a:lnTo>
                    <a:pt x="0" y="157479"/>
                  </a:lnTo>
                  <a:lnTo>
                    <a:pt x="215" y="165100"/>
                  </a:lnTo>
                  <a:lnTo>
                    <a:pt x="7099" y="204469"/>
                  </a:lnTo>
                  <a:lnTo>
                    <a:pt x="9575" y="210819"/>
                  </a:lnTo>
                  <a:lnTo>
                    <a:pt x="12395" y="218439"/>
                  </a:lnTo>
                  <a:lnTo>
                    <a:pt x="15557" y="224789"/>
                  </a:lnTo>
                  <a:lnTo>
                    <a:pt x="19024" y="232409"/>
                  </a:lnTo>
                  <a:lnTo>
                    <a:pt x="22694" y="238759"/>
                  </a:lnTo>
                  <a:lnTo>
                    <a:pt x="26829" y="245176"/>
                  </a:lnTo>
                  <a:lnTo>
                    <a:pt x="31217" y="251529"/>
                  </a:lnTo>
                  <a:lnTo>
                    <a:pt x="35873" y="256616"/>
                  </a:lnTo>
                  <a:lnTo>
                    <a:pt x="40754" y="262889"/>
                  </a:lnTo>
                  <a:lnTo>
                    <a:pt x="69189" y="287019"/>
                  </a:lnTo>
                  <a:lnTo>
                    <a:pt x="75564" y="292100"/>
                  </a:lnTo>
                  <a:lnTo>
                    <a:pt x="75768" y="292100"/>
                  </a:lnTo>
                  <a:lnTo>
                    <a:pt x="82346" y="295909"/>
                  </a:lnTo>
                  <a:lnTo>
                    <a:pt x="89290" y="298538"/>
                  </a:lnTo>
                  <a:lnTo>
                    <a:pt x="96314" y="302340"/>
                  </a:lnTo>
                  <a:lnTo>
                    <a:pt x="117779" y="309879"/>
                  </a:lnTo>
                  <a:lnTo>
                    <a:pt x="118008" y="309879"/>
                  </a:lnTo>
                  <a:lnTo>
                    <a:pt x="133121" y="312419"/>
                  </a:lnTo>
                  <a:lnTo>
                    <a:pt x="133350" y="312419"/>
                  </a:lnTo>
                  <a:lnTo>
                    <a:pt x="141224" y="313689"/>
                  </a:lnTo>
                  <a:lnTo>
                    <a:pt x="173342" y="313689"/>
                  </a:lnTo>
                  <a:lnTo>
                    <a:pt x="196545" y="309879"/>
                  </a:lnTo>
                  <a:lnTo>
                    <a:pt x="211315" y="304800"/>
                  </a:lnTo>
                  <a:lnTo>
                    <a:pt x="149682" y="304800"/>
                  </a:lnTo>
                  <a:lnTo>
                    <a:pt x="141947" y="303529"/>
                  </a:lnTo>
                  <a:lnTo>
                    <a:pt x="134785" y="303529"/>
                  </a:lnTo>
                  <a:lnTo>
                    <a:pt x="127753" y="302340"/>
                  </a:lnTo>
                  <a:lnTo>
                    <a:pt x="120346" y="299790"/>
                  </a:lnTo>
                  <a:lnTo>
                    <a:pt x="120805" y="299790"/>
                  </a:lnTo>
                  <a:lnTo>
                    <a:pt x="113648" y="298538"/>
                  </a:lnTo>
                  <a:lnTo>
                    <a:pt x="106286" y="295909"/>
                  </a:lnTo>
                  <a:lnTo>
                    <a:pt x="106514" y="295909"/>
                  </a:lnTo>
                  <a:lnTo>
                    <a:pt x="99593" y="293369"/>
                  </a:lnTo>
                  <a:lnTo>
                    <a:pt x="99809" y="293369"/>
                  </a:lnTo>
                  <a:lnTo>
                    <a:pt x="93230" y="290896"/>
                  </a:lnTo>
                  <a:lnTo>
                    <a:pt x="93104" y="290741"/>
                  </a:lnTo>
                  <a:lnTo>
                    <a:pt x="86690" y="287019"/>
                  </a:lnTo>
                  <a:lnTo>
                    <a:pt x="86893" y="287019"/>
                  </a:lnTo>
                  <a:lnTo>
                    <a:pt x="80505" y="283209"/>
                  </a:lnTo>
                  <a:lnTo>
                    <a:pt x="80708" y="283209"/>
                  </a:lnTo>
                  <a:lnTo>
                    <a:pt x="77282" y="281099"/>
                  </a:lnTo>
                  <a:lnTo>
                    <a:pt x="68871" y="275670"/>
                  </a:lnTo>
                  <a:lnTo>
                    <a:pt x="68822" y="275501"/>
                  </a:lnTo>
                  <a:lnTo>
                    <a:pt x="64608" y="271779"/>
                  </a:lnTo>
                  <a:lnTo>
                    <a:pt x="63334" y="271779"/>
                  </a:lnTo>
                  <a:lnTo>
                    <a:pt x="57810" y="266700"/>
                  </a:lnTo>
                  <a:lnTo>
                    <a:pt x="57975" y="266700"/>
                  </a:lnTo>
                  <a:lnTo>
                    <a:pt x="52679" y="261619"/>
                  </a:lnTo>
                  <a:lnTo>
                    <a:pt x="52844" y="261619"/>
                  </a:lnTo>
                  <a:lnTo>
                    <a:pt x="49691" y="258442"/>
                  </a:lnTo>
                  <a:lnTo>
                    <a:pt x="49100" y="257809"/>
                  </a:lnTo>
                  <a:lnTo>
                    <a:pt x="47878" y="256616"/>
                  </a:lnTo>
                  <a:lnTo>
                    <a:pt x="43738" y="252066"/>
                  </a:lnTo>
                  <a:lnTo>
                    <a:pt x="37993" y="243996"/>
                  </a:lnTo>
                  <a:lnTo>
                    <a:pt x="34671" y="240029"/>
                  </a:lnTo>
                  <a:lnTo>
                    <a:pt x="14147" y="194309"/>
                  </a:lnTo>
                  <a:lnTo>
                    <a:pt x="11417" y="180339"/>
                  </a:lnTo>
                  <a:lnTo>
                    <a:pt x="11239" y="180339"/>
                  </a:lnTo>
                  <a:lnTo>
                    <a:pt x="10274" y="172719"/>
                  </a:lnTo>
                  <a:lnTo>
                    <a:pt x="9715" y="165100"/>
                  </a:lnTo>
                  <a:lnTo>
                    <a:pt x="9525" y="157479"/>
                  </a:lnTo>
                  <a:lnTo>
                    <a:pt x="9728" y="149859"/>
                  </a:lnTo>
                  <a:lnTo>
                    <a:pt x="18516" y="106679"/>
                  </a:lnTo>
                  <a:lnTo>
                    <a:pt x="21170" y="99059"/>
                  </a:lnTo>
                  <a:lnTo>
                    <a:pt x="21589" y="99059"/>
                  </a:lnTo>
                  <a:lnTo>
                    <a:pt x="24129" y="92709"/>
                  </a:lnTo>
                  <a:lnTo>
                    <a:pt x="27393" y="86359"/>
                  </a:lnTo>
                  <a:lnTo>
                    <a:pt x="30949" y="80009"/>
                  </a:lnTo>
                  <a:lnTo>
                    <a:pt x="31628" y="80009"/>
                  </a:lnTo>
                  <a:lnTo>
                    <a:pt x="34798" y="74929"/>
                  </a:lnTo>
                  <a:lnTo>
                    <a:pt x="38883" y="68644"/>
                  </a:lnTo>
                  <a:lnTo>
                    <a:pt x="38728" y="68644"/>
                  </a:lnTo>
                  <a:lnTo>
                    <a:pt x="43307" y="63500"/>
                  </a:lnTo>
                  <a:lnTo>
                    <a:pt x="43167" y="63500"/>
                  </a:lnTo>
                  <a:lnTo>
                    <a:pt x="46987" y="59446"/>
                  </a:lnTo>
                  <a:lnTo>
                    <a:pt x="52844" y="52069"/>
                  </a:lnTo>
                  <a:lnTo>
                    <a:pt x="54003" y="52069"/>
                  </a:lnTo>
                  <a:lnTo>
                    <a:pt x="57975" y="48259"/>
                  </a:lnTo>
                  <a:lnTo>
                    <a:pt x="57810" y="48259"/>
                  </a:lnTo>
                  <a:lnTo>
                    <a:pt x="63245" y="43262"/>
                  </a:lnTo>
                  <a:lnTo>
                    <a:pt x="63284" y="43103"/>
                  </a:lnTo>
                  <a:lnTo>
                    <a:pt x="67975" y="39996"/>
                  </a:lnTo>
                  <a:lnTo>
                    <a:pt x="68648" y="39451"/>
                  </a:lnTo>
                  <a:lnTo>
                    <a:pt x="74604" y="34384"/>
                  </a:lnTo>
                  <a:lnTo>
                    <a:pt x="74661" y="34204"/>
                  </a:lnTo>
                  <a:lnTo>
                    <a:pt x="80708" y="30479"/>
                  </a:lnTo>
                  <a:lnTo>
                    <a:pt x="80505" y="30479"/>
                  </a:lnTo>
                  <a:lnTo>
                    <a:pt x="86893" y="26669"/>
                  </a:lnTo>
                  <a:lnTo>
                    <a:pt x="88878" y="26669"/>
                  </a:lnTo>
                  <a:lnTo>
                    <a:pt x="93104" y="24218"/>
                  </a:lnTo>
                  <a:lnTo>
                    <a:pt x="93230" y="24063"/>
                  </a:lnTo>
                  <a:lnTo>
                    <a:pt x="99809" y="21589"/>
                  </a:lnTo>
                  <a:lnTo>
                    <a:pt x="99593" y="21589"/>
                  </a:lnTo>
                  <a:lnTo>
                    <a:pt x="106514" y="19050"/>
                  </a:lnTo>
                  <a:lnTo>
                    <a:pt x="106286" y="19050"/>
                  </a:lnTo>
                  <a:lnTo>
                    <a:pt x="113372" y="16509"/>
                  </a:lnTo>
                  <a:lnTo>
                    <a:pt x="113144" y="16509"/>
                  </a:lnTo>
                  <a:lnTo>
                    <a:pt x="120167" y="14041"/>
                  </a:lnTo>
                  <a:lnTo>
                    <a:pt x="119726" y="14041"/>
                  </a:lnTo>
                  <a:lnTo>
                    <a:pt x="127520" y="12700"/>
                  </a:lnTo>
                  <a:lnTo>
                    <a:pt x="127279" y="12700"/>
                  </a:lnTo>
                  <a:lnTo>
                    <a:pt x="134785" y="11429"/>
                  </a:lnTo>
                  <a:lnTo>
                    <a:pt x="134556" y="11429"/>
                  </a:lnTo>
                  <a:lnTo>
                    <a:pt x="142176" y="10159"/>
                  </a:lnTo>
                  <a:lnTo>
                    <a:pt x="164884" y="10159"/>
                  </a:lnTo>
                  <a:lnTo>
                    <a:pt x="157048" y="8889"/>
                  </a:lnTo>
                  <a:lnTo>
                    <a:pt x="211086" y="8889"/>
                  </a:lnTo>
                  <a:lnTo>
                    <a:pt x="203784" y="7619"/>
                  </a:lnTo>
                  <a:lnTo>
                    <a:pt x="188709" y="2539"/>
                  </a:lnTo>
                  <a:lnTo>
                    <a:pt x="180975" y="1269"/>
                  </a:lnTo>
                  <a:close/>
                </a:path>
                <a:path w="314325" h="313689">
                  <a:moveTo>
                    <a:pt x="251155" y="270509"/>
                  </a:moveTo>
                  <a:lnTo>
                    <a:pt x="245502" y="275501"/>
                  </a:lnTo>
                  <a:lnTo>
                    <a:pt x="245453" y="275670"/>
                  </a:lnTo>
                  <a:lnTo>
                    <a:pt x="239477" y="279485"/>
                  </a:lnTo>
                  <a:lnTo>
                    <a:pt x="239663" y="279485"/>
                  </a:lnTo>
                  <a:lnTo>
                    <a:pt x="233616" y="283209"/>
                  </a:lnTo>
                  <a:lnTo>
                    <a:pt x="233819" y="283209"/>
                  </a:lnTo>
                  <a:lnTo>
                    <a:pt x="227431" y="287019"/>
                  </a:lnTo>
                  <a:lnTo>
                    <a:pt x="227634" y="287019"/>
                  </a:lnTo>
                  <a:lnTo>
                    <a:pt x="221220" y="290741"/>
                  </a:lnTo>
                  <a:lnTo>
                    <a:pt x="221094" y="290896"/>
                  </a:lnTo>
                  <a:lnTo>
                    <a:pt x="214515" y="293369"/>
                  </a:lnTo>
                  <a:lnTo>
                    <a:pt x="214731" y="293369"/>
                  </a:lnTo>
                  <a:lnTo>
                    <a:pt x="207810" y="295909"/>
                  </a:lnTo>
                  <a:lnTo>
                    <a:pt x="208038" y="295909"/>
                  </a:lnTo>
                  <a:lnTo>
                    <a:pt x="200705" y="298538"/>
                  </a:lnTo>
                  <a:lnTo>
                    <a:pt x="193550" y="299790"/>
                  </a:lnTo>
                  <a:lnTo>
                    <a:pt x="193975" y="299790"/>
                  </a:lnTo>
                  <a:lnTo>
                    <a:pt x="186559" y="302340"/>
                  </a:lnTo>
                  <a:lnTo>
                    <a:pt x="179539" y="303529"/>
                  </a:lnTo>
                  <a:lnTo>
                    <a:pt x="172377" y="303529"/>
                  </a:lnTo>
                  <a:lnTo>
                    <a:pt x="164642" y="304800"/>
                  </a:lnTo>
                  <a:lnTo>
                    <a:pt x="211315" y="304800"/>
                  </a:lnTo>
                  <a:lnTo>
                    <a:pt x="218214" y="302340"/>
                  </a:lnTo>
                  <a:lnTo>
                    <a:pt x="225237" y="298538"/>
                  </a:lnTo>
                  <a:lnTo>
                    <a:pt x="232181" y="295909"/>
                  </a:lnTo>
                  <a:lnTo>
                    <a:pt x="238760" y="292100"/>
                  </a:lnTo>
                  <a:lnTo>
                    <a:pt x="244944" y="287019"/>
                  </a:lnTo>
                  <a:lnTo>
                    <a:pt x="251104" y="283209"/>
                  </a:lnTo>
                  <a:lnTo>
                    <a:pt x="257048" y="278129"/>
                  </a:lnTo>
                  <a:lnTo>
                    <a:pt x="264156" y="271779"/>
                  </a:lnTo>
                  <a:lnTo>
                    <a:pt x="250990" y="271779"/>
                  </a:lnTo>
                  <a:lnTo>
                    <a:pt x="251155" y="270509"/>
                  </a:lnTo>
                  <a:close/>
                </a:path>
                <a:path w="314325" h="313689">
                  <a:moveTo>
                    <a:pt x="93104" y="290741"/>
                  </a:moveTo>
                  <a:lnTo>
                    <a:pt x="93230" y="290896"/>
                  </a:lnTo>
                  <a:lnTo>
                    <a:pt x="93629" y="291046"/>
                  </a:lnTo>
                  <a:lnTo>
                    <a:pt x="93104" y="290741"/>
                  </a:lnTo>
                  <a:close/>
                </a:path>
                <a:path w="314325" h="313689">
                  <a:moveTo>
                    <a:pt x="221220" y="290741"/>
                  </a:moveTo>
                  <a:lnTo>
                    <a:pt x="220695" y="291046"/>
                  </a:lnTo>
                  <a:lnTo>
                    <a:pt x="221094" y="290896"/>
                  </a:lnTo>
                  <a:lnTo>
                    <a:pt x="221220" y="290741"/>
                  </a:lnTo>
                  <a:close/>
                </a:path>
                <a:path w="314325" h="313689">
                  <a:moveTo>
                    <a:pt x="68822" y="275501"/>
                  </a:moveTo>
                  <a:lnTo>
                    <a:pt x="68871" y="275670"/>
                  </a:lnTo>
                  <a:lnTo>
                    <a:pt x="69386" y="275999"/>
                  </a:lnTo>
                  <a:lnTo>
                    <a:pt x="68822" y="275501"/>
                  </a:lnTo>
                  <a:close/>
                </a:path>
                <a:path w="314325" h="313689">
                  <a:moveTo>
                    <a:pt x="245502" y="275501"/>
                  </a:moveTo>
                  <a:lnTo>
                    <a:pt x="244938" y="275999"/>
                  </a:lnTo>
                  <a:lnTo>
                    <a:pt x="245453" y="275670"/>
                  </a:lnTo>
                  <a:lnTo>
                    <a:pt x="245502" y="275501"/>
                  </a:lnTo>
                  <a:close/>
                </a:path>
                <a:path w="314325" h="313689">
                  <a:moveTo>
                    <a:pt x="63169" y="270509"/>
                  </a:moveTo>
                  <a:lnTo>
                    <a:pt x="63334" y="271779"/>
                  </a:lnTo>
                  <a:lnTo>
                    <a:pt x="64608" y="271779"/>
                  </a:lnTo>
                  <a:lnTo>
                    <a:pt x="63169" y="270509"/>
                  </a:lnTo>
                  <a:close/>
                </a:path>
                <a:path w="314325" h="313689">
                  <a:moveTo>
                    <a:pt x="303057" y="99059"/>
                  </a:moveTo>
                  <a:lnTo>
                    <a:pt x="293154" y="99059"/>
                  </a:lnTo>
                  <a:lnTo>
                    <a:pt x="295884" y="106679"/>
                  </a:lnTo>
                  <a:lnTo>
                    <a:pt x="298196" y="113029"/>
                  </a:lnTo>
                  <a:lnTo>
                    <a:pt x="301828" y="127000"/>
                  </a:lnTo>
                  <a:lnTo>
                    <a:pt x="303123" y="134619"/>
                  </a:lnTo>
                  <a:lnTo>
                    <a:pt x="304050" y="142239"/>
                  </a:lnTo>
                  <a:lnTo>
                    <a:pt x="304516" y="148589"/>
                  </a:lnTo>
                  <a:lnTo>
                    <a:pt x="304609" y="149859"/>
                  </a:lnTo>
                  <a:lnTo>
                    <a:pt x="304800" y="157479"/>
                  </a:lnTo>
                  <a:lnTo>
                    <a:pt x="304596" y="165100"/>
                  </a:lnTo>
                  <a:lnTo>
                    <a:pt x="304025" y="172719"/>
                  </a:lnTo>
                  <a:lnTo>
                    <a:pt x="303085" y="180339"/>
                  </a:lnTo>
                  <a:lnTo>
                    <a:pt x="302899" y="180339"/>
                  </a:lnTo>
                  <a:lnTo>
                    <a:pt x="301777" y="186689"/>
                  </a:lnTo>
                  <a:lnTo>
                    <a:pt x="300126" y="194309"/>
                  </a:lnTo>
                  <a:lnTo>
                    <a:pt x="298132" y="200659"/>
                  </a:lnTo>
                  <a:lnTo>
                    <a:pt x="295808" y="208279"/>
                  </a:lnTo>
                  <a:lnTo>
                    <a:pt x="276528" y="243719"/>
                  </a:lnTo>
                  <a:lnTo>
                    <a:pt x="275473" y="245176"/>
                  </a:lnTo>
                  <a:lnTo>
                    <a:pt x="270586" y="252066"/>
                  </a:lnTo>
                  <a:lnTo>
                    <a:pt x="266297" y="256616"/>
                  </a:lnTo>
                  <a:lnTo>
                    <a:pt x="266446" y="256616"/>
                  </a:lnTo>
                  <a:lnTo>
                    <a:pt x="261480" y="261619"/>
                  </a:lnTo>
                  <a:lnTo>
                    <a:pt x="261645" y="261619"/>
                  </a:lnTo>
                  <a:lnTo>
                    <a:pt x="256349" y="266700"/>
                  </a:lnTo>
                  <a:lnTo>
                    <a:pt x="256514" y="266700"/>
                  </a:lnTo>
                  <a:lnTo>
                    <a:pt x="250990" y="271779"/>
                  </a:lnTo>
                  <a:lnTo>
                    <a:pt x="264156" y="271779"/>
                  </a:lnTo>
                  <a:lnTo>
                    <a:pt x="291630" y="238759"/>
                  </a:lnTo>
                  <a:lnTo>
                    <a:pt x="298869" y="224789"/>
                  </a:lnTo>
                  <a:lnTo>
                    <a:pt x="302018" y="218439"/>
                  </a:lnTo>
                  <a:lnTo>
                    <a:pt x="304825" y="210819"/>
                  </a:lnTo>
                  <a:lnTo>
                    <a:pt x="307225" y="204469"/>
                  </a:lnTo>
                  <a:lnTo>
                    <a:pt x="307289" y="203200"/>
                  </a:lnTo>
                  <a:lnTo>
                    <a:pt x="309410" y="196850"/>
                  </a:lnTo>
                  <a:lnTo>
                    <a:pt x="311111" y="189229"/>
                  </a:lnTo>
                  <a:lnTo>
                    <a:pt x="312534" y="180339"/>
                  </a:lnTo>
                  <a:lnTo>
                    <a:pt x="303085" y="180339"/>
                  </a:lnTo>
                  <a:lnTo>
                    <a:pt x="303240" y="179085"/>
                  </a:lnTo>
                  <a:lnTo>
                    <a:pt x="312697" y="179085"/>
                  </a:lnTo>
                  <a:lnTo>
                    <a:pt x="313524" y="172719"/>
                  </a:lnTo>
                  <a:lnTo>
                    <a:pt x="314121" y="165100"/>
                  </a:lnTo>
                  <a:lnTo>
                    <a:pt x="314325" y="157479"/>
                  </a:lnTo>
                  <a:lnTo>
                    <a:pt x="314139" y="149859"/>
                  </a:lnTo>
                  <a:lnTo>
                    <a:pt x="314109" y="148589"/>
                  </a:lnTo>
                  <a:lnTo>
                    <a:pt x="313601" y="142239"/>
                  </a:lnTo>
                  <a:lnTo>
                    <a:pt x="313499" y="140969"/>
                  </a:lnTo>
                  <a:lnTo>
                    <a:pt x="304749" y="102869"/>
                  </a:lnTo>
                  <a:lnTo>
                    <a:pt x="303057" y="99059"/>
                  </a:lnTo>
                  <a:close/>
                </a:path>
                <a:path w="314325" h="313689">
                  <a:moveTo>
                    <a:pt x="37993" y="243996"/>
                  </a:moveTo>
                  <a:lnTo>
                    <a:pt x="38832" y="245176"/>
                  </a:lnTo>
                  <a:lnTo>
                    <a:pt x="38980" y="245176"/>
                  </a:lnTo>
                  <a:lnTo>
                    <a:pt x="37993" y="243996"/>
                  </a:lnTo>
                  <a:close/>
                </a:path>
                <a:path w="314325" h="313689">
                  <a:moveTo>
                    <a:pt x="276309" y="243996"/>
                  </a:moveTo>
                  <a:lnTo>
                    <a:pt x="275345" y="245176"/>
                  </a:lnTo>
                  <a:lnTo>
                    <a:pt x="275473" y="245176"/>
                  </a:lnTo>
                  <a:lnTo>
                    <a:pt x="276309" y="243996"/>
                  </a:lnTo>
                  <a:close/>
                </a:path>
                <a:path w="314325" h="313689">
                  <a:moveTo>
                    <a:pt x="11204" y="179085"/>
                  </a:moveTo>
                  <a:lnTo>
                    <a:pt x="11239" y="180339"/>
                  </a:lnTo>
                  <a:lnTo>
                    <a:pt x="11417" y="180339"/>
                  </a:lnTo>
                  <a:lnTo>
                    <a:pt x="11204" y="179085"/>
                  </a:lnTo>
                  <a:close/>
                </a:path>
                <a:path w="314325" h="313689">
                  <a:moveTo>
                    <a:pt x="21589" y="99059"/>
                  </a:moveTo>
                  <a:lnTo>
                    <a:pt x="21170" y="99059"/>
                  </a:lnTo>
                  <a:lnTo>
                    <a:pt x="21082" y="100329"/>
                  </a:lnTo>
                  <a:lnTo>
                    <a:pt x="21589" y="99059"/>
                  </a:lnTo>
                  <a:close/>
                </a:path>
                <a:path w="314325" h="313689">
                  <a:moveTo>
                    <a:pt x="293832" y="80009"/>
                  </a:moveTo>
                  <a:lnTo>
                    <a:pt x="283375" y="80009"/>
                  </a:lnTo>
                  <a:lnTo>
                    <a:pt x="287045" y="86359"/>
                  </a:lnTo>
                  <a:lnTo>
                    <a:pt x="290296" y="92709"/>
                  </a:lnTo>
                  <a:lnTo>
                    <a:pt x="293242" y="100329"/>
                  </a:lnTo>
                  <a:lnTo>
                    <a:pt x="293154" y="99059"/>
                  </a:lnTo>
                  <a:lnTo>
                    <a:pt x="303057" y="99059"/>
                  </a:lnTo>
                  <a:lnTo>
                    <a:pt x="301929" y="96519"/>
                  </a:lnTo>
                  <a:lnTo>
                    <a:pt x="298767" y="88900"/>
                  </a:lnTo>
                  <a:lnTo>
                    <a:pt x="295300" y="82550"/>
                  </a:lnTo>
                  <a:lnTo>
                    <a:pt x="293832" y="80009"/>
                  </a:lnTo>
                  <a:close/>
                </a:path>
                <a:path w="314325" h="313689">
                  <a:moveTo>
                    <a:pt x="31628" y="80009"/>
                  </a:moveTo>
                  <a:lnTo>
                    <a:pt x="30949" y="80009"/>
                  </a:lnTo>
                  <a:lnTo>
                    <a:pt x="30835" y="81279"/>
                  </a:lnTo>
                  <a:lnTo>
                    <a:pt x="31628" y="80009"/>
                  </a:lnTo>
                  <a:close/>
                </a:path>
                <a:path w="314325" h="313689">
                  <a:moveTo>
                    <a:pt x="273570" y="52069"/>
                  </a:moveTo>
                  <a:lnTo>
                    <a:pt x="261480" y="52069"/>
                  </a:lnTo>
                  <a:lnTo>
                    <a:pt x="267337" y="59446"/>
                  </a:lnTo>
                  <a:lnTo>
                    <a:pt x="269560" y="61804"/>
                  </a:lnTo>
                  <a:lnTo>
                    <a:pt x="275596" y="68644"/>
                  </a:lnTo>
                  <a:lnTo>
                    <a:pt x="275442" y="68644"/>
                  </a:lnTo>
                  <a:lnTo>
                    <a:pt x="279653" y="74929"/>
                  </a:lnTo>
                  <a:lnTo>
                    <a:pt x="283489" y="81279"/>
                  </a:lnTo>
                  <a:lnTo>
                    <a:pt x="283375" y="80009"/>
                  </a:lnTo>
                  <a:lnTo>
                    <a:pt x="293832" y="80009"/>
                  </a:lnTo>
                  <a:lnTo>
                    <a:pt x="291630" y="76200"/>
                  </a:lnTo>
                  <a:lnTo>
                    <a:pt x="287540" y="69850"/>
                  </a:lnTo>
                  <a:lnTo>
                    <a:pt x="286711" y="68644"/>
                  </a:lnTo>
                  <a:lnTo>
                    <a:pt x="275596" y="68644"/>
                  </a:lnTo>
                  <a:lnTo>
                    <a:pt x="275021" y="67997"/>
                  </a:lnTo>
                  <a:lnTo>
                    <a:pt x="286266" y="67997"/>
                  </a:lnTo>
                  <a:lnTo>
                    <a:pt x="283171" y="63500"/>
                  </a:lnTo>
                  <a:lnTo>
                    <a:pt x="278511" y="57150"/>
                  </a:lnTo>
                  <a:lnTo>
                    <a:pt x="273570" y="52069"/>
                  </a:lnTo>
                  <a:close/>
                </a:path>
                <a:path w="314325" h="313689">
                  <a:moveTo>
                    <a:pt x="39303" y="67997"/>
                  </a:moveTo>
                  <a:lnTo>
                    <a:pt x="38728" y="68644"/>
                  </a:lnTo>
                  <a:lnTo>
                    <a:pt x="38883" y="68644"/>
                  </a:lnTo>
                  <a:lnTo>
                    <a:pt x="39303" y="67997"/>
                  </a:lnTo>
                  <a:close/>
                </a:path>
                <a:path w="314325" h="313689">
                  <a:moveTo>
                    <a:pt x="47861" y="58345"/>
                  </a:moveTo>
                  <a:lnTo>
                    <a:pt x="46987" y="59446"/>
                  </a:lnTo>
                  <a:lnTo>
                    <a:pt x="47883" y="58496"/>
                  </a:lnTo>
                  <a:lnTo>
                    <a:pt x="47861" y="58345"/>
                  </a:lnTo>
                  <a:close/>
                </a:path>
                <a:path w="314325" h="313689">
                  <a:moveTo>
                    <a:pt x="266463" y="58345"/>
                  </a:moveTo>
                  <a:lnTo>
                    <a:pt x="266441" y="58496"/>
                  </a:lnTo>
                  <a:lnTo>
                    <a:pt x="267337" y="59446"/>
                  </a:lnTo>
                  <a:lnTo>
                    <a:pt x="266582" y="58496"/>
                  </a:lnTo>
                  <a:lnTo>
                    <a:pt x="266463" y="58345"/>
                  </a:lnTo>
                  <a:close/>
                </a:path>
                <a:path w="314325" h="313689">
                  <a:moveTo>
                    <a:pt x="54003" y="52069"/>
                  </a:moveTo>
                  <a:lnTo>
                    <a:pt x="52844" y="52069"/>
                  </a:lnTo>
                  <a:lnTo>
                    <a:pt x="52679" y="53339"/>
                  </a:lnTo>
                  <a:lnTo>
                    <a:pt x="54003" y="52069"/>
                  </a:lnTo>
                  <a:close/>
                </a:path>
                <a:path w="314325" h="313689">
                  <a:moveTo>
                    <a:pt x="230802" y="28680"/>
                  </a:moveTo>
                  <a:lnTo>
                    <a:pt x="239663" y="34204"/>
                  </a:lnTo>
                  <a:lnTo>
                    <a:pt x="239732" y="34384"/>
                  </a:lnTo>
                  <a:lnTo>
                    <a:pt x="246316" y="39996"/>
                  </a:lnTo>
                  <a:lnTo>
                    <a:pt x="251040" y="43103"/>
                  </a:lnTo>
                  <a:lnTo>
                    <a:pt x="251079" y="43262"/>
                  </a:lnTo>
                  <a:lnTo>
                    <a:pt x="256514" y="48259"/>
                  </a:lnTo>
                  <a:lnTo>
                    <a:pt x="256349" y="48259"/>
                  </a:lnTo>
                  <a:lnTo>
                    <a:pt x="261645" y="53339"/>
                  </a:lnTo>
                  <a:lnTo>
                    <a:pt x="261480" y="52069"/>
                  </a:lnTo>
                  <a:lnTo>
                    <a:pt x="273570" y="52069"/>
                  </a:lnTo>
                  <a:lnTo>
                    <a:pt x="268376" y="45719"/>
                  </a:lnTo>
                  <a:lnTo>
                    <a:pt x="262915" y="40639"/>
                  </a:lnTo>
                  <a:lnTo>
                    <a:pt x="257225" y="35559"/>
                  </a:lnTo>
                  <a:lnTo>
                    <a:pt x="251282" y="31750"/>
                  </a:lnTo>
                  <a:lnTo>
                    <a:pt x="249697" y="30479"/>
                  </a:lnTo>
                  <a:lnTo>
                    <a:pt x="233819" y="30479"/>
                  </a:lnTo>
                  <a:lnTo>
                    <a:pt x="230802" y="28680"/>
                  </a:lnTo>
                  <a:close/>
                </a:path>
                <a:path w="314325" h="313689">
                  <a:moveTo>
                    <a:pt x="63759" y="42789"/>
                  </a:moveTo>
                  <a:lnTo>
                    <a:pt x="63284" y="43103"/>
                  </a:lnTo>
                  <a:lnTo>
                    <a:pt x="63245" y="43262"/>
                  </a:lnTo>
                  <a:lnTo>
                    <a:pt x="63759" y="42789"/>
                  </a:lnTo>
                  <a:close/>
                </a:path>
                <a:path w="314325" h="313689">
                  <a:moveTo>
                    <a:pt x="250565" y="42789"/>
                  </a:moveTo>
                  <a:lnTo>
                    <a:pt x="251079" y="43262"/>
                  </a:lnTo>
                  <a:lnTo>
                    <a:pt x="251040" y="43103"/>
                  </a:lnTo>
                  <a:lnTo>
                    <a:pt x="250565" y="42789"/>
                  </a:lnTo>
                  <a:close/>
                </a:path>
                <a:path w="314325" h="313689">
                  <a:moveTo>
                    <a:pt x="68848" y="39282"/>
                  </a:moveTo>
                  <a:lnTo>
                    <a:pt x="68023" y="39996"/>
                  </a:lnTo>
                  <a:lnTo>
                    <a:pt x="68799" y="39451"/>
                  </a:lnTo>
                  <a:lnTo>
                    <a:pt x="68848" y="39282"/>
                  </a:lnTo>
                  <a:close/>
                </a:path>
                <a:path w="314325" h="313689">
                  <a:moveTo>
                    <a:pt x="245476" y="39282"/>
                  </a:moveTo>
                  <a:lnTo>
                    <a:pt x="245525" y="39451"/>
                  </a:lnTo>
                  <a:lnTo>
                    <a:pt x="246348" y="39996"/>
                  </a:lnTo>
                  <a:lnTo>
                    <a:pt x="245476" y="39282"/>
                  </a:lnTo>
                  <a:close/>
                </a:path>
                <a:path w="314325" h="313689">
                  <a:moveTo>
                    <a:pt x="75182" y="33891"/>
                  </a:moveTo>
                  <a:lnTo>
                    <a:pt x="74661" y="34204"/>
                  </a:lnTo>
                  <a:lnTo>
                    <a:pt x="74603" y="34384"/>
                  </a:lnTo>
                  <a:lnTo>
                    <a:pt x="75182" y="33891"/>
                  </a:lnTo>
                  <a:close/>
                </a:path>
                <a:path w="314325" h="313689">
                  <a:moveTo>
                    <a:pt x="239153" y="33891"/>
                  </a:moveTo>
                  <a:lnTo>
                    <a:pt x="239732" y="34384"/>
                  </a:lnTo>
                  <a:lnTo>
                    <a:pt x="239663" y="34204"/>
                  </a:lnTo>
                  <a:lnTo>
                    <a:pt x="239153" y="33891"/>
                  </a:lnTo>
                  <a:close/>
                </a:path>
                <a:path w="314325" h="313689">
                  <a:moveTo>
                    <a:pt x="244944" y="26669"/>
                  </a:moveTo>
                  <a:lnTo>
                    <a:pt x="227431" y="26669"/>
                  </a:lnTo>
                  <a:lnTo>
                    <a:pt x="233819" y="30479"/>
                  </a:lnTo>
                  <a:lnTo>
                    <a:pt x="249697" y="30479"/>
                  </a:lnTo>
                  <a:lnTo>
                    <a:pt x="244944" y="26669"/>
                  </a:lnTo>
                  <a:close/>
                </a:path>
                <a:path w="314325" h="313689">
                  <a:moveTo>
                    <a:pt x="88878" y="26669"/>
                  </a:moveTo>
                  <a:lnTo>
                    <a:pt x="86893" y="26669"/>
                  </a:lnTo>
                  <a:lnTo>
                    <a:pt x="86690" y="27939"/>
                  </a:lnTo>
                  <a:lnTo>
                    <a:pt x="88878" y="26669"/>
                  </a:lnTo>
                  <a:close/>
                </a:path>
                <a:path w="314325" h="313689">
                  <a:moveTo>
                    <a:pt x="211086" y="8889"/>
                  </a:moveTo>
                  <a:lnTo>
                    <a:pt x="157276" y="8889"/>
                  </a:lnTo>
                  <a:lnTo>
                    <a:pt x="149440" y="10159"/>
                  </a:lnTo>
                  <a:lnTo>
                    <a:pt x="172148" y="10159"/>
                  </a:lnTo>
                  <a:lnTo>
                    <a:pt x="179768" y="11429"/>
                  </a:lnTo>
                  <a:lnTo>
                    <a:pt x="179539" y="11429"/>
                  </a:lnTo>
                  <a:lnTo>
                    <a:pt x="187032" y="12700"/>
                  </a:lnTo>
                  <a:lnTo>
                    <a:pt x="186804" y="12700"/>
                  </a:lnTo>
                  <a:lnTo>
                    <a:pt x="194598" y="14041"/>
                  </a:lnTo>
                  <a:lnTo>
                    <a:pt x="194157" y="14041"/>
                  </a:lnTo>
                  <a:lnTo>
                    <a:pt x="201180" y="16509"/>
                  </a:lnTo>
                  <a:lnTo>
                    <a:pt x="200952" y="16509"/>
                  </a:lnTo>
                  <a:lnTo>
                    <a:pt x="208038" y="19050"/>
                  </a:lnTo>
                  <a:lnTo>
                    <a:pt x="207810" y="19050"/>
                  </a:lnTo>
                  <a:lnTo>
                    <a:pt x="214731" y="21589"/>
                  </a:lnTo>
                  <a:lnTo>
                    <a:pt x="214515" y="21589"/>
                  </a:lnTo>
                  <a:lnTo>
                    <a:pt x="221094" y="24063"/>
                  </a:lnTo>
                  <a:lnTo>
                    <a:pt x="221220" y="24218"/>
                  </a:lnTo>
                  <a:lnTo>
                    <a:pt x="227634" y="27939"/>
                  </a:lnTo>
                  <a:lnTo>
                    <a:pt x="227431" y="26669"/>
                  </a:lnTo>
                  <a:lnTo>
                    <a:pt x="244944" y="26669"/>
                  </a:lnTo>
                  <a:lnTo>
                    <a:pt x="238760" y="22859"/>
                  </a:lnTo>
                  <a:lnTo>
                    <a:pt x="238556" y="22859"/>
                  </a:lnTo>
                  <a:lnTo>
                    <a:pt x="231978" y="19050"/>
                  </a:lnTo>
                  <a:lnTo>
                    <a:pt x="225196" y="15239"/>
                  </a:lnTo>
                  <a:lnTo>
                    <a:pt x="218236" y="12700"/>
                  </a:lnTo>
                  <a:lnTo>
                    <a:pt x="211086" y="8889"/>
                  </a:lnTo>
                  <a:close/>
                </a:path>
                <a:path w="314325" h="313689">
                  <a:moveTo>
                    <a:pt x="93629" y="23913"/>
                  </a:moveTo>
                  <a:lnTo>
                    <a:pt x="93230" y="24063"/>
                  </a:lnTo>
                  <a:lnTo>
                    <a:pt x="93104" y="24218"/>
                  </a:lnTo>
                  <a:lnTo>
                    <a:pt x="93629" y="23913"/>
                  </a:lnTo>
                  <a:close/>
                </a:path>
                <a:path w="314325" h="313689">
                  <a:moveTo>
                    <a:pt x="220695" y="23913"/>
                  </a:moveTo>
                  <a:lnTo>
                    <a:pt x="221220" y="24218"/>
                  </a:lnTo>
                  <a:lnTo>
                    <a:pt x="221094" y="24063"/>
                  </a:lnTo>
                  <a:lnTo>
                    <a:pt x="220695" y="23913"/>
                  </a:lnTo>
                  <a:close/>
                </a:path>
                <a:path w="314325" h="313689">
                  <a:moveTo>
                    <a:pt x="157276" y="8889"/>
                  </a:moveTo>
                  <a:lnTo>
                    <a:pt x="157048" y="8889"/>
                  </a:lnTo>
                  <a:lnTo>
                    <a:pt x="164884" y="10159"/>
                  </a:lnTo>
                  <a:lnTo>
                    <a:pt x="149440" y="10159"/>
                  </a:lnTo>
                  <a:lnTo>
                    <a:pt x="157276" y="8889"/>
                  </a:lnTo>
                  <a:close/>
                </a:path>
                <a:path w="314325" h="313689">
                  <a:moveTo>
                    <a:pt x="165125" y="0"/>
                  </a:moveTo>
                  <a:lnTo>
                    <a:pt x="148958" y="0"/>
                  </a:lnTo>
                  <a:lnTo>
                    <a:pt x="140982" y="1269"/>
                  </a:lnTo>
                  <a:lnTo>
                    <a:pt x="173100" y="1269"/>
                  </a:lnTo>
                  <a:lnTo>
                    <a:pt x="1651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6016180" y="2690672"/>
            <a:ext cx="273685" cy="1214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ourier New"/>
                <a:cs typeface="Courier New"/>
              </a:rPr>
              <a:t>y</a:t>
            </a:r>
            <a:r>
              <a:rPr dirty="0" baseline="-16908" sz="1725" spc="-37">
                <a:latin typeface="Courier New"/>
                <a:cs typeface="Courier New"/>
              </a:rPr>
              <a:t>1</a:t>
            </a:r>
            <a:endParaRPr baseline="-16908" sz="1725">
              <a:latin typeface="Courier New"/>
              <a:cs typeface="Courier New"/>
            </a:endParaRPr>
          </a:p>
          <a:p>
            <a:pPr marL="38100" marR="30480">
              <a:lnSpc>
                <a:spcPct val="166700"/>
              </a:lnSpc>
            </a:pPr>
            <a:r>
              <a:rPr dirty="0" sz="1800" spc="-130">
                <a:latin typeface="Courier New"/>
                <a:cs typeface="Courier New"/>
              </a:rPr>
              <a:t>y</a:t>
            </a:r>
            <a:r>
              <a:rPr dirty="0" baseline="-16908" sz="1725" spc="-195">
                <a:latin typeface="Courier New"/>
                <a:cs typeface="Courier New"/>
              </a:rPr>
              <a:t>2 </a:t>
            </a:r>
            <a:r>
              <a:rPr dirty="0" sz="1800" spc="-130">
                <a:latin typeface="Courier New"/>
                <a:cs typeface="Courier New"/>
              </a:rPr>
              <a:t>y</a:t>
            </a:r>
            <a:r>
              <a:rPr dirty="0" baseline="-16908" sz="1725" spc="-195">
                <a:latin typeface="Courier New"/>
                <a:cs typeface="Courier New"/>
              </a:rPr>
              <a:t>3</a:t>
            </a:r>
            <a:endParaRPr baseline="-16908" sz="1725">
              <a:latin typeface="Courier New"/>
              <a:cs typeface="Courier New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5995987" y="4546904"/>
            <a:ext cx="314325" cy="313690"/>
            <a:chOff x="5995987" y="4546904"/>
            <a:chExt cx="314325" cy="313690"/>
          </a:xfrm>
        </p:grpSpPr>
        <p:sp>
          <p:nvSpPr>
            <p:cNvPr id="17" name="object 17" descr=""/>
            <p:cNvSpPr/>
            <p:nvPr/>
          </p:nvSpPr>
          <p:spPr>
            <a:xfrm>
              <a:off x="6001512" y="4551044"/>
              <a:ext cx="304165" cy="304800"/>
            </a:xfrm>
            <a:custGeom>
              <a:avLst/>
              <a:gdLst/>
              <a:ahLst/>
              <a:cxnLst/>
              <a:rect l="l" t="t" r="r" b="b"/>
              <a:pathLst>
                <a:path w="304164" h="304800">
                  <a:moveTo>
                    <a:pt x="151637" y="0"/>
                  </a:moveTo>
                  <a:lnTo>
                    <a:pt x="103475" y="7765"/>
                  </a:lnTo>
                  <a:lnTo>
                    <a:pt x="61683" y="29377"/>
                  </a:lnTo>
                  <a:lnTo>
                    <a:pt x="28808" y="62309"/>
                  </a:lnTo>
                  <a:lnTo>
                    <a:pt x="7398" y="104031"/>
                  </a:lnTo>
                  <a:lnTo>
                    <a:pt x="0" y="152018"/>
                  </a:lnTo>
                  <a:lnTo>
                    <a:pt x="7398" y="200373"/>
                  </a:lnTo>
                  <a:lnTo>
                    <a:pt x="28808" y="242320"/>
                  </a:lnTo>
                  <a:lnTo>
                    <a:pt x="61683" y="275369"/>
                  </a:lnTo>
                  <a:lnTo>
                    <a:pt x="103475" y="297026"/>
                  </a:lnTo>
                  <a:lnTo>
                    <a:pt x="151637" y="304799"/>
                  </a:lnTo>
                  <a:lnTo>
                    <a:pt x="199806" y="297030"/>
                  </a:lnTo>
                  <a:lnTo>
                    <a:pt x="241641" y="275394"/>
                  </a:lnTo>
                  <a:lnTo>
                    <a:pt x="274632" y="242403"/>
                  </a:lnTo>
                  <a:lnTo>
                    <a:pt x="296268" y="200568"/>
                  </a:lnTo>
                  <a:lnTo>
                    <a:pt x="304038" y="152399"/>
                  </a:lnTo>
                  <a:lnTo>
                    <a:pt x="296268" y="104226"/>
                  </a:lnTo>
                  <a:lnTo>
                    <a:pt x="274632" y="62391"/>
                  </a:lnTo>
                  <a:lnTo>
                    <a:pt x="241641" y="29402"/>
                  </a:lnTo>
                  <a:lnTo>
                    <a:pt x="199806" y="7768"/>
                  </a:lnTo>
                  <a:lnTo>
                    <a:pt x="151637" y="0"/>
                  </a:lnTo>
                  <a:close/>
                </a:path>
              </a:pathLst>
            </a:custGeom>
            <a:solidFill>
              <a:srgbClr val="00E4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995987" y="4546904"/>
              <a:ext cx="314325" cy="313690"/>
            </a:xfrm>
            <a:custGeom>
              <a:avLst/>
              <a:gdLst/>
              <a:ahLst/>
              <a:cxnLst/>
              <a:rect l="l" t="t" r="r" b="b"/>
              <a:pathLst>
                <a:path w="314325" h="313689">
                  <a:moveTo>
                    <a:pt x="180975" y="1269"/>
                  </a:moveTo>
                  <a:lnTo>
                    <a:pt x="133121" y="1269"/>
                  </a:lnTo>
                  <a:lnTo>
                    <a:pt x="125374" y="3809"/>
                  </a:lnTo>
                  <a:lnTo>
                    <a:pt x="117779" y="5079"/>
                  </a:lnTo>
                  <a:lnTo>
                    <a:pt x="82143" y="19050"/>
                  </a:lnTo>
                  <a:lnTo>
                    <a:pt x="63220" y="31750"/>
                  </a:lnTo>
                  <a:lnTo>
                    <a:pt x="57276" y="35559"/>
                  </a:lnTo>
                  <a:lnTo>
                    <a:pt x="31292" y="63500"/>
                  </a:lnTo>
                  <a:lnTo>
                    <a:pt x="27413" y="67997"/>
                  </a:lnTo>
                  <a:lnTo>
                    <a:pt x="26875" y="68644"/>
                  </a:lnTo>
                  <a:lnTo>
                    <a:pt x="22694" y="76200"/>
                  </a:lnTo>
                  <a:lnTo>
                    <a:pt x="19024" y="82550"/>
                  </a:lnTo>
                  <a:lnTo>
                    <a:pt x="15455" y="88900"/>
                  </a:lnTo>
                  <a:lnTo>
                    <a:pt x="12306" y="96519"/>
                  </a:lnTo>
                  <a:lnTo>
                    <a:pt x="9499" y="102869"/>
                  </a:lnTo>
                  <a:lnTo>
                    <a:pt x="800" y="140969"/>
                  </a:lnTo>
                  <a:lnTo>
                    <a:pt x="0" y="157479"/>
                  </a:lnTo>
                  <a:lnTo>
                    <a:pt x="215" y="165100"/>
                  </a:lnTo>
                  <a:lnTo>
                    <a:pt x="7099" y="204469"/>
                  </a:lnTo>
                  <a:lnTo>
                    <a:pt x="9575" y="210819"/>
                  </a:lnTo>
                  <a:lnTo>
                    <a:pt x="12395" y="218439"/>
                  </a:lnTo>
                  <a:lnTo>
                    <a:pt x="15557" y="224789"/>
                  </a:lnTo>
                  <a:lnTo>
                    <a:pt x="19024" y="232409"/>
                  </a:lnTo>
                  <a:lnTo>
                    <a:pt x="22694" y="238759"/>
                  </a:lnTo>
                  <a:lnTo>
                    <a:pt x="26829" y="245176"/>
                  </a:lnTo>
                  <a:lnTo>
                    <a:pt x="31217" y="251529"/>
                  </a:lnTo>
                  <a:lnTo>
                    <a:pt x="35873" y="256616"/>
                  </a:lnTo>
                  <a:lnTo>
                    <a:pt x="40754" y="262889"/>
                  </a:lnTo>
                  <a:lnTo>
                    <a:pt x="69189" y="287019"/>
                  </a:lnTo>
                  <a:lnTo>
                    <a:pt x="75564" y="292100"/>
                  </a:lnTo>
                  <a:lnTo>
                    <a:pt x="75768" y="292100"/>
                  </a:lnTo>
                  <a:lnTo>
                    <a:pt x="82346" y="295909"/>
                  </a:lnTo>
                  <a:lnTo>
                    <a:pt x="89290" y="298538"/>
                  </a:lnTo>
                  <a:lnTo>
                    <a:pt x="96314" y="302340"/>
                  </a:lnTo>
                  <a:lnTo>
                    <a:pt x="117779" y="309879"/>
                  </a:lnTo>
                  <a:lnTo>
                    <a:pt x="118008" y="309879"/>
                  </a:lnTo>
                  <a:lnTo>
                    <a:pt x="133121" y="312419"/>
                  </a:lnTo>
                  <a:lnTo>
                    <a:pt x="133350" y="312419"/>
                  </a:lnTo>
                  <a:lnTo>
                    <a:pt x="141224" y="313689"/>
                  </a:lnTo>
                  <a:lnTo>
                    <a:pt x="173342" y="313689"/>
                  </a:lnTo>
                  <a:lnTo>
                    <a:pt x="196545" y="309879"/>
                  </a:lnTo>
                  <a:lnTo>
                    <a:pt x="211315" y="304800"/>
                  </a:lnTo>
                  <a:lnTo>
                    <a:pt x="149682" y="304800"/>
                  </a:lnTo>
                  <a:lnTo>
                    <a:pt x="141947" y="303529"/>
                  </a:lnTo>
                  <a:lnTo>
                    <a:pt x="134785" y="303529"/>
                  </a:lnTo>
                  <a:lnTo>
                    <a:pt x="127753" y="302340"/>
                  </a:lnTo>
                  <a:lnTo>
                    <a:pt x="120346" y="299790"/>
                  </a:lnTo>
                  <a:lnTo>
                    <a:pt x="120805" y="299790"/>
                  </a:lnTo>
                  <a:lnTo>
                    <a:pt x="113648" y="298538"/>
                  </a:lnTo>
                  <a:lnTo>
                    <a:pt x="106286" y="295909"/>
                  </a:lnTo>
                  <a:lnTo>
                    <a:pt x="106514" y="295909"/>
                  </a:lnTo>
                  <a:lnTo>
                    <a:pt x="99593" y="293369"/>
                  </a:lnTo>
                  <a:lnTo>
                    <a:pt x="99809" y="293369"/>
                  </a:lnTo>
                  <a:lnTo>
                    <a:pt x="93230" y="290896"/>
                  </a:lnTo>
                  <a:lnTo>
                    <a:pt x="93104" y="290741"/>
                  </a:lnTo>
                  <a:lnTo>
                    <a:pt x="86690" y="287019"/>
                  </a:lnTo>
                  <a:lnTo>
                    <a:pt x="86893" y="287019"/>
                  </a:lnTo>
                  <a:lnTo>
                    <a:pt x="80505" y="283209"/>
                  </a:lnTo>
                  <a:lnTo>
                    <a:pt x="80708" y="283209"/>
                  </a:lnTo>
                  <a:lnTo>
                    <a:pt x="77282" y="281099"/>
                  </a:lnTo>
                  <a:lnTo>
                    <a:pt x="68871" y="275670"/>
                  </a:lnTo>
                  <a:lnTo>
                    <a:pt x="68822" y="275501"/>
                  </a:lnTo>
                  <a:lnTo>
                    <a:pt x="64608" y="271779"/>
                  </a:lnTo>
                  <a:lnTo>
                    <a:pt x="63334" y="271779"/>
                  </a:lnTo>
                  <a:lnTo>
                    <a:pt x="57810" y="266700"/>
                  </a:lnTo>
                  <a:lnTo>
                    <a:pt x="57975" y="266700"/>
                  </a:lnTo>
                  <a:lnTo>
                    <a:pt x="52679" y="261619"/>
                  </a:lnTo>
                  <a:lnTo>
                    <a:pt x="52844" y="261619"/>
                  </a:lnTo>
                  <a:lnTo>
                    <a:pt x="49691" y="258442"/>
                  </a:lnTo>
                  <a:lnTo>
                    <a:pt x="49100" y="257809"/>
                  </a:lnTo>
                  <a:lnTo>
                    <a:pt x="47878" y="256616"/>
                  </a:lnTo>
                  <a:lnTo>
                    <a:pt x="43738" y="252066"/>
                  </a:lnTo>
                  <a:lnTo>
                    <a:pt x="37993" y="243996"/>
                  </a:lnTo>
                  <a:lnTo>
                    <a:pt x="34671" y="240029"/>
                  </a:lnTo>
                  <a:lnTo>
                    <a:pt x="14147" y="194309"/>
                  </a:lnTo>
                  <a:lnTo>
                    <a:pt x="11417" y="180339"/>
                  </a:lnTo>
                  <a:lnTo>
                    <a:pt x="11239" y="180339"/>
                  </a:lnTo>
                  <a:lnTo>
                    <a:pt x="10274" y="172719"/>
                  </a:lnTo>
                  <a:lnTo>
                    <a:pt x="9715" y="165100"/>
                  </a:lnTo>
                  <a:lnTo>
                    <a:pt x="9525" y="157479"/>
                  </a:lnTo>
                  <a:lnTo>
                    <a:pt x="9728" y="149859"/>
                  </a:lnTo>
                  <a:lnTo>
                    <a:pt x="18516" y="106679"/>
                  </a:lnTo>
                  <a:lnTo>
                    <a:pt x="21170" y="99059"/>
                  </a:lnTo>
                  <a:lnTo>
                    <a:pt x="21589" y="99059"/>
                  </a:lnTo>
                  <a:lnTo>
                    <a:pt x="24129" y="92709"/>
                  </a:lnTo>
                  <a:lnTo>
                    <a:pt x="27393" y="86359"/>
                  </a:lnTo>
                  <a:lnTo>
                    <a:pt x="30949" y="80009"/>
                  </a:lnTo>
                  <a:lnTo>
                    <a:pt x="31628" y="80009"/>
                  </a:lnTo>
                  <a:lnTo>
                    <a:pt x="34798" y="74929"/>
                  </a:lnTo>
                  <a:lnTo>
                    <a:pt x="38883" y="68644"/>
                  </a:lnTo>
                  <a:lnTo>
                    <a:pt x="38728" y="68644"/>
                  </a:lnTo>
                  <a:lnTo>
                    <a:pt x="43307" y="63500"/>
                  </a:lnTo>
                  <a:lnTo>
                    <a:pt x="43167" y="63500"/>
                  </a:lnTo>
                  <a:lnTo>
                    <a:pt x="46987" y="59446"/>
                  </a:lnTo>
                  <a:lnTo>
                    <a:pt x="52844" y="52069"/>
                  </a:lnTo>
                  <a:lnTo>
                    <a:pt x="54003" y="52069"/>
                  </a:lnTo>
                  <a:lnTo>
                    <a:pt x="57975" y="48259"/>
                  </a:lnTo>
                  <a:lnTo>
                    <a:pt x="57810" y="48259"/>
                  </a:lnTo>
                  <a:lnTo>
                    <a:pt x="63245" y="43262"/>
                  </a:lnTo>
                  <a:lnTo>
                    <a:pt x="63284" y="43103"/>
                  </a:lnTo>
                  <a:lnTo>
                    <a:pt x="67975" y="39996"/>
                  </a:lnTo>
                  <a:lnTo>
                    <a:pt x="68648" y="39451"/>
                  </a:lnTo>
                  <a:lnTo>
                    <a:pt x="74604" y="34384"/>
                  </a:lnTo>
                  <a:lnTo>
                    <a:pt x="74661" y="34204"/>
                  </a:lnTo>
                  <a:lnTo>
                    <a:pt x="80708" y="30479"/>
                  </a:lnTo>
                  <a:lnTo>
                    <a:pt x="80505" y="30479"/>
                  </a:lnTo>
                  <a:lnTo>
                    <a:pt x="86893" y="26669"/>
                  </a:lnTo>
                  <a:lnTo>
                    <a:pt x="88878" y="26669"/>
                  </a:lnTo>
                  <a:lnTo>
                    <a:pt x="93104" y="24218"/>
                  </a:lnTo>
                  <a:lnTo>
                    <a:pt x="93230" y="24063"/>
                  </a:lnTo>
                  <a:lnTo>
                    <a:pt x="99809" y="21589"/>
                  </a:lnTo>
                  <a:lnTo>
                    <a:pt x="99593" y="21589"/>
                  </a:lnTo>
                  <a:lnTo>
                    <a:pt x="106514" y="19050"/>
                  </a:lnTo>
                  <a:lnTo>
                    <a:pt x="106286" y="19050"/>
                  </a:lnTo>
                  <a:lnTo>
                    <a:pt x="113372" y="16509"/>
                  </a:lnTo>
                  <a:lnTo>
                    <a:pt x="113144" y="16509"/>
                  </a:lnTo>
                  <a:lnTo>
                    <a:pt x="120167" y="14041"/>
                  </a:lnTo>
                  <a:lnTo>
                    <a:pt x="119726" y="14041"/>
                  </a:lnTo>
                  <a:lnTo>
                    <a:pt x="127520" y="12700"/>
                  </a:lnTo>
                  <a:lnTo>
                    <a:pt x="127279" y="12700"/>
                  </a:lnTo>
                  <a:lnTo>
                    <a:pt x="134785" y="11429"/>
                  </a:lnTo>
                  <a:lnTo>
                    <a:pt x="134556" y="11429"/>
                  </a:lnTo>
                  <a:lnTo>
                    <a:pt x="142176" y="10159"/>
                  </a:lnTo>
                  <a:lnTo>
                    <a:pt x="164884" y="10159"/>
                  </a:lnTo>
                  <a:lnTo>
                    <a:pt x="157048" y="8889"/>
                  </a:lnTo>
                  <a:lnTo>
                    <a:pt x="211086" y="8889"/>
                  </a:lnTo>
                  <a:lnTo>
                    <a:pt x="203784" y="7619"/>
                  </a:lnTo>
                  <a:lnTo>
                    <a:pt x="188709" y="2539"/>
                  </a:lnTo>
                  <a:lnTo>
                    <a:pt x="180975" y="1269"/>
                  </a:lnTo>
                  <a:close/>
                </a:path>
                <a:path w="314325" h="313689">
                  <a:moveTo>
                    <a:pt x="251155" y="270509"/>
                  </a:moveTo>
                  <a:lnTo>
                    <a:pt x="245502" y="275501"/>
                  </a:lnTo>
                  <a:lnTo>
                    <a:pt x="245453" y="275670"/>
                  </a:lnTo>
                  <a:lnTo>
                    <a:pt x="239477" y="279485"/>
                  </a:lnTo>
                  <a:lnTo>
                    <a:pt x="239663" y="279485"/>
                  </a:lnTo>
                  <a:lnTo>
                    <a:pt x="233616" y="283209"/>
                  </a:lnTo>
                  <a:lnTo>
                    <a:pt x="233819" y="283209"/>
                  </a:lnTo>
                  <a:lnTo>
                    <a:pt x="227431" y="287019"/>
                  </a:lnTo>
                  <a:lnTo>
                    <a:pt x="227634" y="287019"/>
                  </a:lnTo>
                  <a:lnTo>
                    <a:pt x="221220" y="290741"/>
                  </a:lnTo>
                  <a:lnTo>
                    <a:pt x="221094" y="290896"/>
                  </a:lnTo>
                  <a:lnTo>
                    <a:pt x="214515" y="293369"/>
                  </a:lnTo>
                  <a:lnTo>
                    <a:pt x="214731" y="293369"/>
                  </a:lnTo>
                  <a:lnTo>
                    <a:pt x="207810" y="295909"/>
                  </a:lnTo>
                  <a:lnTo>
                    <a:pt x="208038" y="295909"/>
                  </a:lnTo>
                  <a:lnTo>
                    <a:pt x="200705" y="298538"/>
                  </a:lnTo>
                  <a:lnTo>
                    <a:pt x="193550" y="299790"/>
                  </a:lnTo>
                  <a:lnTo>
                    <a:pt x="193975" y="299790"/>
                  </a:lnTo>
                  <a:lnTo>
                    <a:pt x="186559" y="302340"/>
                  </a:lnTo>
                  <a:lnTo>
                    <a:pt x="179539" y="303529"/>
                  </a:lnTo>
                  <a:lnTo>
                    <a:pt x="172377" y="303529"/>
                  </a:lnTo>
                  <a:lnTo>
                    <a:pt x="164642" y="304800"/>
                  </a:lnTo>
                  <a:lnTo>
                    <a:pt x="211315" y="304800"/>
                  </a:lnTo>
                  <a:lnTo>
                    <a:pt x="218214" y="302340"/>
                  </a:lnTo>
                  <a:lnTo>
                    <a:pt x="225237" y="298538"/>
                  </a:lnTo>
                  <a:lnTo>
                    <a:pt x="232181" y="295909"/>
                  </a:lnTo>
                  <a:lnTo>
                    <a:pt x="238760" y="292100"/>
                  </a:lnTo>
                  <a:lnTo>
                    <a:pt x="244944" y="287019"/>
                  </a:lnTo>
                  <a:lnTo>
                    <a:pt x="251104" y="283209"/>
                  </a:lnTo>
                  <a:lnTo>
                    <a:pt x="257048" y="278129"/>
                  </a:lnTo>
                  <a:lnTo>
                    <a:pt x="264156" y="271779"/>
                  </a:lnTo>
                  <a:lnTo>
                    <a:pt x="250990" y="271779"/>
                  </a:lnTo>
                  <a:lnTo>
                    <a:pt x="251155" y="270509"/>
                  </a:lnTo>
                  <a:close/>
                </a:path>
                <a:path w="314325" h="313689">
                  <a:moveTo>
                    <a:pt x="93104" y="290741"/>
                  </a:moveTo>
                  <a:lnTo>
                    <a:pt x="93230" y="290896"/>
                  </a:lnTo>
                  <a:lnTo>
                    <a:pt x="93629" y="291046"/>
                  </a:lnTo>
                  <a:lnTo>
                    <a:pt x="93104" y="290741"/>
                  </a:lnTo>
                  <a:close/>
                </a:path>
                <a:path w="314325" h="313689">
                  <a:moveTo>
                    <a:pt x="221220" y="290741"/>
                  </a:moveTo>
                  <a:lnTo>
                    <a:pt x="220695" y="291046"/>
                  </a:lnTo>
                  <a:lnTo>
                    <a:pt x="221094" y="290896"/>
                  </a:lnTo>
                  <a:lnTo>
                    <a:pt x="221220" y="290741"/>
                  </a:lnTo>
                  <a:close/>
                </a:path>
                <a:path w="314325" h="313689">
                  <a:moveTo>
                    <a:pt x="68822" y="275501"/>
                  </a:moveTo>
                  <a:lnTo>
                    <a:pt x="68871" y="275670"/>
                  </a:lnTo>
                  <a:lnTo>
                    <a:pt x="69386" y="275999"/>
                  </a:lnTo>
                  <a:lnTo>
                    <a:pt x="68822" y="275501"/>
                  </a:lnTo>
                  <a:close/>
                </a:path>
                <a:path w="314325" h="313689">
                  <a:moveTo>
                    <a:pt x="245502" y="275501"/>
                  </a:moveTo>
                  <a:lnTo>
                    <a:pt x="244938" y="275999"/>
                  </a:lnTo>
                  <a:lnTo>
                    <a:pt x="245453" y="275670"/>
                  </a:lnTo>
                  <a:lnTo>
                    <a:pt x="245502" y="275501"/>
                  </a:lnTo>
                  <a:close/>
                </a:path>
                <a:path w="314325" h="313689">
                  <a:moveTo>
                    <a:pt x="63169" y="270509"/>
                  </a:moveTo>
                  <a:lnTo>
                    <a:pt x="63334" y="271779"/>
                  </a:lnTo>
                  <a:lnTo>
                    <a:pt x="64608" y="271779"/>
                  </a:lnTo>
                  <a:lnTo>
                    <a:pt x="63169" y="270509"/>
                  </a:lnTo>
                  <a:close/>
                </a:path>
                <a:path w="314325" h="313689">
                  <a:moveTo>
                    <a:pt x="303057" y="99059"/>
                  </a:moveTo>
                  <a:lnTo>
                    <a:pt x="293154" y="99059"/>
                  </a:lnTo>
                  <a:lnTo>
                    <a:pt x="295884" y="106679"/>
                  </a:lnTo>
                  <a:lnTo>
                    <a:pt x="298196" y="113029"/>
                  </a:lnTo>
                  <a:lnTo>
                    <a:pt x="301828" y="127000"/>
                  </a:lnTo>
                  <a:lnTo>
                    <a:pt x="303123" y="134619"/>
                  </a:lnTo>
                  <a:lnTo>
                    <a:pt x="304050" y="142239"/>
                  </a:lnTo>
                  <a:lnTo>
                    <a:pt x="304516" y="148589"/>
                  </a:lnTo>
                  <a:lnTo>
                    <a:pt x="304609" y="149859"/>
                  </a:lnTo>
                  <a:lnTo>
                    <a:pt x="304800" y="157479"/>
                  </a:lnTo>
                  <a:lnTo>
                    <a:pt x="304596" y="165100"/>
                  </a:lnTo>
                  <a:lnTo>
                    <a:pt x="304025" y="172719"/>
                  </a:lnTo>
                  <a:lnTo>
                    <a:pt x="303085" y="180339"/>
                  </a:lnTo>
                  <a:lnTo>
                    <a:pt x="302899" y="180339"/>
                  </a:lnTo>
                  <a:lnTo>
                    <a:pt x="301777" y="186689"/>
                  </a:lnTo>
                  <a:lnTo>
                    <a:pt x="300126" y="194309"/>
                  </a:lnTo>
                  <a:lnTo>
                    <a:pt x="298132" y="200659"/>
                  </a:lnTo>
                  <a:lnTo>
                    <a:pt x="295808" y="208279"/>
                  </a:lnTo>
                  <a:lnTo>
                    <a:pt x="276528" y="243719"/>
                  </a:lnTo>
                  <a:lnTo>
                    <a:pt x="275473" y="245176"/>
                  </a:lnTo>
                  <a:lnTo>
                    <a:pt x="270586" y="252066"/>
                  </a:lnTo>
                  <a:lnTo>
                    <a:pt x="266297" y="256616"/>
                  </a:lnTo>
                  <a:lnTo>
                    <a:pt x="266446" y="256616"/>
                  </a:lnTo>
                  <a:lnTo>
                    <a:pt x="261480" y="261619"/>
                  </a:lnTo>
                  <a:lnTo>
                    <a:pt x="261645" y="261619"/>
                  </a:lnTo>
                  <a:lnTo>
                    <a:pt x="256349" y="266700"/>
                  </a:lnTo>
                  <a:lnTo>
                    <a:pt x="256514" y="266700"/>
                  </a:lnTo>
                  <a:lnTo>
                    <a:pt x="250990" y="271779"/>
                  </a:lnTo>
                  <a:lnTo>
                    <a:pt x="264156" y="271779"/>
                  </a:lnTo>
                  <a:lnTo>
                    <a:pt x="291630" y="238759"/>
                  </a:lnTo>
                  <a:lnTo>
                    <a:pt x="298869" y="224789"/>
                  </a:lnTo>
                  <a:lnTo>
                    <a:pt x="302018" y="218439"/>
                  </a:lnTo>
                  <a:lnTo>
                    <a:pt x="304825" y="210819"/>
                  </a:lnTo>
                  <a:lnTo>
                    <a:pt x="307225" y="204469"/>
                  </a:lnTo>
                  <a:lnTo>
                    <a:pt x="307289" y="203200"/>
                  </a:lnTo>
                  <a:lnTo>
                    <a:pt x="309410" y="196850"/>
                  </a:lnTo>
                  <a:lnTo>
                    <a:pt x="311111" y="189229"/>
                  </a:lnTo>
                  <a:lnTo>
                    <a:pt x="312534" y="180339"/>
                  </a:lnTo>
                  <a:lnTo>
                    <a:pt x="303085" y="180339"/>
                  </a:lnTo>
                  <a:lnTo>
                    <a:pt x="303240" y="179085"/>
                  </a:lnTo>
                  <a:lnTo>
                    <a:pt x="312697" y="179085"/>
                  </a:lnTo>
                  <a:lnTo>
                    <a:pt x="313524" y="172719"/>
                  </a:lnTo>
                  <a:lnTo>
                    <a:pt x="314121" y="165100"/>
                  </a:lnTo>
                  <a:lnTo>
                    <a:pt x="314325" y="157479"/>
                  </a:lnTo>
                  <a:lnTo>
                    <a:pt x="314139" y="149859"/>
                  </a:lnTo>
                  <a:lnTo>
                    <a:pt x="314109" y="148589"/>
                  </a:lnTo>
                  <a:lnTo>
                    <a:pt x="313601" y="142239"/>
                  </a:lnTo>
                  <a:lnTo>
                    <a:pt x="313499" y="140969"/>
                  </a:lnTo>
                  <a:lnTo>
                    <a:pt x="304749" y="102869"/>
                  </a:lnTo>
                  <a:lnTo>
                    <a:pt x="303057" y="99059"/>
                  </a:lnTo>
                  <a:close/>
                </a:path>
                <a:path w="314325" h="313689">
                  <a:moveTo>
                    <a:pt x="37993" y="243996"/>
                  </a:moveTo>
                  <a:lnTo>
                    <a:pt x="38832" y="245176"/>
                  </a:lnTo>
                  <a:lnTo>
                    <a:pt x="38980" y="245176"/>
                  </a:lnTo>
                  <a:lnTo>
                    <a:pt x="37993" y="243996"/>
                  </a:lnTo>
                  <a:close/>
                </a:path>
                <a:path w="314325" h="313689">
                  <a:moveTo>
                    <a:pt x="276309" y="243996"/>
                  </a:moveTo>
                  <a:lnTo>
                    <a:pt x="275345" y="245176"/>
                  </a:lnTo>
                  <a:lnTo>
                    <a:pt x="275473" y="245176"/>
                  </a:lnTo>
                  <a:lnTo>
                    <a:pt x="276309" y="243996"/>
                  </a:lnTo>
                  <a:close/>
                </a:path>
                <a:path w="314325" h="313689">
                  <a:moveTo>
                    <a:pt x="11204" y="179085"/>
                  </a:moveTo>
                  <a:lnTo>
                    <a:pt x="11239" y="180339"/>
                  </a:lnTo>
                  <a:lnTo>
                    <a:pt x="11417" y="180339"/>
                  </a:lnTo>
                  <a:lnTo>
                    <a:pt x="11204" y="179085"/>
                  </a:lnTo>
                  <a:close/>
                </a:path>
                <a:path w="314325" h="313689">
                  <a:moveTo>
                    <a:pt x="21589" y="99059"/>
                  </a:moveTo>
                  <a:lnTo>
                    <a:pt x="21170" y="99059"/>
                  </a:lnTo>
                  <a:lnTo>
                    <a:pt x="21082" y="100329"/>
                  </a:lnTo>
                  <a:lnTo>
                    <a:pt x="21589" y="99059"/>
                  </a:lnTo>
                  <a:close/>
                </a:path>
                <a:path w="314325" h="313689">
                  <a:moveTo>
                    <a:pt x="293832" y="80009"/>
                  </a:moveTo>
                  <a:lnTo>
                    <a:pt x="283375" y="80009"/>
                  </a:lnTo>
                  <a:lnTo>
                    <a:pt x="287045" y="86359"/>
                  </a:lnTo>
                  <a:lnTo>
                    <a:pt x="290296" y="92709"/>
                  </a:lnTo>
                  <a:lnTo>
                    <a:pt x="293242" y="100329"/>
                  </a:lnTo>
                  <a:lnTo>
                    <a:pt x="293154" y="99059"/>
                  </a:lnTo>
                  <a:lnTo>
                    <a:pt x="303057" y="99059"/>
                  </a:lnTo>
                  <a:lnTo>
                    <a:pt x="301929" y="96519"/>
                  </a:lnTo>
                  <a:lnTo>
                    <a:pt x="298767" y="88900"/>
                  </a:lnTo>
                  <a:lnTo>
                    <a:pt x="295300" y="82550"/>
                  </a:lnTo>
                  <a:lnTo>
                    <a:pt x="293832" y="80009"/>
                  </a:lnTo>
                  <a:close/>
                </a:path>
                <a:path w="314325" h="313689">
                  <a:moveTo>
                    <a:pt x="31628" y="80009"/>
                  </a:moveTo>
                  <a:lnTo>
                    <a:pt x="30949" y="80009"/>
                  </a:lnTo>
                  <a:lnTo>
                    <a:pt x="30835" y="81279"/>
                  </a:lnTo>
                  <a:lnTo>
                    <a:pt x="31628" y="80009"/>
                  </a:lnTo>
                  <a:close/>
                </a:path>
                <a:path w="314325" h="313689">
                  <a:moveTo>
                    <a:pt x="273570" y="52069"/>
                  </a:moveTo>
                  <a:lnTo>
                    <a:pt x="261480" y="52069"/>
                  </a:lnTo>
                  <a:lnTo>
                    <a:pt x="267337" y="59446"/>
                  </a:lnTo>
                  <a:lnTo>
                    <a:pt x="269560" y="61804"/>
                  </a:lnTo>
                  <a:lnTo>
                    <a:pt x="275596" y="68644"/>
                  </a:lnTo>
                  <a:lnTo>
                    <a:pt x="275442" y="68644"/>
                  </a:lnTo>
                  <a:lnTo>
                    <a:pt x="279653" y="74929"/>
                  </a:lnTo>
                  <a:lnTo>
                    <a:pt x="283489" y="81279"/>
                  </a:lnTo>
                  <a:lnTo>
                    <a:pt x="283375" y="80009"/>
                  </a:lnTo>
                  <a:lnTo>
                    <a:pt x="293832" y="80009"/>
                  </a:lnTo>
                  <a:lnTo>
                    <a:pt x="291630" y="76200"/>
                  </a:lnTo>
                  <a:lnTo>
                    <a:pt x="287540" y="69850"/>
                  </a:lnTo>
                  <a:lnTo>
                    <a:pt x="286711" y="68644"/>
                  </a:lnTo>
                  <a:lnTo>
                    <a:pt x="275596" y="68644"/>
                  </a:lnTo>
                  <a:lnTo>
                    <a:pt x="275021" y="67997"/>
                  </a:lnTo>
                  <a:lnTo>
                    <a:pt x="286266" y="67997"/>
                  </a:lnTo>
                  <a:lnTo>
                    <a:pt x="283171" y="63500"/>
                  </a:lnTo>
                  <a:lnTo>
                    <a:pt x="278511" y="57150"/>
                  </a:lnTo>
                  <a:lnTo>
                    <a:pt x="273570" y="52069"/>
                  </a:lnTo>
                  <a:close/>
                </a:path>
                <a:path w="314325" h="313689">
                  <a:moveTo>
                    <a:pt x="39303" y="67997"/>
                  </a:moveTo>
                  <a:lnTo>
                    <a:pt x="38728" y="68644"/>
                  </a:lnTo>
                  <a:lnTo>
                    <a:pt x="38883" y="68644"/>
                  </a:lnTo>
                  <a:lnTo>
                    <a:pt x="39303" y="67997"/>
                  </a:lnTo>
                  <a:close/>
                </a:path>
                <a:path w="314325" h="313689">
                  <a:moveTo>
                    <a:pt x="47861" y="58345"/>
                  </a:moveTo>
                  <a:lnTo>
                    <a:pt x="46987" y="59446"/>
                  </a:lnTo>
                  <a:lnTo>
                    <a:pt x="47883" y="58496"/>
                  </a:lnTo>
                  <a:lnTo>
                    <a:pt x="47861" y="58345"/>
                  </a:lnTo>
                  <a:close/>
                </a:path>
                <a:path w="314325" h="313689">
                  <a:moveTo>
                    <a:pt x="266463" y="58345"/>
                  </a:moveTo>
                  <a:lnTo>
                    <a:pt x="266441" y="58496"/>
                  </a:lnTo>
                  <a:lnTo>
                    <a:pt x="267337" y="59446"/>
                  </a:lnTo>
                  <a:lnTo>
                    <a:pt x="266582" y="58496"/>
                  </a:lnTo>
                  <a:lnTo>
                    <a:pt x="266463" y="58345"/>
                  </a:lnTo>
                  <a:close/>
                </a:path>
                <a:path w="314325" h="313689">
                  <a:moveTo>
                    <a:pt x="54003" y="52069"/>
                  </a:moveTo>
                  <a:lnTo>
                    <a:pt x="52844" y="52069"/>
                  </a:lnTo>
                  <a:lnTo>
                    <a:pt x="52679" y="53339"/>
                  </a:lnTo>
                  <a:lnTo>
                    <a:pt x="54003" y="52069"/>
                  </a:lnTo>
                  <a:close/>
                </a:path>
                <a:path w="314325" h="313689">
                  <a:moveTo>
                    <a:pt x="230802" y="28680"/>
                  </a:moveTo>
                  <a:lnTo>
                    <a:pt x="239663" y="34204"/>
                  </a:lnTo>
                  <a:lnTo>
                    <a:pt x="239732" y="34384"/>
                  </a:lnTo>
                  <a:lnTo>
                    <a:pt x="246316" y="39996"/>
                  </a:lnTo>
                  <a:lnTo>
                    <a:pt x="251040" y="43103"/>
                  </a:lnTo>
                  <a:lnTo>
                    <a:pt x="251079" y="43262"/>
                  </a:lnTo>
                  <a:lnTo>
                    <a:pt x="256514" y="48259"/>
                  </a:lnTo>
                  <a:lnTo>
                    <a:pt x="256349" y="48259"/>
                  </a:lnTo>
                  <a:lnTo>
                    <a:pt x="261645" y="53339"/>
                  </a:lnTo>
                  <a:lnTo>
                    <a:pt x="261480" y="52069"/>
                  </a:lnTo>
                  <a:lnTo>
                    <a:pt x="273570" y="52069"/>
                  </a:lnTo>
                  <a:lnTo>
                    <a:pt x="268376" y="45719"/>
                  </a:lnTo>
                  <a:lnTo>
                    <a:pt x="262915" y="40639"/>
                  </a:lnTo>
                  <a:lnTo>
                    <a:pt x="257225" y="35559"/>
                  </a:lnTo>
                  <a:lnTo>
                    <a:pt x="251282" y="31750"/>
                  </a:lnTo>
                  <a:lnTo>
                    <a:pt x="249697" y="30479"/>
                  </a:lnTo>
                  <a:lnTo>
                    <a:pt x="233819" y="30479"/>
                  </a:lnTo>
                  <a:lnTo>
                    <a:pt x="230802" y="28680"/>
                  </a:lnTo>
                  <a:close/>
                </a:path>
                <a:path w="314325" h="313689">
                  <a:moveTo>
                    <a:pt x="63759" y="42789"/>
                  </a:moveTo>
                  <a:lnTo>
                    <a:pt x="63284" y="43103"/>
                  </a:lnTo>
                  <a:lnTo>
                    <a:pt x="63245" y="43262"/>
                  </a:lnTo>
                  <a:lnTo>
                    <a:pt x="63759" y="42789"/>
                  </a:lnTo>
                  <a:close/>
                </a:path>
                <a:path w="314325" h="313689">
                  <a:moveTo>
                    <a:pt x="250565" y="42789"/>
                  </a:moveTo>
                  <a:lnTo>
                    <a:pt x="251079" y="43262"/>
                  </a:lnTo>
                  <a:lnTo>
                    <a:pt x="251040" y="43103"/>
                  </a:lnTo>
                  <a:lnTo>
                    <a:pt x="250565" y="42789"/>
                  </a:lnTo>
                  <a:close/>
                </a:path>
                <a:path w="314325" h="313689">
                  <a:moveTo>
                    <a:pt x="68848" y="39282"/>
                  </a:moveTo>
                  <a:lnTo>
                    <a:pt x="68023" y="39996"/>
                  </a:lnTo>
                  <a:lnTo>
                    <a:pt x="68799" y="39451"/>
                  </a:lnTo>
                  <a:lnTo>
                    <a:pt x="68848" y="39282"/>
                  </a:lnTo>
                  <a:close/>
                </a:path>
                <a:path w="314325" h="313689">
                  <a:moveTo>
                    <a:pt x="245476" y="39282"/>
                  </a:moveTo>
                  <a:lnTo>
                    <a:pt x="245525" y="39451"/>
                  </a:lnTo>
                  <a:lnTo>
                    <a:pt x="246348" y="39996"/>
                  </a:lnTo>
                  <a:lnTo>
                    <a:pt x="245476" y="39282"/>
                  </a:lnTo>
                  <a:close/>
                </a:path>
                <a:path w="314325" h="313689">
                  <a:moveTo>
                    <a:pt x="75182" y="33891"/>
                  </a:moveTo>
                  <a:lnTo>
                    <a:pt x="74661" y="34204"/>
                  </a:lnTo>
                  <a:lnTo>
                    <a:pt x="74603" y="34384"/>
                  </a:lnTo>
                  <a:lnTo>
                    <a:pt x="75182" y="33891"/>
                  </a:lnTo>
                  <a:close/>
                </a:path>
                <a:path w="314325" h="313689">
                  <a:moveTo>
                    <a:pt x="239153" y="33891"/>
                  </a:moveTo>
                  <a:lnTo>
                    <a:pt x="239732" y="34384"/>
                  </a:lnTo>
                  <a:lnTo>
                    <a:pt x="239663" y="34204"/>
                  </a:lnTo>
                  <a:lnTo>
                    <a:pt x="239153" y="33891"/>
                  </a:lnTo>
                  <a:close/>
                </a:path>
                <a:path w="314325" h="313689">
                  <a:moveTo>
                    <a:pt x="244944" y="26669"/>
                  </a:moveTo>
                  <a:lnTo>
                    <a:pt x="227431" y="26669"/>
                  </a:lnTo>
                  <a:lnTo>
                    <a:pt x="233819" y="30479"/>
                  </a:lnTo>
                  <a:lnTo>
                    <a:pt x="249697" y="30479"/>
                  </a:lnTo>
                  <a:lnTo>
                    <a:pt x="244944" y="26669"/>
                  </a:lnTo>
                  <a:close/>
                </a:path>
                <a:path w="314325" h="313689">
                  <a:moveTo>
                    <a:pt x="88878" y="26669"/>
                  </a:moveTo>
                  <a:lnTo>
                    <a:pt x="86893" y="26669"/>
                  </a:lnTo>
                  <a:lnTo>
                    <a:pt x="86690" y="27939"/>
                  </a:lnTo>
                  <a:lnTo>
                    <a:pt x="88878" y="26669"/>
                  </a:lnTo>
                  <a:close/>
                </a:path>
                <a:path w="314325" h="313689">
                  <a:moveTo>
                    <a:pt x="211086" y="8889"/>
                  </a:moveTo>
                  <a:lnTo>
                    <a:pt x="157276" y="8889"/>
                  </a:lnTo>
                  <a:lnTo>
                    <a:pt x="149440" y="10159"/>
                  </a:lnTo>
                  <a:lnTo>
                    <a:pt x="172148" y="10159"/>
                  </a:lnTo>
                  <a:lnTo>
                    <a:pt x="179768" y="11429"/>
                  </a:lnTo>
                  <a:lnTo>
                    <a:pt x="179539" y="11429"/>
                  </a:lnTo>
                  <a:lnTo>
                    <a:pt x="187032" y="12700"/>
                  </a:lnTo>
                  <a:lnTo>
                    <a:pt x="186804" y="12700"/>
                  </a:lnTo>
                  <a:lnTo>
                    <a:pt x="194598" y="14041"/>
                  </a:lnTo>
                  <a:lnTo>
                    <a:pt x="194157" y="14041"/>
                  </a:lnTo>
                  <a:lnTo>
                    <a:pt x="201180" y="16509"/>
                  </a:lnTo>
                  <a:lnTo>
                    <a:pt x="200952" y="16509"/>
                  </a:lnTo>
                  <a:lnTo>
                    <a:pt x="208038" y="19050"/>
                  </a:lnTo>
                  <a:lnTo>
                    <a:pt x="207810" y="19050"/>
                  </a:lnTo>
                  <a:lnTo>
                    <a:pt x="214731" y="21589"/>
                  </a:lnTo>
                  <a:lnTo>
                    <a:pt x="214515" y="21589"/>
                  </a:lnTo>
                  <a:lnTo>
                    <a:pt x="221094" y="24063"/>
                  </a:lnTo>
                  <a:lnTo>
                    <a:pt x="221220" y="24218"/>
                  </a:lnTo>
                  <a:lnTo>
                    <a:pt x="227634" y="27939"/>
                  </a:lnTo>
                  <a:lnTo>
                    <a:pt x="227431" y="26669"/>
                  </a:lnTo>
                  <a:lnTo>
                    <a:pt x="244944" y="26669"/>
                  </a:lnTo>
                  <a:lnTo>
                    <a:pt x="238760" y="22859"/>
                  </a:lnTo>
                  <a:lnTo>
                    <a:pt x="238556" y="22859"/>
                  </a:lnTo>
                  <a:lnTo>
                    <a:pt x="231978" y="19050"/>
                  </a:lnTo>
                  <a:lnTo>
                    <a:pt x="225196" y="15239"/>
                  </a:lnTo>
                  <a:lnTo>
                    <a:pt x="218236" y="12700"/>
                  </a:lnTo>
                  <a:lnTo>
                    <a:pt x="211086" y="8889"/>
                  </a:lnTo>
                  <a:close/>
                </a:path>
                <a:path w="314325" h="313689">
                  <a:moveTo>
                    <a:pt x="93629" y="23913"/>
                  </a:moveTo>
                  <a:lnTo>
                    <a:pt x="93230" y="24063"/>
                  </a:lnTo>
                  <a:lnTo>
                    <a:pt x="93104" y="24218"/>
                  </a:lnTo>
                  <a:lnTo>
                    <a:pt x="93629" y="23913"/>
                  </a:lnTo>
                  <a:close/>
                </a:path>
                <a:path w="314325" h="313689">
                  <a:moveTo>
                    <a:pt x="220695" y="23913"/>
                  </a:moveTo>
                  <a:lnTo>
                    <a:pt x="221220" y="24218"/>
                  </a:lnTo>
                  <a:lnTo>
                    <a:pt x="221094" y="24063"/>
                  </a:lnTo>
                  <a:lnTo>
                    <a:pt x="220695" y="23913"/>
                  </a:lnTo>
                  <a:close/>
                </a:path>
                <a:path w="314325" h="313689">
                  <a:moveTo>
                    <a:pt x="157276" y="8889"/>
                  </a:moveTo>
                  <a:lnTo>
                    <a:pt x="157048" y="8889"/>
                  </a:lnTo>
                  <a:lnTo>
                    <a:pt x="164884" y="10159"/>
                  </a:lnTo>
                  <a:lnTo>
                    <a:pt x="149440" y="10159"/>
                  </a:lnTo>
                  <a:lnTo>
                    <a:pt x="157276" y="8889"/>
                  </a:lnTo>
                  <a:close/>
                </a:path>
                <a:path w="314325" h="313689">
                  <a:moveTo>
                    <a:pt x="165125" y="0"/>
                  </a:moveTo>
                  <a:lnTo>
                    <a:pt x="148958" y="0"/>
                  </a:lnTo>
                  <a:lnTo>
                    <a:pt x="140982" y="1269"/>
                  </a:lnTo>
                  <a:lnTo>
                    <a:pt x="173100" y="1269"/>
                  </a:lnTo>
                  <a:lnTo>
                    <a:pt x="1651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631507" y="4377951"/>
            <a:ext cx="7129145" cy="1914525"/>
          </a:xfrm>
          <a:prstGeom prst="rect">
            <a:avLst/>
          </a:prstGeom>
        </p:spPr>
        <p:txBody>
          <a:bodyPr wrap="square" lIns="0" tIns="154305" rIns="0" bIns="0" rtlCol="0" vert="horz">
            <a:spAutoFit/>
          </a:bodyPr>
          <a:lstStyle/>
          <a:p>
            <a:pPr marL="2088514">
              <a:lnSpc>
                <a:spcPct val="100000"/>
              </a:lnSpc>
              <a:spcBef>
                <a:spcPts val="1215"/>
              </a:spcBef>
              <a:tabLst>
                <a:tab pos="5422265" algn="l"/>
              </a:tabLst>
            </a:pPr>
            <a:r>
              <a:rPr dirty="0" sz="1800" spc="-25">
                <a:latin typeface="Courier New"/>
                <a:cs typeface="Courier New"/>
              </a:rPr>
              <a:t>x</a:t>
            </a:r>
            <a:r>
              <a:rPr dirty="0" baseline="-16908" sz="1725" spc="-37">
                <a:latin typeface="Courier New"/>
                <a:cs typeface="Courier New"/>
              </a:rPr>
              <a:t>n</a:t>
            </a:r>
            <a:r>
              <a:rPr dirty="0" baseline="-16908" sz="1725">
                <a:latin typeface="Courier New"/>
                <a:cs typeface="Courier New"/>
              </a:rPr>
              <a:t>	</a:t>
            </a:r>
            <a:r>
              <a:rPr dirty="0" sz="1800" spc="-25">
                <a:latin typeface="Courier New"/>
                <a:cs typeface="Courier New"/>
              </a:rPr>
              <a:t>y</a:t>
            </a:r>
            <a:r>
              <a:rPr dirty="0" baseline="-16908" sz="1725" spc="-37">
                <a:latin typeface="Courier New"/>
                <a:cs typeface="Courier New"/>
              </a:rPr>
              <a:t>n</a:t>
            </a:r>
            <a:endParaRPr baseline="-16908" sz="1725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1150">
              <a:latin typeface="Courier New"/>
              <a:cs typeface="Courier New"/>
            </a:endParaRPr>
          </a:p>
          <a:p>
            <a:pPr marL="393065" indent="-342265">
              <a:lnSpc>
                <a:spcPct val="100000"/>
              </a:lnSpc>
              <a:spcBef>
                <a:spcPts val="5"/>
              </a:spcBef>
              <a:buClr>
                <a:srgbClr val="3333CC"/>
              </a:buClr>
              <a:buSzPct val="59615"/>
              <a:buFont typeface="Tahoma"/>
              <a:buChar char="■"/>
              <a:tabLst>
                <a:tab pos="393065" algn="l"/>
              </a:tabLst>
            </a:pPr>
            <a:r>
              <a:rPr dirty="0" sz="2600" spc="-390">
                <a:latin typeface="Courier New"/>
                <a:cs typeface="Courier New"/>
              </a:rPr>
              <a:t>Train</a:t>
            </a:r>
            <a:r>
              <a:rPr dirty="0" sz="2600" spc="-835">
                <a:latin typeface="Courier New"/>
                <a:cs typeface="Courier New"/>
              </a:rPr>
              <a:t> </a:t>
            </a:r>
            <a:r>
              <a:rPr dirty="0" sz="2600" spc="-330">
                <a:latin typeface="Courier New"/>
                <a:cs typeface="Courier New"/>
              </a:rPr>
              <a:t>using</a:t>
            </a:r>
            <a:r>
              <a:rPr dirty="0" sz="2600" spc="-835">
                <a:latin typeface="Courier New"/>
                <a:cs typeface="Courier New"/>
              </a:rPr>
              <a:t> </a:t>
            </a:r>
            <a:r>
              <a:rPr dirty="0" sz="2600" spc="-390">
                <a:latin typeface="Courier New"/>
                <a:cs typeface="Courier New"/>
              </a:rPr>
              <a:t>auto-</a:t>
            </a:r>
            <a:r>
              <a:rPr dirty="0" sz="2600" spc="-405">
                <a:latin typeface="Courier New"/>
                <a:cs typeface="Courier New"/>
              </a:rPr>
              <a:t>associative</a:t>
            </a:r>
            <a:r>
              <a:rPr dirty="0" sz="2600" spc="-830">
                <a:latin typeface="Courier New"/>
                <a:cs typeface="Courier New"/>
              </a:rPr>
              <a:t> </a:t>
            </a:r>
            <a:r>
              <a:rPr dirty="0" sz="2600" spc="-440">
                <a:latin typeface="Courier New"/>
                <a:cs typeface="Courier New"/>
              </a:rPr>
              <a:t>output:</a:t>
            </a:r>
            <a:r>
              <a:rPr dirty="0" sz="2600" spc="-835">
                <a:latin typeface="Courier New"/>
                <a:cs typeface="Courier New"/>
              </a:rPr>
              <a:t> </a:t>
            </a:r>
            <a:r>
              <a:rPr dirty="0" sz="2600" spc="-125">
                <a:latin typeface="Courier New"/>
                <a:cs typeface="Courier New"/>
              </a:rPr>
              <a:t>e</a:t>
            </a:r>
            <a:r>
              <a:rPr dirty="0" sz="2600" spc="-830">
                <a:latin typeface="Courier New"/>
                <a:cs typeface="Courier New"/>
              </a:rPr>
              <a:t> </a:t>
            </a:r>
            <a:r>
              <a:rPr dirty="0" sz="2600" spc="-55">
                <a:latin typeface="Courier New"/>
                <a:cs typeface="Courier New"/>
              </a:rPr>
              <a:t>=</a:t>
            </a:r>
            <a:r>
              <a:rPr dirty="0" sz="2600" spc="-835">
                <a:latin typeface="Courier New"/>
                <a:cs typeface="Courier New"/>
              </a:rPr>
              <a:t> </a:t>
            </a:r>
            <a:r>
              <a:rPr dirty="0" sz="2600" spc="-270">
                <a:latin typeface="Courier New"/>
                <a:cs typeface="Courier New"/>
              </a:rPr>
              <a:t>x</a:t>
            </a:r>
            <a:r>
              <a:rPr dirty="0" sz="2600" spc="-830">
                <a:latin typeface="Courier New"/>
                <a:cs typeface="Courier New"/>
              </a:rPr>
              <a:t> </a:t>
            </a:r>
            <a:r>
              <a:rPr dirty="0" sz="2600" spc="-125">
                <a:latin typeface="Courier New"/>
                <a:cs typeface="Courier New"/>
              </a:rPr>
              <a:t>–</a:t>
            </a:r>
            <a:r>
              <a:rPr dirty="0" sz="2600" spc="-835">
                <a:latin typeface="Courier New"/>
                <a:cs typeface="Courier New"/>
              </a:rPr>
              <a:t> </a:t>
            </a:r>
            <a:r>
              <a:rPr dirty="0" sz="2600" spc="-330">
                <a:latin typeface="Courier New"/>
                <a:cs typeface="Courier New"/>
              </a:rPr>
              <a:t>y</a:t>
            </a:r>
            <a:endParaRPr sz="2600">
              <a:latin typeface="Courier New"/>
              <a:cs typeface="Courier New"/>
            </a:endParaRPr>
          </a:p>
          <a:p>
            <a:pPr marL="393065" marR="43180" indent="-342900">
              <a:lnSpc>
                <a:spcPct val="100000"/>
              </a:lnSpc>
              <a:spcBef>
                <a:spcPts val="620"/>
              </a:spcBef>
              <a:buClr>
                <a:srgbClr val="3333CC"/>
              </a:buClr>
              <a:buSzPct val="59615"/>
              <a:buFont typeface="Tahoma"/>
              <a:buChar char="■"/>
              <a:tabLst>
                <a:tab pos="393065" algn="l"/>
              </a:tabLst>
            </a:pPr>
            <a:r>
              <a:rPr dirty="0" sz="2600" spc="395">
                <a:latin typeface="Courier New"/>
                <a:cs typeface="Courier New"/>
              </a:rPr>
              <a:t>W</a:t>
            </a:r>
            <a:r>
              <a:rPr dirty="0" baseline="-16339" sz="2550" spc="592">
                <a:latin typeface="Courier New"/>
                <a:cs typeface="Courier New"/>
              </a:rPr>
              <a:t>L</a:t>
            </a:r>
            <a:r>
              <a:rPr dirty="0" baseline="-16339" sz="2550" spc="-434">
                <a:latin typeface="Courier New"/>
                <a:cs typeface="Courier New"/>
              </a:rPr>
              <a:t> </a:t>
            </a:r>
            <a:r>
              <a:rPr dirty="0" sz="2600" spc="-195">
                <a:latin typeface="Courier New"/>
                <a:cs typeface="Courier New"/>
              </a:rPr>
              <a:t>spans</a:t>
            </a:r>
            <a:r>
              <a:rPr dirty="0" sz="2600" spc="-825">
                <a:latin typeface="Courier New"/>
                <a:cs typeface="Courier New"/>
              </a:rPr>
              <a:t> </a:t>
            </a:r>
            <a:r>
              <a:rPr dirty="0" sz="2600" spc="-370">
                <a:latin typeface="Courier New"/>
                <a:cs typeface="Courier New"/>
              </a:rPr>
              <a:t>the</a:t>
            </a:r>
            <a:r>
              <a:rPr dirty="0" sz="2600" spc="-825">
                <a:latin typeface="Courier New"/>
                <a:cs typeface="Courier New"/>
              </a:rPr>
              <a:t> </a:t>
            </a:r>
            <a:r>
              <a:rPr dirty="0" sz="2600" spc="-190">
                <a:latin typeface="Courier New"/>
                <a:cs typeface="Courier New"/>
              </a:rPr>
              <a:t>subspace</a:t>
            </a:r>
            <a:r>
              <a:rPr dirty="0" sz="2600" spc="-825">
                <a:latin typeface="Courier New"/>
                <a:cs typeface="Courier New"/>
              </a:rPr>
              <a:t> </a:t>
            </a:r>
            <a:r>
              <a:rPr dirty="0" sz="2600" spc="-490">
                <a:latin typeface="Courier New"/>
                <a:cs typeface="Courier New"/>
              </a:rPr>
              <a:t>of</a:t>
            </a:r>
            <a:r>
              <a:rPr dirty="0" sz="2600" spc="-825">
                <a:latin typeface="Courier New"/>
                <a:cs typeface="Courier New"/>
              </a:rPr>
              <a:t> </a:t>
            </a:r>
            <a:r>
              <a:rPr dirty="0" sz="2600" spc="-370">
                <a:latin typeface="Courier New"/>
                <a:cs typeface="Courier New"/>
              </a:rPr>
              <a:t>the</a:t>
            </a:r>
            <a:r>
              <a:rPr dirty="0" sz="2600" spc="-825">
                <a:latin typeface="Courier New"/>
                <a:cs typeface="Courier New"/>
              </a:rPr>
              <a:t> </a:t>
            </a:r>
            <a:r>
              <a:rPr dirty="0" sz="2600" spc="-735">
                <a:latin typeface="Courier New"/>
                <a:cs typeface="Courier New"/>
              </a:rPr>
              <a:t>first</a:t>
            </a:r>
            <a:r>
              <a:rPr dirty="0" sz="2600" spc="-825">
                <a:latin typeface="Courier New"/>
                <a:cs typeface="Courier New"/>
              </a:rPr>
              <a:t> </a:t>
            </a:r>
            <a:r>
              <a:rPr dirty="0" sz="2600" spc="590">
                <a:latin typeface="Courier New"/>
                <a:cs typeface="Courier New"/>
              </a:rPr>
              <a:t>m</a:t>
            </a:r>
            <a:r>
              <a:rPr dirty="0" sz="2600" spc="-830">
                <a:latin typeface="Courier New"/>
                <a:cs typeface="Courier New"/>
              </a:rPr>
              <a:t> </a:t>
            </a:r>
            <a:r>
              <a:rPr dirty="0" sz="2600" spc="-505">
                <a:latin typeface="Courier New"/>
                <a:cs typeface="Courier New"/>
              </a:rPr>
              <a:t>principal </a:t>
            </a:r>
            <a:r>
              <a:rPr dirty="0" sz="2600" spc="-395">
                <a:latin typeface="Courier New"/>
                <a:cs typeface="Courier New"/>
              </a:rPr>
              <a:t>eigenvectors.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21" name="object 2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13</a:t>
            </a:fld>
          </a:p>
        </p:txBody>
      </p:sp>
      <p:sp>
        <p:nvSpPr>
          <p:cNvPr id="20" name="object 20" descr=""/>
          <p:cNvSpPr txBox="1"/>
          <p:nvPr/>
        </p:nvSpPr>
        <p:spPr>
          <a:xfrm>
            <a:off x="3545840" y="2743834"/>
            <a:ext cx="16446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269365" algn="l"/>
              </a:tabLst>
            </a:pPr>
            <a:r>
              <a:rPr dirty="0" sz="1800" spc="265">
                <a:latin typeface="Courier New"/>
                <a:cs typeface="Courier New"/>
              </a:rPr>
              <a:t>W</a:t>
            </a:r>
            <a:r>
              <a:rPr dirty="0" baseline="-16908" sz="1725" spc="397">
                <a:latin typeface="Courier New"/>
                <a:cs typeface="Courier New"/>
              </a:rPr>
              <a:t>L</a:t>
            </a:r>
            <a:r>
              <a:rPr dirty="0" baseline="-16908" sz="1725">
                <a:latin typeface="Courier New"/>
                <a:cs typeface="Courier New"/>
              </a:rPr>
              <a:t>	</a:t>
            </a:r>
            <a:r>
              <a:rPr dirty="0" sz="1800" spc="355">
                <a:latin typeface="Courier New"/>
                <a:cs typeface="Courier New"/>
              </a:rPr>
              <a:t>W</a:t>
            </a:r>
            <a:r>
              <a:rPr dirty="0" baseline="-16908" sz="1725" spc="532">
                <a:latin typeface="Courier New"/>
                <a:cs typeface="Courier New"/>
              </a:rPr>
              <a:t>R</a:t>
            </a:r>
            <a:endParaRPr baseline="-16908" sz="1725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02272" y="2093226"/>
            <a:ext cx="4928235" cy="4572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917575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0416"/>
              <a:buChar char="■"/>
              <a:tabLst>
                <a:tab pos="355600" algn="l"/>
              </a:tabLst>
            </a:pPr>
            <a:r>
              <a:rPr dirty="0" sz="2400">
                <a:latin typeface="Tahoma"/>
                <a:cs typeface="Tahoma"/>
              </a:rPr>
              <a:t>Using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back-</a:t>
            </a:r>
            <a:r>
              <a:rPr dirty="0" sz="2400">
                <a:latin typeface="Tahoma"/>
                <a:cs typeface="Tahoma"/>
              </a:rPr>
              <a:t>propagation</a:t>
            </a:r>
            <a:r>
              <a:rPr dirty="0" sz="2400" spc="-25">
                <a:latin typeface="Tahoma"/>
                <a:cs typeface="Tahoma"/>
              </a:rPr>
              <a:t> for </a:t>
            </a:r>
            <a:r>
              <a:rPr dirty="0" sz="2400">
                <a:latin typeface="Tahoma"/>
                <a:cs typeface="Tahoma"/>
              </a:rPr>
              <a:t>unsupervised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learning</a:t>
            </a:r>
            <a:endParaRPr sz="2400">
              <a:latin typeface="Tahoma"/>
              <a:cs typeface="Tahoma"/>
            </a:endParaRPr>
          </a:p>
          <a:p>
            <a:pPr marL="355600" marR="384175" indent="-342900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Char char="■"/>
              <a:tabLst>
                <a:tab pos="355600" algn="l"/>
              </a:tabLst>
            </a:pPr>
            <a:r>
              <a:rPr dirty="0" sz="2400">
                <a:latin typeface="Tahoma"/>
                <a:cs typeface="Tahoma"/>
              </a:rPr>
              <a:t>Try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make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output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be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the </a:t>
            </a:r>
            <a:r>
              <a:rPr dirty="0" sz="2400">
                <a:latin typeface="Tahoma"/>
                <a:cs typeface="Tahoma"/>
              </a:rPr>
              <a:t>same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as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input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network </a:t>
            </a:r>
            <a:r>
              <a:rPr dirty="0" sz="2400">
                <a:latin typeface="Tahoma"/>
                <a:cs typeface="Tahoma"/>
              </a:rPr>
              <a:t>with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central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bottleneck.</a:t>
            </a:r>
            <a:endParaRPr sz="2400">
              <a:latin typeface="Tahoma"/>
              <a:cs typeface="Tahoma"/>
            </a:endParaRPr>
          </a:p>
          <a:p>
            <a:pPr lvl="1" marL="755650" marR="15875" indent="-285750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54166"/>
              <a:buChar char="■"/>
              <a:tabLst>
                <a:tab pos="755650" algn="l"/>
              </a:tabLst>
            </a:pP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activities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hidden </a:t>
            </a:r>
            <a:r>
              <a:rPr dirty="0" sz="2400">
                <a:latin typeface="Tahoma"/>
                <a:cs typeface="Tahoma"/>
              </a:rPr>
              <a:t>units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bottleneck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form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an </a:t>
            </a:r>
            <a:r>
              <a:rPr dirty="0" sz="2400" b="1">
                <a:latin typeface="Tahoma"/>
                <a:cs typeface="Tahoma"/>
              </a:rPr>
              <a:t>efficient</a:t>
            </a:r>
            <a:r>
              <a:rPr dirty="0" sz="2400" spc="-55" b="1">
                <a:latin typeface="Tahoma"/>
                <a:cs typeface="Tahoma"/>
              </a:rPr>
              <a:t> </a:t>
            </a:r>
            <a:r>
              <a:rPr dirty="0" sz="2400" spc="-20" b="1">
                <a:latin typeface="Tahoma"/>
                <a:cs typeface="Tahoma"/>
              </a:rPr>
              <a:t>code</a:t>
            </a:r>
            <a:r>
              <a:rPr dirty="0" sz="2400" spc="-20">
                <a:latin typeface="Tahoma"/>
                <a:cs typeface="Tahoma"/>
              </a:rPr>
              <a:t>.</a:t>
            </a:r>
            <a:endParaRPr sz="2400">
              <a:latin typeface="Tahoma"/>
              <a:cs typeface="Tahoma"/>
            </a:endParaRPr>
          </a:p>
          <a:p>
            <a:pPr lvl="2" marL="1155700" marR="5080" indent="-228600">
              <a:lnSpc>
                <a:spcPct val="100000"/>
              </a:lnSpc>
              <a:spcBef>
                <a:spcPts val="480"/>
              </a:spcBef>
              <a:buClr>
                <a:srgbClr val="3333CC"/>
              </a:buClr>
              <a:buSzPct val="50000"/>
              <a:buFont typeface="Tahoma"/>
              <a:buChar char="■"/>
              <a:tabLst>
                <a:tab pos="1155700" algn="l"/>
              </a:tabLst>
            </a:pPr>
            <a:r>
              <a:rPr dirty="0" sz="2000" b="1">
                <a:solidFill>
                  <a:srgbClr val="FF0000"/>
                </a:solidFill>
                <a:latin typeface="Tahoma"/>
                <a:cs typeface="Tahoma"/>
              </a:rPr>
              <a:t>The</a:t>
            </a:r>
            <a:r>
              <a:rPr dirty="0" sz="2000" spc="-40" b="1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000" b="1">
                <a:solidFill>
                  <a:srgbClr val="FF0000"/>
                </a:solidFill>
                <a:latin typeface="Tahoma"/>
                <a:cs typeface="Tahoma"/>
              </a:rPr>
              <a:t>bottleneck</a:t>
            </a:r>
            <a:r>
              <a:rPr dirty="0" sz="2000" spc="-35" b="1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000" b="1">
                <a:solidFill>
                  <a:srgbClr val="FF0000"/>
                </a:solidFill>
                <a:latin typeface="Tahoma"/>
                <a:cs typeface="Tahoma"/>
              </a:rPr>
              <a:t>does</a:t>
            </a:r>
            <a:r>
              <a:rPr dirty="0" sz="2000" spc="-35" b="1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000" b="1">
                <a:solidFill>
                  <a:srgbClr val="FF0000"/>
                </a:solidFill>
                <a:latin typeface="Tahoma"/>
                <a:cs typeface="Tahoma"/>
              </a:rPr>
              <a:t>not</a:t>
            </a:r>
            <a:r>
              <a:rPr dirty="0" sz="2000" spc="-35" b="1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000" spc="-20" b="1">
                <a:solidFill>
                  <a:srgbClr val="FF0000"/>
                </a:solidFill>
                <a:latin typeface="Tahoma"/>
                <a:cs typeface="Tahoma"/>
              </a:rPr>
              <a:t>have </a:t>
            </a:r>
            <a:r>
              <a:rPr dirty="0" sz="2000" b="1">
                <a:solidFill>
                  <a:srgbClr val="FF0000"/>
                </a:solidFill>
                <a:latin typeface="Tahoma"/>
                <a:cs typeface="Tahoma"/>
              </a:rPr>
              <a:t>room</a:t>
            </a:r>
            <a:r>
              <a:rPr dirty="0" sz="2000" spc="-65" b="1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000" b="1">
                <a:solidFill>
                  <a:srgbClr val="FF0000"/>
                </a:solidFill>
                <a:latin typeface="Tahoma"/>
                <a:cs typeface="Tahoma"/>
              </a:rPr>
              <a:t>for</a:t>
            </a:r>
            <a:r>
              <a:rPr dirty="0" sz="2000" spc="-60" b="1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000" b="1">
                <a:solidFill>
                  <a:srgbClr val="FF0000"/>
                </a:solidFill>
                <a:latin typeface="Tahoma"/>
                <a:cs typeface="Tahoma"/>
              </a:rPr>
              <a:t>redundant</a:t>
            </a:r>
            <a:r>
              <a:rPr dirty="0" sz="2000" spc="-55" b="1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000" spc="-10" b="1">
                <a:solidFill>
                  <a:srgbClr val="FF0000"/>
                </a:solidFill>
                <a:latin typeface="Tahoma"/>
                <a:cs typeface="Tahoma"/>
              </a:rPr>
              <a:t>features.</a:t>
            </a:r>
            <a:endParaRPr sz="2000">
              <a:latin typeface="Tahoma"/>
              <a:cs typeface="Tahoma"/>
            </a:endParaRPr>
          </a:p>
          <a:p>
            <a:pPr lvl="1" marL="755650" marR="1302385" indent="-285750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54166"/>
              <a:buChar char="■"/>
              <a:tabLst>
                <a:tab pos="755650" algn="l"/>
              </a:tabLst>
            </a:pPr>
            <a:r>
              <a:rPr dirty="0" sz="2400">
                <a:latin typeface="Tahoma"/>
                <a:cs typeface="Tahoma"/>
              </a:rPr>
              <a:t>Good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for </a:t>
            </a:r>
            <a:r>
              <a:rPr dirty="0" sz="2400" spc="-10">
                <a:latin typeface="Tahoma"/>
                <a:cs typeface="Tahoma"/>
              </a:rPr>
              <a:t>extracting </a:t>
            </a:r>
            <a:r>
              <a:rPr dirty="0" sz="2400">
                <a:latin typeface="Tahoma"/>
                <a:cs typeface="Tahoma"/>
              </a:rPr>
              <a:t>independent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features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5648325" y="5728538"/>
            <a:ext cx="2457450" cy="478155"/>
            <a:chOff x="5648325" y="5728538"/>
            <a:chExt cx="2457450" cy="478155"/>
          </a:xfrm>
        </p:grpSpPr>
        <p:sp>
          <p:nvSpPr>
            <p:cNvPr id="4" name="object 4" descr=""/>
            <p:cNvSpPr/>
            <p:nvPr/>
          </p:nvSpPr>
          <p:spPr>
            <a:xfrm>
              <a:off x="5652516" y="5733288"/>
              <a:ext cx="2449195" cy="467995"/>
            </a:xfrm>
            <a:custGeom>
              <a:avLst/>
              <a:gdLst/>
              <a:ahLst/>
              <a:cxnLst/>
              <a:rect l="l" t="t" r="r" b="b"/>
              <a:pathLst>
                <a:path w="2449195" h="467995">
                  <a:moveTo>
                    <a:pt x="2449067" y="0"/>
                  </a:moveTo>
                  <a:lnTo>
                    <a:pt x="0" y="0"/>
                  </a:lnTo>
                  <a:lnTo>
                    <a:pt x="0" y="467868"/>
                  </a:lnTo>
                  <a:lnTo>
                    <a:pt x="2449067" y="467868"/>
                  </a:lnTo>
                  <a:lnTo>
                    <a:pt x="2449067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648325" y="5728538"/>
              <a:ext cx="2457450" cy="478155"/>
            </a:xfrm>
            <a:custGeom>
              <a:avLst/>
              <a:gdLst/>
              <a:ahLst/>
              <a:cxnLst/>
              <a:rect l="l" t="t" r="r" b="b"/>
              <a:pathLst>
                <a:path w="2457450" h="478154">
                  <a:moveTo>
                    <a:pt x="2457450" y="0"/>
                  </a:moveTo>
                  <a:lnTo>
                    <a:pt x="0" y="0"/>
                  </a:lnTo>
                  <a:lnTo>
                    <a:pt x="0" y="477837"/>
                  </a:lnTo>
                  <a:lnTo>
                    <a:pt x="2457450" y="477837"/>
                  </a:lnTo>
                  <a:lnTo>
                    <a:pt x="2457450" y="473075"/>
                  </a:lnTo>
                  <a:lnTo>
                    <a:pt x="9525" y="473075"/>
                  </a:lnTo>
                  <a:lnTo>
                    <a:pt x="4762" y="468312"/>
                  </a:lnTo>
                  <a:lnTo>
                    <a:pt x="9525" y="468312"/>
                  </a:lnTo>
                  <a:lnTo>
                    <a:pt x="9525" y="9525"/>
                  </a:lnTo>
                  <a:lnTo>
                    <a:pt x="4762" y="9525"/>
                  </a:lnTo>
                  <a:lnTo>
                    <a:pt x="9525" y="4762"/>
                  </a:lnTo>
                  <a:lnTo>
                    <a:pt x="2457450" y="4762"/>
                  </a:lnTo>
                  <a:lnTo>
                    <a:pt x="2457450" y="0"/>
                  </a:lnTo>
                  <a:close/>
                </a:path>
                <a:path w="2457450" h="478154">
                  <a:moveTo>
                    <a:pt x="9525" y="468312"/>
                  </a:moveTo>
                  <a:lnTo>
                    <a:pt x="4762" y="468312"/>
                  </a:lnTo>
                  <a:lnTo>
                    <a:pt x="9525" y="473075"/>
                  </a:lnTo>
                  <a:lnTo>
                    <a:pt x="9525" y="468312"/>
                  </a:lnTo>
                  <a:close/>
                </a:path>
                <a:path w="2457450" h="478154">
                  <a:moveTo>
                    <a:pt x="2447925" y="468312"/>
                  </a:moveTo>
                  <a:lnTo>
                    <a:pt x="9525" y="468312"/>
                  </a:lnTo>
                  <a:lnTo>
                    <a:pt x="9525" y="473075"/>
                  </a:lnTo>
                  <a:lnTo>
                    <a:pt x="2447925" y="473075"/>
                  </a:lnTo>
                  <a:lnTo>
                    <a:pt x="2447925" y="468312"/>
                  </a:lnTo>
                  <a:close/>
                </a:path>
                <a:path w="2457450" h="478154">
                  <a:moveTo>
                    <a:pt x="2447925" y="4762"/>
                  </a:moveTo>
                  <a:lnTo>
                    <a:pt x="2447925" y="473075"/>
                  </a:lnTo>
                  <a:lnTo>
                    <a:pt x="2452687" y="468312"/>
                  </a:lnTo>
                  <a:lnTo>
                    <a:pt x="2457450" y="468312"/>
                  </a:lnTo>
                  <a:lnTo>
                    <a:pt x="2457450" y="9525"/>
                  </a:lnTo>
                  <a:lnTo>
                    <a:pt x="2452687" y="9525"/>
                  </a:lnTo>
                  <a:lnTo>
                    <a:pt x="2447925" y="4762"/>
                  </a:lnTo>
                  <a:close/>
                </a:path>
                <a:path w="2457450" h="478154">
                  <a:moveTo>
                    <a:pt x="2457450" y="468312"/>
                  </a:moveTo>
                  <a:lnTo>
                    <a:pt x="2452687" y="468312"/>
                  </a:lnTo>
                  <a:lnTo>
                    <a:pt x="2447925" y="473075"/>
                  </a:lnTo>
                  <a:lnTo>
                    <a:pt x="2457450" y="473075"/>
                  </a:lnTo>
                  <a:lnTo>
                    <a:pt x="2457450" y="468312"/>
                  </a:lnTo>
                  <a:close/>
                </a:path>
                <a:path w="2457450" h="478154">
                  <a:moveTo>
                    <a:pt x="9525" y="4762"/>
                  </a:moveTo>
                  <a:lnTo>
                    <a:pt x="4762" y="9525"/>
                  </a:lnTo>
                  <a:lnTo>
                    <a:pt x="9525" y="9525"/>
                  </a:lnTo>
                  <a:lnTo>
                    <a:pt x="9525" y="4762"/>
                  </a:lnTo>
                  <a:close/>
                </a:path>
                <a:path w="2457450" h="478154">
                  <a:moveTo>
                    <a:pt x="2447925" y="4762"/>
                  </a:moveTo>
                  <a:lnTo>
                    <a:pt x="9525" y="4762"/>
                  </a:lnTo>
                  <a:lnTo>
                    <a:pt x="9525" y="9525"/>
                  </a:lnTo>
                  <a:lnTo>
                    <a:pt x="2447925" y="9525"/>
                  </a:lnTo>
                  <a:lnTo>
                    <a:pt x="2447925" y="4762"/>
                  </a:lnTo>
                  <a:close/>
                </a:path>
                <a:path w="2457450" h="478154">
                  <a:moveTo>
                    <a:pt x="2457450" y="4762"/>
                  </a:moveTo>
                  <a:lnTo>
                    <a:pt x="2447925" y="4762"/>
                  </a:lnTo>
                  <a:lnTo>
                    <a:pt x="2452687" y="9525"/>
                  </a:lnTo>
                  <a:lnTo>
                    <a:pt x="2457450" y="9525"/>
                  </a:lnTo>
                  <a:lnTo>
                    <a:pt x="2457450" y="4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5646737" y="2128088"/>
            <a:ext cx="2457450" cy="478155"/>
            <a:chOff x="5646737" y="2128088"/>
            <a:chExt cx="2457450" cy="478155"/>
          </a:xfrm>
        </p:grpSpPr>
        <p:sp>
          <p:nvSpPr>
            <p:cNvPr id="7" name="object 7" descr=""/>
            <p:cNvSpPr/>
            <p:nvPr/>
          </p:nvSpPr>
          <p:spPr>
            <a:xfrm>
              <a:off x="5650992" y="2133599"/>
              <a:ext cx="2449195" cy="467995"/>
            </a:xfrm>
            <a:custGeom>
              <a:avLst/>
              <a:gdLst/>
              <a:ahLst/>
              <a:cxnLst/>
              <a:rect l="l" t="t" r="r" b="b"/>
              <a:pathLst>
                <a:path w="2449195" h="467994">
                  <a:moveTo>
                    <a:pt x="2449067" y="0"/>
                  </a:moveTo>
                  <a:lnTo>
                    <a:pt x="0" y="0"/>
                  </a:lnTo>
                  <a:lnTo>
                    <a:pt x="0" y="467867"/>
                  </a:lnTo>
                  <a:lnTo>
                    <a:pt x="2449067" y="467867"/>
                  </a:lnTo>
                  <a:lnTo>
                    <a:pt x="2449067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646737" y="2128088"/>
              <a:ext cx="2457450" cy="478155"/>
            </a:xfrm>
            <a:custGeom>
              <a:avLst/>
              <a:gdLst/>
              <a:ahLst/>
              <a:cxnLst/>
              <a:rect l="l" t="t" r="r" b="b"/>
              <a:pathLst>
                <a:path w="2457450" h="478155">
                  <a:moveTo>
                    <a:pt x="2457450" y="0"/>
                  </a:moveTo>
                  <a:lnTo>
                    <a:pt x="0" y="0"/>
                  </a:lnTo>
                  <a:lnTo>
                    <a:pt x="0" y="477837"/>
                  </a:lnTo>
                  <a:lnTo>
                    <a:pt x="2457450" y="477837"/>
                  </a:lnTo>
                  <a:lnTo>
                    <a:pt x="2457450" y="473075"/>
                  </a:lnTo>
                  <a:lnTo>
                    <a:pt x="9525" y="473075"/>
                  </a:lnTo>
                  <a:lnTo>
                    <a:pt x="4762" y="468312"/>
                  </a:lnTo>
                  <a:lnTo>
                    <a:pt x="9525" y="468312"/>
                  </a:lnTo>
                  <a:lnTo>
                    <a:pt x="9525" y="9525"/>
                  </a:lnTo>
                  <a:lnTo>
                    <a:pt x="4762" y="9525"/>
                  </a:lnTo>
                  <a:lnTo>
                    <a:pt x="9525" y="4762"/>
                  </a:lnTo>
                  <a:lnTo>
                    <a:pt x="2457450" y="4762"/>
                  </a:lnTo>
                  <a:lnTo>
                    <a:pt x="2457450" y="0"/>
                  </a:lnTo>
                  <a:close/>
                </a:path>
                <a:path w="2457450" h="478155">
                  <a:moveTo>
                    <a:pt x="9525" y="468312"/>
                  </a:moveTo>
                  <a:lnTo>
                    <a:pt x="4762" y="468312"/>
                  </a:lnTo>
                  <a:lnTo>
                    <a:pt x="9525" y="473075"/>
                  </a:lnTo>
                  <a:lnTo>
                    <a:pt x="9525" y="468312"/>
                  </a:lnTo>
                  <a:close/>
                </a:path>
                <a:path w="2457450" h="478155">
                  <a:moveTo>
                    <a:pt x="2447925" y="468312"/>
                  </a:moveTo>
                  <a:lnTo>
                    <a:pt x="9525" y="468312"/>
                  </a:lnTo>
                  <a:lnTo>
                    <a:pt x="9525" y="473075"/>
                  </a:lnTo>
                  <a:lnTo>
                    <a:pt x="2447925" y="473075"/>
                  </a:lnTo>
                  <a:lnTo>
                    <a:pt x="2447925" y="468312"/>
                  </a:lnTo>
                  <a:close/>
                </a:path>
                <a:path w="2457450" h="478155">
                  <a:moveTo>
                    <a:pt x="2447925" y="4762"/>
                  </a:moveTo>
                  <a:lnTo>
                    <a:pt x="2447925" y="473075"/>
                  </a:lnTo>
                  <a:lnTo>
                    <a:pt x="2452687" y="468312"/>
                  </a:lnTo>
                  <a:lnTo>
                    <a:pt x="2457450" y="468312"/>
                  </a:lnTo>
                  <a:lnTo>
                    <a:pt x="2457450" y="9525"/>
                  </a:lnTo>
                  <a:lnTo>
                    <a:pt x="2452687" y="9525"/>
                  </a:lnTo>
                  <a:lnTo>
                    <a:pt x="2447925" y="4762"/>
                  </a:lnTo>
                  <a:close/>
                </a:path>
                <a:path w="2457450" h="478155">
                  <a:moveTo>
                    <a:pt x="2457450" y="468312"/>
                  </a:moveTo>
                  <a:lnTo>
                    <a:pt x="2452687" y="468312"/>
                  </a:lnTo>
                  <a:lnTo>
                    <a:pt x="2447925" y="473075"/>
                  </a:lnTo>
                  <a:lnTo>
                    <a:pt x="2457450" y="473075"/>
                  </a:lnTo>
                  <a:lnTo>
                    <a:pt x="2457450" y="468312"/>
                  </a:lnTo>
                  <a:close/>
                </a:path>
                <a:path w="2457450" h="478155">
                  <a:moveTo>
                    <a:pt x="9525" y="4762"/>
                  </a:moveTo>
                  <a:lnTo>
                    <a:pt x="4762" y="9525"/>
                  </a:lnTo>
                  <a:lnTo>
                    <a:pt x="9525" y="9525"/>
                  </a:lnTo>
                  <a:lnTo>
                    <a:pt x="9525" y="4762"/>
                  </a:lnTo>
                  <a:close/>
                </a:path>
                <a:path w="2457450" h="478155">
                  <a:moveTo>
                    <a:pt x="2447925" y="4762"/>
                  </a:moveTo>
                  <a:lnTo>
                    <a:pt x="9525" y="4762"/>
                  </a:lnTo>
                  <a:lnTo>
                    <a:pt x="9525" y="9525"/>
                  </a:lnTo>
                  <a:lnTo>
                    <a:pt x="2447925" y="9525"/>
                  </a:lnTo>
                  <a:lnTo>
                    <a:pt x="2447925" y="4762"/>
                  </a:lnTo>
                  <a:close/>
                </a:path>
                <a:path w="2457450" h="478155">
                  <a:moveTo>
                    <a:pt x="2457450" y="4762"/>
                  </a:moveTo>
                  <a:lnTo>
                    <a:pt x="2447925" y="4762"/>
                  </a:lnTo>
                  <a:lnTo>
                    <a:pt x="2452687" y="9525"/>
                  </a:lnTo>
                  <a:lnTo>
                    <a:pt x="2457450" y="9525"/>
                  </a:lnTo>
                  <a:lnTo>
                    <a:pt x="2457450" y="4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6403975" y="4001338"/>
            <a:ext cx="1197610" cy="441325"/>
            <a:chOff x="6403975" y="4001338"/>
            <a:chExt cx="1197610" cy="441325"/>
          </a:xfrm>
        </p:grpSpPr>
        <p:sp>
          <p:nvSpPr>
            <p:cNvPr id="10" name="object 10" descr=""/>
            <p:cNvSpPr/>
            <p:nvPr/>
          </p:nvSpPr>
          <p:spPr>
            <a:xfrm>
              <a:off x="6408419" y="4006596"/>
              <a:ext cx="1187450" cy="431800"/>
            </a:xfrm>
            <a:custGeom>
              <a:avLst/>
              <a:gdLst/>
              <a:ahLst/>
              <a:cxnLst/>
              <a:rect l="l" t="t" r="r" b="b"/>
              <a:pathLst>
                <a:path w="1187450" h="431800">
                  <a:moveTo>
                    <a:pt x="1187196" y="0"/>
                  </a:moveTo>
                  <a:lnTo>
                    <a:pt x="0" y="0"/>
                  </a:lnTo>
                  <a:lnTo>
                    <a:pt x="0" y="431291"/>
                  </a:lnTo>
                  <a:lnTo>
                    <a:pt x="1187196" y="431291"/>
                  </a:lnTo>
                  <a:lnTo>
                    <a:pt x="1187196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403975" y="4001338"/>
              <a:ext cx="1197610" cy="441325"/>
            </a:xfrm>
            <a:custGeom>
              <a:avLst/>
              <a:gdLst/>
              <a:ahLst/>
              <a:cxnLst/>
              <a:rect l="l" t="t" r="r" b="b"/>
              <a:pathLst>
                <a:path w="1197609" h="441325">
                  <a:moveTo>
                    <a:pt x="1197127" y="0"/>
                  </a:moveTo>
                  <a:lnTo>
                    <a:pt x="0" y="0"/>
                  </a:lnTo>
                  <a:lnTo>
                    <a:pt x="0" y="441324"/>
                  </a:lnTo>
                  <a:lnTo>
                    <a:pt x="1197127" y="441324"/>
                  </a:lnTo>
                  <a:lnTo>
                    <a:pt x="1197127" y="436562"/>
                  </a:lnTo>
                  <a:lnTo>
                    <a:pt x="9525" y="436562"/>
                  </a:lnTo>
                  <a:lnTo>
                    <a:pt x="4762" y="431799"/>
                  </a:lnTo>
                  <a:lnTo>
                    <a:pt x="9525" y="431799"/>
                  </a:lnTo>
                  <a:lnTo>
                    <a:pt x="9525" y="9524"/>
                  </a:lnTo>
                  <a:lnTo>
                    <a:pt x="4762" y="9524"/>
                  </a:lnTo>
                  <a:lnTo>
                    <a:pt x="9525" y="4762"/>
                  </a:lnTo>
                  <a:lnTo>
                    <a:pt x="1197127" y="4762"/>
                  </a:lnTo>
                  <a:lnTo>
                    <a:pt x="1197127" y="0"/>
                  </a:lnTo>
                  <a:close/>
                </a:path>
                <a:path w="1197609" h="441325">
                  <a:moveTo>
                    <a:pt x="9525" y="431799"/>
                  </a:moveTo>
                  <a:lnTo>
                    <a:pt x="4762" y="431799"/>
                  </a:lnTo>
                  <a:lnTo>
                    <a:pt x="9525" y="436562"/>
                  </a:lnTo>
                  <a:lnTo>
                    <a:pt x="9525" y="431799"/>
                  </a:lnTo>
                  <a:close/>
                </a:path>
                <a:path w="1197609" h="441325">
                  <a:moveTo>
                    <a:pt x="1187602" y="431799"/>
                  </a:moveTo>
                  <a:lnTo>
                    <a:pt x="9525" y="431799"/>
                  </a:lnTo>
                  <a:lnTo>
                    <a:pt x="9525" y="436562"/>
                  </a:lnTo>
                  <a:lnTo>
                    <a:pt x="1187602" y="436562"/>
                  </a:lnTo>
                  <a:lnTo>
                    <a:pt x="1187602" y="431799"/>
                  </a:lnTo>
                  <a:close/>
                </a:path>
                <a:path w="1197609" h="441325">
                  <a:moveTo>
                    <a:pt x="1187602" y="4762"/>
                  </a:moveTo>
                  <a:lnTo>
                    <a:pt x="1187602" y="436562"/>
                  </a:lnTo>
                  <a:lnTo>
                    <a:pt x="1192364" y="431799"/>
                  </a:lnTo>
                  <a:lnTo>
                    <a:pt x="1197127" y="431799"/>
                  </a:lnTo>
                  <a:lnTo>
                    <a:pt x="1197127" y="9524"/>
                  </a:lnTo>
                  <a:lnTo>
                    <a:pt x="1192364" y="9524"/>
                  </a:lnTo>
                  <a:lnTo>
                    <a:pt x="1187602" y="4762"/>
                  </a:lnTo>
                  <a:close/>
                </a:path>
                <a:path w="1197609" h="441325">
                  <a:moveTo>
                    <a:pt x="1197127" y="431799"/>
                  </a:moveTo>
                  <a:lnTo>
                    <a:pt x="1192364" y="431799"/>
                  </a:lnTo>
                  <a:lnTo>
                    <a:pt x="1187602" y="436562"/>
                  </a:lnTo>
                  <a:lnTo>
                    <a:pt x="1197127" y="436562"/>
                  </a:lnTo>
                  <a:lnTo>
                    <a:pt x="1197127" y="431799"/>
                  </a:lnTo>
                  <a:close/>
                </a:path>
                <a:path w="1197609" h="441325">
                  <a:moveTo>
                    <a:pt x="9525" y="4762"/>
                  </a:moveTo>
                  <a:lnTo>
                    <a:pt x="4762" y="9524"/>
                  </a:lnTo>
                  <a:lnTo>
                    <a:pt x="9525" y="9524"/>
                  </a:lnTo>
                  <a:lnTo>
                    <a:pt x="9525" y="4762"/>
                  </a:lnTo>
                  <a:close/>
                </a:path>
                <a:path w="1197609" h="441325">
                  <a:moveTo>
                    <a:pt x="1187602" y="4762"/>
                  </a:moveTo>
                  <a:lnTo>
                    <a:pt x="9525" y="4762"/>
                  </a:lnTo>
                  <a:lnTo>
                    <a:pt x="9525" y="9524"/>
                  </a:lnTo>
                  <a:lnTo>
                    <a:pt x="1187602" y="9524"/>
                  </a:lnTo>
                  <a:lnTo>
                    <a:pt x="1187602" y="4762"/>
                  </a:lnTo>
                  <a:close/>
                </a:path>
                <a:path w="1197609" h="441325">
                  <a:moveTo>
                    <a:pt x="1197127" y="4762"/>
                  </a:moveTo>
                  <a:lnTo>
                    <a:pt x="1187602" y="4762"/>
                  </a:lnTo>
                  <a:lnTo>
                    <a:pt x="1192364" y="9524"/>
                  </a:lnTo>
                  <a:lnTo>
                    <a:pt x="1197127" y="9524"/>
                  </a:lnTo>
                  <a:lnTo>
                    <a:pt x="1197127" y="4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6007100" y="4936375"/>
            <a:ext cx="1773555" cy="730250"/>
            <a:chOff x="6007100" y="4936375"/>
            <a:chExt cx="1773555" cy="730250"/>
          </a:xfrm>
        </p:grpSpPr>
        <p:sp>
          <p:nvSpPr>
            <p:cNvPr id="13" name="object 13" descr=""/>
            <p:cNvSpPr/>
            <p:nvPr/>
          </p:nvSpPr>
          <p:spPr>
            <a:xfrm>
              <a:off x="6012180" y="4940808"/>
              <a:ext cx="1763395" cy="396240"/>
            </a:xfrm>
            <a:custGeom>
              <a:avLst/>
              <a:gdLst/>
              <a:ahLst/>
              <a:cxnLst/>
              <a:rect l="l" t="t" r="r" b="b"/>
              <a:pathLst>
                <a:path w="1763395" h="396239">
                  <a:moveTo>
                    <a:pt x="1763268" y="0"/>
                  </a:moveTo>
                  <a:lnTo>
                    <a:pt x="0" y="0"/>
                  </a:lnTo>
                  <a:lnTo>
                    <a:pt x="0" y="396240"/>
                  </a:lnTo>
                  <a:lnTo>
                    <a:pt x="1763268" y="396240"/>
                  </a:lnTo>
                  <a:lnTo>
                    <a:pt x="1763268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007100" y="4936375"/>
              <a:ext cx="1773555" cy="405130"/>
            </a:xfrm>
            <a:custGeom>
              <a:avLst/>
              <a:gdLst/>
              <a:ahLst/>
              <a:cxnLst/>
              <a:rect l="l" t="t" r="r" b="b"/>
              <a:pathLst>
                <a:path w="1773554" h="405129">
                  <a:moveTo>
                    <a:pt x="1773237" y="0"/>
                  </a:moveTo>
                  <a:lnTo>
                    <a:pt x="0" y="0"/>
                  </a:lnTo>
                  <a:lnTo>
                    <a:pt x="0" y="404812"/>
                  </a:lnTo>
                  <a:lnTo>
                    <a:pt x="1773237" y="404812"/>
                  </a:lnTo>
                  <a:lnTo>
                    <a:pt x="1773237" y="400049"/>
                  </a:lnTo>
                  <a:lnTo>
                    <a:pt x="9525" y="400049"/>
                  </a:lnTo>
                  <a:lnTo>
                    <a:pt x="4762" y="395287"/>
                  </a:lnTo>
                  <a:lnTo>
                    <a:pt x="9525" y="395287"/>
                  </a:lnTo>
                  <a:lnTo>
                    <a:pt x="9525" y="9524"/>
                  </a:lnTo>
                  <a:lnTo>
                    <a:pt x="4762" y="9524"/>
                  </a:lnTo>
                  <a:lnTo>
                    <a:pt x="9525" y="4762"/>
                  </a:lnTo>
                  <a:lnTo>
                    <a:pt x="1773237" y="4762"/>
                  </a:lnTo>
                  <a:lnTo>
                    <a:pt x="1773237" y="0"/>
                  </a:lnTo>
                  <a:close/>
                </a:path>
                <a:path w="1773554" h="405129">
                  <a:moveTo>
                    <a:pt x="9525" y="395287"/>
                  </a:moveTo>
                  <a:lnTo>
                    <a:pt x="4762" y="395287"/>
                  </a:lnTo>
                  <a:lnTo>
                    <a:pt x="9525" y="400049"/>
                  </a:lnTo>
                  <a:lnTo>
                    <a:pt x="9525" y="395287"/>
                  </a:lnTo>
                  <a:close/>
                </a:path>
                <a:path w="1773554" h="405129">
                  <a:moveTo>
                    <a:pt x="1763712" y="395287"/>
                  </a:moveTo>
                  <a:lnTo>
                    <a:pt x="9525" y="395287"/>
                  </a:lnTo>
                  <a:lnTo>
                    <a:pt x="9525" y="400049"/>
                  </a:lnTo>
                  <a:lnTo>
                    <a:pt x="1763712" y="400049"/>
                  </a:lnTo>
                  <a:lnTo>
                    <a:pt x="1763712" y="395287"/>
                  </a:lnTo>
                  <a:close/>
                </a:path>
                <a:path w="1773554" h="405129">
                  <a:moveTo>
                    <a:pt x="1763712" y="4762"/>
                  </a:moveTo>
                  <a:lnTo>
                    <a:pt x="1763712" y="400049"/>
                  </a:lnTo>
                  <a:lnTo>
                    <a:pt x="1768475" y="395287"/>
                  </a:lnTo>
                  <a:lnTo>
                    <a:pt x="1773237" y="395287"/>
                  </a:lnTo>
                  <a:lnTo>
                    <a:pt x="1773237" y="9524"/>
                  </a:lnTo>
                  <a:lnTo>
                    <a:pt x="1768475" y="9524"/>
                  </a:lnTo>
                  <a:lnTo>
                    <a:pt x="1763712" y="4762"/>
                  </a:lnTo>
                  <a:close/>
                </a:path>
                <a:path w="1773554" h="405129">
                  <a:moveTo>
                    <a:pt x="1773237" y="395287"/>
                  </a:moveTo>
                  <a:lnTo>
                    <a:pt x="1768475" y="395287"/>
                  </a:lnTo>
                  <a:lnTo>
                    <a:pt x="1763712" y="400049"/>
                  </a:lnTo>
                  <a:lnTo>
                    <a:pt x="1773237" y="400049"/>
                  </a:lnTo>
                  <a:lnTo>
                    <a:pt x="1773237" y="395287"/>
                  </a:lnTo>
                  <a:close/>
                </a:path>
                <a:path w="1773554" h="405129">
                  <a:moveTo>
                    <a:pt x="9525" y="4762"/>
                  </a:moveTo>
                  <a:lnTo>
                    <a:pt x="4762" y="9524"/>
                  </a:lnTo>
                  <a:lnTo>
                    <a:pt x="9525" y="9524"/>
                  </a:lnTo>
                  <a:lnTo>
                    <a:pt x="9525" y="4762"/>
                  </a:lnTo>
                  <a:close/>
                </a:path>
                <a:path w="1773554" h="405129">
                  <a:moveTo>
                    <a:pt x="1763712" y="4762"/>
                  </a:moveTo>
                  <a:lnTo>
                    <a:pt x="9525" y="4762"/>
                  </a:lnTo>
                  <a:lnTo>
                    <a:pt x="9525" y="9524"/>
                  </a:lnTo>
                  <a:lnTo>
                    <a:pt x="1763712" y="9524"/>
                  </a:lnTo>
                  <a:lnTo>
                    <a:pt x="1763712" y="4762"/>
                  </a:lnTo>
                  <a:close/>
                </a:path>
                <a:path w="1773554" h="405129">
                  <a:moveTo>
                    <a:pt x="1773237" y="4762"/>
                  </a:moveTo>
                  <a:lnTo>
                    <a:pt x="1763712" y="4762"/>
                  </a:lnTo>
                  <a:lnTo>
                    <a:pt x="1768475" y="9524"/>
                  </a:lnTo>
                  <a:lnTo>
                    <a:pt x="1773237" y="9524"/>
                  </a:lnTo>
                  <a:lnTo>
                    <a:pt x="1773237" y="4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841236" y="5373624"/>
              <a:ext cx="180340" cy="288290"/>
            </a:xfrm>
            <a:custGeom>
              <a:avLst/>
              <a:gdLst/>
              <a:ahLst/>
              <a:cxnLst/>
              <a:rect l="l" t="t" r="r" b="b"/>
              <a:pathLst>
                <a:path w="180340" h="288289">
                  <a:moveTo>
                    <a:pt x="89916" y="0"/>
                  </a:moveTo>
                  <a:lnTo>
                    <a:pt x="0" y="71628"/>
                  </a:lnTo>
                  <a:lnTo>
                    <a:pt x="44196" y="71628"/>
                  </a:lnTo>
                  <a:lnTo>
                    <a:pt x="44196" y="288036"/>
                  </a:lnTo>
                  <a:lnTo>
                    <a:pt x="135636" y="288036"/>
                  </a:lnTo>
                  <a:lnTo>
                    <a:pt x="135636" y="71628"/>
                  </a:lnTo>
                  <a:lnTo>
                    <a:pt x="179832" y="71628"/>
                  </a:lnTo>
                  <a:lnTo>
                    <a:pt x="89916" y="0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826935" y="5366855"/>
              <a:ext cx="208279" cy="300355"/>
            </a:xfrm>
            <a:custGeom>
              <a:avLst/>
              <a:gdLst/>
              <a:ahLst/>
              <a:cxnLst/>
              <a:rect l="l" t="t" r="r" b="b"/>
              <a:pathLst>
                <a:path w="208279" h="300354">
                  <a:moveTo>
                    <a:pt x="54076" y="78320"/>
                  </a:moveTo>
                  <a:lnTo>
                    <a:pt x="54076" y="299771"/>
                  </a:lnTo>
                  <a:lnTo>
                    <a:pt x="154101" y="299771"/>
                  </a:lnTo>
                  <a:lnTo>
                    <a:pt x="154101" y="295008"/>
                  </a:lnTo>
                  <a:lnTo>
                    <a:pt x="63601" y="295008"/>
                  </a:lnTo>
                  <a:lnTo>
                    <a:pt x="58851" y="290246"/>
                  </a:lnTo>
                  <a:lnTo>
                    <a:pt x="63601" y="290246"/>
                  </a:lnTo>
                  <a:lnTo>
                    <a:pt x="63601" y="83083"/>
                  </a:lnTo>
                  <a:lnTo>
                    <a:pt x="58851" y="83083"/>
                  </a:lnTo>
                  <a:lnTo>
                    <a:pt x="54076" y="78320"/>
                  </a:lnTo>
                  <a:close/>
                </a:path>
                <a:path w="208279" h="300354">
                  <a:moveTo>
                    <a:pt x="63601" y="290246"/>
                  </a:moveTo>
                  <a:lnTo>
                    <a:pt x="58851" y="290246"/>
                  </a:lnTo>
                  <a:lnTo>
                    <a:pt x="63601" y="295008"/>
                  </a:lnTo>
                  <a:lnTo>
                    <a:pt x="63601" y="290246"/>
                  </a:lnTo>
                  <a:close/>
                </a:path>
                <a:path w="208279" h="300354">
                  <a:moveTo>
                    <a:pt x="144576" y="290246"/>
                  </a:moveTo>
                  <a:lnTo>
                    <a:pt x="63601" y="290246"/>
                  </a:lnTo>
                  <a:lnTo>
                    <a:pt x="63601" y="295008"/>
                  </a:lnTo>
                  <a:lnTo>
                    <a:pt x="144576" y="295008"/>
                  </a:lnTo>
                  <a:lnTo>
                    <a:pt x="144576" y="290246"/>
                  </a:lnTo>
                  <a:close/>
                </a:path>
                <a:path w="208279" h="300354">
                  <a:moveTo>
                    <a:pt x="180976" y="73558"/>
                  </a:moveTo>
                  <a:lnTo>
                    <a:pt x="144576" y="73558"/>
                  </a:lnTo>
                  <a:lnTo>
                    <a:pt x="144576" y="295008"/>
                  </a:lnTo>
                  <a:lnTo>
                    <a:pt x="149326" y="290246"/>
                  </a:lnTo>
                  <a:lnTo>
                    <a:pt x="154101" y="290246"/>
                  </a:lnTo>
                  <a:lnTo>
                    <a:pt x="154101" y="83083"/>
                  </a:lnTo>
                  <a:lnTo>
                    <a:pt x="149326" y="83083"/>
                  </a:lnTo>
                  <a:lnTo>
                    <a:pt x="154101" y="78320"/>
                  </a:lnTo>
                  <a:lnTo>
                    <a:pt x="186942" y="78320"/>
                  </a:lnTo>
                  <a:lnTo>
                    <a:pt x="180976" y="73558"/>
                  </a:lnTo>
                  <a:close/>
                </a:path>
                <a:path w="208279" h="300354">
                  <a:moveTo>
                    <a:pt x="154101" y="290246"/>
                  </a:moveTo>
                  <a:lnTo>
                    <a:pt x="149326" y="290246"/>
                  </a:lnTo>
                  <a:lnTo>
                    <a:pt x="144576" y="295008"/>
                  </a:lnTo>
                  <a:lnTo>
                    <a:pt x="154101" y="295008"/>
                  </a:lnTo>
                  <a:lnTo>
                    <a:pt x="154101" y="290246"/>
                  </a:lnTo>
                  <a:close/>
                </a:path>
                <a:path w="208279" h="300354">
                  <a:moveTo>
                    <a:pt x="104089" y="0"/>
                  </a:moveTo>
                  <a:lnTo>
                    <a:pt x="0" y="83083"/>
                  </a:lnTo>
                  <a:lnTo>
                    <a:pt x="54076" y="83083"/>
                  </a:lnTo>
                  <a:lnTo>
                    <a:pt x="54076" y="82042"/>
                  </a:lnTo>
                  <a:lnTo>
                    <a:pt x="16573" y="82042"/>
                  </a:lnTo>
                  <a:lnTo>
                    <a:pt x="13601" y="73558"/>
                  </a:lnTo>
                  <a:lnTo>
                    <a:pt x="27202" y="73558"/>
                  </a:lnTo>
                  <a:lnTo>
                    <a:pt x="104089" y="12189"/>
                  </a:lnTo>
                  <a:lnTo>
                    <a:pt x="101117" y="9817"/>
                  </a:lnTo>
                  <a:lnTo>
                    <a:pt x="116388" y="9817"/>
                  </a:lnTo>
                  <a:lnTo>
                    <a:pt x="104089" y="0"/>
                  </a:lnTo>
                  <a:close/>
                </a:path>
                <a:path w="208279" h="300354">
                  <a:moveTo>
                    <a:pt x="63601" y="78320"/>
                  </a:moveTo>
                  <a:lnTo>
                    <a:pt x="54076" y="78320"/>
                  </a:lnTo>
                  <a:lnTo>
                    <a:pt x="58851" y="83083"/>
                  </a:lnTo>
                  <a:lnTo>
                    <a:pt x="63601" y="83083"/>
                  </a:lnTo>
                  <a:lnTo>
                    <a:pt x="63601" y="78320"/>
                  </a:lnTo>
                  <a:close/>
                </a:path>
                <a:path w="208279" h="300354">
                  <a:moveTo>
                    <a:pt x="154101" y="78320"/>
                  </a:moveTo>
                  <a:lnTo>
                    <a:pt x="149326" y="83083"/>
                  </a:lnTo>
                  <a:lnTo>
                    <a:pt x="154101" y="83083"/>
                  </a:lnTo>
                  <a:lnTo>
                    <a:pt x="154101" y="78320"/>
                  </a:lnTo>
                  <a:close/>
                </a:path>
                <a:path w="208279" h="300354">
                  <a:moveTo>
                    <a:pt x="186942" y="78320"/>
                  </a:moveTo>
                  <a:lnTo>
                    <a:pt x="154101" y="78320"/>
                  </a:lnTo>
                  <a:lnTo>
                    <a:pt x="154101" y="83083"/>
                  </a:lnTo>
                  <a:lnTo>
                    <a:pt x="208178" y="83083"/>
                  </a:lnTo>
                  <a:lnTo>
                    <a:pt x="206873" y="82042"/>
                  </a:lnTo>
                  <a:lnTo>
                    <a:pt x="191604" y="82042"/>
                  </a:lnTo>
                  <a:lnTo>
                    <a:pt x="186942" y="78320"/>
                  </a:lnTo>
                  <a:close/>
                </a:path>
                <a:path w="208279" h="300354">
                  <a:moveTo>
                    <a:pt x="27202" y="73558"/>
                  </a:moveTo>
                  <a:lnTo>
                    <a:pt x="13601" y="73558"/>
                  </a:lnTo>
                  <a:lnTo>
                    <a:pt x="16573" y="82042"/>
                  </a:lnTo>
                  <a:lnTo>
                    <a:pt x="27202" y="73558"/>
                  </a:lnTo>
                  <a:close/>
                </a:path>
                <a:path w="208279" h="300354">
                  <a:moveTo>
                    <a:pt x="63601" y="73558"/>
                  </a:moveTo>
                  <a:lnTo>
                    <a:pt x="27202" y="73558"/>
                  </a:lnTo>
                  <a:lnTo>
                    <a:pt x="16573" y="82042"/>
                  </a:lnTo>
                  <a:lnTo>
                    <a:pt x="54076" y="82042"/>
                  </a:lnTo>
                  <a:lnTo>
                    <a:pt x="54076" y="78320"/>
                  </a:lnTo>
                  <a:lnTo>
                    <a:pt x="63601" y="78320"/>
                  </a:lnTo>
                  <a:lnTo>
                    <a:pt x="63601" y="73558"/>
                  </a:lnTo>
                  <a:close/>
                </a:path>
                <a:path w="208279" h="300354">
                  <a:moveTo>
                    <a:pt x="116388" y="9817"/>
                  </a:moveTo>
                  <a:lnTo>
                    <a:pt x="107061" y="9817"/>
                  </a:lnTo>
                  <a:lnTo>
                    <a:pt x="104089" y="12189"/>
                  </a:lnTo>
                  <a:lnTo>
                    <a:pt x="191604" y="82042"/>
                  </a:lnTo>
                  <a:lnTo>
                    <a:pt x="194576" y="73558"/>
                  </a:lnTo>
                  <a:lnTo>
                    <a:pt x="196245" y="73558"/>
                  </a:lnTo>
                  <a:lnTo>
                    <a:pt x="116388" y="9817"/>
                  </a:lnTo>
                  <a:close/>
                </a:path>
                <a:path w="208279" h="300354">
                  <a:moveTo>
                    <a:pt x="196245" y="73558"/>
                  </a:moveTo>
                  <a:lnTo>
                    <a:pt x="194576" y="73558"/>
                  </a:lnTo>
                  <a:lnTo>
                    <a:pt x="191604" y="82042"/>
                  </a:lnTo>
                  <a:lnTo>
                    <a:pt x="206873" y="82042"/>
                  </a:lnTo>
                  <a:lnTo>
                    <a:pt x="196245" y="73558"/>
                  </a:lnTo>
                  <a:close/>
                </a:path>
                <a:path w="208279" h="300354">
                  <a:moveTo>
                    <a:pt x="107061" y="9817"/>
                  </a:moveTo>
                  <a:lnTo>
                    <a:pt x="101117" y="9817"/>
                  </a:lnTo>
                  <a:lnTo>
                    <a:pt x="104089" y="12189"/>
                  </a:lnTo>
                  <a:lnTo>
                    <a:pt x="107061" y="98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 descr=""/>
          <p:cNvGrpSpPr/>
          <p:nvPr/>
        </p:nvGrpSpPr>
        <p:grpSpPr>
          <a:xfrm>
            <a:off x="6007100" y="3099638"/>
            <a:ext cx="1773555" cy="405130"/>
            <a:chOff x="6007100" y="3099638"/>
            <a:chExt cx="1773555" cy="405130"/>
          </a:xfrm>
        </p:grpSpPr>
        <p:sp>
          <p:nvSpPr>
            <p:cNvPr id="18" name="object 18" descr=""/>
            <p:cNvSpPr/>
            <p:nvPr/>
          </p:nvSpPr>
          <p:spPr>
            <a:xfrm>
              <a:off x="6012180" y="3104387"/>
              <a:ext cx="1763395" cy="394970"/>
            </a:xfrm>
            <a:custGeom>
              <a:avLst/>
              <a:gdLst/>
              <a:ahLst/>
              <a:cxnLst/>
              <a:rect l="l" t="t" r="r" b="b"/>
              <a:pathLst>
                <a:path w="1763395" h="394970">
                  <a:moveTo>
                    <a:pt x="1763268" y="0"/>
                  </a:moveTo>
                  <a:lnTo>
                    <a:pt x="0" y="0"/>
                  </a:lnTo>
                  <a:lnTo>
                    <a:pt x="0" y="394715"/>
                  </a:lnTo>
                  <a:lnTo>
                    <a:pt x="1763268" y="394715"/>
                  </a:lnTo>
                  <a:lnTo>
                    <a:pt x="1763268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007100" y="3099638"/>
              <a:ext cx="1773555" cy="405130"/>
            </a:xfrm>
            <a:custGeom>
              <a:avLst/>
              <a:gdLst/>
              <a:ahLst/>
              <a:cxnLst/>
              <a:rect l="l" t="t" r="r" b="b"/>
              <a:pathLst>
                <a:path w="1773554" h="405129">
                  <a:moveTo>
                    <a:pt x="1773237" y="0"/>
                  </a:moveTo>
                  <a:lnTo>
                    <a:pt x="0" y="0"/>
                  </a:lnTo>
                  <a:lnTo>
                    <a:pt x="0" y="404812"/>
                  </a:lnTo>
                  <a:lnTo>
                    <a:pt x="1773237" y="404812"/>
                  </a:lnTo>
                  <a:lnTo>
                    <a:pt x="1773237" y="400050"/>
                  </a:lnTo>
                  <a:lnTo>
                    <a:pt x="9525" y="400050"/>
                  </a:lnTo>
                  <a:lnTo>
                    <a:pt x="4762" y="395287"/>
                  </a:lnTo>
                  <a:lnTo>
                    <a:pt x="9525" y="395287"/>
                  </a:lnTo>
                  <a:lnTo>
                    <a:pt x="9525" y="9525"/>
                  </a:lnTo>
                  <a:lnTo>
                    <a:pt x="4762" y="9525"/>
                  </a:lnTo>
                  <a:lnTo>
                    <a:pt x="9525" y="4762"/>
                  </a:lnTo>
                  <a:lnTo>
                    <a:pt x="1773237" y="4762"/>
                  </a:lnTo>
                  <a:lnTo>
                    <a:pt x="1773237" y="0"/>
                  </a:lnTo>
                  <a:close/>
                </a:path>
                <a:path w="1773554" h="405129">
                  <a:moveTo>
                    <a:pt x="9525" y="395287"/>
                  </a:moveTo>
                  <a:lnTo>
                    <a:pt x="4762" y="395287"/>
                  </a:lnTo>
                  <a:lnTo>
                    <a:pt x="9525" y="400050"/>
                  </a:lnTo>
                  <a:lnTo>
                    <a:pt x="9525" y="395287"/>
                  </a:lnTo>
                  <a:close/>
                </a:path>
                <a:path w="1773554" h="405129">
                  <a:moveTo>
                    <a:pt x="1763712" y="395287"/>
                  </a:moveTo>
                  <a:lnTo>
                    <a:pt x="9525" y="395287"/>
                  </a:lnTo>
                  <a:lnTo>
                    <a:pt x="9525" y="400050"/>
                  </a:lnTo>
                  <a:lnTo>
                    <a:pt x="1763712" y="400050"/>
                  </a:lnTo>
                  <a:lnTo>
                    <a:pt x="1763712" y="395287"/>
                  </a:lnTo>
                  <a:close/>
                </a:path>
                <a:path w="1773554" h="405129">
                  <a:moveTo>
                    <a:pt x="1763712" y="4762"/>
                  </a:moveTo>
                  <a:lnTo>
                    <a:pt x="1763712" y="400050"/>
                  </a:lnTo>
                  <a:lnTo>
                    <a:pt x="1768475" y="395287"/>
                  </a:lnTo>
                  <a:lnTo>
                    <a:pt x="1773237" y="395287"/>
                  </a:lnTo>
                  <a:lnTo>
                    <a:pt x="1773237" y="9525"/>
                  </a:lnTo>
                  <a:lnTo>
                    <a:pt x="1768475" y="9525"/>
                  </a:lnTo>
                  <a:lnTo>
                    <a:pt x="1763712" y="4762"/>
                  </a:lnTo>
                  <a:close/>
                </a:path>
                <a:path w="1773554" h="405129">
                  <a:moveTo>
                    <a:pt x="1773237" y="395287"/>
                  </a:moveTo>
                  <a:lnTo>
                    <a:pt x="1768475" y="395287"/>
                  </a:lnTo>
                  <a:lnTo>
                    <a:pt x="1763712" y="400050"/>
                  </a:lnTo>
                  <a:lnTo>
                    <a:pt x="1773237" y="400050"/>
                  </a:lnTo>
                  <a:lnTo>
                    <a:pt x="1773237" y="395287"/>
                  </a:lnTo>
                  <a:close/>
                </a:path>
                <a:path w="1773554" h="405129">
                  <a:moveTo>
                    <a:pt x="9525" y="4762"/>
                  </a:moveTo>
                  <a:lnTo>
                    <a:pt x="4762" y="9525"/>
                  </a:lnTo>
                  <a:lnTo>
                    <a:pt x="9525" y="9525"/>
                  </a:lnTo>
                  <a:lnTo>
                    <a:pt x="9525" y="4762"/>
                  </a:lnTo>
                  <a:close/>
                </a:path>
                <a:path w="1773554" h="405129">
                  <a:moveTo>
                    <a:pt x="1763712" y="4762"/>
                  </a:moveTo>
                  <a:lnTo>
                    <a:pt x="9525" y="4762"/>
                  </a:lnTo>
                  <a:lnTo>
                    <a:pt x="9525" y="9525"/>
                  </a:lnTo>
                  <a:lnTo>
                    <a:pt x="1763712" y="9525"/>
                  </a:lnTo>
                  <a:lnTo>
                    <a:pt x="1763712" y="4762"/>
                  </a:lnTo>
                  <a:close/>
                </a:path>
                <a:path w="1773554" h="405129">
                  <a:moveTo>
                    <a:pt x="1773237" y="4762"/>
                  </a:moveTo>
                  <a:lnTo>
                    <a:pt x="1763712" y="4762"/>
                  </a:lnTo>
                  <a:lnTo>
                    <a:pt x="1768475" y="9525"/>
                  </a:lnTo>
                  <a:lnTo>
                    <a:pt x="1773237" y="9525"/>
                  </a:lnTo>
                  <a:lnTo>
                    <a:pt x="1773237" y="4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6109652" y="5765990"/>
            <a:ext cx="97155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3333CC"/>
                </a:solidFill>
                <a:latin typeface="Courier New"/>
                <a:cs typeface="Courier New"/>
              </a:rPr>
              <a:t>input </a:t>
            </a:r>
            <a:r>
              <a:rPr dirty="0" sz="2400" spc="-210" b="1">
                <a:solidFill>
                  <a:srgbClr val="3333CC"/>
                </a:solidFill>
                <a:latin typeface="Courier New"/>
                <a:cs typeface="Courier New"/>
              </a:rPr>
              <a:t>vector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5802871" y="2165540"/>
            <a:ext cx="104902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110" b="1">
                <a:solidFill>
                  <a:srgbClr val="3333CC"/>
                </a:solidFill>
                <a:latin typeface="Courier New"/>
                <a:cs typeface="Courier New"/>
              </a:rPr>
              <a:t>output vector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6630352" y="4030548"/>
            <a:ext cx="7092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85" b="1">
                <a:solidFill>
                  <a:srgbClr val="3333CC"/>
                </a:solidFill>
                <a:latin typeface="Courier New"/>
                <a:cs typeface="Courier New"/>
              </a:rPr>
              <a:t>code</a:t>
            </a:r>
            <a:endParaRPr sz="2400">
              <a:latin typeface="Courier New"/>
              <a:cs typeface="Courier New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6825348" y="4503254"/>
            <a:ext cx="208279" cy="300355"/>
            <a:chOff x="6825348" y="4503254"/>
            <a:chExt cx="208279" cy="300355"/>
          </a:xfrm>
        </p:grpSpPr>
        <p:sp>
          <p:nvSpPr>
            <p:cNvPr id="24" name="object 24" descr=""/>
            <p:cNvSpPr/>
            <p:nvPr/>
          </p:nvSpPr>
          <p:spPr>
            <a:xfrm>
              <a:off x="6839712" y="4509516"/>
              <a:ext cx="180340" cy="288290"/>
            </a:xfrm>
            <a:custGeom>
              <a:avLst/>
              <a:gdLst/>
              <a:ahLst/>
              <a:cxnLst/>
              <a:rect l="l" t="t" r="r" b="b"/>
              <a:pathLst>
                <a:path w="180340" h="288289">
                  <a:moveTo>
                    <a:pt x="89916" y="0"/>
                  </a:moveTo>
                  <a:lnTo>
                    <a:pt x="0" y="71627"/>
                  </a:lnTo>
                  <a:lnTo>
                    <a:pt x="44196" y="71627"/>
                  </a:lnTo>
                  <a:lnTo>
                    <a:pt x="44196" y="288035"/>
                  </a:lnTo>
                  <a:lnTo>
                    <a:pt x="135636" y="288035"/>
                  </a:lnTo>
                  <a:lnTo>
                    <a:pt x="135636" y="71627"/>
                  </a:lnTo>
                  <a:lnTo>
                    <a:pt x="179832" y="71627"/>
                  </a:lnTo>
                  <a:lnTo>
                    <a:pt x="89916" y="0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6825348" y="4503254"/>
              <a:ext cx="208279" cy="300355"/>
            </a:xfrm>
            <a:custGeom>
              <a:avLst/>
              <a:gdLst/>
              <a:ahLst/>
              <a:cxnLst/>
              <a:rect l="l" t="t" r="r" b="b"/>
              <a:pathLst>
                <a:path w="208279" h="300354">
                  <a:moveTo>
                    <a:pt x="54089" y="78320"/>
                  </a:moveTo>
                  <a:lnTo>
                    <a:pt x="54089" y="299770"/>
                  </a:lnTo>
                  <a:lnTo>
                    <a:pt x="154089" y="299770"/>
                  </a:lnTo>
                  <a:lnTo>
                    <a:pt x="154089" y="295008"/>
                  </a:lnTo>
                  <a:lnTo>
                    <a:pt x="63614" y="295008"/>
                  </a:lnTo>
                  <a:lnTo>
                    <a:pt x="58839" y="290245"/>
                  </a:lnTo>
                  <a:lnTo>
                    <a:pt x="63614" y="290245"/>
                  </a:lnTo>
                  <a:lnTo>
                    <a:pt x="63614" y="83083"/>
                  </a:lnTo>
                  <a:lnTo>
                    <a:pt x="58839" y="83083"/>
                  </a:lnTo>
                  <a:lnTo>
                    <a:pt x="54089" y="78320"/>
                  </a:lnTo>
                  <a:close/>
                </a:path>
                <a:path w="208279" h="300354">
                  <a:moveTo>
                    <a:pt x="63614" y="290245"/>
                  </a:moveTo>
                  <a:lnTo>
                    <a:pt x="58839" y="290245"/>
                  </a:lnTo>
                  <a:lnTo>
                    <a:pt x="63614" y="295008"/>
                  </a:lnTo>
                  <a:lnTo>
                    <a:pt x="63614" y="290245"/>
                  </a:lnTo>
                  <a:close/>
                </a:path>
                <a:path w="208279" h="300354">
                  <a:moveTo>
                    <a:pt x="144564" y="290245"/>
                  </a:moveTo>
                  <a:lnTo>
                    <a:pt x="63614" y="290245"/>
                  </a:lnTo>
                  <a:lnTo>
                    <a:pt x="63614" y="295008"/>
                  </a:lnTo>
                  <a:lnTo>
                    <a:pt x="144564" y="295008"/>
                  </a:lnTo>
                  <a:lnTo>
                    <a:pt x="144564" y="290245"/>
                  </a:lnTo>
                  <a:close/>
                </a:path>
                <a:path w="208279" h="300354">
                  <a:moveTo>
                    <a:pt x="180976" y="73558"/>
                  </a:moveTo>
                  <a:lnTo>
                    <a:pt x="144564" y="73558"/>
                  </a:lnTo>
                  <a:lnTo>
                    <a:pt x="144564" y="295008"/>
                  </a:lnTo>
                  <a:lnTo>
                    <a:pt x="149339" y="290245"/>
                  </a:lnTo>
                  <a:lnTo>
                    <a:pt x="154089" y="290245"/>
                  </a:lnTo>
                  <a:lnTo>
                    <a:pt x="154089" y="83083"/>
                  </a:lnTo>
                  <a:lnTo>
                    <a:pt x="149339" y="83083"/>
                  </a:lnTo>
                  <a:lnTo>
                    <a:pt x="154089" y="78320"/>
                  </a:lnTo>
                  <a:lnTo>
                    <a:pt x="186942" y="78320"/>
                  </a:lnTo>
                  <a:lnTo>
                    <a:pt x="180976" y="73558"/>
                  </a:lnTo>
                  <a:close/>
                </a:path>
                <a:path w="208279" h="300354">
                  <a:moveTo>
                    <a:pt x="154089" y="290245"/>
                  </a:moveTo>
                  <a:lnTo>
                    <a:pt x="149339" y="290245"/>
                  </a:lnTo>
                  <a:lnTo>
                    <a:pt x="144564" y="295008"/>
                  </a:lnTo>
                  <a:lnTo>
                    <a:pt x="154089" y="295008"/>
                  </a:lnTo>
                  <a:lnTo>
                    <a:pt x="154089" y="290245"/>
                  </a:lnTo>
                  <a:close/>
                </a:path>
                <a:path w="208279" h="300354">
                  <a:moveTo>
                    <a:pt x="104089" y="0"/>
                  </a:moveTo>
                  <a:lnTo>
                    <a:pt x="0" y="83083"/>
                  </a:lnTo>
                  <a:lnTo>
                    <a:pt x="54089" y="83083"/>
                  </a:lnTo>
                  <a:lnTo>
                    <a:pt x="54089" y="82042"/>
                  </a:lnTo>
                  <a:lnTo>
                    <a:pt x="16573" y="82042"/>
                  </a:lnTo>
                  <a:lnTo>
                    <a:pt x="13601" y="73558"/>
                  </a:lnTo>
                  <a:lnTo>
                    <a:pt x="27202" y="73558"/>
                  </a:lnTo>
                  <a:lnTo>
                    <a:pt x="104089" y="12189"/>
                  </a:lnTo>
                  <a:lnTo>
                    <a:pt x="101117" y="9817"/>
                  </a:lnTo>
                  <a:lnTo>
                    <a:pt x="116388" y="9817"/>
                  </a:lnTo>
                  <a:lnTo>
                    <a:pt x="104089" y="0"/>
                  </a:lnTo>
                  <a:close/>
                </a:path>
                <a:path w="208279" h="300354">
                  <a:moveTo>
                    <a:pt x="63614" y="78320"/>
                  </a:moveTo>
                  <a:lnTo>
                    <a:pt x="54089" y="78320"/>
                  </a:lnTo>
                  <a:lnTo>
                    <a:pt x="58839" y="83083"/>
                  </a:lnTo>
                  <a:lnTo>
                    <a:pt x="63614" y="83083"/>
                  </a:lnTo>
                  <a:lnTo>
                    <a:pt x="63614" y="78320"/>
                  </a:lnTo>
                  <a:close/>
                </a:path>
                <a:path w="208279" h="300354">
                  <a:moveTo>
                    <a:pt x="154089" y="78320"/>
                  </a:moveTo>
                  <a:lnTo>
                    <a:pt x="149339" y="83083"/>
                  </a:lnTo>
                  <a:lnTo>
                    <a:pt x="154089" y="83083"/>
                  </a:lnTo>
                  <a:lnTo>
                    <a:pt x="154089" y="78320"/>
                  </a:lnTo>
                  <a:close/>
                </a:path>
                <a:path w="208279" h="300354">
                  <a:moveTo>
                    <a:pt x="186942" y="78320"/>
                  </a:moveTo>
                  <a:lnTo>
                    <a:pt x="154089" y="78320"/>
                  </a:lnTo>
                  <a:lnTo>
                    <a:pt x="154089" y="83083"/>
                  </a:lnTo>
                  <a:lnTo>
                    <a:pt x="208178" y="83083"/>
                  </a:lnTo>
                  <a:lnTo>
                    <a:pt x="206873" y="82042"/>
                  </a:lnTo>
                  <a:lnTo>
                    <a:pt x="191604" y="82042"/>
                  </a:lnTo>
                  <a:lnTo>
                    <a:pt x="186942" y="78320"/>
                  </a:lnTo>
                  <a:close/>
                </a:path>
                <a:path w="208279" h="300354">
                  <a:moveTo>
                    <a:pt x="27202" y="73558"/>
                  </a:moveTo>
                  <a:lnTo>
                    <a:pt x="13601" y="73558"/>
                  </a:lnTo>
                  <a:lnTo>
                    <a:pt x="16573" y="82042"/>
                  </a:lnTo>
                  <a:lnTo>
                    <a:pt x="27202" y="73558"/>
                  </a:lnTo>
                  <a:close/>
                </a:path>
                <a:path w="208279" h="300354">
                  <a:moveTo>
                    <a:pt x="63614" y="73558"/>
                  </a:moveTo>
                  <a:lnTo>
                    <a:pt x="27202" y="73558"/>
                  </a:lnTo>
                  <a:lnTo>
                    <a:pt x="16573" y="82042"/>
                  </a:lnTo>
                  <a:lnTo>
                    <a:pt x="54089" y="82042"/>
                  </a:lnTo>
                  <a:lnTo>
                    <a:pt x="54089" y="78320"/>
                  </a:lnTo>
                  <a:lnTo>
                    <a:pt x="63614" y="78320"/>
                  </a:lnTo>
                  <a:lnTo>
                    <a:pt x="63614" y="73558"/>
                  </a:lnTo>
                  <a:close/>
                </a:path>
                <a:path w="208279" h="300354">
                  <a:moveTo>
                    <a:pt x="116388" y="9817"/>
                  </a:moveTo>
                  <a:lnTo>
                    <a:pt x="107061" y="9817"/>
                  </a:lnTo>
                  <a:lnTo>
                    <a:pt x="104089" y="12189"/>
                  </a:lnTo>
                  <a:lnTo>
                    <a:pt x="191604" y="82042"/>
                  </a:lnTo>
                  <a:lnTo>
                    <a:pt x="194576" y="73558"/>
                  </a:lnTo>
                  <a:lnTo>
                    <a:pt x="196245" y="73558"/>
                  </a:lnTo>
                  <a:lnTo>
                    <a:pt x="116388" y="9817"/>
                  </a:lnTo>
                  <a:close/>
                </a:path>
                <a:path w="208279" h="300354">
                  <a:moveTo>
                    <a:pt x="196245" y="73558"/>
                  </a:moveTo>
                  <a:lnTo>
                    <a:pt x="194576" y="73558"/>
                  </a:lnTo>
                  <a:lnTo>
                    <a:pt x="191604" y="82042"/>
                  </a:lnTo>
                  <a:lnTo>
                    <a:pt x="206873" y="82042"/>
                  </a:lnTo>
                  <a:lnTo>
                    <a:pt x="196245" y="73558"/>
                  </a:lnTo>
                  <a:close/>
                </a:path>
                <a:path w="208279" h="300354">
                  <a:moveTo>
                    <a:pt x="107061" y="9817"/>
                  </a:moveTo>
                  <a:lnTo>
                    <a:pt x="101117" y="9817"/>
                  </a:lnTo>
                  <a:lnTo>
                    <a:pt x="104089" y="12189"/>
                  </a:lnTo>
                  <a:lnTo>
                    <a:pt x="107061" y="98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" name="object 26" descr=""/>
          <p:cNvGrpSpPr/>
          <p:nvPr/>
        </p:nvGrpSpPr>
        <p:grpSpPr>
          <a:xfrm>
            <a:off x="6826936" y="2701442"/>
            <a:ext cx="208279" cy="300355"/>
            <a:chOff x="6826936" y="2701442"/>
            <a:chExt cx="208279" cy="300355"/>
          </a:xfrm>
        </p:grpSpPr>
        <p:sp>
          <p:nvSpPr>
            <p:cNvPr id="27" name="object 27" descr=""/>
            <p:cNvSpPr/>
            <p:nvPr/>
          </p:nvSpPr>
          <p:spPr>
            <a:xfrm>
              <a:off x="6841236" y="2708148"/>
              <a:ext cx="180340" cy="288290"/>
            </a:xfrm>
            <a:custGeom>
              <a:avLst/>
              <a:gdLst/>
              <a:ahLst/>
              <a:cxnLst/>
              <a:rect l="l" t="t" r="r" b="b"/>
              <a:pathLst>
                <a:path w="180340" h="288289">
                  <a:moveTo>
                    <a:pt x="89916" y="0"/>
                  </a:moveTo>
                  <a:lnTo>
                    <a:pt x="0" y="71627"/>
                  </a:lnTo>
                  <a:lnTo>
                    <a:pt x="44196" y="71627"/>
                  </a:lnTo>
                  <a:lnTo>
                    <a:pt x="44196" y="288036"/>
                  </a:lnTo>
                  <a:lnTo>
                    <a:pt x="135636" y="288036"/>
                  </a:lnTo>
                  <a:lnTo>
                    <a:pt x="135636" y="71627"/>
                  </a:lnTo>
                  <a:lnTo>
                    <a:pt x="179832" y="71627"/>
                  </a:lnTo>
                  <a:lnTo>
                    <a:pt x="89916" y="0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6826936" y="2701442"/>
              <a:ext cx="208279" cy="300355"/>
            </a:xfrm>
            <a:custGeom>
              <a:avLst/>
              <a:gdLst/>
              <a:ahLst/>
              <a:cxnLst/>
              <a:rect l="l" t="t" r="r" b="b"/>
              <a:pathLst>
                <a:path w="208279" h="300355">
                  <a:moveTo>
                    <a:pt x="54076" y="78320"/>
                  </a:moveTo>
                  <a:lnTo>
                    <a:pt x="54076" y="299770"/>
                  </a:lnTo>
                  <a:lnTo>
                    <a:pt x="154101" y="299770"/>
                  </a:lnTo>
                  <a:lnTo>
                    <a:pt x="154101" y="295008"/>
                  </a:lnTo>
                  <a:lnTo>
                    <a:pt x="63601" y="295008"/>
                  </a:lnTo>
                  <a:lnTo>
                    <a:pt x="58851" y="290245"/>
                  </a:lnTo>
                  <a:lnTo>
                    <a:pt x="63601" y="290245"/>
                  </a:lnTo>
                  <a:lnTo>
                    <a:pt x="63601" y="83083"/>
                  </a:lnTo>
                  <a:lnTo>
                    <a:pt x="58851" y="83083"/>
                  </a:lnTo>
                  <a:lnTo>
                    <a:pt x="54076" y="78320"/>
                  </a:lnTo>
                  <a:close/>
                </a:path>
                <a:path w="208279" h="300355">
                  <a:moveTo>
                    <a:pt x="63601" y="290245"/>
                  </a:moveTo>
                  <a:lnTo>
                    <a:pt x="58851" y="290245"/>
                  </a:lnTo>
                  <a:lnTo>
                    <a:pt x="63601" y="295008"/>
                  </a:lnTo>
                  <a:lnTo>
                    <a:pt x="63601" y="290245"/>
                  </a:lnTo>
                  <a:close/>
                </a:path>
                <a:path w="208279" h="300355">
                  <a:moveTo>
                    <a:pt x="144576" y="290245"/>
                  </a:moveTo>
                  <a:lnTo>
                    <a:pt x="63601" y="290245"/>
                  </a:lnTo>
                  <a:lnTo>
                    <a:pt x="63601" y="295008"/>
                  </a:lnTo>
                  <a:lnTo>
                    <a:pt x="144576" y="295008"/>
                  </a:lnTo>
                  <a:lnTo>
                    <a:pt x="144576" y="290245"/>
                  </a:lnTo>
                  <a:close/>
                </a:path>
                <a:path w="208279" h="300355">
                  <a:moveTo>
                    <a:pt x="180978" y="73558"/>
                  </a:moveTo>
                  <a:lnTo>
                    <a:pt x="144576" y="73558"/>
                  </a:lnTo>
                  <a:lnTo>
                    <a:pt x="144576" y="295008"/>
                  </a:lnTo>
                  <a:lnTo>
                    <a:pt x="149326" y="290245"/>
                  </a:lnTo>
                  <a:lnTo>
                    <a:pt x="154101" y="290245"/>
                  </a:lnTo>
                  <a:lnTo>
                    <a:pt x="154101" y="83083"/>
                  </a:lnTo>
                  <a:lnTo>
                    <a:pt x="149326" y="83083"/>
                  </a:lnTo>
                  <a:lnTo>
                    <a:pt x="154101" y="78320"/>
                  </a:lnTo>
                  <a:lnTo>
                    <a:pt x="186943" y="78320"/>
                  </a:lnTo>
                  <a:lnTo>
                    <a:pt x="180978" y="73558"/>
                  </a:lnTo>
                  <a:close/>
                </a:path>
                <a:path w="208279" h="300355">
                  <a:moveTo>
                    <a:pt x="154101" y="290245"/>
                  </a:moveTo>
                  <a:lnTo>
                    <a:pt x="149326" y="290245"/>
                  </a:lnTo>
                  <a:lnTo>
                    <a:pt x="144576" y="295008"/>
                  </a:lnTo>
                  <a:lnTo>
                    <a:pt x="154101" y="295008"/>
                  </a:lnTo>
                  <a:lnTo>
                    <a:pt x="154101" y="290245"/>
                  </a:lnTo>
                  <a:close/>
                </a:path>
                <a:path w="208279" h="300355">
                  <a:moveTo>
                    <a:pt x="104089" y="0"/>
                  </a:moveTo>
                  <a:lnTo>
                    <a:pt x="0" y="83083"/>
                  </a:lnTo>
                  <a:lnTo>
                    <a:pt x="54076" y="83083"/>
                  </a:lnTo>
                  <a:lnTo>
                    <a:pt x="54076" y="82042"/>
                  </a:lnTo>
                  <a:lnTo>
                    <a:pt x="16573" y="82042"/>
                  </a:lnTo>
                  <a:lnTo>
                    <a:pt x="13601" y="73558"/>
                  </a:lnTo>
                  <a:lnTo>
                    <a:pt x="27200" y="73558"/>
                  </a:lnTo>
                  <a:lnTo>
                    <a:pt x="104089" y="12176"/>
                  </a:lnTo>
                  <a:lnTo>
                    <a:pt x="101117" y="9804"/>
                  </a:lnTo>
                  <a:lnTo>
                    <a:pt x="116372" y="9804"/>
                  </a:lnTo>
                  <a:lnTo>
                    <a:pt x="104089" y="0"/>
                  </a:lnTo>
                  <a:close/>
                </a:path>
                <a:path w="208279" h="300355">
                  <a:moveTo>
                    <a:pt x="63601" y="78320"/>
                  </a:moveTo>
                  <a:lnTo>
                    <a:pt x="54076" y="78320"/>
                  </a:lnTo>
                  <a:lnTo>
                    <a:pt x="58851" y="83083"/>
                  </a:lnTo>
                  <a:lnTo>
                    <a:pt x="63601" y="83083"/>
                  </a:lnTo>
                  <a:lnTo>
                    <a:pt x="63601" y="78320"/>
                  </a:lnTo>
                  <a:close/>
                </a:path>
                <a:path w="208279" h="300355">
                  <a:moveTo>
                    <a:pt x="154101" y="78320"/>
                  </a:moveTo>
                  <a:lnTo>
                    <a:pt x="149326" y="83083"/>
                  </a:lnTo>
                  <a:lnTo>
                    <a:pt x="154101" y="83083"/>
                  </a:lnTo>
                  <a:lnTo>
                    <a:pt x="154101" y="78320"/>
                  </a:lnTo>
                  <a:close/>
                </a:path>
                <a:path w="208279" h="300355">
                  <a:moveTo>
                    <a:pt x="186943" y="78320"/>
                  </a:moveTo>
                  <a:lnTo>
                    <a:pt x="154101" y="78320"/>
                  </a:lnTo>
                  <a:lnTo>
                    <a:pt x="154101" y="83083"/>
                  </a:lnTo>
                  <a:lnTo>
                    <a:pt x="208178" y="83083"/>
                  </a:lnTo>
                  <a:lnTo>
                    <a:pt x="206873" y="82042"/>
                  </a:lnTo>
                  <a:lnTo>
                    <a:pt x="191604" y="82042"/>
                  </a:lnTo>
                  <a:lnTo>
                    <a:pt x="186943" y="78320"/>
                  </a:lnTo>
                  <a:close/>
                </a:path>
                <a:path w="208279" h="300355">
                  <a:moveTo>
                    <a:pt x="27200" y="73558"/>
                  </a:moveTo>
                  <a:lnTo>
                    <a:pt x="13601" y="73558"/>
                  </a:lnTo>
                  <a:lnTo>
                    <a:pt x="16573" y="82042"/>
                  </a:lnTo>
                  <a:lnTo>
                    <a:pt x="27200" y="73558"/>
                  </a:lnTo>
                  <a:close/>
                </a:path>
                <a:path w="208279" h="300355">
                  <a:moveTo>
                    <a:pt x="63601" y="73558"/>
                  </a:moveTo>
                  <a:lnTo>
                    <a:pt x="27200" y="73558"/>
                  </a:lnTo>
                  <a:lnTo>
                    <a:pt x="16573" y="82042"/>
                  </a:lnTo>
                  <a:lnTo>
                    <a:pt x="54076" y="82042"/>
                  </a:lnTo>
                  <a:lnTo>
                    <a:pt x="54076" y="78320"/>
                  </a:lnTo>
                  <a:lnTo>
                    <a:pt x="63601" y="78320"/>
                  </a:lnTo>
                  <a:lnTo>
                    <a:pt x="63601" y="73558"/>
                  </a:lnTo>
                  <a:close/>
                </a:path>
                <a:path w="208279" h="300355">
                  <a:moveTo>
                    <a:pt x="116372" y="9804"/>
                  </a:moveTo>
                  <a:lnTo>
                    <a:pt x="107061" y="9804"/>
                  </a:lnTo>
                  <a:lnTo>
                    <a:pt x="104089" y="12176"/>
                  </a:lnTo>
                  <a:lnTo>
                    <a:pt x="191604" y="82042"/>
                  </a:lnTo>
                  <a:lnTo>
                    <a:pt x="194576" y="73558"/>
                  </a:lnTo>
                  <a:lnTo>
                    <a:pt x="196245" y="73558"/>
                  </a:lnTo>
                  <a:lnTo>
                    <a:pt x="116372" y="9804"/>
                  </a:lnTo>
                  <a:close/>
                </a:path>
                <a:path w="208279" h="300355">
                  <a:moveTo>
                    <a:pt x="196245" y="73558"/>
                  </a:moveTo>
                  <a:lnTo>
                    <a:pt x="194576" y="73558"/>
                  </a:lnTo>
                  <a:lnTo>
                    <a:pt x="191604" y="82042"/>
                  </a:lnTo>
                  <a:lnTo>
                    <a:pt x="206873" y="82042"/>
                  </a:lnTo>
                  <a:lnTo>
                    <a:pt x="196245" y="73558"/>
                  </a:lnTo>
                  <a:close/>
                </a:path>
                <a:path w="208279" h="300355">
                  <a:moveTo>
                    <a:pt x="107061" y="9804"/>
                  </a:moveTo>
                  <a:lnTo>
                    <a:pt x="101117" y="9804"/>
                  </a:lnTo>
                  <a:lnTo>
                    <a:pt x="104089" y="12176"/>
                  </a:lnTo>
                  <a:lnTo>
                    <a:pt x="107061" y="98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" name="object 29" descr=""/>
          <p:cNvGrpSpPr/>
          <p:nvPr/>
        </p:nvGrpSpPr>
        <p:grpSpPr>
          <a:xfrm>
            <a:off x="6826936" y="3603142"/>
            <a:ext cx="208279" cy="300355"/>
            <a:chOff x="6826936" y="3603142"/>
            <a:chExt cx="208279" cy="300355"/>
          </a:xfrm>
        </p:grpSpPr>
        <p:sp>
          <p:nvSpPr>
            <p:cNvPr id="30" name="object 30" descr=""/>
            <p:cNvSpPr/>
            <p:nvPr/>
          </p:nvSpPr>
          <p:spPr>
            <a:xfrm>
              <a:off x="6841236" y="3608832"/>
              <a:ext cx="180340" cy="289560"/>
            </a:xfrm>
            <a:custGeom>
              <a:avLst/>
              <a:gdLst/>
              <a:ahLst/>
              <a:cxnLst/>
              <a:rect l="l" t="t" r="r" b="b"/>
              <a:pathLst>
                <a:path w="180340" h="289560">
                  <a:moveTo>
                    <a:pt x="89916" y="0"/>
                  </a:moveTo>
                  <a:lnTo>
                    <a:pt x="0" y="73152"/>
                  </a:lnTo>
                  <a:lnTo>
                    <a:pt x="44196" y="73152"/>
                  </a:lnTo>
                  <a:lnTo>
                    <a:pt x="44196" y="289560"/>
                  </a:lnTo>
                  <a:lnTo>
                    <a:pt x="135636" y="289560"/>
                  </a:lnTo>
                  <a:lnTo>
                    <a:pt x="135636" y="73152"/>
                  </a:lnTo>
                  <a:lnTo>
                    <a:pt x="179832" y="73152"/>
                  </a:lnTo>
                  <a:lnTo>
                    <a:pt x="89916" y="0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6826936" y="3603142"/>
              <a:ext cx="208279" cy="300355"/>
            </a:xfrm>
            <a:custGeom>
              <a:avLst/>
              <a:gdLst/>
              <a:ahLst/>
              <a:cxnLst/>
              <a:rect l="l" t="t" r="r" b="b"/>
              <a:pathLst>
                <a:path w="208279" h="300354">
                  <a:moveTo>
                    <a:pt x="54076" y="78320"/>
                  </a:moveTo>
                  <a:lnTo>
                    <a:pt x="54076" y="299770"/>
                  </a:lnTo>
                  <a:lnTo>
                    <a:pt x="154101" y="299770"/>
                  </a:lnTo>
                  <a:lnTo>
                    <a:pt x="154101" y="295008"/>
                  </a:lnTo>
                  <a:lnTo>
                    <a:pt x="63601" y="295008"/>
                  </a:lnTo>
                  <a:lnTo>
                    <a:pt x="58851" y="290245"/>
                  </a:lnTo>
                  <a:lnTo>
                    <a:pt x="63601" y="290245"/>
                  </a:lnTo>
                  <a:lnTo>
                    <a:pt x="63601" y="83083"/>
                  </a:lnTo>
                  <a:lnTo>
                    <a:pt x="58851" y="83083"/>
                  </a:lnTo>
                  <a:lnTo>
                    <a:pt x="54076" y="78320"/>
                  </a:lnTo>
                  <a:close/>
                </a:path>
                <a:path w="208279" h="300354">
                  <a:moveTo>
                    <a:pt x="63601" y="290245"/>
                  </a:moveTo>
                  <a:lnTo>
                    <a:pt x="58851" y="290245"/>
                  </a:lnTo>
                  <a:lnTo>
                    <a:pt x="63601" y="295008"/>
                  </a:lnTo>
                  <a:lnTo>
                    <a:pt x="63601" y="290245"/>
                  </a:lnTo>
                  <a:close/>
                </a:path>
                <a:path w="208279" h="300354">
                  <a:moveTo>
                    <a:pt x="144576" y="290245"/>
                  </a:moveTo>
                  <a:lnTo>
                    <a:pt x="63601" y="290245"/>
                  </a:lnTo>
                  <a:lnTo>
                    <a:pt x="63601" y="295008"/>
                  </a:lnTo>
                  <a:lnTo>
                    <a:pt x="144576" y="295008"/>
                  </a:lnTo>
                  <a:lnTo>
                    <a:pt x="144576" y="290245"/>
                  </a:lnTo>
                  <a:close/>
                </a:path>
                <a:path w="208279" h="300354">
                  <a:moveTo>
                    <a:pt x="180978" y="73558"/>
                  </a:moveTo>
                  <a:lnTo>
                    <a:pt x="144576" y="73558"/>
                  </a:lnTo>
                  <a:lnTo>
                    <a:pt x="144576" y="295008"/>
                  </a:lnTo>
                  <a:lnTo>
                    <a:pt x="149326" y="290245"/>
                  </a:lnTo>
                  <a:lnTo>
                    <a:pt x="154101" y="290245"/>
                  </a:lnTo>
                  <a:lnTo>
                    <a:pt x="154101" y="83083"/>
                  </a:lnTo>
                  <a:lnTo>
                    <a:pt x="149326" y="83083"/>
                  </a:lnTo>
                  <a:lnTo>
                    <a:pt x="154101" y="78320"/>
                  </a:lnTo>
                  <a:lnTo>
                    <a:pt x="186943" y="78320"/>
                  </a:lnTo>
                  <a:lnTo>
                    <a:pt x="180978" y="73558"/>
                  </a:lnTo>
                  <a:close/>
                </a:path>
                <a:path w="208279" h="300354">
                  <a:moveTo>
                    <a:pt x="154101" y="290245"/>
                  </a:moveTo>
                  <a:lnTo>
                    <a:pt x="149326" y="290245"/>
                  </a:lnTo>
                  <a:lnTo>
                    <a:pt x="144576" y="295008"/>
                  </a:lnTo>
                  <a:lnTo>
                    <a:pt x="154101" y="295008"/>
                  </a:lnTo>
                  <a:lnTo>
                    <a:pt x="154101" y="290245"/>
                  </a:lnTo>
                  <a:close/>
                </a:path>
                <a:path w="208279" h="300354">
                  <a:moveTo>
                    <a:pt x="104089" y="0"/>
                  </a:moveTo>
                  <a:lnTo>
                    <a:pt x="0" y="83083"/>
                  </a:lnTo>
                  <a:lnTo>
                    <a:pt x="54076" y="83083"/>
                  </a:lnTo>
                  <a:lnTo>
                    <a:pt x="54076" y="82042"/>
                  </a:lnTo>
                  <a:lnTo>
                    <a:pt x="16573" y="82042"/>
                  </a:lnTo>
                  <a:lnTo>
                    <a:pt x="13601" y="73558"/>
                  </a:lnTo>
                  <a:lnTo>
                    <a:pt x="27200" y="73558"/>
                  </a:lnTo>
                  <a:lnTo>
                    <a:pt x="104089" y="12176"/>
                  </a:lnTo>
                  <a:lnTo>
                    <a:pt x="101117" y="9804"/>
                  </a:lnTo>
                  <a:lnTo>
                    <a:pt x="116372" y="9804"/>
                  </a:lnTo>
                  <a:lnTo>
                    <a:pt x="104089" y="0"/>
                  </a:lnTo>
                  <a:close/>
                </a:path>
                <a:path w="208279" h="300354">
                  <a:moveTo>
                    <a:pt x="63601" y="78320"/>
                  </a:moveTo>
                  <a:lnTo>
                    <a:pt x="54076" y="78320"/>
                  </a:lnTo>
                  <a:lnTo>
                    <a:pt x="58851" y="83083"/>
                  </a:lnTo>
                  <a:lnTo>
                    <a:pt x="63601" y="83083"/>
                  </a:lnTo>
                  <a:lnTo>
                    <a:pt x="63601" y="78320"/>
                  </a:lnTo>
                  <a:close/>
                </a:path>
                <a:path w="208279" h="300354">
                  <a:moveTo>
                    <a:pt x="154101" y="78320"/>
                  </a:moveTo>
                  <a:lnTo>
                    <a:pt x="149326" y="83083"/>
                  </a:lnTo>
                  <a:lnTo>
                    <a:pt x="154101" y="83083"/>
                  </a:lnTo>
                  <a:lnTo>
                    <a:pt x="154101" y="78320"/>
                  </a:lnTo>
                  <a:close/>
                </a:path>
                <a:path w="208279" h="300354">
                  <a:moveTo>
                    <a:pt x="186943" y="78320"/>
                  </a:moveTo>
                  <a:lnTo>
                    <a:pt x="154101" y="78320"/>
                  </a:lnTo>
                  <a:lnTo>
                    <a:pt x="154101" y="83083"/>
                  </a:lnTo>
                  <a:lnTo>
                    <a:pt x="208178" y="83083"/>
                  </a:lnTo>
                  <a:lnTo>
                    <a:pt x="206873" y="82042"/>
                  </a:lnTo>
                  <a:lnTo>
                    <a:pt x="191604" y="82042"/>
                  </a:lnTo>
                  <a:lnTo>
                    <a:pt x="186943" y="78320"/>
                  </a:lnTo>
                  <a:close/>
                </a:path>
                <a:path w="208279" h="300354">
                  <a:moveTo>
                    <a:pt x="27200" y="73558"/>
                  </a:moveTo>
                  <a:lnTo>
                    <a:pt x="13601" y="73558"/>
                  </a:lnTo>
                  <a:lnTo>
                    <a:pt x="16573" y="82042"/>
                  </a:lnTo>
                  <a:lnTo>
                    <a:pt x="27200" y="73558"/>
                  </a:lnTo>
                  <a:close/>
                </a:path>
                <a:path w="208279" h="300354">
                  <a:moveTo>
                    <a:pt x="63601" y="73558"/>
                  </a:moveTo>
                  <a:lnTo>
                    <a:pt x="27200" y="73558"/>
                  </a:lnTo>
                  <a:lnTo>
                    <a:pt x="16573" y="82042"/>
                  </a:lnTo>
                  <a:lnTo>
                    <a:pt x="54076" y="82042"/>
                  </a:lnTo>
                  <a:lnTo>
                    <a:pt x="54076" y="78320"/>
                  </a:lnTo>
                  <a:lnTo>
                    <a:pt x="63601" y="78320"/>
                  </a:lnTo>
                  <a:lnTo>
                    <a:pt x="63601" y="73558"/>
                  </a:lnTo>
                  <a:close/>
                </a:path>
                <a:path w="208279" h="300354">
                  <a:moveTo>
                    <a:pt x="116372" y="9804"/>
                  </a:moveTo>
                  <a:lnTo>
                    <a:pt x="107061" y="9804"/>
                  </a:lnTo>
                  <a:lnTo>
                    <a:pt x="104089" y="12176"/>
                  </a:lnTo>
                  <a:lnTo>
                    <a:pt x="191604" y="82042"/>
                  </a:lnTo>
                  <a:lnTo>
                    <a:pt x="194576" y="73558"/>
                  </a:lnTo>
                  <a:lnTo>
                    <a:pt x="196245" y="73558"/>
                  </a:lnTo>
                  <a:lnTo>
                    <a:pt x="116372" y="9804"/>
                  </a:lnTo>
                  <a:close/>
                </a:path>
                <a:path w="208279" h="300354">
                  <a:moveTo>
                    <a:pt x="196245" y="73558"/>
                  </a:moveTo>
                  <a:lnTo>
                    <a:pt x="194576" y="73558"/>
                  </a:lnTo>
                  <a:lnTo>
                    <a:pt x="191604" y="82042"/>
                  </a:lnTo>
                  <a:lnTo>
                    <a:pt x="206873" y="82042"/>
                  </a:lnTo>
                  <a:lnTo>
                    <a:pt x="196245" y="73558"/>
                  </a:lnTo>
                  <a:close/>
                </a:path>
                <a:path w="208279" h="300354">
                  <a:moveTo>
                    <a:pt x="107061" y="9804"/>
                  </a:moveTo>
                  <a:lnTo>
                    <a:pt x="101117" y="9804"/>
                  </a:lnTo>
                  <a:lnTo>
                    <a:pt x="104089" y="12176"/>
                  </a:lnTo>
                  <a:lnTo>
                    <a:pt x="107061" y="98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50838" rIns="0" bIns="0" rtlCol="0" vert="horz">
            <a:spAutoFit/>
          </a:bodyPr>
          <a:lstStyle/>
          <a:p>
            <a:pPr marL="198755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PCA</a:t>
            </a:r>
            <a:r>
              <a:rPr dirty="0" sz="4000" spc="-80"/>
              <a:t> </a:t>
            </a:r>
            <a:r>
              <a:rPr dirty="0" sz="4000"/>
              <a:t>in</a:t>
            </a:r>
            <a:r>
              <a:rPr dirty="0" sz="4000" spc="-75"/>
              <a:t> </a:t>
            </a:r>
            <a:r>
              <a:rPr dirty="0" sz="4000"/>
              <a:t>Neural</a:t>
            </a:r>
            <a:r>
              <a:rPr dirty="0" sz="4000" spc="-85"/>
              <a:t> </a:t>
            </a:r>
            <a:r>
              <a:rPr dirty="0" sz="4000" spc="-10"/>
              <a:t>Networks</a:t>
            </a:r>
            <a:endParaRPr sz="4000"/>
          </a:p>
        </p:txBody>
      </p:sp>
      <p:sp>
        <p:nvSpPr>
          <p:cNvPr id="33" name="object 3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02590" y="2096084"/>
            <a:ext cx="8207375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0416"/>
              <a:buFont typeface="Tahoma"/>
              <a:buChar char="■"/>
              <a:tabLst>
                <a:tab pos="355600" algn="l"/>
              </a:tabLst>
            </a:pPr>
            <a:r>
              <a:rPr dirty="0" sz="2400" spc="-20" b="1">
                <a:solidFill>
                  <a:srgbClr val="0000FF"/>
                </a:solidFill>
                <a:latin typeface="Arial"/>
                <a:cs typeface="Arial"/>
              </a:rPr>
              <a:t>Back-</a:t>
            </a:r>
            <a:r>
              <a:rPr dirty="0" sz="2400" b="1">
                <a:solidFill>
                  <a:srgbClr val="0000FF"/>
                </a:solidFill>
                <a:latin typeface="Arial"/>
                <a:cs typeface="Arial"/>
              </a:rPr>
              <a:t>propagation</a:t>
            </a:r>
            <a:r>
              <a:rPr dirty="0" sz="2400" spc="-45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00FF"/>
                </a:solidFill>
                <a:latin typeface="Arial"/>
                <a:cs typeface="Arial"/>
              </a:rPr>
              <a:t>algorithm</a:t>
            </a:r>
            <a:r>
              <a:rPr dirty="0" sz="2400" spc="-45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00FF"/>
                </a:solidFill>
                <a:latin typeface="Arial"/>
                <a:cs typeface="Arial"/>
              </a:rPr>
              <a:t>can</a:t>
            </a:r>
            <a:r>
              <a:rPr dirty="0" sz="2400" spc="-45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00FF"/>
                </a:solidFill>
                <a:latin typeface="Arial"/>
                <a:cs typeface="Arial"/>
              </a:rPr>
              <a:t>be</a:t>
            </a:r>
            <a:r>
              <a:rPr dirty="0" sz="2400" spc="-40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00FF"/>
                </a:solidFill>
                <a:latin typeface="Arial"/>
                <a:cs typeface="Arial"/>
              </a:rPr>
              <a:t>used</a:t>
            </a:r>
            <a:r>
              <a:rPr dirty="0" sz="2400" spc="-45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400" spc="-25" b="1">
                <a:solidFill>
                  <a:srgbClr val="0000FF"/>
                </a:solidFill>
                <a:latin typeface="Arial"/>
                <a:cs typeface="Arial"/>
              </a:rPr>
              <a:t>for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unsupervised</a:t>
            </a:r>
            <a:r>
              <a:rPr dirty="0" sz="2400" spc="-7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learning</a:t>
            </a:r>
            <a:r>
              <a:rPr dirty="0" sz="2400" spc="-7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00FF"/>
                </a:solidFill>
                <a:latin typeface="Arial"/>
                <a:cs typeface="Arial"/>
              </a:rPr>
              <a:t>to</a:t>
            </a:r>
            <a:r>
              <a:rPr dirty="0" sz="2400" spc="-70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00FF"/>
                </a:solidFill>
                <a:latin typeface="Arial"/>
                <a:cs typeface="Arial"/>
              </a:rPr>
              <a:t>discover</a:t>
            </a:r>
            <a:r>
              <a:rPr dirty="0" sz="2400" spc="-70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00FF"/>
                </a:solidFill>
                <a:latin typeface="Arial"/>
                <a:cs typeface="Arial"/>
              </a:rPr>
              <a:t>significant</a:t>
            </a:r>
            <a:r>
              <a:rPr dirty="0" sz="2400" spc="-70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000FF"/>
                </a:solidFill>
                <a:latin typeface="Arial"/>
                <a:cs typeface="Arial"/>
              </a:rPr>
              <a:t>features </a:t>
            </a:r>
            <a:r>
              <a:rPr dirty="0" sz="2400" b="1">
                <a:solidFill>
                  <a:srgbClr val="0000FF"/>
                </a:solidFill>
                <a:latin typeface="Arial"/>
                <a:cs typeface="Arial"/>
              </a:rPr>
              <a:t>that</a:t>
            </a:r>
            <a:r>
              <a:rPr dirty="0" sz="2400" spc="-70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00FF"/>
                </a:solidFill>
                <a:latin typeface="Arial"/>
                <a:cs typeface="Arial"/>
              </a:rPr>
              <a:t>characterise</a:t>
            </a:r>
            <a:r>
              <a:rPr dirty="0" sz="2400" spc="-70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00FF"/>
                </a:solidFill>
                <a:latin typeface="Arial"/>
                <a:cs typeface="Arial"/>
              </a:rPr>
              <a:t>input</a:t>
            </a:r>
            <a:r>
              <a:rPr dirty="0" sz="2400" spc="-70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000FF"/>
                </a:solidFill>
                <a:latin typeface="Arial"/>
                <a:cs typeface="Arial"/>
              </a:rPr>
              <a:t>patterns.</a:t>
            </a:r>
            <a:endParaRPr sz="2400">
              <a:latin typeface="Arial"/>
              <a:cs typeface="Arial"/>
            </a:endParaRPr>
          </a:p>
          <a:p>
            <a:pPr marL="355600" marR="490220" indent="-342900">
              <a:lnSpc>
                <a:spcPct val="100000"/>
              </a:lnSpc>
              <a:buClr>
                <a:srgbClr val="3333CC"/>
              </a:buClr>
              <a:buSzPct val="60416"/>
              <a:buFont typeface="Tahoma"/>
              <a:buChar char="■"/>
              <a:tabLst>
                <a:tab pos="355600" algn="l"/>
              </a:tabLst>
            </a:pPr>
            <a:r>
              <a:rPr dirty="0" sz="2400" spc="-315">
                <a:latin typeface="Courier New"/>
                <a:cs typeface="Courier New"/>
              </a:rPr>
              <a:t>This</a:t>
            </a:r>
            <a:r>
              <a:rPr dirty="0" sz="2400" spc="-765">
                <a:latin typeface="Courier New"/>
                <a:cs typeface="Courier New"/>
              </a:rPr>
              <a:t> </a:t>
            </a:r>
            <a:r>
              <a:rPr dirty="0" sz="2400" spc="-165">
                <a:latin typeface="Courier New"/>
                <a:cs typeface="Courier New"/>
              </a:rPr>
              <a:t>can</a:t>
            </a:r>
            <a:r>
              <a:rPr dirty="0" sz="2400" spc="-755">
                <a:latin typeface="Courier New"/>
                <a:cs typeface="Courier New"/>
              </a:rPr>
              <a:t> </a:t>
            </a:r>
            <a:r>
              <a:rPr dirty="0" sz="2400" spc="-114">
                <a:latin typeface="Courier New"/>
                <a:cs typeface="Courier New"/>
              </a:rPr>
              <a:t>be</a:t>
            </a:r>
            <a:r>
              <a:rPr dirty="0" sz="2400" spc="-755">
                <a:latin typeface="Courier New"/>
                <a:cs typeface="Courier New"/>
              </a:rPr>
              <a:t> </a:t>
            </a:r>
            <a:r>
              <a:rPr dirty="0" sz="2400" spc="-254">
                <a:latin typeface="Courier New"/>
                <a:cs typeface="Courier New"/>
              </a:rPr>
              <a:t>achieved</a:t>
            </a:r>
            <a:r>
              <a:rPr dirty="0" sz="2400" spc="-755">
                <a:latin typeface="Courier New"/>
                <a:cs typeface="Courier New"/>
              </a:rPr>
              <a:t> </a:t>
            </a:r>
            <a:r>
              <a:rPr dirty="0" sz="2400" spc="-185">
                <a:latin typeface="Courier New"/>
                <a:cs typeface="Courier New"/>
              </a:rPr>
              <a:t>by</a:t>
            </a:r>
            <a:r>
              <a:rPr dirty="0" sz="2400" spc="-760">
                <a:latin typeface="Courier New"/>
                <a:cs typeface="Courier New"/>
              </a:rPr>
              <a:t> </a:t>
            </a:r>
            <a:r>
              <a:rPr dirty="0" sz="2400" spc="-380">
                <a:latin typeface="Courier New"/>
                <a:cs typeface="Courier New"/>
              </a:rPr>
              <a:t>learning</a:t>
            </a:r>
            <a:r>
              <a:rPr dirty="0" sz="2400" spc="-755">
                <a:latin typeface="Courier New"/>
                <a:cs typeface="Courier New"/>
              </a:rPr>
              <a:t> </a:t>
            </a:r>
            <a:r>
              <a:rPr dirty="0" sz="2400" spc="-340">
                <a:latin typeface="Courier New"/>
                <a:cs typeface="Courier New"/>
              </a:rPr>
              <a:t>the</a:t>
            </a:r>
            <a:r>
              <a:rPr dirty="0" sz="2400" spc="-755">
                <a:latin typeface="Courier New"/>
                <a:cs typeface="Courier New"/>
              </a:rPr>
              <a:t> </a:t>
            </a:r>
            <a:r>
              <a:rPr dirty="0" sz="2400" spc="-500">
                <a:latin typeface="Courier New"/>
                <a:cs typeface="Courier New"/>
              </a:rPr>
              <a:t>identity</a:t>
            </a:r>
            <a:r>
              <a:rPr dirty="0" sz="2400" spc="-760">
                <a:latin typeface="Courier New"/>
                <a:cs typeface="Courier New"/>
              </a:rPr>
              <a:t> </a:t>
            </a:r>
            <a:r>
              <a:rPr dirty="0" sz="2400" spc="-165">
                <a:latin typeface="Courier New"/>
                <a:cs typeface="Courier New"/>
              </a:rPr>
              <a:t>mapping, </a:t>
            </a:r>
            <a:r>
              <a:rPr dirty="0" sz="2400" spc="-265">
                <a:latin typeface="Courier New"/>
                <a:cs typeface="Courier New"/>
              </a:rPr>
              <a:t>passing</a:t>
            </a:r>
            <a:r>
              <a:rPr dirty="0" sz="2400" spc="-760">
                <a:latin typeface="Courier New"/>
                <a:cs typeface="Courier New"/>
              </a:rPr>
              <a:t> </a:t>
            </a:r>
            <a:r>
              <a:rPr dirty="0" sz="2400" spc="-340">
                <a:latin typeface="Courier New"/>
                <a:cs typeface="Courier New"/>
              </a:rPr>
              <a:t>the</a:t>
            </a:r>
            <a:r>
              <a:rPr dirty="0" sz="2400" spc="-760">
                <a:latin typeface="Courier New"/>
                <a:cs typeface="Courier New"/>
              </a:rPr>
              <a:t> </a:t>
            </a:r>
            <a:r>
              <a:rPr dirty="0" sz="2400" spc="-285">
                <a:latin typeface="Courier New"/>
                <a:cs typeface="Courier New"/>
              </a:rPr>
              <a:t>data</a:t>
            </a:r>
            <a:r>
              <a:rPr dirty="0" sz="2400" spc="-760">
                <a:latin typeface="Courier New"/>
                <a:cs typeface="Courier New"/>
              </a:rPr>
              <a:t> </a:t>
            </a:r>
            <a:r>
              <a:rPr dirty="0" sz="2400" spc="-290">
                <a:latin typeface="Courier New"/>
                <a:cs typeface="Courier New"/>
              </a:rPr>
              <a:t>through</a:t>
            </a:r>
            <a:r>
              <a:rPr dirty="0" sz="2400" spc="-755">
                <a:latin typeface="Courier New"/>
                <a:cs typeface="Courier New"/>
              </a:rPr>
              <a:t> </a:t>
            </a:r>
            <a:r>
              <a:rPr dirty="0" sz="2400" spc="-114">
                <a:latin typeface="Courier New"/>
                <a:cs typeface="Courier New"/>
              </a:rPr>
              <a:t>a</a:t>
            </a:r>
            <a:r>
              <a:rPr dirty="0" sz="2400" spc="-760">
                <a:latin typeface="Courier New"/>
                <a:cs typeface="Courier New"/>
              </a:rPr>
              <a:t> </a:t>
            </a:r>
            <a:r>
              <a:rPr dirty="0" sz="2400" spc="-395">
                <a:latin typeface="Courier New"/>
                <a:cs typeface="Courier New"/>
              </a:rPr>
              <a:t>bottleneck:</a:t>
            </a:r>
            <a:r>
              <a:rPr dirty="0" sz="2400" spc="-765">
                <a:latin typeface="Courier New"/>
                <a:cs typeface="Courier New"/>
              </a:rPr>
              <a:t> </a:t>
            </a:r>
            <a:r>
              <a:rPr dirty="0" sz="2400" spc="-10" b="1">
                <a:solidFill>
                  <a:srgbClr val="FF0000"/>
                </a:solidFill>
                <a:latin typeface="Arial"/>
                <a:cs typeface="Arial"/>
              </a:rPr>
              <a:t>auto-encoders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928116" y="4226191"/>
            <a:ext cx="6858000" cy="1838325"/>
            <a:chOff x="928116" y="4226191"/>
            <a:chExt cx="6858000" cy="18383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8116" y="4306824"/>
              <a:ext cx="1905000" cy="167640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62325" y="4226191"/>
              <a:ext cx="238125" cy="1838325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00525" y="4683391"/>
              <a:ext cx="238125" cy="923925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38725" y="4226191"/>
              <a:ext cx="238125" cy="1838325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81116" y="4306824"/>
              <a:ext cx="1904999" cy="1676400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1545793" y="6220421"/>
            <a:ext cx="7035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95">
                <a:latin typeface="Courier New"/>
                <a:cs typeface="Courier New"/>
              </a:rPr>
              <a:t>Input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450939" y="6220421"/>
            <a:ext cx="9404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35">
                <a:latin typeface="Courier New"/>
                <a:cs typeface="Courier New"/>
              </a:rPr>
              <a:t>Output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988627" y="6225476"/>
            <a:ext cx="26174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Compressed</a:t>
            </a:r>
            <a:r>
              <a:rPr dirty="0" sz="2400" spc="-1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spc="-20" b="1">
                <a:solidFill>
                  <a:srgbClr val="FF0000"/>
                </a:solidFill>
                <a:latin typeface="Arial"/>
                <a:cs typeface="Arial"/>
              </a:rPr>
              <a:t>Data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2829128" y="4226229"/>
            <a:ext cx="3057525" cy="2028189"/>
          </a:xfrm>
          <a:custGeom>
            <a:avLst/>
            <a:gdLst/>
            <a:ahLst/>
            <a:cxnLst/>
            <a:rect l="l" t="t" r="r" b="b"/>
            <a:pathLst>
              <a:path w="3057525" h="2028189">
                <a:moveTo>
                  <a:pt x="542518" y="6121"/>
                </a:moveTo>
                <a:lnTo>
                  <a:pt x="537959" y="4737"/>
                </a:lnTo>
                <a:lnTo>
                  <a:pt x="537286" y="12"/>
                </a:lnTo>
                <a:lnTo>
                  <a:pt x="531215" y="889"/>
                </a:lnTo>
                <a:lnTo>
                  <a:pt x="531215" y="10515"/>
                </a:lnTo>
                <a:lnTo>
                  <a:pt x="259651" y="902766"/>
                </a:lnTo>
                <a:lnTo>
                  <a:pt x="10731" y="84874"/>
                </a:lnTo>
                <a:lnTo>
                  <a:pt x="531215" y="10515"/>
                </a:lnTo>
                <a:lnTo>
                  <a:pt x="531215" y="889"/>
                </a:lnTo>
                <a:lnTo>
                  <a:pt x="3886" y="76212"/>
                </a:lnTo>
                <a:lnTo>
                  <a:pt x="4559" y="80937"/>
                </a:lnTo>
                <a:lnTo>
                  <a:pt x="0" y="82321"/>
                </a:lnTo>
                <a:lnTo>
                  <a:pt x="254673" y="919137"/>
                </a:lnTo>
                <a:lnTo>
                  <a:pt x="0" y="1755952"/>
                </a:lnTo>
                <a:lnTo>
                  <a:pt x="4559" y="1757349"/>
                </a:lnTo>
                <a:lnTo>
                  <a:pt x="3886" y="1762061"/>
                </a:lnTo>
                <a:lnTo>
                  <a:pt x="537286" y="1838261"/>
                </a:lnTo>
                <a:lnTo>
                  <a:pt x="537959" y="1833549"/>
                </a:lnTo>
                <a:lnTo>
                  <a:pt x="542518" y="1832152"/>
                </a:lnTo>
                <a:lnTo>
                  <a:pt x="531215" y="1795018"/>
                </a:lnTo>
                <a:lnTo>
                  <a:pt x="531215" y="1827771"/>
                </a:lnTo>
                <a:lnTo>
                  <a:pt x="10731" y="1753412"/>
                </a:lnTo>
                <a:lnTo>
                  <a:pt x="259651" y="935507"/>
                </a:lnTo>
                <a:lnTo>
                  <a:pt x="531215" y="1827771"/>
                </a:lnTo>
                <a:lnTo>
                  <a:pt x="531215" y="1795018"/>
                </a:lnTo>
                <a:lnTo>
                  <a:pt x="264642" y="919137"/>
                </a:lnTo>
                <a:lnTo>
                  <a:pt x="542518" y="6121"/>
                </a:lnTo>
                <a:close/>
              </a:path>
              <a:path w="3057525" h="2028189">
                <a:moveTo>
                  <a:pt x="1380515" y="463867"/>
                </a:moveTo>
                <a:lnTo>
                  <a:pt x="1376146" y="461937"/>
                </a:lnTo>
                <a:lnTo>
                  <a:pt x="1379016" y="458114"/>
                </a:lnTo>
                <a:lnTo>
                  <a:pt x="1370253" y="451548"/>
                </a:lnTo>
                <a:lnTo>
                  <a:pt x="1370253" y="463461"/>
                </a:lnTo>
                <a:lnTo>
                  <a:pt x="1172946" y="907402"/>
                </a:lnTo>
                <a:lnTo>
                  <a:pt x="778344" y="19519"/>
                </a:lnTo>
                <a:lnTo>
                  <a:pt x="1370253" y="463461"/>
                </a:lnTo>
                <a:lnTo>
                  <a:pt x="1370253" y="451548"/>
                </a:lnTo>
                <a:lnTo>
                  <a:pt x="769416" y="914"/>
                </a:lnTo>
                <a:lnTo>
                  <a:pt x="766546" y="4737"/>
                </a:lnTo>
                <a:lnTo>
                  <a:pt x="762203" y="6667"/>
                </a:lnTo>
                <a:lnTo>
                  <a:pt x="1167739" y="919137"/>
                </a:lnTo>
                <a:lnTo>
                  <a:pt x="762203" y="1831606"/>
                </a:lnTo>
                <a:lnTo>
                  <a:pt x="766559" y="1833549"/>
                </a:lnTo>
                <a:lnTo>
                  <a:pt x="769416" y="1837347"/>
                </a:lnTo>
                <a:lnTo>
                  <a:pt x="1379016" y="1380147"/>
                </a:lnTo>
                <a:lnTo>
                  <a:pt x="1376159" y="1376349"/>
                </a:lnTo>
                <a:lnTo>
                  <a:pt x="1380515" y="1374406"/>
                </a:lnTo>
                <a:lnTo>
                  <a:pt x="1370253" y="1351330"/>
                </a:lnTo>
                <a:lnTo>
                  <a:pt x="1370253" y="1374813"/>
                </a:lnTo>
                <a:lnTo>
                  <a:pt x="778344" y="1818741"/>
                </a:lnTo>
                <a:lnTo>
                  <a:pt x="1172946" y="930884"/>
                </a:lnTo>
                <a:lnTo>
                  <a:pt x="1370253" y="1374813"/>
                </a:lnTo>
                <a:lnTo>
                  <a:pt x="1370253" y="1351330"/>
                </a:lnTo>
                <a:lnTo>
                  <a:pt x="1178166" y="919137"/>
                </a:lnTo>
                <a:lnTo>
                  <a:pt x="1380515" y="463867"/>
                </a:lnTo>
                <a:close/>
              </a:path>
              <a:path w="3057525" h="2028189">
                <a:moveTo>
                  <a:pt x="1492935" y="1494612"/>
                </a:moveTo>
                <a:lnTo>
                  <a:pt x="1483410" y="1475562"/>
                </a:lnTo>
                <a:lnTo>
                  <a:pt x="1454835" y="1418412"/>
                </a:lnTo>
                <a:lnTo>
                  <a:pt x="1416735" y="1494612"/>
                </a:lnTo>
                <a:lnTo>
                  <a:pt x="1442135" y="1494612"/>
                </a:lnTo>
                <a:lnTo>
                  <a:pt x="1442135" y="2028012"/>
                </a:lnTo>
                <a:lnTo>
                  <a:pt x="1467535" y="2028012"/>
                </a:lnTo>
                <a:lnTo>
                  <a:pt x="1467535" y="1494612"/>
                </a:lnTo>
                <a:lnTo>
                  <a:pt x="1492935" y="1494612"/>
                </a:lnTo>
                <a:close/>
              </a:path>
              <a:path w="3057525" h="2028189">
                <a:moveTo>
                  <a:pt x="2218715" y="6667"/>
                </a:moveTo>
                <a:lnTo>
                  <a:pt x="2214359" y="4737"/>
                </a:lnTo>
                <a:lnTo>
                  <a:pt x="2211501" y="914"/>
                </a:lnTo>
                <a:lnTo>
                  <a:pt x="2202561" y="7620"/>
                </a:lnTo>
                <a:lnTo>
                  <a:pt x="2202561" y="19519"/>
                </a:lnTo>
                <a:lnTo>
                  <a:pt x="1807946" y="907402"/>
                </a:lnTo>
                <a:lnTo>
                  <a:pt x="1610652" y="463461"/>
                </a:lnTo>
                <a:lnTo>
                  <a:pt x="2202561" y="19519"/>
                </a:lnTo>
                <a:lnTo>
                  <a:pt x="2202561" y="7620"/>
                </a:lnTo>
                <a:lnTo>
                  <a:pt x="1601901" y="458114"/>
                </a:lnTo>
                <a:lnTo>
                  <a:pt x="1604759" y="461937"/>
                </a:lnTo>
                <a:lnTo>
                  <a:pt x="1600403" y="463867"/>
                </a:lnTo>
                <a:lnTo>
                  <a:pt x="1802739" y="919137"/>
                </a:lnTo>
                <a:lnTo>
                  <a:pt x="1600403" y="1374406"/>
                </a:lnTo>
                <a:lnTo>
                  <a:pt x="1604746" y="1376349"/>
                </a:lnTo>
                <a:lnTo>
                  <a:pt x="1601901" y="1380147"/>
                </a:lnTo>
                <a:lnTo>
                  <a:pt x="2211501" y="1837347"/>
                </a:lnTo>
                <a:lnTo>
                  <a:pt x="2214346" y="1833549"/>
                </a:lnTo>
                <a:lnTo>
                  <a:pt x="2218715" y="1831606"/>
                </a:lnTo>
                <a:lnTo>
                  <a:pt x="2202561" y="1795272"/>
                </a:lnTo>
                <a:lnTo>
                  <a:pt x="2202561" y="1818741"/>
                </a:lnTo>
                <a:lnTo>
                  <a:pt x="1610652" y="1374813"/>
                </a:lnTo>
                <a:lnTo>
                  <a:pt x="1807946" y="930884"/>
                </a:lnTo>
                <a:lnTo>
                  <a:pt x="2202561" y="1818741"/>
                </a:lnTo>
                <a:lnTo>
                  <a:pt x="2202561" y="1795272"/>
                </a:lnTo>
                <a:lnTo>
                  <a:pt x="1813166" y="919137"/>
                </a:lnTo>
                <a:lnTo>
                  <a:pt x="2218715" y="6667"/>
                </a:lnTo>
                <a:close/>
              </a:path>
              <a:path w="3057525" h="2028189">
                <a:moveTo>
                  <a:pt x="3057055" y="82499"/>
                </a:moveTo>
                <a:lnTo>
                  <a:pt x="3052559" y="80937"/>
                </a:lnTo>
                <a:lnTo>
                  <a:pt x="3053156" y="76200"/>
                </a:lnTo>
                <a:lnTo>
                  <a:pt x="3046120" y="75323"/>
                </a:lnTo>
                <a:lnTo>
                  <a:pt x="3046120" y="84937"/>
                </a:lnTo>
                <a:lnTo>
                  <a:pt x="2761005" y="904646"/>
                </a:lnTo>
                <a:lnTo>
                  <a:pt x="2449969" y="10414"/>
                </a:lnTo>
                <a:lnTo>
                  <a:pt x="3046120" y="84937"/>
                </a:lnTo>
                <a:lnTo>
                  <a:pt x="3046120" y="75323"/>
                </a:lnTo>
                <a:lnTo>
                  <a:pt x="2443556" y="0"/>
                </a:lnTo>
                <a:lnTo>
                  <a:pt x="2442959" y="4737"/>
                </a:lnTo>
                <a:lnTo>
                  <a:pt x="2438463" y="6299"/>
                </a:lnTo>
                <a:lnTo>
                  <a:pt x="2755963" y="919137"/>
                </a:lnTo>
                <a:lnTo>
                  <a:pt x="2438463" y="1831975"/>
                </a:lnTo>
                <a:lnTo>
                  <a:pt x="2442959" y="1833549"/>
                </a:lnTo>
                <a:lnTo>
                  <a:pt x="2443556" y="1838274"/>
                </a:lnTo>
                <a:lnTo>
                  <a:pt x="3053156" y="1762074"/>
                </a:lnTo>
                <a:lnTo>
                  <a:pt x="3052559" y="1757349"/>
                </a:lnTo>
                <a:lnTo>
                  <a:pt x="3057055" y="1755775"/>
                </a:lnTo>
                <a:lnTo>
                  <a:pt x="3046120" y="1724342"/>
                </a:lnTo>
                <a:lnTo>
                  <a:pt x="3046120" y="1753349"/>
                </a:lnTo>
                <a:lnTo>
                  <a:pt x="2449969" y="1827872"/>
                </a:lnTo>
                <a:lnTo>
                  <a:pt x="2761005" y="933640"/>
                </a:lnTo>
                <a:lnTo>
                  <a:pt x="3046120" y="1753349"/>
                </a:lnTo>
                <a:lnTo>
                  <a:pt x="3046120" y="1724342"/>
                </a:lnTo>
                <a:lnTo>
                  <a:pt x="2766047" y="919137"/>
                </a:lnTo>
                <a:lnTo>
                  <a:pt x="3057055" y="82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50838" rIns="0" bIns="0" rtlCol="0" vert="horz">
            <a:spAutoFit/>
          </a:bodyPr>
          <a:lstStyle/>
          <a:p>
            <a:pPr marL="198755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PCA</a:t>
            </a:r>
            <a:r>
              <a:rPr dirty="0" sz="4000" spc="-80"/>
              <a:t> </a:t>
            </a:r>
            <a:r>
              <a:rPr dirty="0" sz="4000"/>
              <a:t>in</a:t>
            </a:r>
            <a:r>
              <a:rPr dirty="0" sz="4000" spc="-75"/>
              <a:t> </a:t>
            </a:r>
            <a:r>
              <a:rPr dirty="0" sz="4000"/>
              <a:t>Neural</a:t>
            </a:r>
            <a:r>
              <a:rPr dirty="0" sz="4000" spc="-85"/>
              <a:t> </a:t>
            </a:r>
            <a:r>
              <a:rPr dirty="0" sz="4000" spc="-10"/>
              <a:t>Networks</a:t>
            </a:r>
            <a:endParaRPr sz="4000"/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74892" rIns="0" bIns="0" rtlCol="0" vert="horz">
            <a:spAutoFit/>
          </a:bodyPr>
          <a:lstStyle/>
          <a:p>
            <a:pPr marL="306070">
              <a:lnSpc>
                <a:spcPct val="100000"/>
              </a:lnSpc>
              <a:spcBef>
                <a:spcPts val="105"/>
              </a:spcBef>
            </a:pPr>
            <a:r>
              <a:rPr dirty="0" sz="3800" spc="-20"/>
              <a:t>Auto-</a:t>
            </a:r>
            <a:r>
              <a:rPr dirty="0" sz="3800"/>
              <a:t>encoders</a:t>
            </a:r>
            <a:r>
              <a:rPr dirty="0" sz="3800" spc="-135"/>
              <a:t> </a:t>
            </a:r>
            <a:r>
              <a:rPr dirty="0" sz="3800"/>
              <a:t>(Rumelhart</a:t>
            </a:r>
            <a:r>
              <a:rPr dirty="0" sz="3800" spc="-125"/>
              <a:t> </a:t>
            </a:r>
            <a:r>
              <a:rPr dirty="0" sz="3800" spc="-25"/>
              <a:t>86)</a:t>
            </a:r>
            <a:endParaRPr sz="3800"/>
          </a:p>
        </p:txBody>
      </p:sp>
      <p:sp>
        <p:nvSpPr>
          <p:cNvPr id="3" name="object 3" descr=""/>
          <p:cNvSpPr txBox="1"/>
          <p:nvPr/>
        </p:nvSpPr>
        <p:spPr>
          <a:xfrm>
            <a:off x="4615815" y="2043836"/>
            <a:ext cx="4225290" cy="3899535"/>
          </a:xfrm>
          <a:prstGeom prst="rect">
            <a:avLst/>
          </a:prstGeom>
        </p:spPr>
        <p:txBody>
          <a:bodyPr wrap="square" lIns="0" tIns="59055" rIns="0" bIns="0" rtlCol="0" vert="horz">
            <a:spAutoFit/>
          </a:bodyPr>
          <a:lstStyle/>
          <a:p>
            <a:pPr marL="38100" marR="127000">
              <a:lnSpc>
                <a:spcPts val="2800"/>
              </a:lnSpc>
              <a:spcBef>
                <a:spcPts val="465"/>
              </a:spcBef>
            </a:pPr>
            <a:r>
              <a:rPr dirty="0" sz="2600">
                <a:latin typeface="Tahoma"/>
                <a:cs typeface="Tahoma"/>
              </a:rPr>
              <a:t>An</a:t>
            </a:r>
            <a:r>
              <a:rPr dirty="0" sz="2600" spc="-4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Autoencoder</a:t>
            </a:r>
            <a:r>
              <a:rPr dirty="0" sz="2600" spc="-4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is</a:t>
            </a:r>
            <a:r>
              <a:rPr dirty="0" sz="2600" spc="-40">
                <a:latin typeface="Tahoma"/>
                <a:cs typeface="Tahoma"/>
              </a:rPr>
              <a:t> </a:t>
            </a:r>
            <a:r>
              <a:rPr dirty="0" sz="2600" spc="-50">
                <a:latin typeface="Tahoma"/>
                <a:cs typeface="Tahoma"/>
              </a:rPr>
              <a:t>a </a:t>
            </a:r>
            <a:r>
              <a:rPr dirty="0" sz="2600">
                <a:latin typeface="Tahoma"/>
                <a:cs typeface="Tahoma"/>
              </a:rPr>
              <a:t>feedforward</a:t>
            </a:r>
            <a:r>
              <a:rPr dirty="0" sz="2600" spc="-4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neural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network </a:t>
            </a:r>
            <a:r>
              <a:rPr dirty="0" sz="2600">
                <a:latin typeface="Tahoma"/>
                <a:cs typeface="Tahoma"/>
              </a:rPr>
              <a:t>that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learns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to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predict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 spc="-25">
                <a:latin typeface="Tahoma"/>
                <a:cs typeface="Tahoma"/>
              </a:rPr>
              <a:t>the </a:t>
            </a:r>
            <a:r>
              <a:rPr dirty="0" sz="2600">
                <a:latin typeface="Tahoma"/>
                <a:cs typeface="Tahoma"/>
              </a:rPr>
              <a:t>input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itself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in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the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output.</a:t>
            </a:r>
            <a:endParaRPr sz="2600">
              <a:latin typeface="Tahoma"/>
              <a:cs typeface="Tahoma"/>
            </a:endParaRPr>
          </a:p>
          <a:p>
            <a:pPr algn="ctr" marL="36830">
              <a:lnSpc>
                <a:spcPts val="2600"/>
              </a:lnSpc>
            </a:pPr>
            <a:r>
              <a:rPr dirty="0" baseline="-20299" sz="3900" spc="-847">
                <a:latin typeface="Cambria"/>
                <a:cs typeface="Cambria"/>
              </a:rPr>
              <a:t/>
            </a:r>
            <a:r>
              <a:rPr dirty="0" sz="1850" spc="-565">
                <a:latin typeface="Cambria"/>
                <a:cs typeface="Cambria"/>
              </a:rPr>
              <a:t>()</a:t>
            </a:r>
            <a:r>
              <a:rPr dirty="0" sz="1850" spc="420">
                <a:latin typeface="Cambria"/>
                <a:cs typeface="Cambria"/>
              </a:rPr>
              <a:t> </a:t>
            </a:r>
            <a:r>
              <a:rPr dirty="0" baseline="-20299" sz="3900" spc="750">
                <a:latin typeface="Cambria"/>
                <a:cs typeface="Cambria"/>
              </a:rPr>
              <a:t>=</a:t>
            </a:r>
            <a:r>
              <a:rPr dirty="0" baseline="-20299" sz="3900" spc="217">
                <a:latin typeface="Cambria"/>
                <a:cs typeface="Cambria"/>
              </a:rPr>
              <a:t> </a:t>
            </a:r>
            <a:r>
              <a:rPr dirty="0" baseline="-20299" sz="3900" spc="-907">
                <a:latin typeface="Cambria"/>
                <a:cs typeface="Cambria"/>
              </a:rPr>
              <a:t/>
            </a:r>
            <a:r>
              <a:rPr dirty="0" sz="1850" spc="-605">
                <a:latin typeface="Cambria"/>
                <a:cs typeface="Cambria"/>
              </a:rPr>
              <a:t>()</a:t>
            </a:r>
            <a:endParaRPr sz="1850">
              <a:latin typeface="Cambria"/>
              <a:cs typeface="Cambria"/>
            </a:endParaRPr>
          </a:p>
          <a:p>
            <a:pPr marL="381000" marR="244475" indent="-342900">
              <a:lnSpc>
                <a:spcPts val="2810"/>
              </a:lnSpc>
              <a:spcBef>
                <a:spcPts val="1725"/>
              </a:spcBef>
              <a:buClr>
                <a:srgbClr val="3333CC"/>
              </a:buClr>
              <a:buSzPct val="61538"/>
              <a:buChar char="■"/>
              <a:tabLst>
                <a:tab pos="381000" algn="l"/>
              </a:tabLst>
            </a:pPr>
            <a:r>
              <a:rPr dirty="0" sz="2600">
                <a:latin typeface="Tahoma"/>
                <a:cs typeface="Tahoma"/>
              </a:rPr>
              <a:t>The</a:t>
            </a:r>
            <a:r>
              <a:rPr dirty="0" sz="2600" spc="-5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input-</a:t>
            </a:r>
            <a:r>
              <a:rPr dirty="0" sz="2600" spc="-20">
                <a:latin typeface="Tahoma"/>
                <a:cs typeface="Tahoma"/>
              </a:rPr>
              <a:t>to-</a:t>
            </a:r>
            <a:r>
              <a:rPr dirty="0" sz="2600">
                <a:latin typeface="Tahoma"/>
                <a:cs typeface="Tahoma"/>
              </a:rPr>
              <a:t>hidden</a:t>
            </a:r>
            <a:r>
              <a:rPr dirty="0" sz="2600" spc="-10">
                <a:latin typeface="Tahoma"/>
                <a:cs typeface="Tahoma"/>
              </a:rPr>
              <a:t> </a:t>
            </a:r>
            <a:r>
              <a:rPr dirty="0" sz="2600" spc="-20">
                <a:latin typeface="Tahoma"/>
                <a:cs typeface="Tahoma"/>
              </a:rPr>
              <a:t>part </a:t>
            </a:r>
            <a:r>
              <a:rPr dirty="0" sz="2600">
                <a:latin typeface="Tahoma"/>
                <a:cs typeface="Tahoma"/>
              </a:rPr>
              <a:t>corresponds</a:t>
            </a:r>
            <a:r>
              <a:rPr dirty="0" sz="2600" spc="-4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to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 spc="-25">
                <a:latin typeface="Tahoma"/>
                <a:cs typeface="Tahoma"/>
              </a:rPr>
              <a:t>an </a:t>
            </a:r>
            <a:r>
              <a:rPr dirty="0" sz="2600" spc="-10">
                <a:solidFill>
                  <a:srgbClr val="FF0000"/>
                </a:solidFill>
                <a:latin typeface="Tahoma"/>
                <a:cs typeface="Tahoma"/>
              </a:rPr>
              <a:t>encoder</a:t>
            </a:r>
            <a:endParaRPr sz="2600">
              <a:latin typeface="Tahoma"/>
              <a:cs typeface="Tahoma"/>
            </a:endParaRPr>
          </a:p>
          <a:p>
            <a:pPr marL="381000" marR="30480" indent="-342900">
              <a:lnSpc>
                <a:spcPts val="2810"/>
              </a:lnSpc>
              <a:spcBef>
                <a:spcPts val="605"/>
              </a:spcBef>
              <a:buClr>
                <a:srgbClr val="3333CC"/>
              </a:buClr>
              <a:buSzPct val="61538"/>
              <a:buChar char="■"/>
              <a:tabLst>
                <a:tab pos="381000" algn="l"/>
              </a:tabLst>
            </a:pPr>
            <a:r>
              <a:rPr dirty="0" sz="2600">
                <a:latin typeface="Tahoma"/>
                <a:cs typeface="Tahoma"/>
              </a:rPr>
              <a:t>The</a:t>
            </a:r>
            <a:r>
              <a:rPr dirty="0" sz="2600" spc="-5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hidden-</a:t>
            </a:r>
            <a:r>
              <a:rPr dirty="0" sz="2600" spc="-20">
                <a:latin typeface="Tahoma"/>
                <a:cs typeface="Tahoma"/>
              </a:rPr>
              <a:t>to-</a:t>
            </a:r>
            <a:r>
              <a:rPr dirty="0" sz="2600">
                <a:latin typeface="Tahoma"/>
                <a:cs typeface="Tahoma"/>
              </a:rPr>
              <a:t>output</a:t>
            </a:r>
            <a:r>
              <a:rPr dirty="0" sz="2600" spc="-5">
                <a:latin typeface="Tahoma"/>
                <a:cs typeface="Tahoma"/>
              </a:rPr>
              <a:t> </a:t>
            </a:r>
            <a:r>
              <a:rPr dirty="0" sz="2600" spc="-20">
                <a:latin typeface="Tahoma"/>
                <a:cs typeface="Tahoma"/>
              </a:rPr>
              <a:t>part </a:t>
            </a:r>
            <a:r>
              <a:rPr dirty="0" sz="2600">
                <a:latin typeface="Tahoma"/>
                <a:cs typeface="Tahoma"/>
              </a:rPr>
              <a:t>corresponds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to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a</a:t>
            </a:r>
            <a:r>
              <a:rPr dirty="0" sz="2600" spc="-20"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FF0000"/>
                </a:solidFill>
                <a:latin typeface="Tahoma"/>
                <a:cs typeface="Tahoma"/>
              </a:rPr>
              <a:t>decoder</a:t>
            </a:r>
            <a:r>
              <a:rPr dirty="0" sz="2600" spc="-10">
                <a:latin typeface="Tahoma"/>
                <a:cs typeface="Tahoma"/>
              </a:rPr>
              <a:t>.</a:t>
            </a:r>
            <a:endParaRPr sz="26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4347" y="2205228"/>
            <a:ext cx="3716496" cy="4328160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90295" y="2381897"/>
            <a:ext cx="7807325" cy="34423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928"/>
              <a:buChar char="■"/>
              <a:tabLst>
                <a:tab pos="354965" algn="l"/>
              </a:tabLst>
            </a:pPr>
            <a:r>
              <a:rPr dirty="0" sz="2800">
                <a:latin typeface="Tahoma"/>
                <a:cs typeface="Tahoma"/>
              </a:rPr>
              <a:t>To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reproduce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input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patterns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at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output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layer</a:t>
            </a:r>
            <a:endParaRPr sz="2800">
              <a:latin typeface="Tahoma"/>
              <a:cs typeface="Tahoma"/>
            </a:endParaRPr>
          </a:p>
          <a:p>
            <a:pPr marL="355600" marR="384175" indent="-342900">
              <a:lnSpc>
                <a:spcPct val="100000"/>
              </a:lnSpc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Number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hidden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layers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and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sizes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the </a:t>
            </a:r>
            <a:r>
              <a:rPr dirty="0" sz="2800">
                <a:latin typeface="Tahoma"/>
                <a:cs typeface="Tahoma"/>
              </a:rPr>
              <a:t>layers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can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 spc="-20">
                <a:latin typeface="Tahoma"/>
                <a:cs typeface="Tahoma"/>
              </a:rPr>
              <a:t>vary</a:t>
            </a:r>
            <a:endParaRPr sz="2800">
              <a:latin typeface="Tahoma"/>
              <a:cs typeface="Tahoma"/>
            </a:endParaRPr>
          </a:p>
          <a:p>
            <a:pPr marL="354965" marR="117475" indent="-342900">
              <a:lnSpc>
                <a:spcPts val="3360"/>
              </a:lnSpc>
              <a:spcBef>
                <a:spcPts val="110"/>
              </a:spcBef>
              <a:buClr>
                <a:srgbClr val="3333CC"/>
              </a:buClr>
              <a:buSzPct val="58928"/>
              <a:buChar char="■"/>
              <a:tabLst>
                <a:tab pos="354965" algn="l"/>
              </a:tabLst>
            </a:pPr>
            <a:r>
              <a:rPr dirty="0" sz="2800" spc="-10">
                <a:latin typeface="Tahoma"/>
                <a:cs typeface="Tahoma"/>
              </a:rPr>
              <a:t>Auto-</a:t>
            </a:r>
            <a:r>
              <a:rPr dirty="0" sz="2800">
                <a:latin typeface="Tahoma"/>
                <a:cs typeface="Tahoma"/>
              </a:rPr>
              <a:t>encoder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tends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to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find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data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description </a:t>
            </a:r>
            <a:r>
              <a:rPr dirty="0" sz="2800">
                <a:latin typeface="Tahoma"/>
                <a:cs typeface="Tahoma"/>
              </a:rPr>
              <a:t>which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resembles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 b="1">
                <a:solidFill>
                  <a:srgbClr val="FF0000"/>
                </a:solidFill>
                <a:latin typeface="Tahoma"/>
                <a:cs typeface="Tahoma"/>
              </a:rPr>
              <a:t>PCA</a:t>
            </a:r>
            <a:r>
              <a:rPr dirty="0" sz="2800">
                <a:latin typeface="Tahoma"/>
                <a:cs typeface="Tahoma"/>
              </a:rPr>
              <a:t>;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while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small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number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neurons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in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bottleneck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layer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the </a:t>
            </a:r>
            <a:r>
              <a:rPr dirty="0" sz="2800">
                <a:latin typeface="Tahoma"/>
                <a:cs typeface="Tahoma"/>
              </a:rPr>
              <a:t>diabolo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network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acts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as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an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900" spc="-140" b="1" i="1">
                <a:solidFill>
                  <a:srgbClr val="0070C0"/>
                </a:solidFill>
                <a:latin typeface="Verdana"/>
                <a:cs typeface="Verdana"/>
              </a:rPr>
              <a:t>information </a:t>
            </a:r>
            <a:r>
              <a:rPr dirty="0" sz="2900" spc="-280" b="1" i="1">
                <a:solidFill>
                  <a:srgbClr val="0070C0"/>
                </a:solidFill>
                <a:latin typeface="Verdana"/>
                <a:cs typeface="Verdana"/>
              </a:rPr>
              <a:t>compressor</a:t>
            </a:r>
            <a:r>
              <a:rPr dirty="0" sz="2900" spc="-150" b="1" i="1">
                <a:solidFill>
                  <a:srgbClr val="0070C0"/>
                </a:solidFill>
                <a:latin typeface="Verdana"/>
                <a:cs typeface="Verdana"/>
              </a:rPr>
              <a:t> </a:t>
            </a:r>
            <a:r>
              <a:rPr dirty="0" sz="2800" spc="-10" b="1">
                <a:solidFill>
                  <a:srgbClr val="FF0000"/>
                </a:solidFill>
                <a:latin typeface="Tahoma"/>
                <a:cs typeface="Tahoma"/>
              </a:rPr>
              <a:t>(code)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13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74892" rIns="0" bIns="0" rtlCol="0" vert="horz">
            <a:spAutoFit/>
          </a:bodyPr>
          <a:lstStyle/>
          <a:p>
            <a:pPr marL="306070">
              <a:lnSpc>
                <a:spcPct val="100000"/>
              </a:lnSpc>
              <a:spcBef>
                <a:spcPts val="105"/>
              </a:spcBef>
            </a:pPr>
            <a:r>
              <a:rPr dirty="0" sz="3800" spc="-20"/>
              <a:t>Auto-</a:t>
            </a:r>
            <a:r>
              <a:rPr dirty="0" sz="3800"/>
              <a:t>encoders</a:t>
            </a:r>
            <a:r>
              <a:rPr dirty="0" sz="3800" spc="-135"/>
              <a:t> </a:t>
            </a:r>
            <a:r>
              <a:rPr dirty="0" sz="3800"/>
              <a:t>(Rumelhart</a:t>
            </a:r>
            <a:r>
              <a:rPr dirty="0" sz="3800" spc="-125"/>
              <a:t> </a:t>
            </a:r>
            <a:r>
              <a:rPr dirty="0" sz="3800" spc="-25"/>
              <a:t>86)</a:t>
            </a:r>
            <a:endParaRPr sz="3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125467" y="1845564"/>
            <a:ext cx="4737100" cy="4826635"/>
            <a:chOff x="4125467" y="1845564"/>
            <a:chExt cx="4737100" cy="482663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92595" y="5165296"/>
              <a:ext cx="2569421" cy="1506505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25467" y="1845564"/>
              <a:ext cx="2174748" cy="479450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1702" rIns="0" bIns="0" rtlCol="0" vert="horz">
            <a:spAutoFit/>
          </a:bodyPr>
          <a:lstStyle/>
          <a:p>
            <a:pPr marL="3429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Deep</a:t>
            </a:r>
            <a:r>
              <a:rPr dirty="0" sz="3600" spc="-45"/>
              <a:t> </a:t>
            </a:r>
            <a:r>
              <a:rPr dirty="0" sz="3600" spc="-20"/>
              <a:t>Auto-</a:t>
            </a:r>
            <a:r>
              <a:rPr dirty="0" sz="3600"/>
              <a:t>encoder</a:t>
            </a:r>
            <a:r>
              <a:rPr dirty="0" sz="3600" spc="-40"/>
              <a:t> </a:t>
            </a:r>
            <a:r>
              <a:rPr dirty="0" sz="3600"/>
              <a:t>(Hinton</a:t>
            </a:r>
            <a:r>
              <a:rPr dirty="0" sz="3600" spc="-35"/>
              <a:t> </a:t>
            </a:r>
            <a:r>
              <a:rPr dirty="0" sz="3600" spc="-25"/>
              <a:t>06)</a:t>
            </a:r>
            <a:endParaRPr sz="3600"/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43471" y="1623060"/>
            <a:ext cx="2414016" cy="3415284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314718" y="2525915"/>
            <a:ext cx="3680460" cy="30118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1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deep</a:t>
            </a:r>
            <a:r>
              <a:rPr dirty="0" sz="2800" spc="-5">
                <a:latin typeface="Tahoma"/>
                <a:cs typeface="Tahoma"/>
              </a:rPr>
              <a:t> </a:t>
            </a:r>
            <a:r>
              <a:rPr dirty="0" sz="2800" spc="-20">
                <a:latin typeface="Tahoma"/>
                <a:cs typeface="Tahoma"/>
              </a:rPr>
              <a:t>auto-</a:t>
            </a:r>
            <a:r>
              <a:rPr dirty="0" sz="2800" spc="-10">
                <a:latin typeface="Tahoma"/>
                <a:cs typeface="Tahoma"/>
              </a:rPr>
              <a:t>encoder </a:t>
            </a:r>
            <a:r>
              <a:rPr dirty="0" sz="2800">
                <a:latin typeface="Tahoma"/>
                <a:cs typeface="Tahoma"/>
              </a:rPr>
              <a:t>is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constructed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by </a:t>
            </a:r>
            <a:r>
              <a:rPr dirty="0" sz="2800">
                <a:latin typeface="Tahoma"/>
                <a:cs typeface="Tahoma"/>
              </a:rPr>
              <a:t>extending</a:t>
            </a:r>
            <a:r>
              <a:rPr dirty="0" sz="2800" spc="-105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the </a:t>
            </a:r>
            <a:r>
              <a:rPr dirty="0" sz="2800">
                <a:latin typeface="Tahoma"/>
                <a:cs typeface="Tahoma"/>
              </a:rPr>
              <a:t>encoder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and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decoder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8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autoencoder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 spc="-20">
                <a:latin typeface="Tahoma"/>
                <a:cs typeface="Tahoma"/>
              </a:rPr>
              <a:t>with </a:t>
            </a:r>
            <a:r>
              <a:rPr dirty="0" sz="2800">
                <a:solidFill>
                  <a:srgbClr val="FF0000"/>
                </a:solidFill>
                <a:latin typeface="Tahoma"/>
                <a:cs typeface="Tahoma"/>
              </a:rPr>
              <a:t>multiple</a:t>
            </a:r>
            <a:r>
              <a:rPr dirty="0" sz="2800" spc="-7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800" spc="-10">
                <a:solidFill>
                  <a:srgbClr val="FF0000"/>
                </a:solidFill>
                <a:latin typeface="Tahoma"/>
                <a:cs typeface="Tahoma"/>
              </a:rPr>
              <a:t>hidden layers</a:t>
            </a:r>
            <a:r>
              <a:rPr dirty="0" sz="2800" spc="-10">
                <a:latin typeface="Tahoma"/>
                <a:cs typeface="Tahoma"/>
              </a:rPr>
              <a:t>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6733" rIns="0" bIns="0" rtlCol="0" vert="horz">
            <a:spAutoFit/>
          </a:bodyPr>
          <a:lstStyle/>
          <a:p>
            <a:pPr marL="279400">
              <a:lnSpc>
                <a:spcPct val="100000"/>
              </a:lnSpc>
              <a:spcBef>
                <a:spcPts val="105"/>
              </a:spcBef>
            </a:pPr>
            <a:r>
              <a:rPr dirty="0" sz="3200"/>
              <a:t>Denoising</a:t>
            </a:r>
            <a:r>
              <a:rPr dirty="0" sz="3200" spc="-35"/>
              <a:t> </a:t>
            </a:r>
            <a:r>
              <a:rPr dirty="0" sz="3200" spc="-10"/>
              <a:t>Auto-</a:t>
            </a:r>
            <a:r>
              <a:rPr dirty="0" sz="3200"/>
              <a:t>encoder</a:t>
            </a:r>
            <a:r>
              <a:rPr dirty="0" sz="3200" spc="-30"/>
              <a:t> </a:t>
            </a:r>
            <a:r>
              <a:rPr dirty="0" sz="3200"/>
              <a:t>(Vincent</a:t>
            </a:r>
            <a:r>
              <a:rPr dirty="0" sz="3200" spc="-35"/>
              <a:t> </a:t>
            </a:r>
            <a:r>
              <a:rPr dirty="0" sz="3200" spc="-25"/>
              <a:t>08)</a:t>
            </a:r>
            <a:endParaRPr sz="3200"/>
          </a:p>
        </p:txBody>
      </p:sp>
      <p:sp>
        <p:nvSpPr>
          <p:cNvPr id="3" name="object 3" descr=""/>
          <p:cNvSpPr txBox="1"/>
          <p:nvPr/>
        </p:nvSpPr>
        <p:spPr>
          <a:xfrm>
            <a:off x="762304" y="2030310"/>
            <a:ext cx="3575685" cy="26701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By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adding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stochastic </a:t>
            </a:r>
            <a:r>
              <a:rPr dirty="0" sz="2800">
                <a:latin typeface="Tahoma"/>
                <a:cs typeface="Tahoma"/>
              </a:rPr>
              <a:t>noise,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it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can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 spc="-20">
                <a:latin typeface="Tahoma"/>
                <a:cs typeface="Tahoma"/>
              </a:rPr>
              <a:t>force auto-</a:t>
            </a:r>
            <a:r>
              <a:rPr dirty="0" sz="2800">
                <a:latin typeface="Tahoma"/>
                <a:cs typeface="Tahoma"/>
              </a:rPr>
              <a:t>encoder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to </a:t>
            </a:r>
            <a:r>
              <a:rPr dirty="0" sz="2800">
                <a:latin typeface="Tahoma"/>
                <a:cs typeface="Tahoma"/>
              </a:rPr>
              <a:t>learn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more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robust features.</a:t>
            </a:r>
            <a:endParaRPr sz="2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670"/>
              </a:spcBef>
              <a:buClr>
                <a:srgbClr val="3333CC"/>
              </a:buClr>
              <a:buSzPct val="58928"/>
              <a:buChar char="■"/>
              <a:tabLst>
                <a:tab pos="354965" algn="l"/>
              </a:tabLst>
            </a:pP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loss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function</a:t>
            </a:r>
            <a:endParaRPr sz="28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49798" y="2206955"/>
            <a:ext cx="3344720" cy="356287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3603" y="5931408"/>
            <a:ext cx="6461760" cy="812292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03603" y="4914900"/>
            <a:ext cx="2600734" cy="880872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3452" rIns="0" bIns="0" rtlCol="0" vert="horz">
            <a:spAutoFit/>
          </a:bodyPr>
          <a:lstStyle/>
          <a:p>
            <a:pPr marL="27051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Auto-</a:t>
            </a:r>
            <a:r>
              <a:rPr dirty="0"/>
              <a:t>encoders</a:t>
            </a:r>
            <a:r>
              <a:rPr dirty="0" spc="-105"/>
              <a:t> </a:t>
            </a:r>
            <a:r>
              <a:rPr dirty="0" spc="-10"/>
              <a:t>Network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13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46277" y="2220099"/>
            <a:ext cx="7618095" cy="40354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928"/>
              <a:buFont typeface="Tahoma"/>
              <a:buChar char="■"/>
              <a:tabLst>
                <a:tab pos="354965" algn="l"/>
              </a:tabLst>
            </a:pPr>
            <a:r>
              <a:rPr dirty="0" sz="2800" spc="-90">
                <a:latin typeface="Courier New"/>
                <a:cs typeface="Courier New"/>
              </a:rPr>
              <a:t>The</a:t>
            </a:r>
            <a:r>
              <a:rPr dirty="0" sz="2800" spc="-894">
                <a:latin typeface="Courier New"/>
                <a:cs typeface="Courier New"/>
              </a:rPr>
              <a:t> </a:t>
            </a:r>
            <a:r>
              <a:rPr dirty="0" sz="2800" spc="-290">
                <a:latin typeface="Courier New"/>
                <a:cs typeface="Courier New"/>
              </a:rPr>
              <a:t>network</a:t>
            </a:r>
            <a:r>
              <a:rPr dirty="0" sz="2800" spc="-890">
                <a:latin typeface="Courier New"/>
                <a:cs typeface="Courier New"/>
              </a:rPr>
              <a:t> </a:t>
            </a:r>
            <a:r>
              <a:rPr dirty="0" sz="2800" spc="-630">
                <a:latin typeface="Courier New"/>
                <a:cs typeface="Courier New"/>
              </a:rPr>
              <a:t>tries</a:t>
            </a:r>
            <a:r>
              <a:rPr dirty="0" sz="2800" spc="-890">
                <a:latin typeface="Courier New"/>
                <a:cs typeface="Courier New"/>
              </a:rPr>
              <a:t> </a:t>
            </a:r>
            <a:r>
              <a:rPr dirty="0" sz="2800" spc="-520">
                <a:latin typeface="Courier New"/>
                <a:cs typeface="Courier New"/>
              </a:rPr>
              <a:t>to</a:t>
            </a:r>
            <a:r>
              <a:rPr dirty="0" sz="2800" spc="-890">
                <a:latin typeface="Courier New"/>
                <a:cs typeface="Courier New"/>
              </a:rPr>
              <a:t> </a:t>
            </a:r>
            <a:r>
              <a:rPr dirty="0" sz="2800" spc="-290">
                <a:latin typeface="Courier New"/>
                <a:cs typeface="Courier New"/>
              </a:rPr>
              <a:t>reproduce</a:t>
            </a:r>
            <a:r>
              <a:rPr dirty="0" sz="2800" spc="-890">
                <a:latin typeface="Courier New"/>
                <a:cs typeface="Courier New"/>
              </a:rPr>
              <a:t> </a:t>
            </a:r>
            <a:r>
              <a:rPr dirty="0" sz="2800" spc="-395">
                <a:latin typeface="Courier New"/>
                <a:cs typeface="Courier New"/>
              </a:rPr>
              <a:t>the</a:t>
            </a:r>
            <a:r>
              <a:rPr dirty="0" sz="2800" spc="-894">
                <a:latin typeface="Courier New"/>
                <a:cs typeface="Courier New"/>
              </a:rPr>
              <a:t> </a:t>
            </a:r>
            <a:r>
              <a:rPr dirty="0" sz="2800" spc="-475">
                <a:latin typeface="Courier New"/>
                <a:cs typeface="Courier New"/>
              </a:rPr>
              <a:t>input</a:t>
            </a:r>
            <a:r>
              <a:rPr dirty="0" sz="2800" spc="-890">
                <a:latin typeface="Courier New"/>
                <a:cs typeface="Courier New"/>
              </a:rPr>
              <a:t> </a:t>
            </a:r>
            <a:r>
              <a:rPr dirty="0" sz="2800" spc="-600">
                <a:latin typeface="Courier New"/>
                <a:cs typeface="Courier New"/>
              </a:rPr>
              <a:t>in</a:t>
            </a:r>
            <a:r>
              <a:rPr dirty="0" sz="2800" spc="-890">
                <a:latin typeface="Courier New"/>
                <a:cs typeface="Courier New"/>
              </a:rPr>
              <a:t> </a:t>
            </a:r>
            <a:r>
              <a:rPr dirty="0" sz="2800" spc="-420">
                <a:latin typeface="Courier New"/>
                <a:cs typeface="Courier New"/>
              </a:rPr>
              <a:t>the </a:t>
            </a:r>
            <a:r>
              <a:rPr dirty="0" sz="2800" spc="-465">
                <a:latin typeface="Courier New"/>
                <a:cs typeface="Courier New"/>
              </a:rPr>
              <a:t>output,</a:t>
            </a:r>
            <a:r>
              <a:rPr dirty="0" sz="2800" spc="-894">
                <a:latin typeface="Courier New"/>
                <a:cs typeface="Courier New"/>
              </a:rPr>
              <a:t> </a:t>
            </a:r>
            <a:r>
              <a:rPr dirty="0" sz="2800" spc="-385">
                <a:latin typeface="Courier New"/>
                <a:cs typeface="Courier New"/>
              </a:rPr>
              <a:t>inducing</a:t>
            </a:r>
            <a:r>
              <a:rPr dirty="0" sz="2800" spc="-890">
                <a:latin typeface="Courier New"/>
                <a:cs typeface="Courier New"/>
              </a:rPr>
              <a:t> </a:t>
            </a:r>
            <a:r>
              <a:rPr dirty="0" sz="2800" spc="-140">
                <a:latin typeface="Courier New"/>
                <a:cs typeface="Courier New"/>
              </a:rPr>
              <a:t>an</a:t>
            </a:r>
            <a:r>
              <a:rPr dirty="0" sz="2800" spc="-894">
                <a:latin typeface="Courier New"/>
                <a:cs typeface="Courier New"/>
              </a:rPr>
              <a:t> </a:t>
            </a:r>
            <a:r>
              <a:rPr dirty="0" sz="2800" spc="-445">
                <a:latin typeface="Courier New"/>
                <a:cs typeface="Courier New"/>
              </a:rPr>
              <a:t>short</a:t>
            </a:r>
            <a:r>
              <a:rPr dirty="0" sz="2800" spc="-890">
                <a:latin typeface="Courier New"/>
                <a:cs typeface="Courier New"/>
              </a:rPr>
              <a:t> </a:t>
            </a:r>
            <a:r>
              <a:rPr dirty="0" sz="2800" spc="-270">
                <a:latin typeface="Courier New"/>
                <a:cs typeface="Courier New"/>
              </a:rPr>
              <a:t>encoding</a:t>
            </a:r>
            <a:r>
              <a:rPr dirty="0" sz="2800" spc="-890">
                <a:latin typeface="Courier New"/>
                <a:cs typeface="Courier New"/>
              </a:rPr>
              <a:t> </a:t>
            </a:r>
            <a:r>
              <a:rPr dirty="0" sz="2800" spc="-600">
                <a:latin typeface="Courier New"/>
                <a:cs typeface="Courier New"/>
              </a:rPr>
              <a:t>in</a:t>
            </a:r>
            <a:r>
              <a:rPr dirty="0" sz="2800" spc="-894">
                <a:latin typeface="Courier New"/>
                <a:cs typeface="Courier New"/>
              </a:rPr>
              <a:t> </a:t>
            </a:r>
            <a:r>
              <a:rPr dirty="0" sz="2800" spc="-420">
                <a:latin typeface="Courier New"/>
                <a:cs typeface="Courier New"/>
              </a:rPr>
              <a:t>the </a:t>
            </a:r>
            <a:r>
              <a:rPr dirty="0" sz="2800" spc="-290">
                <a:latin typeface="Courier New"/>
                <a:cs typeface="Courier New"/>
              </a:rPr>
              <a:t>hidden</a:t>
            </a:r>
            <a:r>
              <a:rPr dirty="0" sz="2800" spc="-894">
                <a:latin typeface="Courier New"/>
                <a:cs typeface="Courier New"/>
              </a:rPr>
              <a:t> </a:t>
            </a:r>
            <a:r>
              <a:rPr dirty="0" sz="2800" spc="-585">
                <a:latin typeface="Courier New"/>
                <a:cs typeface="Courier New"/>
              </a:rPr>
              <a:t>layer.</a:t>
            </a:r>
            <a:endParaRPr sz="2800">
              <a:latin typeface="Courier New"/>
              <a:cs typeface="Courier New"/>
            </a:endParaRPr>
          </a:p>
          <a:p>
            <a:pPr marL="354965" marR="143510" indent="-342900">
              <a:lnSpc>
                <a:spcPct val="100000"/>
              </a:lnSpc>
              <a:spcBef>
                <a:spcPts val="670"/>
              </a:spcBef>
              <a:buClr>
                <a:srgbClr val="3333CC"/>
              </a:buClr>
              <a:buSzPct val="58928"/>
              <a:buFont typeface="Tahoma"/>
              <a:buChar char="■"/>
              <a:tabLst>
                <a:tab pos="354965" algn="l"/>
              </a:tabLst>
            </a:pPr>
            <a:r>
              <a:rPr dirty="0" sz="2800" spc="-370">
                <a:latin typeface="Courier New"/>
                <a:cs typeface="Courier New"/>
              </a:rPr>
              <a:t>This</a:t>
            </a:r>
            <a:r>
              <a:rPr dirty="0" sz="2800" spc="-885">
                <a:latin typeface="Courier New"/>
                <a:cs typeface="Courier New"/>
              </a:rPr>
              <a:t> </a:t>
            </a:r>
            <a:r>
              <a:rPr dirty="0" sz="2800" spc="-270">
                <a:latin typeface="Courier New"/>
                <a:cs typeface="Courier New"/>
              </a:rPr>
              <a:t>encoding</a:t>
            </a:r>
            <a:r>
              <a:rPr dirty="0" sz="2800" spc="-880">
                <a:latin typeface="Courier New"/>
                <a:cs typeface="Courier New"/>
              </a:rPr>
              <a:t> </a:t>
            </a:r>
            <a:r>
              <a:rPr dirty="0" sz="2800" spc="-490">
                <a:latin typeface="Courier New"/>
                <a:cs typeface="Courier New"/>
              </a:rPr>
              <a:t>retains</a:t>
            </a:r>
            <a:r>
              <a:rPr dirty="0" sz="2800" spc="-880">
                <a:latin typeface="Courier New"/>
                <a:cs typeface="Courier New"/>
              </a:rPr>
              <a:t> </a:t>
            </a:r>
            <a:r>
              <a:rPr dirty="0" sz="2800" spc="-395">
                <a:latin typeface="Courier New"/>
                <a:cs typeface="Courier New"/>
              </a:rPr>
              <a:t>the</a:t>
            </a:r>
            <a:r>
              <a:rPr dirty="0" sz="2800" spc="-885">
                <a:latin typeface="Courier New"/>
                <a:cs typeface="Courier New"/>
              </a:rPr>
              <a:t> </a:t>
            </a:r>
            <a:r>
              <a:rPr dirty="0" sz="2800" spc="45">
                <a:latin typeface="Courier New"/>
                <a:cs typeface="Courier New"/>
              </a:rPr>
              <a:t>maximum</a:t>
            </a:r>
            <a:r>
              <a:rPr dirty="0" sz="2800" spc="-880">
                <a:latin typeface="Courier New"/>
                <a:cs typeface="Courier New"/>
              </a:rPr>
              <a:t> </a:t>
            </a:r>
            <a:r>
              <a:rPr dirty="0" sz="2800" spc="-10">
                <a:latin typeface="Courier New"/>
                <a:cs typeface="Courier New"/>
              </a:rPr>
              <a:t>amount </a:t>
            </a:r>
            <a:r>
              <a:rPr dirty="0" sz="2800" spc="-520">
                <a:latin typeface="Courier New"/>
                <a:cs typeface="Courier New"/>
              </a:rPr>
              <a:t>of</a:t>
            </a:r>
            <a:r>
              <a:rPr dirty="0" sz="2800" spc="-894">
                <a:latin typeface="Courier New"/>
                <a:cs typeface="Courier New"/>
              </a:rPr>
              <a:t> </a:t>
            </a:r>
            <a:r>
              <a:rPr dirty="0" sz="2800" spc="-430">
                <a:latin typeface="Courier New"/>
                <a:cs typeface="Courier New"/>
              </a:rPr>
              <a:t>information</a:t>
            </a:r>
            <a:r>
              <a:rPr dirty="0" sz="2800" spc="-890">
                <a:latin typeface="Courier New"/>
                <a:cs typeface="Courier New"/>
              </a:rPr>
              <a:t> </a:t>
            </a:r>
            <a:r>
              <a:rPr dirty="0" sz="2800" spc="-290">
                <a:latin typeface="Courier New"/>
                <a:cs typeface="Courier New"/>
              </a:rPr>
              <a:t>about</a:t>
            </a:r>
            <a:r>
              <a:rPr dirty="0" sz="2800" spc="-890">
                <a:latin typeface="Courier New"/>
                <a:cs typeface="Courier New"/>
              </a:rPr>
              <a:t> </a:t>
            </a:r>
            <a:r>
              <a:rPr dirty="0" sz="2800" spc="-395">
                <a:latin typeface="Courier New"/>
                <a:cs typeface="Courier New"/>
              </a:rPr>
              <a:t>the</a:t>
            </a:r>
            <a:r>
              <a:rPr dirty="0" sz="2800" spc="-890">
                <a:latin typeface="Courier New"/>
                <a:cs typeface="Courier New"/>
              </a:rPr>
              <a:t> </a:t>
            </a:r>
            <a:r>
              <a:rPr dirty="0" sz="2800" spc="-475">
                <a:latin typeface="Courier New"/>
                <a:cs typeface="Courier New"/>
              </a:rPr>
              <a:t>input</a:t>
            </a:r>
            <a:r>
              <a:rPr dirty="0" sz="2800" spc="-890">
                <a:latin typeface="Courier New"/>
                <a:cs typeface="Courier New"/>
              </a:rPr>
              <a:t> </a:t>
            </a:r>
            <a:r>
              <a:rPr dirty="0" sz="2800" spc="-600">
                <a:latin typeface="Courier New"/>
                <a:cs typeface="Courier New"/>
              </a:rPr>
              <a:t>in</a:t>
            </a:r>
            <a:r>
              <a:rPr dirty="0" sz="2800" spc="-890">
                <a:latin typeface="Courier New"/>
                <a:cs typeface="Courier New"/>
              </a:rPr>
              <a:t> </a:t>
            </a:r>
            <a:r>
              <a:rPr dirty="0" sz="2800" spc="-140">
                <a:latin typeface="Courier New"/>
                <a:cs typeface="Courier New"/>
              </a:rPr>
              <a:t>a</a:t>
            </a:r>
            <a:r>
              <a:rPr dirty="0" sz="2800" spc="-890">
                <a:latin typeface="Courier New"/>
                <a:cs typeface="Courier New"/>
              </a:rPr>
              <a:t> </a:t>
            </a:r>
            <a:r>
              <a:rPr dirty="0" sz="2800" spc="-409">
                <a:latin typeface="Courier New"/>
                <a:cs typeface="Courier New"/>
              </a:rPr>
              <a:t>smaller </a:t>
            </a:r>
            <a:r>
              <a:rPr dirty="0" sz="2800" spc="-330">
                <a:latin typeface="Courier New"/>
                <a:cs typeface="Courier New"/>
              </a:rPr>
              <a:t>dimensional</a:t>
            </a:r>
            <a:r>
              <a:rPr dirty="0" sz="2800" spc="-890">
                <a:latin typeface="Courier New"/>
                <a:cs typeface="Courier New"/>
              </a:rPr>
              <a:t> </a:t>
            </a:r>
            <a:r>
              <a:rPr dirty="0" sz="2800" spc="-200">
                <a:latin typeface="Courier New"/>
                <a:cs typeface="Courier New"/>
              </a:rPr>
              <a:t>space</a:t>
            </a:r>
            <a:r>
              <a:rPr dirty="0" sz="2800" spc="-885">
                <a:latin typeface="Courier New"/>
                <a:cs typeface="Courier New"/>
              </a:rPr>
              <a:t> </a:t>
            </a:r>
            <a:r>
              <a:rPr dirty="0" sz="2800" spc="-215">
                <a:latin typeface="Courier New"/>
                <a:cs typeface="Courier New"/>
              </a:rPr>
              <a:t>such</a:t>
            </a:r>
            <a:r>
              <a:rPr dirty="0" sz="2800" spc="-885">
                <a:latin typeface="Courier New"/>
                <a:cs typeface="Courier New"/>
              </a:rPr>
              <a:t> </a:t>
            </a:r>
            <a:r>
              <a:rPr dirty="0" sz="2800" spc="-520">
                <a:latin typeface="Courier New"/>
                <a:cs typeface="Courier New"/>
              </a:rPr>
              <a:t>that</a:t>
            </a:r>
            <a:r>
              <a:rPr dirty="0" sz="2800" spc="-885">
                <a:latin typeface="Courier New"/>
                <a:cs typeface="Courier New"/>
              </a:rPr>
              <a:t> </a:t>
            </a:r>
            <a:r>
              <a:rPr dirty="0" sz="2800" spc="-395">
                <a:latin typeface="Courier New"/>
                <a:cs typeface="Courier New"/>
              </a:rPr>
              <a:t>the</a:t>
            </a:r>
            <a:r>
              <a:rPr dirty="0" sz="2800" spc="-885">
                <a:latin typeface="Courier New"/>
                <a:cs typeface="Courier New"/>
              </a:rPr>
              <a:t> </a:t>
            </a:r>
            <a:r>
              <a:rPr dirty="0" sz="2800" spc="-475">
                <a:latin typeface="Courier New"/>
                <a:cs typeface="Courier New"/>
              </a:rPr>
              <a:t>input</a:t>
            </a:r>
            <a:r>
              <a:rPr dirty="0" sz="2800" spc="-885">
                <a:latin typeface="Courier New"/>
                <a:cs typeface="Courier New"/>
              </a:rPr>
              <a:t> </a:t>
            </a:r>
            <a:r>
              <a:rPr dirty="0" sz="2800" spc="-190">
                <a:latin typeface="Courier New"/>
                <a:cs typeface="Courier New"/>
              </a:rPr>
              <a:t>can</a:t>
            </a:r>
            <a:r>
              <a:rPr dirty="0" sz="2800" spc="-880">
                <a:latin typeface="Courier New"/>
                <a:cs typeface="Courier New"/>
              </a:rPr>
              <a:t> </a:t>
            </a:r>
            <a:r>
              <a:rPr dirty="0" sz="2800" spc="-25">
                <a:latin typeface="Courier New"/>
                <a:cs typeface="Courier New"/>
              </a:rPr>
              <a:t>be </a:t>
            </a:r>
            <a:r>
              <a:rPr dirty="0" sz="2800" spc="-434">
                <a:latin typeface="Courier New"/>
                <a:cs typeface="Courier New"/>
              </a:rPr>
              <a:t>reconstructed.</a:t>
            </a:r>
            <a:endParaRPr sz="2800">
              <a:latin typeface="Courier New"/>
              <a:cs typeface="Courier New"/>
            </a:endParaRPr>
          </a:p>
          <a:p>
            <a:pPr marL="354965" marR="461009" indent="-342900">
              <a:lnSpc>
                <a:spcPct val="100000"/>
              </a:lnSpc>
              <a:spcBef>
                <a:spcPts val="670"/>
              </a:spcBef>
              <a:buClr>
                <a:srgbClr val="3333CC"/>
              </a:buClr>
              <a:buSzPct val="58928"/>
              <a:buFont typeface="Tahoma"/>
              <a:buChar char="■"/>
              <a:tabLst>
                <a:tab pos="354965" algn="l"/>
              </a:tabLst>
            </a:pPr>
            <a:r>
              <a:rPr dirty="0" sz="2800" spc="-350">
                <a:latin typeface="Courier New"/>
                <a:cs typeface="Courier New"/>
              </a:rPr>
              <a:t>Auto-</a:t>
            </a:r>
            <a:r>
              <a:rPr dirty="0" sz="2800" spc="-250">
                <a:latin typeface="Courier New"/>
                <a:cs typeface="Courier New"/>
              </a:rPr>
              <a:t>encoder</a:t>
            </a:r>
            <a:r>
              <a:rPr dirty="0" sz="2800" spc="-880">
                <a:latin typeface="Courier New"/>
                <a:cs typeface="Courier New"/>
              </a:rPr>
              <a:t> </a:t>
            </a:r>
            <a:r>
              <a:rPr dirty="0" sz="2800" spc="-290">
                <a:latin typeface="Courier New"/>
                <a:cs typeface="Courier New"/>
              </a:rPr>
              <a:t>networks</a:t>
            </a:r>
            <a:r>
              <a:rPr dirty="0" sz="2800" spc="-875">
                <a:latin typeface="Courier New"/>
                <a:cs typeface="Courier New"/>
              </a:rPr>
              <a:t> </a:t>
            </a:r>
            <a:r>
              <a:rPr dirty="0" sz="2800" spc="-190">
                <a:latin typeface="Courier New"/>
                <a:cs typeface="Courier New"/>
              </a:rPr>
              <a:t>can</a:t>
            </a:r>
            <a:r>
              <a:rPr dirty="0" sz="2800" spc="-875">
                <a:latin typeface="Courier New"/>
                <a:cs typeface="Courier New"/>
              </a:rPr>
              <a:t> </a:t>
            </a:r>
            <a:r>
              <a:rPr dirty="0" sz="2800" spc="-140">
                <a:latin typeface="Courier New"/>
                <a:cs typeface="Courier New"/>
              </a:rPr>
              <a:t>be</a:t>
            </a:r>
            <a:r>
              <a:rPr dirty="0" sz="2800" spc="-869">
                <a:latin typeface="Courier New"/>
                <a:cs typeface="Courier New"/>
              </a:rPr>
              <a:t> </a:t>
            </a:r>
            <a:r>
              <a:rPr dirty="0" sz="2800" spc="-180">
                <a:latin typeface="Courier New"/>
                <a:cs typeface="Courier New"/>
              </a:rPr>
              <a:t>used</a:t>
            </a:r>
            <a:r>
              <a:rPr dirty="0" sz="2800" spc="-875">
                <a:latin typeface="Courier New"/>
                <a:cs typeface="Courier New"/>
              </a:rPr>
              <a:t> </a:t>
            </a:r>
            <a:r>
              <a:rPr dirty="0" sz="2800" spc="-625">
                <a:latin typeface="Courier New"/>
                <a:cs typeface="Courier New"/>
              </a:rPr>
              <a:t>for </a:t>
            </a:r>
            <a:r>
              <a:rPr dirty="0" sz="2800" spc="-420">
                <a:latin typeface="Courier New"/>
                <a:cs typeface="Courier New"/>
              </a:rPr>
              <a:t>dimensionality</a:t>
            </a:r>
            <a:r>
              <a:rPr dirty="0" sz="2800" spc="-890">
                <a:latin typeface="Courier New"/>
                <a:cs typeface="Courier New"/>
              </a:rPr>
              <a:t> </a:t>
            </a:r>
            <a:r>
              <a:rPr dirty="0" sz="2800" spc="-459">
                <a:latin typeface="Courier New"/>
                <a:cs typeface="Courier New"/>
              </a:rPr>
              <a:t>reduction,</a:t>
            </a:r>
            <a:r>
              <a:rPr dirty="0" sz="2800" spc="-890">
                <a:latin typeface="Courier New"/>
                <a:cs typeface="Courier New"/>
              </a:rPr>
              <a:t> </a:t>
            </a:r>
            <a:r>
              <a:rPr dirty="0" sz="2800" spc="-300">
                <a:latin typeface="Courier New"/>
                <a:cs typeface="Courier New"/>
              </a:rPr>
              <a:t>compression,</a:t>
            </a:r>
            <a:r>
              <a:rPr dirty="0" sz="2800" spc="-885">
                <a:latin typeface="Courier New"/>
                <a:cs typeface="Courier New"/>
              </a:rPr>
              <a:t> </a:t>
            </a:r>
            <a:r>
              <a:rPr dirty="0" sz="2800" spc="-580">
                <a:latin typeface="Courier New"/>
                <a:cs typeface="Courier New"/>
              </a:rPr>
              <a:t>etc.</a:t>
            </a:r>
            <a:endParaRPr sz="2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9447" rIns="0" bIns="0" rtlCol="0" vert="horz">
            <a:spAutoFit/>
          </a:bodyPr>
          <a:lstStyle/>
          <a:p>
            <a:pPr marL="198755">
              <a:lnSpc>
                <a:spcPct val="100000"/>
              </a:lnSpc>
              <a:spcBef>
                <a:spcPts val="105"/>
              </a:spcBef>
            </a:pPr>
            <a:r>
              <a:rPr dirty="0"/>
              <a:t>Clustering</a:t>
            </a:r>
            <a:r>
              <a:rPr dirty="0" spc="-90"/>
              <a:t> </a:t>
            </a:r>
            <a:r>
              <a:rPr dirty="0" spc="-10"/>
              <a:t>Revisit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13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418439" y="2165870"/>
            <a:ext cx="8326120" cy="43529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Clustering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analysis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is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process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grouping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set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data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into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clusters</a:t>
            </a:r>
            <a:endParaRPr sz="2800">
              <a:latin typeface="Tahoma"/>
              <a:cs typeface="Tahoma"/>
            </a:endParaRPr>
          </a:p>
          <a:p>
            <a:pPr marL="355600" marR="181610" indent="-342900">
              <a:lnSpc>
                <a:spcPct val="100000"/>
              </a:lnSpc>
              <a:spcBef>
                <a:spcPts val="1200"/>
              </a:spcBef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cluster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is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collection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data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points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where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 spc="-20">
                <a:latin typeface="Tahoma"/>
                <a:cs typeface="Tahoma"/>
              </a:rPr>
              <a:t>each </a:t>
            </a:r>
            <a:r>
              <a:rPr dirty="0" sz="2800">
                <a:latin typeface="Tahoma"/>
                <a:cs typeface="Tahoma"/>
              </a:rPr>
              <a:t>observation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is</a:t>
            </a:r>
            <a:endParaRPr sz="2800">
              <a:latin typeface="Tahoma"/>
              <a:cs typeface="Tahoma"/>
            </a:endParaRPr>
          </a:p>
          <a:p>
            <a:pPr lvl="1" marL="755015" indent="-285750">
              <a:lnSpc>
                <a:spcPct val="100000"/>
              </a:lnSpc>
              <a:spcBef>
                <a:spcPts val="1200"/>
              </a:spcBef>
              <a:buClr>
                <a:srgbClr val="FF0000"/>
              </a:buClr>
              <a:buSzPct val="54166"/>
              <a:buChar char="■"/>
              <a:tabLst>
                <a:tab pos="755015" algn="l"/>
              </a:tabLst>
            </a:pPr>
            <a:r>
              <a:rPr dirty="0" sz="2400">
                <a:latin typeface="Tahoma"/>
                <a:cs typeface="Tahoma"/>
              </a:rPr>
              <a:t>Similar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other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observations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same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cluster;</a:t>
            </a:r>
            <a:endParaRPr sz="2400">
              <a:latin typeface="Tahoma"/>
              <a:cs typeface="Tahoma"/>
            </a:endParaRPr>
          </a:p>
          <a:p>
            <a:pPr lvl="1" marL="755015" indent="-285750">
              <a:lnSpc>
                <a:spcPct val="100000"/>
              </a:lnSpc>
              <a:spcBef>
                <a:spcPts val="1200"/>
              </a:spcBef>
              <a:buClr>
                <a:srgbClr val="FF0000"/>
              </a:buClr>
              <a:buSzPct val="54166"/>
              <a:buChar char="■"/>
              <a:tabLst>
                <a:tab pos="755015" algn="l"/>
              </a:tabLst>
            </a:pPr>
            <a:r>
              <a:rPr dirty="0" sz="2400">
                <a:latin typeface="Tahoma"/>
                <a:cs typeface="Tahoma"/>
              </a:rPr>
              <a:t>Dissimilar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observations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other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clusters</a:t>
            </a:r>
            <a:endParaRPr sz="2400">
              <a:latin typeface="Tahoma"/>
              <a:cs typeface="Tahoma"/>
            </a:endParaRPr>
          </a:p>
          <a:p>
            <a:pPr marL="355600" marR="191135" indent="-342900">
              <a:lnSpc>
                <a:spcPct val="100000"/>
              </a:lnSpc>
              <a:spcBef>
                <a:spcPts val="1200"/>
              </a:spcBef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Cluster</a:t>
            </a:r>
            <a:r>
              <a:rPr dirty="0" sz="2800" spc="-8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analysis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organizes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data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by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abstracting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the </a:t>
            </a:r>
            <a:r>
              <a:rPr dirty="0" sz="2800" b="1">
                <a:solidFill>
                  <a:srgbClr val="0000FF"/>
                </a:solidFill>
                <a:latin typeface="Tahoma"/>
                <a:cs typeface="Tahoma"/>
              </a:rPr>
              <a:t>underlying</a:t>
            </a:r>
            <a:r>
              <a:rPr dirty="0" sz="2800" spc="-60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 b="1">
                <a:solidFill>
                  <a:srgbClr val="0000FF"/>
                </a:solidFill>
                <a:latin typeface="Tahoma"/>
                <a:cs typeface="Tahoma"/>
              </a:rPr>
              <a:t>structure</a:t>
            </a:r>
            <a:r>
              <a:rPr dirty="0" sz="2800" spc="-55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either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as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grouping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of </a:t>
            </a:r>
            <a:r>
              <a:rPr dirty="0" sz="2800">
                <a:latin typeface="Tahoma"/>
                <a:cs typeface="Tahoma"/>
              </a:rPr>
              <a:t>individuals,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or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as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hierarchy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groups.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9447" rIns="0" bIns="0" rtlCol="0" vert="horz">
            <a:spAutoFit/>
          </a:bodyPr>
          <a:lstStyle/>
          <a:p>
            <a:pPr marL="198755">
              <a:lnSpc>
                <a:spcPct val="100000"/>
              </a:lnSpc>
              <a:spcBef>
                <a:spcPts val="105"/>
              </a:spcBef>
            </a:pPr>
            <a:r>
              <a:rPr dirty="0"/>
              <a:t>Clustering</a:t>
            </a:r>
            <a:r>
              <a:rPr dirty="0" spc="-90"/>
              <a:t> </a:t>
            </a:r>
            <a:r>
              <a:rPr dirty="0" spc="-10"/>
              <a:t>Revisit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13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389801" y="2093861"/>
            <a:ext cx="8484235" cy="39077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marR="1223645" indent="-342900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928"/>
              <a:buChar char="■"/>
              <a:tabLst>
                <a:tab pos="354965" algn="l"/>
              </a:tabLst>
            </a:pPr>
            <a:r>
              <a:rPr dirty="0" sz="2800">
                <a:latin typeface="Tahoma"/>
                <a:cs typeface="Tahoma"/>
              </a:rPr>
              <a:t>These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groupings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are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based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on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measured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or </a:t>
            </a:r>
            <a:r>
              <a:rPr dirty="0" sz="2800">
                <a:latin typeface="Tahoma"/>
                <a:cs typeface="Tahoma"/>
              </a:rPr>
              <a:t>perceived</a:t>
            </a:r>
            <a:r>
              <a:rPr dirty="0" sz="2800" spc="-85">
                <a:latin typeface="Tahoma"/>
                <a:cs typeface="Tahoma"/>
              </a:rPr>
              <a:t> </a:t>
            </a:r>
            <a:r>
              <a:rPr dirty="0" sz="2800" b="1">
                <a:solidFill>
                  <a:srgbClr val="FF0000"/>
                </a:solidFill>
                <a:latin typeface="Tahoma"/>
                <a:cs typeface="Tahoma"/>
              </a:rPr>
              <a:t>similarities</a:t>
            </a:r>
            <a:r>
              <a:rPr dirty="0" sz="2800" spc="-30" b="1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among</a:t>
            </a:r>
            <a:r>
              <a:rPr dirty="0" sz="2800" spc="-8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8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patterns.</a:t>
            </a:r>
            <a:endParaRPr sz="2800">
              <a:latin typeface="Tahoma"/>
              <a:cs typeface="Tahoma"/>
            </a:endParaRPr>
          </a:p>
          <a:p>
            <a:pPr marL="354965" marR="5080" indent="-342900">
              <a:lnSpc>
                <a:spcPct val="100000"/>
              </a:lnSpc>
              <a:spcBef>
                <a:spcPts val="1200"/>
              </a:spcBef>
              <a:buClr>
                <a:srgbClr val="3333CC"/>
              </a:buClr>
              <a:buSzPct val="58928"/>
              <a:buChar char="■"/>
              <a:tabLst>
                <a:tab pos="354965" algn="l"/>
              </a:tabLst>
            </a:pPr>
            <a:r>
              <a:rPr dirty="0" sz="2800">
                <a:latin typeface="Tahoma"/>
                <a:cs typeface="Tahoma"/>
              </a:rPr>
              <a:t>Clustering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is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 b="1">
                <a:latin typeface="Tahoma"/>
                <a:cs typeface="Tahoma"/>
              </a:rPr>
              <a:t>unsupervised</a:t>
            </a:r>
            <a:r>
              <a:rPr dirty="0" sz="2800">
                <a:latin typeface="Tahoma"/>
                <a:cs typeface="Tahoma"/>
              </a:rPr>
              <a:t>.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There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are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no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category </a:t>
            </a:r>
            <a:r>
              <a:rPr dirty="0" sz="2800">
                <a:latin typeface="Tahoma"/>
                <a:cs typeface="Tahoma"/>
              </a:rPr>
              <a:t>labels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and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other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information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about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source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of </a:t>
            </a:r>
            <a:r>
              <a:rPr dirty="0" sz="2800" spc="-10">
                <a:latin typeface="Tahoma"/>
                <a:cs typeface="Tahoma"/>
              </a:rPr>
              <a:t>data.</a:t>
            </a:r>
            <a:endParaRPr sz="2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Clr>
                <a:srgbClr val="3333CC"/>
              </a:buClr>
              <a:buSzPct val="59375"/>
              <a:buChar char="■"/>
              <a:tabLst>
                <a:tab pos="354965" algn="l"/>
              </a:tabLst>
            </a:pPr>
            <a:r>
              <a:rPr dirty="0" sz="3200">
                <a:latin typeface="Tahoma"/>
                <a:cs typeface="Tahoma"/>
              </a:rPr>
              <a:t>Typical</a:t>
            </a:r>
            <a:r>
              <a:rPr dirty="0" sz="3200" spc="-105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applications</a:t>
            </a:r>
            <a:endParaRPr sz="3200">
              <a:latin typeface="Tahoma"/>
              <a:cs typeface="Tahoma"/>
            </a:endParaRPr>
          </a:p>
          <a:p>
            <a:pPr lvl="1" marL="755015" indent="-285115">
              <a:lnSpc>
                <a:spcPct val="100000"/>
              </a:lnSpc>
              <a:spcBef>
                <a:spcPts val="815"/>
              </a:spcBef>
              <a:buClr>
                <a:srgbClr val="FF0000"/>
              </a:buClr>
              <a:buSzPct val="54166"/>
              <a:buChar char="–"/>
              <a:tabLst>
                <a:tab pos="755015" algn="l"/>
              </a:tabLst>
            </a:pPr>
            <a:r>
              <a:rPr dirty="0" sz="2400">
                <a:latin typeface="Tahoma"/>
                <a:cs typeface="Tahoma"/>
              </a:rPr>
              <a:t>As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 spc="-10">
                <a:solidFill>
                  <a:srgbClr val="FF0000"/>
                </a:solidFill>
                <a:latin typeface="Tahoma"/>
                <a:cs typeface="Tahoma"/>
              </a:rPr>
              <a:t>stand-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alone</a:t>
            </a:r>
            <a:r>
              <a:rPr dirty="0" sz="2400" spc="-1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tool</a:t>
            </a:r>
            <a:r>
              <a:rPr dirty="0" sz="2400" spc="-1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get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insight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into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data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distribution</a:t>
            </a:r>
            <a:endParaRPr sz="2400">
              <a:latin typeface="Tahoma"/>
              <a:cs typeface="Tahoma"/>
            </a:endParaRPr>
          </a:p>
          <a:p>
            <a:pPr lvl="1" marL="755015" indent="-285115">
              <a:lnSpc>
                <a:spcPct val="100000"/>
              </a:lnSpc>
              <a:spcBef>
                <a:spcPts val="1395"/>
              </a:spcBef>
              <a:buClr>
                <a:srgbClr val="FF0000"/>
              </a:buClr>
              <a:buSzPct val="54166"/>
              <a:buChar char="–"/>
              <a:tabLst>
                <a:tab pos="755015" algn="l"/>
              </a:tabLst>
            </a:pPr>
            <a:r>
              <a:rPr dirty="0" sz="2400">
                <a:latin typeface="Tahoma"/>
                <a:cs typeface="Tahoma"/>
              </a:rPr>
              <a:t>As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preprocessing</a:t>
            </a:r>
            <a:r>
              <a:rPr dirty="0" sz="2400" spc="-2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step</a:t>
            </a:r>
            <a:r>
              <a:rPr dirty="0" sz="2400" spc="-2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for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other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algorithms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29602" y="2228342"/>
            <a:ext cx="7181850" cy="100584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355600" marR="5080" indent="-342900">
              <a:lnSpc>
                <a:spcPts val="3840"/>
              </a:lnSpc>
              <a:spcBef>
                <a:spcPts val="229"/>
              </a:spcBef>
              <a:buClr>
                <a:srgbClr val="3333CC"/>
              </a:buClr>
              <a:buSzPct val="59375"/>
              <a:buChar char="■"/>
              <a:tabLst>
                <a:tab pos="355600" algn="l"/>
              </a:tabLst>
            </a:pPr>
            <a:r>
              <a:rPr dirty="0" sz="3200">
                <a:latin typeface="Tahoma"/>
                <a:cs typeface="Tahoma"/>
              </a:rPr>
              <a:t>The</a:t>
            </a:r>
            <a:r>
              <a:rPr dirty="0" sz="3200" spc="-85">
                <a:latin typeface="Tahoma"/>
                <a:cs typeface="Tahoma"/>
              </a:rPr>
              <a:t> </a:t>
            </a:r>
            <a:r>
              <a:rPr dirty="0" sz="3200" spc="-20">
                <a:latin typeface="Tahoma"/>
                <a:cs typeface="Tahoma"/>
              </a:rPr>
              <a:t>k-</a:t>
            </a:r>
            <a:r>
              <a:rPr dirty="0" sz="3200">
                <a:latin typeface="Tahoma"/>
                <a:cs typeface="Tahoma"/>
              </a:rPr>
              <a:t>means</a:t>
            </a:r>
            <a:r>
              <a:rPr dirty="0" sz="3200" spc="-8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algorithm</a:t>
            </a:r>
            <a:r>
              <a:rPr dirty="0" sz="3200" spc="-8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partitions</a:t>
            </a:r>
            <a:r>
              <a:rPr dirty="0" sz="3200" spc="-80">
                <a:latin typeface="Tahoma"/>
                <a:cs typeface="Tahoma"/>
              </a:rPr>
              <a:t> </a:t>
            </a:r>
            <a:r>
              <a:rPr dirty="0" sz="3200" spc="-25">
                <a:latin typeface="Tahoma"/>
                <a:cs typeface="Tahoma"/>
              </a:rPr>
              <a:t>the </a:t>
            </a:r>
            <a:r>
              <a:rPr dirty="0" sz="3200">
                <a:latin typeface="Tahoma"/>
                <a:cs typeface="Tahoma"/>
              </a:rPr>
              <a:t>data</a:t>
            </a:r>
            <a:r>
              <a:rPr dirty="0" sz="3200" spc="-6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into</a:t>
            </a:r>
            <a:r>
              <a:rPr dirty="0" sz="3200" spc="-2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k</a:t>
            </a:r>
            <a:r>
              <a:rPr dirty="0" sz="3200" spc="-20">
                <a:latin typeface="Tahoma"/>
                <a:cs typeface="Tahoma"/>
              </a:rPr>
              <a:t> </a:t>
            </a:r>
            <a:r>
              <a:rPr dirty="0" sz="3350" spc="-340" i="1">
                <a:solidFill>
                  <a:srgbClr val="0000FF"/>
                </a:solidFill>
                <a:latin typeface="Verdana"/>
                <a:cs typeface="Verdana"/>
              </a:rPr>
              <a:t>mutually</a:t>
            </a:r>
            <a:r>
              <a:rPr dirty="0" sz="3350" spc="-175" i="1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dirty="0" sz="3350" spc="-315" i="1">
                <a:solidFill>
                  <a:srgbClr val="0000FF"/>
                </a:solidFill>
                <a:latin typeface="Verdana"/>
                <a:cs typeface="Verdana"/>
              </a:rPr>
              <a:t>exclusive</a:t>
            </a:r>
            <a:r>
              <a:rPr dirty="0" sz="3350" spc="-180" i="1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dirty="0" sz="3350" spc="-310" i="1">
                <a:solidFill>
                  <a:srgbClr val="0000FF"/>
                </a:solidFill>
                <a:latin typeface="Verdana"/>
                <a:cs typeface="Verdana"/>
              </a:rPr>
              <a:t>clusters</a:t>
            </a:r>
            <a:endParaRPr sz="3350">
              <a:latin typeface="Verdana"/>
              <a:cs typeface="Verdan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3945" y="3738372"/>
            <a:ext cx="4748064" cy="254529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1443" rIns="0" bIns="0" rtlCol="0" vert="horz">
            <a:spAutoFit/>
          </a:bodyPr>
          <a:lstStyle/>
          <a:p>
            <a:pPr marL="342900">
              <a:lnSpc>
                <a:spcPct val="100000"/>
              </a:lnSpc>
              <a:spcBef>
                <a:spcPts val="105"/>
              </a:spcBef>
            </a:pPr>
            <a:r>
              <a:rPr dirty="0" spc="-20"/>
              <a:t>K-</a:t>
            </a:r>
            <a:r>
              <a:rPr dirty="0"/>
              <a:t>means</a:t>
            </a:r>
            <a:r>
              <a:rPr dirty="0" spc="-75"/>
              <a:t> </a:t>
            </a:r>
            <a:r>
              <a:rPr dirty="0"/>
              <a:t>algorithm</a:t>
            </a:r>
            <a:r>
              <a:rPr dirty="0" spc="-75"/>
              <a:t> </a:t>
            </a:r>
            <a:r>
              <a:rPr dirty="0" spc="-10"/>
              <a:t>Revisit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66153" y="1916836"/>
            <a:ext cx="8526780" cy="3096895"/>
          </a:xfrm>
          <a:custGeom>
            <a:avLst/>
            <a:gdLst/>
            <a:ahLst/>
            <a:cxnLst/>
            <a:rect l="l" t="t" r="r" b="b"/>
            <a:pathLst>
              <a:path w="8526780" h="3096895">
                <a:moveTo>
                  <a:pt x="8526322" y="0"/>
                </a:moveTo>
                <a:lnTo>
                  <a:pt x="0" y="0"/>
                </a:lnTo>
                <a:lnTo>
                  <a:pt x="0" y="3096348"/>
                </a:lnTo>
                <a:lnTo>
                  <a:pt x="8526322" y="3096348"/>
                </a:lnTo>
                <a:lnTo>
                  <a:pt x="852632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4351807" y="2894952"/>
            <a:ext cx="130810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114">
                <a:latin typeface="Courier New"/>
                <a:cs typeface="Courier New"/>
              </a:rPr>
              <a:t>2</a:t>
            </a:r>
            <a:endParaRPr sz="165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44893" y="1949221"/>
            <a:ext cx="7696200" cy="1019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0416"/>
              <a:buChar char="■"/>
              <a:tabLst>
                <a:tab pos="355600" algn="l"/>
              </a:tabLst>
            </a:pPr>
            <a:r>
              <a:rPr dirty="0" sz="2400">
                <a:latin typeface="Tahoma"/>
                <a:cs typeface="Tahoma"/>
              </a:rPr>
              <a:t>Objective: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minimize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the</a:t>
            </a:r>
            <a:r>
              <a:rPr dirty="0" sz="2400" spc="-2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sum</a:t>
            </a:r>
            <a:r>
              <a:rPr dirty="0" sz="2400" spc="-3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of</a:t>
            </a:r>
            <a:r>
              <a:rPr dirty="0" sz="2400" spc="-3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squared</a:t>
            </a:r>
            <a:r>
              <a:rPr dirty="0" sz="2400" spc="-3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distance</a:t>
            </a:r>
            <a:r>
              <a:rPr dirty="0" sz="2400" spc="-2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to</a:t>
            </a:r>
            <a:r>
              <a:rPr dirty="0" sz="2400" spc="-25">
                <a:solidFill>
                  <a:srgbClr val="FF0000"/>
                </a:solidFill>
                <a:latin typeface="Tahoma"/>
                <a:cs typeface="Tahoma"/>
              </a:rPr>
              <a:t> its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“</a:t>
            </a:r>
            <a:r>
              <a:rPr dirty="0" sz="2400" b="1">
                <a:solidFill>
                  <a:srgbClr val="FF0000"/>
                </a:solidFill>
                <a:latin typeface="Tahoma"/>
                <a:cs typeface="Tahoma"/>
              </a:rPr>
              <a:t>representative</a:t>
            </a:r>
            <a:r>
              <a:rPr dirty="0" sz="2400" spc="-55" b="1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FF0000"/>
                </a:solidFill>
                <a:latin typeface="Tahoma"/>
                <a:cs typeface="Tahoma"/>
              </a:rPr>
              <a:t>object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”</a:t>
            </a:r>
            <a:r>
              <a:rPr dirty="0" sz="2400" spc="-5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in</a:t>
            </a:r>
            <a:r>
              <a:rPr dirty="0" sz="2400" spc="-5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each</a:t>
            </a:r>
            <a:r>
              <a:rPr dirty="0" sz="2400" spc="-5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 spc="-10">
                <a:solidFill>
                  <a:srgbClr val="FF0000"/>
                </a:solidFill>
                <a:latin typeface="Tahoma"/>
                <a:cs typeface="Tahoma"/>
              </a:rPr>
              <a:t>cluster</a:t>
            </a:r>
            <a:endParaRPr sz="2400">
              <a:latin typeface="Tahoma"/>
              <a:cs typeface="Tahoma"/>
            </a:endParaRPr>
          </a:p>
          <a:p>
            <a:pPr algn="ctr" marR="1887220">
              <a:lnSpc>
                <a:spcPct val="100000"/>
              </a:lnSpc>
              <a:spcBef>
                <a:spcPts val="80"/>
              </a:spcBef>
            </a:pPr>
            <a:r>
              <a:rPr dirty="0" sz="1650" spc="55" i="1">
                <a:latin typeface="Courier New"/>
                <a:cs typeface="Courier New"/>
              </a:rPr>
              <a:t>K</a:t>
            </a:r>
            <a:endParaRPr sz="165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844084" y="3146767"/>
            <a:ext cx="54546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73709" algn="l"/>
              </a:tabLst>
            </a:pPr>
            <a:r>
              <a:rPr dirty="0" sz="1650" spc="-585" i="1">
                <a:latin typeface="Courier New"/>
                <a:cs typeface="Courier New"/>
              </a:rPr>
              <a:t>j</a:t>
            </a:r>
            <a:r>
              <a:rPr dirty="0" sz="1650" i="1">
                <a:latin typeface="Courier New"/>
                <a:cs typeface="Courier New"/>
              </a:rPr>
              <a:t>	</a:t>
            </a:r>
            <a:r>
              <a:rPr dirty="0" sz="1650" spc="-585" i="1">
                <a:latin typeface="Courier New"/>
                <a:cs typeface="Courier New"/>
              </a:rPr>
              <a:t>i</a:t>
            </a:r>
            <a:endParaRPr sz="165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118330" y="2887686"/>
            <a:ext cx="1438910" cy="480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50" spc="-310" i="1">
                <a:latin typeface="Courier New"/>
                <a:cs typeface="Courier New"/>
              </a:rPr>
              <a:t>d</a:t>
            </a:r>
            <a:r>
              <a:rPr dirty="0" sz="2850" spc="-145" i="1">
                <a:latin typeface="Courier New"/>
                <a:cs typeface="Courier New"/>
              </a:rPr>
              <a:t> </a:t>
            </a:r>
            <a:r>
              <a:rPr dirty="0" sz="2850" spc="-515">
                <a:latin typeface="Courier New"/>
                <a:cs typeface="Courier New"/>
              </a:rPr>
              <a:t>(</a:t>
            </a:r>
            <a:r>
              <a:rPr dirty="0" sz="2850" spc="-515" i="1">
                <a:latin typeface="Courier New"/>
                <a:cs typeface="Courier New"/>
              </a:rPr>
              <a:t>x</a:t>
            </a:r>
            <a:r>
              <a:rPr dirty="0" sz="2850" spc="-570" i="1">
                <a:latin typeface="Courier New"/>
                <a:cs typeface="Courier New"/>
              </a:rPr>
              <a:t> </a:t>
            </a:r>
            <a:r>
              <a:rPr dirty="0" sz="2850" spc="-1015">
                <a:latin typeface="Courier New"/>
                <a:cs typeface="Courier New"/>
              </a:rPr>
              <a:t>,</a:t>
            </a:r>
            <a:r>
              <a:rPr dirty="0" sz="2850" spc="-1315">
                <a:latin typeface="Courier New"/>
                <a:cs typeface="Courier New"/>
              </a:rPr>
              <a:t> </a:t>
            </a:r>
            <a:r>
              <a:rPr dirty="0" sz="2950" spc="-150" i="1">
                <a:latin typeface="Courier New"/>
                <a:cs typeface="Courier New"/>
              </a:rPr>
              <a:t>µ</a:t>
            </a:r>
            <a:r>
              <a:rPr dirty="0" sz="2950" spc="-865" i="1">
                <a:latin typeface="Courier New"/>
                <a:cs typeface="Courier New"/>
              </a:rPr>
              <a:t> </a:t>
            </a:r>
            <a:r>
              <a:rPr dirty="0" sz="2850" spc="-825">
                <a:latin typeface="Courier New"/>
                <a:cs typeface="Courier New"/>
              </a:rPr>
              <a:t>)</a:t>
            </a:r>
            <a:endParaRPr sz="285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147834" y="2809379"/>
            <a:ext cx="948690" cy="675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250" spc="480">
                <a:latin typeface="Courier New"/>
                <a:cs typeface="Courier New"/>
              </a:rPr>
              <a:t>Σ</a:t>
            </a:r>
            <a:r>
              <a:rPr dirty="0" sz="4250" spc="-1360">
                <a:latin typeface="Courier New"/>
                <a:cs typeface="Courier New"/>
              </a:rPr>
              <a:t> </a:t>
            </a:r>
            <a:r>
              <a:rPr dirty="0" sz="4250" spc="430">
                <a:latin typeface="Courier New"/>
                <a:cs typeface="Courier New"/>
              </a:rPr>
              <a:t>Σ</a:t>
            </a:r>
            <a:endParaRPr sz="425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236381" y="3295643"/>
            <a:ext cx="5193030" cy="1427480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979805">
              <a:lnSpc>
                <a:spcPct val="100000"/>
              </a:lnSpc>
              <a:spcBef>
                <a:spcPts val="940"/>
              </a:spcBef>
            </a:pPr>
            <a:r>
              <a:rPr dirty="0" sz="1650" spc="-254" i="1">
                <a:latin typeface="Courier New"/>
                <a:cs typeface="Courier New"/>
              </a:rPr>
              <a:t>i</a:t>
            </a:r>
            <a:r>
              <a:rPr dirty="0" sz="1650" spc="-254">
                <a:latin typeface="Courier New"/>
                <a:cs typeface="Courier New"/>
              </a:rPr>
              <a:t>=1</a:t>
            </a:r>
            <a:r>
              <a:rPr dirty="0" sz="1650" spc="-95">
                <a:latin typeface="Courier New"/>
                <a:cs typeface="Courier New"/>
              </a:rPr>
              <a:t> </a:t>
            </a:r>
            <a:r>
              <a:rPr dirty="0" sz="1650" i="1">
                <a:latin typeface="Courier New"/>
                <a:cs typeface="Courier New"/>
              </a:rPr>
              <a:t>X</a:t>
            </a:r>
            <a:r>
              <a:rPr dirty="0" sz="1650" spc="-545" i="1">
                <a:latin typeface="Courier New"/>
                <a:cs typeface="Courier New"/>
              </a:rPr>
              <a:t> </a:t>
            </a:r>
            <a:r>
              <a:rPr dirty="0" baseline="-19323" sz="1725" spc="-547" i="1">
                <a:latin typeface="Courier New"/>
                <a:cs typeface="Courier New"/>
              </a:rPr>
              <a:t>j</a:t>
            </a:r>
            <a:r>
              <a:rPr dirty="0" baseline="-19323" sz="1725" spc="-802" i="1">
                <a:latin typeface="Courier New"/>
                <a:cs typeface="Courier New"/>
              </a:rPr>
              <a:t> </a:t>
            </a:r>
            <a:r>
              <a:rPr dirty="0" sz="1650" spc="-25">
                <a:latin typeface="Courier New"/>
                <a:cs typeface="Courier New"/>
              </a:rPr>
              <a:t>ϵ</a:t>
            </a:r>
            <a:r>
              <a:rPr dirty="0" sz="1650" spc="-25" i="1">
                <a:latin typeface="Courier New"/>
                <a:cs typeface="Courier New"/>
              </a:rPr>
              <a:t>S</a:t>
            </a:r>
            <a:r>
              <a:rPr dirty="0" baseline="-19323" sz="1725" spc="-37" i="1">
                <a:latin typeface="Courier New"/>
                <a:cs typeface="Courier New"/>
              </a:rPr>
              <a:t>i</a:t>
            </a:r>
            <a:endParaRPr baseline="-19323" sz="1725">
              <a:latin typeface="Courier New"/>
              <a:cs typeface="Courier New"/>
            </a:endParaRPr>
          </a:p>
          <a:p>
            <a:pPr marL="50800">
              <a:lnSpc>
                <a:spcPct val="100000"/>
              </a:lnSpc>
              <a:spcBef>
                <a:spcPts val="1015"/>
              </a:spcBef>
            </a:pPr>
            <a:r>
              <a:rPr dirty="0" sz="2000" spc="-190">
                <a:latin typeface="Courier New"/>
                <a:cs typeface="Courier New"/>
              </a:rPr>
              <a:t>S</a:t>
            </a:r>
            <a:r>
              <a:rPr dirty="0" baseline="-17094" sz="1950" spc="-284">
                <a:latin typeface="Courier New"/>
                <a:cs typeface="Courier New"/>
              </a:rPr>
              <a:t>i</a:t>
            </a:r>
            <a:r>
              <a:rPr dirty="0" baseline="-17094" sz="1950" spc="-82">
                <a:latin typeface="Courier New"/>
                <a:cs typeface="Courier New"/>
              </a:rPr>
              <a:t> </a:t>
            </a:r>
            <a:r>
              <a:rPr dirty="0" sz="2000" spc="-484">
                <a:latin typeface="Courier New"/>
                <a:cs typeface="Courier New"/>
              </a:rPr>
              <a:t>is</a:t>
            </a:r>
            <a:r>
              <a:rPr dirty="0" sz="2000" spc="-640">
                <a:latin typeface="Courier New"/>
                <a:cs typeface="Courier New"/>
              </a:rPr>
              <a:t> </a:t>
            </a:r>
            <a:r>
              <a:rPr dirty="0" sz="2000" spc="-285">
                <a:latin typeface="Courier New"/>
                <a:cs typeface="Courier New"/>
              </a:rPr>
              <a:t>the</a:t>
            </a:r>
            <a:r>
              <a:rPr dirty="0" sz="2000" spc="-650">
                <a:latin typeface="Courier New"/>
                <a:cs typeface="Courier New"/>
              </a:rPr>
              <a:t> </a:t>
            </a:r>
            <a:r>
              <a:rPr dirty="0" sz="2000" spc="-655">
                <a:latin typeface="Courier New"/>
                <a:cs typeface="Courier New"/>
              </a:rPr>
              <a:t>i-</a:t>
            </a:r>
            <a:r>
              <a:rPr dirty="0" sz="2000" spc="-375">
                <a:latin typeface="Courier New"/>
                <a:cs typeface="Courier New"/>
              </a:rPr>
              <a:t>th</a:t>
            </a:r>
            <a:r>
              <a:rPr dirty="0" sz="2000" spc="-650">
                <a:latin typeface="Courier New"/>
                <a:cs typeface="Courier New"/>
              </a:rPr>
              <a:t> </a:t>
            </a:r>
            <a:r>
              <a:rPr dirty="0" sz="2000" spc="-370">
                <a:latin typeface="Courier New"/>
                <a:cs typeface="Courier New"/>
              </a:rPr>
              <a:t>cluster</a:t>
            </a:r>
            <a:r>
              <a:rPr dirty="0" sz="2000" spc="-645">
                <a:latin typeface="Courier New"/>
                <a:cs typeface="Courier New"/>
              </a:rPr>
              <a:t> </a:t>
            </a:r>
            <a:r>
              <a:rPr dirty="0" sz="2000" spc="-145">
                <a:latin typeface="Courier New"/>
                <a:cs typeface="Courier New"/>
              </a:rPr>
              <a:t>(i=1,2,…K)</a:t>
            </a:r>
            <a:endParaRPr sz="2000">
              <a:latin typeface="Courier New"/>
              <a:cs typeface="Courier New"/>
            </a:endParaRPr>
          </a:p>
          <a:p>
            <a:pPr marL="50800" marR="43180">
              <a:lnSpc>
                <a:spcPts val="2310"/>
              </a:lnSpc>
              <a:spcBef>
                <a:spcPts val="240"/>
              </a:spcBef>
            </a:pPr>
            <a:r>
              <a:rPr dirty="0" sz="2000" spc="-275">
                <a:latin typeface="Courier New"/>
                <a:cs typeface="Courier New"/>
              </a:rPr>
              <a:t>µ</a:t>
            </a:r>
            <a:r>
              <a:rPr dirty="0" baseline="-17094" sz="1950" spc="-412">
                <a:latin typeface="Courier New"/>
                <a:cs typeface="Courier New"/>
              </a:rPr>
              <a:t>i</a:t>
            </a:r>
            <a:r>
              <a:rPr dirty="0" baseline="-17094" sz="1950" spc="-82">
                <a:latin typeface="Courier New"/>
                <a:cs typeface="Courier New"/>
              </a:rPr>
              <a:t> </a:t>
            </a:r>
            <a:r>
              <a:rPr dirty="0" sz="2000" spc="-484">
                <a:latin typeface="Courier New"/>
                <a:cs typeface="Courier New"/>
              </a:rPr>
              <a:t>is</a:t>
            </a:r>
            <a:r>
              <a:rPr dirty="0" sz="2000" spc="-645">
                <a:latin typeface="Courier New"/>
                <a:cs typeface="Courier New"/>
              </a:rPr>
              <a:t> </a:t>
            </a:r>
            <a:r>
              <a:rPr dirty="0" sz="2000" spc="-285">
                <a:latin typeface="Courier New"/>
                <a:cs typeface="Courier New"/>
              </a:rPr>
              <a:t>the</a:t>
            </a:r>
            <a:r>
              <a:rPr dirty="0" sz="2000" spc="-650">
                <a:latin typeface="Courier New"/>
                <a:cs typeface="Courier New"/>
              </a:rPr>
              <a:t> </a:t>
            </a:r>
            <a:r>
              <a:rPr dirty="0" sz="2000" spc="-655">
                <a:latin typeface="Courier New"/>
                <a:cs typeface="Courier New"/>
              </a:rPr>
              <a:t>i-</a:t>
            </a:r>
            <a:r>
              <a:rPr dirty="0" sz="2000" spc="-375">
                <a:latin typeface="Courier New"/>
                <a:cs typeface="Courier New"/>
              </a:rPr>
              <a:t>th</a:t>
            </a:r>
            <a:r>
              <a:rPr dirty="0" sz="2000" spc="-645">
                <a:latin typeface="Courier New"/>
                <a:cs typeface="Courier New"/>
              </a:rPr>
              <a:t> </a:t>
            </a:r>
            <a:r>
              <a:rPr dirty="0" sz="2000" spc="-325">
                <a:latin typeface="Courier New"/>
                <a:cs typeface="Courier New"/>
              </a:rPr>
              <a:t>centroid</a:t>
            </a:r>
            <a:r>
              <a:rPr dirty="0" sz="2000" spc="-650">
                <a:latin typeface="Courier New"/>
                <a:cs typeface="Courier New"/>
              </a:rPr>
              <a:t> </a:t>
            </a:r>
            <a:r>
              <a:rPr dirty="0" sz="2000" spc="-380">
                <a:latin typeface="Courier New"/>
                <a:cs typeface="Courier New"/>
              </a:rPr>
              <a:t>of</a:t>
            </a:r>
            <a:r>
              <a:rPr dirty="0" sz="2000" spc="-645">
                <a:latin typeface="Courier New"/>
                <a:cs typeface="Courier New"/>
              </a:rPr>
              <a:t> </a:t>
            </a:r>
            <a:r>
              <a:rPr dirty="0" sz="2000" spc="-285">
                <a:latin typeface="Courier New"/>
                <a:cs typeface="Courier New"/>
              </a:rPr>
              <a:t>the</a:t>
            </a:r>
            <a:r>
              <a:rPr dirty="0" sz="2000" spc="-650">
                <a:latin typeface="Courier New"/>
                <a:cs typeface="Courier New"/>
              </a:rPr>
              <a:t> </a:t>
            </a:r>
            <a:r>
              <a:rPr dirty="0" sz="2000" spc="-325">
                <a:latin typeface="Courier New"/>
                <a:cs typeface="Courier New"/>
              </a:rPr>
              <a:t>points</a:t>
            </a:r>
            <a:r>
              <a:rPr dirty="0" sz="2000" spc="-645">
                <a:latin typeface="Courier New"/>
                <a:cs typeface="Courier New"/>
              </a:rPr>
              <a:t> </a:t>
            </a:r>
            <a:r>
              <a:rPr dirty="0" sz="2000" spc="-430">
                <a:latin typeface="Courier New"/>
                <a:cs typeface="Courier New"/>
              </a:rPr>
              <a:t>in</a:t>
            </a:r>
            <a:r>
              <a:rPr dirty="0" sz="2000" spc="-650">
                <a:latin typeface="Courier New"/>
                <a:cs typeface="Courier New"/>
              </a:rPr>
              <a:t> </a:t>
            </a:r>
            <a:r>
              <a:rPr dirty="0" sz="2000" spc="-370">
                <a:latin typeface="Courier New"/>
                <a:cs typeface="Courier New"/>
              </a:rPr>
              <a:t>cluster</a:t>
            </a:r>
            <a:r>
              <a:rPr dirty="0" sz="2000" spc="-640">
                <a:latin typeface="Courier New"/>
                <a:cs typeface="Courier New"/>
              </a:rPr>
              <a:t> </a:t>
            </a:r>
            <a:r>
              <a:rPr dirty="0" sz="2000" spc="-25">
                <a:latin typeface="Courier New"/>
                <a:cs typeface="Courier New"/>
              </a:rPr>
              <a:t>S</a:t>
            </a:r>
            <a:r>
              <a:rPr dirty="0" baseline="-17094" sz="1950" spc="-37">
                <a:latin typeface="Courier New"/>
                <a:cs typeface="Courier New"/>
              </a:rPr>
              <a:t>i </a:t>
            </a:r>
            <a:r>
              <a:rPr dirty="0" sz="2000">
                <a:latin typeface="Courier New"/>
                <a:cs typeface="Courier New"/>
              </a:rPr>
              <a:t>d</a:t>
            </a:r>
            <a:r>
              <a:rPr dirty="0" sz="2000" spc="-160">
                <a:latin typeface="Courier New"/>
                <a:cs typeface="Courier New"/>
              </a:rPr>
              <a:t> </a:t>
            </a:r>
            <a:r>
              <a:rPr dirty="0" sz="2000" spc="-484">
                <a:latin typeface="Courier New"/>
                <a:cs typeface="Courier New"/>
              </a:rPr>
              <a:t>is</a:t>
            </a:r>
            <a:r>
              <a:rPr dirty="0" sz="2000" spc="-650">
                <a:latin typeface="Courier New"/>
                <a:cs typeface="Courier New"/>
              </a:rPr>
              <a:t> </a:t>
            </a:r>
            <a:r>
              <a:rPr dirty="0" sz="2000" spc="-285">
                <a:latin typeface="Courier New"/>
                <a:cs typeface="Courier New"/>
              </a:rPr>
              <a:t>the</a:t>
            </a:r>
            <a:r>
              <a:rPr dirty="0" sz="2000" spc="-655">
                <a:latin typeface="Courier New"/>
                <a:cs typeface="Courier New"/>
              </a:rPr>
              <a:t> </a:t>
            </a:r>
            <a:r>
              <a:rPr dirty="0" sz="2000" spc="-285">
                <a:latin typeface="Courier New"/>
                <a:cs typeface="Courier New"/>
              </a:rPr>
              <a:t>distance</a:t>
            </a:r>
            <a:r>
              <a:rPr dirty="0" sz="2000" spc="-655">
                <a:latin typeface="Courier New"/>
                <a:cs typeface="Courier New"/>
              </a:rPr>
              <a:t> </a:t>
            </a:r>
            <a:r>
              <a:rPr dirty="0" sz="2000" spc="-350">
                <a:latin typeface="Courier New"/>
                <a:cs typeface="Courier New"/>
              </a:rPr>
              <a:t>function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1443" rIns="0" bIns="0" rtlCol="0" vert="horz">
            <a:spAutoFit/>
          </a:bodyPr>
          <a:lstStyle/>
          <a:p>
            <a:pPr marL="342900">
              <a:lnSpc>
                <a:spcPct val="100000"/>
              </a:lnSpc>
              <a:spcBef>
                <a:spcPts val="105"/>
              </a:spcBef>
            </a:pPr>
            <a:r>
              <a:rPr dirty="0" spc="-20"/>
              <a:t>K-</a:t>
            </a:r>
            <a:r>
              <a:rPr dirty="0"/>
              <a:t>means</a:t>
            </a:r>
            <a:r>
              <a:rPr dirty="0" spc="-75"/>
              <a:t> </a:t>
            </a:r>
            <a:r>
              <a:rPr dirty="0"/>
              <a:t>algorithm</a:t>
            </a:r>
            <a:r>
              <a:rPr dirty="0" spc="-75"/>
              <a:t> </a:t>
            </a:r>
            <a:r>
              <a:rPr dirty="0" spc="-10"/>
              <a:t>Revisit</a:t>
            </a:r>
          </a:p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85656" y="4940529"/>
            <a:ext cx="3537419" cy="1796783"/>
          </a:xfrm>
          <a:prstGeom prst="rect">
            <a:avLst/>
          </a:prstGeom>
        </p:spPr>
      </p:pic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74281" y="2076130"/>
            <a:ext cx="8337550" cy="41624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54965" indent="-342265">
              <a:lnSpc>
                <a:spcPts val="3470"/>
              </a:lnSpc>
              <a:spcBef>
                <a:spcPts val="135"/>
              </a:spcBef>
              <a:buClr>
                <a:srgbClr val="3333CC"/>
              </a:buClr>
              <a:buSzPct val="58928"/>
              <a:buChar char="■"/>
              <a:tabLst>
                <a:tab pos="354965" algn="l"/>
              </a:tabLst>
            </a:pPr>
            <a:r>
              <a:rPr dirty="0" sz="2800">
                <a:latin typeface="Tahoma"/>
                <a:cs typeface="Tahoma"/>
              </a:rPr>
              <a:t>Basically,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objective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is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to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find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most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900" spc="-290" i="1">
                <a:solidFill>
                  <a:srgbClr val="0000FF"/>
                </a:solidFill>
                <a:latin typeface="Verdana"/>
                <a:cs typeface="Verdana"/>
              </a:rPr>
              <a:t>compact</a:t>
            </a:r>
            <a:endParaRPr sz="2900">
              <a:latin typeface="Verdana"/>
              <a:cs typeface="Verdana"/>
            </a:endParaRPr>
          </a:p>
          <a:p>
            <a:pPr marL="355600">
              <a:lnSpc>
                <a:spcPts val="3350"/>
              </a:lnSpc>
            </a:pPr>
            <a:r>
              <a:rPr dirty="0" sz="2800">
                <a:latin typeface="Tahoma"/>
                <a:cs typeface="Tahoma"/>
              </a:rPr>
              <a:t>partitioning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data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set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into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FF0000"/>
                </a:solidFill>
                <a:latin typeface="Tahoma"/>
                <a:cs typeface="Tahoma"/>
              </a:rPr>
              <a:t>k</a:t>
            </a:r>
            <a:r>
              <a:rPr dirty="0" sz="2800" spc="-4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partitions</a:t>
            </a:r>
            <a:endParaRPr sz="2800">
              <a:latin typeface="Tahoma"/>
              <a:cs typeface="Tahoma"/>
            </a:endParaRPr>
          </a:p>
          <a:p>
            <a:pPr lvl="1" marL="755015" indent="-285115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54166"/>
              <a:buChar char="■"/>
              <a:tabLst>
                <a:tab pos="755015" algn="l"/>
              </a:tabLst>
            </a:pPr>
            <a:r>
              <a:rPr dirty="0" sz="2400">
                <a:latin typeface="Tahoma"/>
                <a:cs typeface="Tahoma"/>
              </a:rPr>
              <a:t>Minimizing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intra-</a:t>
            </a:r>
            <a:r>
              <a:rPr dirty="0" sz="2400">
                <a:latin typeface="Tahoma"/>
                <a:cs typeface="Tahoma"/>
              </a:rPr>
              <a:t>cluster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variance</a:t>
            </a:r>
            <a:endParaRPr sz="2400">
              <a:latin typeface="Tahoma"/>
              <a:cs typeface="Tahoma"/>
            </a:endParaRPr>
          </a:p>
          <a:p>
            <a:pPr lvl="1" marL="755015" indent="-285115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54166"/>
              <a:buChar char="■"/>
              <a:tabLst>
                <a:tab pos="755015" algn="l"/>
              </a:tabLst>
            </a:pPr>
            <a:r>
              <a:rPr dirty="0" sz="2400">
                <a:latin typeface="Tahoma"/>
                <a:cs typeface="Tahoma"/>
              </a:rPr>
              <a:t>Maximizing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inter-</a:t>
            </a:r>
            <a:r>
              <a:rPr dirty="0" sz="2400">
                <a:latin typeface="Tahoma"/>
                <a:cs typeface="Tahoma"/>
              </a:rPr>
              <a:t>cluster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variance</a:t>
            </a:r>
            <a:endParaRPr sz="2400">
              <a:latin typeface="Tahoma"/>
              <a:cs typeface="Tahoma"/>
            </a:endParaRPr>
          </a:p>
          <a:p>
            <a:pPr marL="355600" marR="408305" indent="-342900">
              <a:lnSpc>
                <a:spcPct val="100000"/>
              </a:lnSpc>
              <a:spcBef>
                <a:spcPts val="670"/>
              </a:spcBef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If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knew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cluster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assignment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each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point </a:t>
            </a:r>
            <a:r>
              <a:rPr dirty="0" sz="2800">
                <a:latin typeface="Tahoma"/>
                <a:cs typeface="Tahoma"/>
              </a:rPr>
              <a:t>we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could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easily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compute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centroid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positions</a:t>
            </a:r>
            <a:endParaRPr sz="2800">
              <a:latin typeface="Tahoma"/>
              <a:cs typeface="Tahoma"/>
            </a:endParaRPr>
          </a:p>
          <a:p>
            <a:pPr marL="355600" marR="252729" indent="-342900">
              <a:lnSpc>
                <a:spcPct val="100000"/>
              </a:lnSpc>
              <a:spcBef>
                <a:spcPts val="670"/>
              </a:spcBef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If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knew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centroid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positions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we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could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easily </a:t>
            </a:r>
            <a:r>
              <a:rPr dirty="0" sz="2800">
                <a:latin typeface="Tahoma"/>
                <a:cs typeface="Tahoma"/>
              </a:rPr>
              <a:t>assign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each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point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to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cluster</a:t>
            </a:r>
            <a:endParaRPr sz="2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670"/>
              </a:spcBef>
              <a:buClr>
                <a:srgbClr val="3333CC"/>
              </a:buClr>
              <a:buSzPct val="58928"/>
              <a:buChar char="■"/>
              <a:tabLst>
                <a:tab pos="354965" algn="l"/>
              </a:tabLst>
            </a:pPr>
            <a:r>
              <a:rPr dirty="0" sz="2800">
                <a:solidFill>
                  <a:srgbClr val="FF0000"/>
                </a:solidFill>
                <a:latin typeface="Tahoma"/>
                <a:cs typeface="Tahoma"/>
              </a:rPr>
              <a:t>But</a:t>
            </a:r>
            <a:r>
              <a:rPr dirty="0" sz="2800" spc="-4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FF0000"/>
                </a:solidFill>
                <a:latin typeface="Tahoma"/>
                <a:cs typeface="Tahoma"/>
              </a:rPr>
              <a:t>both</a:t>
            </a:r>
            <a:r>
              <a:rPr dirty="0" sz="2800" spc="-4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FF0000"/>
                </a:solidFill>
                <a:latin typeface="Tahoma"/>
                <a:cs typeface="Tahoma"/>
              </a:rPr>
              <a:t>are</a:t>
            </a:r>
            <a:r>
              <a:rPr dirty="0" sz="2800" spc="-4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800" spc="-10">
                <a:solidFill>
                  <a:srgbClr val="FF0000"/>
                </a:solidFill>
                <a:latin typeface="Tahoma"/>
                <a:cs typeface="Tahoma"/>
              </a:rPr>
              <a:t>unknown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13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1443" rIns="0" bIns="0" rtlCol="0" vert="horz">
            <a:spAutoFit/>
          </a:bodyPr>
          <a:lstStyle/>
          <a:p>
            <a:pPr marL="342900">
              <a:lnSpc>
                <a:spcPct val="100000"/>
              </a:lnSpc>
              <a:spcBef>
                <a:spcPts val="105"/>
              </a:spcBef>
            </a:pPr>
            <a:r>
              <a:rPr dirty="0" spc="-20"/>
              <a:t>K-</a:t>
            </a:r>
            <a:r>
              <a:rPr dirty="0"/>
              <a:t>means</a:t>
            </a:r>
            <a:r>
              <a:rPr dirty="0" spc="-75"/>
              <a:t> </a:t>
            </a:r>
            <a:r>
              <a:rPr dirty="0"/>
              <a:t>algorithm</a:t>
            </a:r>
            <a:r>
              <a:rPr dirty="0" spc="-75"/>
              <a:t> </a:t>
            </a:r>
            <a:r>
              <a:rPr dirty="0" spc="-10"/>
              <a:t>Revisit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90422" y="1864004"/>
            <a:ext cx="7774305" cy="300990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770"/>
              </a:spcBef>
              <a:buClr>
                <a:srgbClr val="FF0000"/>
              </a:buClr>
              <a:buSzPct val="53571"/>
              <a:buChar char="■"/>
              <a:tabLst>
                <a:tab pos="297815" algn="l"/>
              </a:tabLst>
            </a:pPr>
            <a:r>
              <a:rPr dirty="0" sz="2800">
                <a:latin typeface="Tahoma"/>
                <a:cs typeface="Tahoma"/>
              </a:rPr>
              <a:t>Choose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number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clusters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-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 spc="-50">
                <a:latin typeface="Tahoma"/>
                <a:cs typeface="Tahoma"/>
              </a:rPr>
              <a:t>K</a:t>
            </a:r>
            <a:endParaRPr sz="2800">
              <a:latin typeface="Tahoma"/>
              <a:cs typeface="Tahoma"/>
            </a:endParaRPr>
          </a:p>
          <a:p>
            <a:pPr marL="297815" indent="-285115">
              <a:lnSpc>
                <a:spcPct val="100000"/>
              </a:lnSpc>
              <a:spcBef>
                <a:spcPts val="670"/>
              </a:spcBef>
              <a:buClr>
                <a:srgbClr val="FF0000"/>
              </a:buClr>
              <a:buSzPct val="53571"/>
              <a:buChar char="■"/>
              <a:tabLst>
                <a:tab pos="297815" algn="l"/>
              </a:tabLst>
            </a:pPr>
            <a:r>
              <a:rPr dirty="0" sz="2800">
                <a:latin typeface="Tahoma"/>
                <a:cs typeface="Tahoma"/>
              </a:rPr>
              <a:t>Randomly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choose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initial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positions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K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centroids</a:t>
            </a:r>
            <a:endParaRPr sz="2800">
              <a:latin typeface="Tahoma"/>
              <a:cs typeface="Tahoma"/>
            </a:endParaRPr>
          </a:p>
          <a:p>
            <a:pPr marL="298450" marR="991235" indent="-285750">
              <a:lnSpc>
                <a:spcPct val="100000"/>
              </a:lnSpc>
              <a:spcBef>
                <a:spcPts val="670"/>
              </a:spcBef>
              <a:buClr>
                <a:srgbClr val="FF0000"/>
              </a:buClr>
              <a:buSzPct val="53571"/>
              <a:buChar char="■"/>
              <a:tabLst>
                <a:tab pos="298450" algn="l"/>
              </a:tabLst>
            </a:pPr>
            <a:r>
              <a:rPr dirty="0" sz="2800">
                <a:latin typeface="Tahoma"/>
                <a:cs typeface="Tahoma"/>
              </a:rPr>
              <a:t>Assign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each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points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to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“nearest </a:t>
            </a:r>
            <a:r>
              <a:rPr dirty="0" sz="2800">
                <a:latin typeface="Tahoma"/>
                <a:cs typeface="Tahoma"/>
              </a:rPr>
              <a:t>centroid”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(depends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on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distance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measure)</a:t>
            </a:r>
            <a:endParaRPr sz="2800">
              <a:latin typeface="Tahoma"/>
              <a:cs typeface="Tahoma"/>
            </a:endParaRPr>
          </a:p>
          <a:p>
            <a:pPr marL="297815" indent="-285115">
              <a:lnSpc>
                <a:spcPct val="100000"/>
              </a:lnSpc>
              <a:spcBef>
                <a:spcPts val="670"/>
              </a:spcBef>
              <a:buClr>
                <a:srgbClr val="FF0000"/>
              </a:buClr>
              <a:buSzPct val="53571"/>
              <a:buChar char="■"/>
              <a:tabLst>
                <a:tab pos="297815" algn="l"/>
              </a:tabLst>
            </a:pPr>
            <a:r>
              <a:rPr dirty="0" sz="2800" spc="-20">
                <a:latin typeface="Tahoma"/>
                <a:cs typeface="Tahoma"/>
              </a:rPr>
              <a:t>Re-</a:t>
            </a:r>
            <a:r>
              <a:rPr dirty="0" sz="2800">
                <a:latin typeface="Tahoma"/>
                <a:cs typeface="Tahoma"/>
              </a:rPr>
              <a:t>compute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centroid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positions</a:t>
            </a:r>
            <a:endParaRPr sz="2800">
              <a:latin typeface="Tahoma"/>
              <a:cs typeface="Tahoma"/>
            </a:endParaRPr>
          </a:p>
          <a:p>
            <a:pPr marL="297815" indent="-285115">
              <a:lnSpc>
                <a:spcPct val="100000"/>
              </a:lnSpc>
              <a:spcBef>
                <a:spcPts val="660"/>
              </a:spcBef>
              <a:buClr>
                <a:srgbClr val="FF0000"/>
              </a:buClr>
              <a:buSzPct val="53571"/>
              <a:buChar char="■"/>
              <a:tabLst>
                <a:tab pos="297815" algn="l"/>
              </a:tabLst>
            </a:pPr>
            <a:r>
              <a:rPr dirty="0" sz="2800">
                <a:latin typeface="Tahoma"/>
                <a:cs typeface="Tahoma"/>
              </a:rPr>
              <a:t>If</a:t>
            </a:r>
            <a:r>
              <a:rPr dirty="0" sz="2800" spc="-10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solution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converges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 spc="-65">
                <a:latin typeface="Courier New"/>
                <a:cs typeface="Courier New"/>
              </a:rPr>
              <a:t></a:t>
            </a:r>
            <a:r>
              <a:rPr dirty="0" sz="2800" spc="-800">
                <a:latin typeface="Courier New"/>
                <a:cs typeface="Courier New"/>
              </a:rPr>
              <a:t> </a:t>
            </a:r>
            <a:r>
              <a:rPr dirty="0" sz="2800" spc="-10">
                <a:latin typeface="Tahoma"/>
                <a:cs typeface="Tahoma"/>
              </a:rPr>
              <a:t>Stop!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62775" y="3232302"/>
            <a:ext cx="652780" cy="1482725"/>
          </a:xfrm>
          <a:custGeom>
            <a:avLst/>
            <a:gdLst/>
            <a:ahLst/>
            <a:cxnLst/>
            <a:rect l="l" t="t" r="r" b="b"/>
            <a:pathLst>
              <a:path w="652780" h="1482725">
                <a:moveTo>
                  <a:pt x="652462" y="1472628"/>
                </a:moveTo>
                <a:lnTo>
                  <a:pt x="9525" y="1472628"/>
                </a:lnTo>
                <a:lnTo>
                  <a:pt x="9525" y="42862"/>
                </a:lnTo>
                <a:lnTo>
                  <a:pt x="504837" y="42862"/>
                </a:lnTo>
                <a:lnTo>
                  <a:pt x="504837" y="76200"/>
                </a:lnTo>
                <a:lnTo>
                  <a:pt x="571512" y="42862"/>
                </a:lnTo>
                <a:lnTo>
                  <a:pt x="581037" y="38100"/>
                </a:lnTo>
                <a:lnTo>
                  <a:pt x="571512" y="33337"/>
                </a:lnTo>
                <a:lnTo>
                  <a:pt x="504837" y="0"/>
                </a:lnTo>
                <a:lnTo>
                  <a:pt x="504837" y="33337"/>
                </a:lnTo>
                <a:lnTo>
                  <a:pt x="4762" y="33337"/>
                </a:lnTo>
                <a:lnTo>
                  <a:pt x="4762" y="38100"/>
                </a:lnTo>
                <a:lnTo>
                  <a:pt x="0" y="38100"/>
                </a:lnTo>
                <a:lnTo>
                  <a:pt x="0" y="1477391"/>
                </a:lnTo>
                <a:lnTo>
                  <a:pt x="4762" y="1477391"/>
                </a:lnTo>
                <a:lnTo>
                  <a:pt x="4762" y="1482153"/>
                </a:lnTo>
                <a:lnTo>
                  <a:pt x="652462" y="1482153"/>
                </a:lnTo>
                <a:lnTo>
                  <a:pt x="652462" y="14726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3998" y="4940529"/>
            <a:ext cx="3336885" cy="179678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1443" rIns="0" bIns="0" rtlCol="0" vert="horz">
            <a:spAutoFit/>
          </a:bodyPr>
          <a:lstStyle/>
          <a:p>
            <a:pPr marL="342900">
              <a:lnSpc>
                <a:spcPct val="100000"/>
              </a:lnSpc>
              <a:spcBef>
                <a:spcPts val="105"/>
              </a:spcBef>
            </a:pPr>
            <a:r>
              <a:rPr dirty="0" spc="-20"/>
              <a:t>K-</a:t>
            </a:r>
            <a:r>
              <a:rPr dirty="0"/>
              <a:t>means</a:t>
            </a:r>
            <a:r>
              <a:rPr dirty="0" spc="-75"/>
              <a:t> </a:t>
            </a:r>
            <a:r>
              <a:rPr dirty="0"/>
              <a:t>algorithm</a:t>
            </a:r>
            <a:r>
              <a:rPr dirty="0" spc="-75"/>
              <a:t> </a:t>
            </a:r>
            <a:r>
              <a:rPr dirty="0" spc="-10"/>
              <a:t>Revisit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44412" rIns="0" bIns="0" rtlCol="0" vert="horz">
            <a:spAutoFit/>
          </a:bodyPr>
          <a:lstStyle/>
          <a:p>
            <a:pPr marL="3429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800000"/>
                </a:solidFill>
              </a:rPr>
              <a:t>Things</a:t>
            </a:r>
            <a:r>
              <a:rPr dirty="0" sz="4000" spc="-70">
                <a:solidFill>
                  <a:srgbClr val="800000"/>
                </a:solidFill>
              </a:rPr>
              <a:t> </a:t>
            </a:r>
            <a:r>
              <a:rPr dirty="0" sz="4000">
                <a:solidFill>
                  <a:srgbClr val="800000"/>
                </a:solidFill>
              </a:rPr>
              <a:t>we</a:t>
            </a:r>
            <a:r>
              <a:rPr dirty="0" sz="4000" spc="-70">
                <a:solidFill>
                  <a:srgbClr val="800000"/>
                </a:solidFill>
              </a:rPr>
              <a:t> </a:t>
            </a:r>
            <a:r>
              <a:rPr dirty="0" sz="4000">
                <a:solidFill>
                  <a:srgbClr val="800000"/>
                </a:solidFill>
              </a:rPr>
              <a:t>need</a:t>
            </a:r>
            <a:r>
              <a:rPr dirty="0" sz="4000" spc="-70">
                <a:solidFill>
                  <a:srgbClr val="800000"/>
                </a:solidFill>
              </a:rPr>
              <a:t> </a:t>
            </a:r>
            <a:r>
              <a:rPr dirty="0" sz="4000">
                <a:solidFill>
                  <a:srgbClr val="800000"/>
                </a:solidFill>
              </a:rPr>
              <a:t>to</a:t>
            </a:r>
            <a:r>
              <a:rPr dirty="0" sz="4000" spc="-70">
                <a:solidFill>
                  <a:srgbClr val="800000"/>
                </a:solidFill>
              </a:rPr>
              <a:t> </a:t>
            </a:r>
            <a:r>
              <a:rPr dirty="0" sz="4000" spc="-10">
                <a:solidFill>
                  <a:srgbClr val="800000"/>
                </a:solidFill>
              </a:rPr>
              <a:t>consider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690295" y="2308618"/>
            <a:ext cx="6851650" cy="1002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3333CC"/>
              </a:buClr>
              <a:buSzPct val="59375"/>
              <a:buChar char="■"/>
              <a:tabLst>
                <a:tab pos="355600" algn="l"/>
              </a:tabLst>
            </a:pPr>
            <a:r>
              <a:rPr dirty="0" sz="3200">
                <a:latin typeface="Tahoma"/>
                <a:cs typeface="Tahoma"/>
              </a:rPr>
              <a:t>Does</a:t>
            </a:r>
            <a:r>
              <a:rPr dirty="0" sz="3200" spc="-7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the</a:t>
            </a:r>
            <a:r>
              <a:rPr dirty="0" sz="3200" spc="-7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algorithm</a:t>
            </a:r>
            <a:r>
              <a:rPr dirty="0" sz="3200" spc="-75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guarantee </a:t>
            </a:r>
            <a:r>
              <a:rPr dirty="0" sz="3200">
                <a:latin typeface="Tahoma"/>
                <a:cs typeface="Tahoma"/>
              </a:rPr>
              <a:t>convergence</a:t>
            </a:r>
            <a:r>
              <a:rPr dirty="0" sz="3200" spc="-7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to</a:t>
            </a:r>
            <a:r>
              <a:rPr dirty="0" sz="3200" spc="-7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an</a:t>
            </a:r>
            <a:r>
              <a:rPr dirty="0" sz="3200" spc="-7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optimal</a:t>
            </a:r>
            <a:r>
              <a:rPr dirty="0" sz="3200" spc="-75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solution?</a:t>
            </a:r>
            <a:endParaRPr sz="32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6216" y="3601212"/>
            <a:ext cx="6768083" cy="2567940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70510" marR="508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800000"/>
                </a:solidFill>
              </a:rPr>
              <a:t>Unsupervised</a:t>
            </a:r>
            <a:r>
              <a:rPr dirty="0" sz="3600" spc="-95">
                <a:solidFill>
                  <a:srgbClr val="800000"/>
                </a:solidFill>
              </a:rPr>
              <a:t> </a:t>
            </a:r>
            <a:r>
              <a:rPr dirty="0" sz="3600" spc="-10">
                <a:solidFill>
                  <a:srgbClr val="800000"/>
                </a:solidFill>
              </a:rPr>
              <a:t>Competitive Learning</a:t>
            </a:r>
            <a:endParaRPr sz="3600"/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13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474281" y="2021865"/>
            <a:ext cx="8173720" cy="45954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In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Hebbian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networks,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all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neurons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can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“fire”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at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the </a:t>
            </a:r>
            <a:r>
              <a:rPr dirty="0" sz="2800">
                <a:latin typeface="Tahoma"/>
                <a:cs typeface="Tahoma"/>
              </a:rPr>
              <a:t>same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 spc="-20">
                <a:latin typeface="Tahoma"/>
                <a:cs typeface="Tahoma"/>
              </a:rPr>
              <a:t>time</a:t>
            </a:r>
            <a:endParaRPr sz="2800">
              <a:latin typeface="Tahoma"/>
              <a:cs typeface="Tahoma"/>
            </a:endParaRPr>
          </a:p>
          <a:p>
            <a:pPr marL="355600" marR="128905" indent="-342900">
              <a:lnSpc>
                <a:spcPct val="100000"/>
              </a:lnSpc>
              <a:spcBef>
                <a:spcPts val="670"/>
              </a:spcBef>
              <a:buClr>
                <a:srgbClr val="3333CC"/>
              </a:buClr>
              <a:buSzPct val="58928"/>
              <a:buFont typeface="Tahoma"/>
              <a:buChar char="■"/>
              <a:tabLst>
                <a:tab pos="355600" algn="l"/>
              </a:tabLst>
            </a:pPr>
            <a:r>
              <a:rPr dirty="0" sz="2800" b="1">
                <a:solidFill>
                  <a:srgbClr val="0000FF"/>
                </a:solidFill>
                <a:latin typeface="Tahoma"/>
                <a:cs typeface="Tahoma"/>
              </a:rPr>
              <a:t>Competitive</a:t>
            </a:r>
            <a:r>
              <a:rPr dirty="0" sz="2800" spc="-60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 b="1">
                <a:solidFill>
                  <a:srgbClr val="0000FF"/>
                </a:solidFill>
                <a:latin typeface="Tahoma"/>
                <a:cs typeface="Tahoma"/>
              </a:rPr>
              <a:t>learning</a:t>
            </a:r>
            <a:r>
              <a:rPr dirty="0" sz="2800" spc="-15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means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that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only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single </a:t>
            </a:r>
            <a:r>
              <a:rPr dirty="0" sz="2800">
                <a:latin typeface="Tahoma"/>
                <a:cs typeface="Tahoma"/>
              </a:rPr>
              <a:t>neuron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from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each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group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fires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at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each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time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 spc="-20">
                <a:latin typeface="Tahoma"/>
                <a:cs typeface="Tahoma"/>
              </a:rPr>
              <a:t>step</a:t>
            </a:r>
            <a:endParaRPr sz="2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670"/>
              </a:spcBef>
              <a:buClr>
                <a:srgbClr val="3333CC"/>
              </a:buClr>
              <a:buSzPct val="58928"/>
              <a:buChar char="■"/>
              <a:tabLst>
                <a:tab pos="354965" algn="l"/>
              </a:tabLst>
            </a:pPr>
            <a:r>
              <a:rPr dirty="0" sz="2800">
                <a:latin typeface="Tahoma"/>
                <a:cs typeface="Tahoma"/>
              </a:rPr>
              <a:t>Output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units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compete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with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one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another.</a:t>
            </a:r>
            <a:endParaRPr sz="2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670"/>
              </a:spcBef>
              <a:buClr>
                <a:srgbClr val="3333CC"/>
              </a:buClr>
              <a:buSzPct val="58928"/>
              <a:buChar char="■"/>
              <a:tabLst>
                <a:tab pos="354965" algn="l"/>
              </a:tabLst>
            </a:pPr>
            <a:r>
              <a:rPr dirty="0" sz="2800">
                <a:latin typeface="Tahoma"/>
                <a:cs typeface="Tahoma"/>
              </a:rPr>
              <a:t>These</a:t>
            </a:r>
            <a:r>
              <a:rPr dirty="0" sz="2800" spc="-3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are</a:t>
            </a:r>
            <a:r>
              <a:rPr dirty="0" sz="2800" spc="-25">
                <a:latin typeface="Tahoma"/>
                <a:cs typeface="Tahoma"/>
              </a:rPr>
              <a:t> </a:t>
            </a:r>
            <a:r>
              <a:rPr dirty="0" sz="2800" spc="-20" b="1">
                <a:solidFill>
                  <a:srgbClr val="FF0000"/>
                </a:solidFill>
                <a:latin typeface="Tahoma"/>
                <a:cs typeface="Tahoma"/>
              </a:rPr>
              <a:t>winner-takes-</a:t>
            </a:r>
            <a:r>
              <a:rPr dirty="0" sz="2800" b="1">
                <a:solidFill>
                  <a:srgbClr val="FF0000"/>
                </a:solidFill>
                <a:latin typeface="Tahoma"/>
                <a:cs typeface="Tahoma"/>
              </a:rPr>
              <a:t>all</a:t>
            </a:r>
            <a:r>
              <a:rPr dirty="0" sz="2800" spc="-25" b="1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800" b="1">
                <a:solidFill>
                  <a:srgbClr val="FF0000"/>
                </a:solidFill>
                <a:latin typeface="Tahoma"/>
                <a:cs typeface="Tahoma"/>
              </a:rPr>
              <a:t>(WTA)</a:t>
            </a:r>
            <a:r>
              <a:rPr dirty="0" sz="2800" spc="-25" b="1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units</a:t>
            </a:r>
            <a:endParaRPr sz="2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670"/>
              </a:spcBef>
              <a:buClr>
                <a:srgbClr val="3333CC"/>
              </a:buClr>
              <a:buSzPct val="58928"/>
              <a:buChar char="■"/>
              <a:tabLst>
                <a:tab pos="354965" algn="l"/>
              </a:tabLst>
            </a:pPr>
            <a:r>
              <a:rPr dirty="0" sz="2800">
                <a:latin typeface="Tahoma"/>
                <a:cs typeface="Tahoma"/>
              </a:rPr>
              <a:t>Competition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is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important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for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neural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networks</a:t>
            </a:r>
            <a:endParaRPr sz="2800">
              <a:latin typeface="Tahoma"/>
              <a:cs typeface="Tahoma"/>
            </a:endParaRPr>
          </a:p>
          <a:p>
            <a:pPr lvl="1" marL="755650" marR="406400" indent="-285750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54166"/>
              <a:buChar char="■"/>
              <a:tabLst>
                <a:tab pos="755650" algn="l"/>
              </a:tabLst>
            </a:pPr>
            <a:r>
              <a:rPr dirty="0" sz="2400">
                <a:latin typeface="Tahoma"/>
                <a:cs typeface="Tahoma"/>
              </a:rPr>
              <a:t>Competition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between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neurons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has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been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observed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in </a:t>
            </a:r>
            <a:r>
              <a:rPr dirty="0" sz="2400">
                <a:latin typeface="Tahoma"/>
                <a:cs typeface="Tahoma"/>
              </a:rPr>
              <a:t>biological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nerve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systems</a:t>
            </a:r>
            <a:endParaRPr sz="2400">
              <a:latin typeface="Tahoma"/>
              <a:cs typeface="Tahoma"/>
            </a:endParaRPr>
          </a:p>
          <a:p>
            <a:pPr lvl="1" marL="755015" indent="-285115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54166"/>
              <a:buChar char="■"/>
              <a:tabLst>
                <a:tab pos="755015" algn="l"/>
              </a:tabLst>
            </a:pPr>
            <a:r>
              <a:rPr dirty="0" sz="2400">
                <a:latin typeface="Tahoma"/>
                <a:cs typeface="Tahoma"/>
              </a:rPr>
              <a:t>Competition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important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solving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many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problems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70510" marR="508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800000"/>
                </a:solidFill>
              </a:rPr>
              <a:t>Unsupervised</a:t>
            </a:r>
            <a:r>
              <a:rPr dirty="0" sz="3600" spc="-95">
                <a:solidFill>
                  <a:srgbClr val="800000"/>
                </a:solidFill>
              </a:rPr>
              <a:t> </a:t>
            </a:r>
            <a:r>
              <a:rPr dirty="0" sz="3600" spc="-10">
                <a:solidFill>
                  <a:srgbClr val="800000"/>
                </a:solidFill>
              </a:rPr>
              <a:t>Competitive Learning</a:t>
            </a:r>
            <a:endParaRPr sz="3600"/>
          </a:p>
        </p:txBody>
      </p:sp>
      <p:sp>
        <p:nvSpPr>
          <p:cNvPr id="3" name="object 3" descr=""/>
          <p:cNvSpPr txBox="1"/>
          <p:nvPr/>
        </p:nvSpPr>
        <p:spPr>
          <a:xfrm>
            <a:off x="186245" y="2279116"/>
            <a:ext cx="4337050" cy="36455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To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classify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an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 spc="-20">
                <a:latin typeface="Tahoma"/>
                <a:cs typeface="Tahoma"/>
              </a:rPr>
              <a:t>input </a:t>
            </a:r>
            <a:r>
              <a:rPr dirty="0" sz="2800">
                <a:latin typeface="Tahoma"/>
                <a:cs typeface="Tahoma"/>
              </a:rPr>
              <a:t>pattern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into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one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 spc="-50">
                <a:latin typeface="Tahoma"/>
                <a:cs typeface="Tahoma"/>
              </a:rPr>
              <a:t>m </a:t>
            </a:r>
            <a:r>
              <a:rPr dirty="0" sz="2800" spc="-10">
                <a:latin typeface="Tahoma"/>
                <a:cs typeface="Tahoma"/>
              </a:rPr>
              <a:t>classes</a:t>
            </a:r>
            <a:endParaRPr sz="2800">
              <a:latin typeface="Tahoma"/>
              <a:cs typeface="Tahoma"/>
            </a:endParaRPr>
          </a:p>
          <a:p>
            <a:pPr lvl="1" marL="755650" marR="209550" indent="-285750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54166"/>
              <a:buChar char="■"/>
              <a:tabLst>
                <a:tab pos="755650" algn="l"/>
              </a:tabLst>
            </a:pPr>
            <a:r>
              <a:rPr dirty="0" sz="2400">
                <a:latin typeface="Tahoma"/>
                <a:cs typeface="Tahoma"/>
              </a:rPr>
              <a:t>idea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case: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only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one</a:t>
            </a:r>
            <a:r>
              <a:rPr dirty="0" sz="2400" spc="-20">
                <a:latin typeface="Tahoma"/>
                <a:cs typeface="Tahoma"/>
              </a:rPr>
              <a:t> node </a:t>
            </a:r>
            <a:r>
              <a:rPr dirty="0" sz="2400">
                <a:latin typeface="Tahoma"/>
                <a:cs typeface="Tahoma"/>
              </a:rPr>
              <a:t>gives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output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1,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all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the </a:t>
            </a:r>
            <a:r>
              <a:rPr dirty="0" sz="2400">
                <a:latin typeface="Tahoma"/>
                <a:cs typeface="Tahoma"/>
              </a:rPr>
              <a:t>others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are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 spc="-50">
                <a:latin typeface="Tahoma"/>
                <a:cs typeface="Tahoma"/>
              </a:rPr>
              <a:t>0</a:t>
            </a:r>
            <a:endParaRPr sz="2400">
              <a:latin typeface="Tahoma"/>
              <a:cs typeface="Tahoma"/>
            </a:endParaRPr>
          </a:p>
          <a:p>
            <a:pPr lvl="1" marL="755650" marR="33020" indent="-285750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54166"/>
              <a:buChar char="■"/>
              <a:tabLst>
                <a:tab pos="755650" algn="l"/>
              </a:tabLst>
            </a:pPr>
            <a:r>
              <a:rPr dirty="0" sz="2400">
                <a:latin typeface="Tahoma"/>
                <a:cs typeface="Tahoma"/>
              </a:rPr>
              <a:t>however,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usually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more </a:t>
            </a:r>
            <a:r>
              <a:rPr dirty="0" sz="2400">
                <a:latin typeface="Tahoma"/>
                <a:cs typeface="Tahoma"/>
              </a:rPr>
              <a:t>than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one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nodes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have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non- </a:t>
            </a:r>
            <a:r>
              <a:rPr dirty="0" sz="2400">
                <a:latin typeface="Tahoma"/>
                <a:cs typeface="Tahoma"/>
              </a:rPr>
              <a:t>zero</a:t>
            </a:r>
            <a:r>
              <a:rPr dirty="0" sz="2400" spc="-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output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94160" y="4546485"/>
            <a:ext cx="2719489" cy="1643723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7372463" y="5759297"/>
            <a:ext cx="534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95" b="1" i="1">
                <a:latin typeface="Courier New"/>
                <a:cs typeface="Courier New"/>
              </a:rPr>
              <a:t>c_m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408926" y="4570742"/>
            <a:ext cx="42037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75" b="1" i="1">
                <a:latin typeface="Courier New"/>
                <a:cs typeface="Courier New"/>
              </a:rPr>
              <a:t>c_</a:t>
            </a:r>
            <a:r>
              <a:rPr dirty="0" sz="1600" spc="-75" b="1" i="1">
                <a:latin typeface="Courier New"/>
                <a:cs typeface="Courier New"/>
              </a:rPr>
              <a:t>1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320093" y="4583722"/>
            <a:ext cx="42037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75" b="1" i="1">
                <a:latin typeface="Courier New"/>
                <a:cs typeface="Courier New"/>
              </a:rPr>
              <a:t>x_</a:t>
            </a:r>
            <a:r>
              <a:rPr dirty="0" sz="1600" spc="-75" b="1" i="1">
                <a:latin typeface="Courier New"/>
                <a:cs typeface="Courier New"/>
              </a:rPr>
              <a:t>1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104384" y="5764161"/>
            <a:ext cx="711200" cy="8178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40005">
              <a:lnSpc>
                <a:spcPct val="100000"/>
              </a:lnSpc>
              <a:spcBef>
                <a:spcPts val="105"/>
              </a:spcBef>
            </a:pPr>
            <a:r>
              <a:rPr dirty="0" sz="2000" spc="-25" b="1" i="1">
                <a:latin typeface="Courier New"/>
                <a:cs typeface="Courier New"/>
              </a:rPr>
              <a:t>x_n</a:t>
            </a:r>
            <a:endParaRPr sz="20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1670"/>
              </a:spcBef>
            </a:pPr>
            <a:r>
              <a:rPr dirty="0" sz="1800" spc="-10" b="1" i="1">
                <a:latin typeface="Courier New"/>
                <a:cs typeface="Courier New"/>
              </a:rPr>
              <a:t>INPUT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886346" y="6322529"/>
            <a:ext cx="171323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 i="1">
                <a:latin typeface="Courier New"/>
                <a:cs typeface="Courier New"/>
              </a:rPr>
              <a:t>CLASSIFICATION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4894579" y="4452353"/>
            <a:ext cx="3834129" cy="2291080"/>
          </a:xfrm>
          <a:custGeom>
            <a:avLst/>
            <a:gdLst/>
            <a:ahLst/>
            <a:cxnLst/>
            <a:rect l="l" t="t" r="r" b="b"/>
            <a:pathLst>
              <a:path w="3834129" h="2291079">
                <a:moveTo>
                  <a:pt x="3833634" y="0"/>
                </a:moveTo>
                <a:lnTo>
                  <a:pt x="0" y="0"/>
                </a:lnTo>
                <a:lnTo>
                  <a:pt x="0" y="2290762"/>
                </a:lnTo>
                <a:lnTo>
                  <a:pt x="3833634" y="2290762"/>
                </a:lnTo>
                <a:lnTo>
                  <a:pt x="3833634" y="2281237"/>
                </a:lnTo>
                <a:lnTo>
                  <a:pt x="19050" y="2281237"/>
                </a:lnTo>
                <a:lnTo>
                  <a:pt x="9525" y="2271712"/>
                </a:lnTo>
                <a:lnTo>
                  <a:pt x="19050" y="2271712"/>
                </a:lnTo>
                <a:lnTo>
                  <a:pt x="19050" y="19050"/>
                </a:lnTo>
                <a:lnTo>
                  <a:pt x="9525" y="19050"/>
                </a:lnTo>
                <a:lnTo>
                  <a:pt x="19050" y="9525"/>
                </a:lnTo>
                <a:lnTo>
                  <a:pt x="3833634" y="9525"/>
                </a:lnTo>
                <a:lnTo>
                  <a:pt x="3833634" y="0"/>
                </a:lnTo>
                <a:close/>
              </a:path>
              <a:path w="3834129" h="2291079">
                <a:moveTo>
                  <a:pt x="19050" y="2271712"/>
                </a:moveTo>
                <a:lnTo>
                  <a:pt x="9525" y="2271712"/>
                </a:lnTo>
                <a:lnTo>
                  <a:pt x="19050" y="2281237"/>
                </a:lnTo>
                <a:lnTo>
                  <a:pt x="19050" y="2271712"/>
                </a:lnTo>
                <a:close/>
              </a:path>
              <a:path w="3834129" h="2291079">
                <a:moveTo>
                  <a:pt x="3814584" y="2271712"/>
                </a:moveTo>
                <a:lnTo>
                  <a:pt x="19050" y="2271712"/>
                </a:lnTo>
                <a:lnTo>
                  <a:pt x="19050" y="2281237"/>
                </a:lnTo>
                <a:lnTo>
                  <a:pt x="3814584" y="2281237"/>
                </a:lnTo>
                <a:lnTo>
                  <a:pt x="3814584" y="2271712"/>
                </a:lnTo>
                <a:close/>
              </a:path>
              <a:path w="3834129" h="2291079">
                <a:moveTo>
                  <a:pt x="3814584" y="9525"/>
                </a:moveTo>
                <a:lnTo>
                  <a:pt x="3814584" y="2281237"/>
                </a:lnTo>
                <a:lnTo>
                  <a:pt x="3824109" y="2271712"/>
                </a:lnTo>
                <a:lnTo>
                  <a:pt x="3833634" y="2271712"/>
                </a:lnTo>
                <a:lnTo>
                  <a:pt x="3833634" y="19050"/>
                </a:lnTo>
                <a:lnTo>
                  <a:pt x="3824109" y="19050"/>
                </a:lnTo>
                <a:lnTo>
                  <a:pt x="3814584" y="9525"/>
                </a:lnTo>
                <a:close/>
              </a:path>
              <a:path w="3834129" h="2291079">
                <a:moveTo>
                  <a:pt x="3833634" y="2271712"/>
                </a:moveTo>
                <a:lnTo>
                  <a:pt x="3824109" y="2271712"/>
                </a:lnTo>
                <a:lnTo>
                  <a:pt x="3814584" y="2281237"/>
                </a:lnTo>
                <a:lnTo>
                  <a:pt x="3833634" y="2281237"/>
                </a:lnTo>
                <a:lnTo>
                  <a:pt x="3833634" y="2271712"/>
                </a:lnTo>
                <a:close/>
              </a:path>
              <a:path w="3834129" h="2291079">
                <a:moveTo>
                  <a:pt x="19050" y="9525"/>
                </a:moveTo>
                <a:lnTo>
                  <a:pt x="9525" y="19050"/>
                </a:lnTo>
                <a:lnTo>
                  <a:pt x="19050" y="19050"/>
                </a:lnTo>
                <a:lnTo>
                  <a:pt x="19050" y="9525"/>
                </a:lnTo>
                <a:close/>
              </a:path>
              <a:path w="3834129" h="2291079">
                <a:moveTo>
                  <a:pt x="3814584" y="9525"/>
                </a:moveTo>
                <a:lnTo>
                  <a:pt x="19050" y="9525"/>
                </a:lnTo>
                <a:lnTo>
                  <a:pt x="19050" y="19050"/>
                </a:lnTo>
                <a:lnTo>
                  <a:pt x="3814584" y="19050"/>
                </a:lnTo>
                <a:lnTo>
                  <a:pt x="3814584" y="9525"/>
                </a:lnTo>
                <a:close/>
              </a:path>
              <a:path w="3834129" h="2291079">
                <a:moveTo>
                  <a:pt x="3833634" y="9525"/>
                </a:moveTo>
                <a:lnTo>
                  <a:pt x="3814584" y="9525"/>
                </a:lnTo>
                <a:lnTo>
                  <a:pt x="3824109" y="19050"/>
                </a:lnTo>
                <a:lnTo>
                  <a:pt x="3833634" y="19050"/>
                </a:lnTo>
                <a:lnTo>
                  <a:pt x="3833634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4434713" y="1851659"/>
            <a:ext cx="4286250" cy="2585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0416"/>
              <a:buChar char="■"/>
              <a:tabLst>
                <a:tab pos="355600" algn="l"/>
              </a:tabLst>
            </a:pPr>
            <a:r>
              <a:rPr dirty="0" sz="2400">
                <a:latin typeface="Tahoma"/>
                <a:cs typeface="Tahoma"/>
              </a:rPr>
              <a:t>If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these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class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nodes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compete </a:t>
            </a:r>
            <a:r>
              <a:rPr dirty="0" sz="2400">
                <a:latin typeface="Tahoma"/>
                <a:cs typeface="Tahoma"/>
              </a:rPr>
              <a:t>with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each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 spc="-30">
                <a:latin typeface="Tahoma"/>
                <a:cs typeface="Tahoma"/>
              </a:rPr>
              <a:t>other,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maybe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only </a:t>
            </a:r>
            <a:r>
              <a:rPr dirty="0" sz="2400">
                <a:latin typeface="Tahoma"/>
                <a:cs typeface="Tahoma"/>
              </a:rPr>
              <a:t>one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will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win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eventually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and </a:t>
            </a:r>
            <a:r>
              <a:rPr dirty="0" sz="2400">
                <a:latin typeface="Tahoma"/>
                <a:cs typeface="Tahoma"/>
              </a:rPr>
              <a:t>all</a:t>
            </a:r>
            <a:r>
              <a:rPr dirty="0" sz="2400" spc="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others</a:t>
            </a:r>
            <a:r>
              <a:rPr dirty="0" sz="2400" spc="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lose</a:t>
            </a:r>
            <a:r>
              <a:rPr dirty="0" sz="2400" spc="10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(winner-</a:t>
            </a:r>
            <a:r>
              <a:rPr dirty="0" sz="2400" spc="-10">
                <a:latin typeface="Tahoma"/>
                <a:cs typeface="Tahoma"/>
              </a:rPr>
              <a:t>takes- </a:t>
            </a:r>
            <a:r>
              <a:rPr dirty="0" sz="2400">
                <a:latin typeface="Tahoma"/>
                <a:cs typeface="Tahoma"/>
              </a:rPr>
              <a:t>all).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winner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represents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computed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classification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 </a:t>
            </a:r>
            <a:r>
              <a:rPr dirty="0" sz="2400" spc="-20">
                <a:latin typeface="Tahoma"/>
                <a:cs typeface="Tahoma"/>
              </a:rPr>
              <a:t>input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02272" y="2092591"/>
            <a:ext cx="5114290" cy="4705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159385" indent="-342900">
              <a:lnSpc>
                <a:spcPct val="100000"/>
              </a:lnSpc>
              <a:spcBef>
                <a:spcPts val="105"/>
              </a:spcBef>
              <a:buClr>
                <a:srgbClr val="3333CC"/>
              </a:buClr>
              <a:buSzPct val="60000"/>
              <a:buChar char="■"/>
              <a:tabLst>
                <a:tab pos="355600" algn="l"/>
              </a:tabLst>
            </a:pPr>
            <a:r>
              <a:rPr dirty="0" sz="2000">
                <a:latin typeface="Tahoma"/>
                <a:cs typeface="Tahoma"/>
              </a:rPr>
              <a:t>Units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(active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or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inactive)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are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represented </a:t>
            </a:r>
            <a:r>
              <a:rPr dirty="0" sz="2000">
                <a:latin typeface="Tahoma"/>
                <a:cs typeface="Tahoma"/>
              </a:rPr>
              <a:t>in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diagram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as</a:t>
            </a:r>
            <a:r>
              <a:rPr dirty="0" sz="2000" spc="-20">
                <a:latin typeface="Tahoma"/>
                <a:cs typeface="Tahoma"/>
              </a:rPr>
              <a:t> dots</a:t>
            </a:r>
            <a:endParaRPr sz="2000">
              <a:latin typeface="Tahoma"/>
              <a:cs typeface="Tahoma"/>
            </a:endParaRPr>
          </a:p>
          <a:p>
            <a:pPr lvl="1" marL="755015" indent="-285115">
              <a:lnSpc>
                <a:spcPct val="100000"/>
              </a:lnSpc>
              <a:spcBef>
                <a:spcPts val="384"/>
              </a:spcBef>
              <a:buClr>
                <a:srgbClr val="FF0000"/>
              </a:buClr>
              <a:buSzPct val="53125"/>
              <a:buChar char="■"/>
              <a:tabLst>
                <a:tab pos="755015" algn="l"/>
              </a:tabLst>
            </a:pPr>
            <a:r>
              <a:rPr dirty="0" sz="1600">
                <a:latin typeface="Tahoma"/>
                <a:cs typeface="Tahoma"/>
              </a:rPr>
              <a:t>active</a:t>
            </a:r>
            <a:r>
              <a:rPr dirty="0" sz="1600" spc="-2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units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are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represented</a:t>
            </a:r>
            <a:r>
              <a:rPr dirty="0" sz="1600" spc="-2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by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filled</a:t>
            </a:r>
            <a:r>
              <a:rPr dirty="0" sz="1600" spc="-20">
                <a:latin typeface="Tahoma"/>
                <a:cs typeface="Tahoma"/>
              </a:rPr>
              <a:t> dots</a:t>
            </a:r>
            <a:endParaRPr sz="1600">
              <a:latin typeface="Tahoma"/>
              <a:cs typeface="Tahoma"/>
            </a:endParaRPr>
          </a:p>
          <a:p>
            <a:pPr lvl="1" marL="755015" indent="-285115">
              <a:lnSpc>
                <a:spcPct val="100000"/>
              </a:lnSpc>
              <a:spcBef>
                <a:spcPts val="380"/>
              </a:spcBef>
              <a:buClr>
                <a:srgbClr val="FF0000"/>
              </a:buClr>
              <a:buSzPct val="53125"/>
              <a:buChar char="■"/>
              <a:tabLst>
                <a:tab pos="755015" algn="l"/>
              </a:tabLst>
            </a:pPr>
            <a:r>
              <a:rPr dirty="0" sz="1600">
                <a:latin typeface="Tahoma"/>
                <a:cs typeface="Tahoma"/>
              </a:rPr>
              <a:t>inactive</a:t>
            </a:r>
            <a:r>
              <a:rPr dirty="0" sz="1600" spc="-2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ones</a:t>
            </a:r>
            <a:r>
              <a:rPr dirty="0" sz="1600" spc="-2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by</a:t>
            </a:r>
            <a:r>
              <a:rPr dirty="0" sz="1600" spc="-2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open</a:t>
            </a:r>
            <a:r>
              <a:rPr dirty="0" sz="1600" spc="-25">
                <a:latin typeface="Tahoma"/>
                <a:cs typeface="Tahoma"/>
              </a:rPr>
              <a:t> </a:t>
            </a:r>
            <a:r>
              <a:rPr dirty="0" sz="1600" spc="-20">
                <a:latin typeface="Tahoma"/>
                <a:cs typeface="Tahoma"/>
              </a:rPr>
              <a:t>dots</a:t>
            </a:r>
            <a:endParaRPr sz="16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475"/>
              </a:spcBef>
              <a:buClr>
                <a:srgbClr val="3333CC"/>
              </a:buClr>
              <a:buSzPct val="60000"/>
              <a:buChar char="■"/>
              <a:tabLst>
                <a:tab pos="354965" algn="l"/>
              </a:tabLst>
            </a:pPr>
            <a:r>
              <a:rPr dirty="0" sz="2000">
                <a:latin typeface="Tahoma"/>
                <a:cs typeface="Tahoma"/>
              </a:rPr>
              <a:t>A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unit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in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given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layer</a:t>
            </a:r>
            <a:r>
              <a:rPr dirty="0" sz="2000" spc="-25">
                <a:latin typeface="Tahoma"/>
                <a:cs typeface="Tahoma"/>
              </a:rPr>
              <a:t> can</a:t>
            </a:r>
            <a:endParaRPr sz="2000">
              <a:latin typeface="Tahoma"/>
              <a:cs typeface="Tahoma"/>
            </a:endParaRPr>
          </a:p>
          <a:p>
            <a:pPr lvl="1" marL="755650" marR="254000" indent="-285750">
              <a:lnSpc>
                <a:spcPct val="100000"/>
              </a:lnSpc>
              <a:spcBef>
                <a:spcPts val="384"/>
              </a:spcBef>
              <a:buClr>
                <a:srgbClr val="FF0000"/>
              </a:buClr>
              <a:buSzPct val="53125"/>
              <a:buChar char="■"/>
              <a:tabLst>
                <a:tab pos="755650" algn="l"/>
              </a:tabLst>
            </a:pPr>
            <a:r>
              <a:rPr dirty="0" sz="1600">
                <a:latin typeface="Tahoma"/>
                <a:cs typeface="Tahoma"/>
              </a:rPr>
              <a:t>receive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inputs</a:t>
            </a:r>
            <a:r>
              <a:rPr dirty="0" sz="1600" spc="-1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from</a:t>
            </a:r>
            <a:r>
              <a:rPr dirty="0" sz="1600" spc="-1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all</a:t>
            </a:r>
            <a:r>
              <a:rPr dirty="0" sz="1600" spc="-1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of</a:t>
            </a:r>
            <a:r>
              <a:rPr dirty="0" sz="1600" spc="-1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the</a:t>
            </a:r>
            <a:r>
              <a:rPr dirty="0" sz="1600" spc="-1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units</a:t>
            </a:r>
            <a:r>
              <a:rPr dirty="0" sz="1600" spc="-1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in</a:t>
            </a:r>
            <a:r>
              <a:rPr dirty="0" sz="1600" spc="-1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the</a:t>
            </a:r>
            <a:r>
              <a:rPr dirty="0" sz="1600" spc="-15">
                <a:latin typeface="Tahoma"/>
                <a:cs typeface="Tahoma"/>
              </a:rPr>
              <a:t> </a:t>
            </a:r>
            <a:r>
              <a:rPr dirty="0" sz="1600" spc="-20">
                <a:latin typeface="Tahoma"/>
                <a:cs typeface="Tahoma"/>
              </a:rPr>
              <a:t>next </a:t>
            </a:r>
            <a:r>
              <a:rPr dirty="0" sz="1600">
                <a:latin typeface="Tahoma"/>
                <a:cs typeface="Tahoma"/>
              </a:rPr>
              <a:t>lower</a:t>
            </a:r>
            <a:r>
              <a:rPr dirty="0" sz="1600" spc="-35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layer</a:t>
            </a:r>
            <a:endParaRPr sz="1600">
              <a:latin typeface="Tahoma"/>
              <a:cs typeface="Tahoma"/>
            </a:endParaRPr>
          </a:p>
          <a:p>
            <a:pPr lvl="1" marL="755650" marR="375285" indent="-285750">
              <a:lnSpc>
                <a:spcPct val="100000"/>
              </a:lnSpc>
              <a:spcBef>
                <a:spcPts val="380"/>
              </a:spcBef>
              <a:buClr>
                <a:srgbClr val="FF0000"/>
              </a:buClr>
              <a:buSzPct val="53125"/>
              <a:buChar char="■"/>
              <a:tabLst>
                <a:tab pos="755650" algn="l"/>
              </a:tabLst>
            </a:pPr>
            <a:r>
              <a:rPr dirty="0" sz="1600">
                <a:latin typeface="Tahoma"/>
                <a:cs typeface="Tahoma"/>
              </a:rPr>
              <a:t>project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outputs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to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all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of</a:t>
            </a:r>
            <a:r>
              <a:rPr dirty="0" sz="1600" spc="-1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the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units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in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the</a:t>
            </a:r>
            <a:r>
              <a:rPr dirty="0" sz="1600" spc="-20">
                <a:latin typeface="Tahoma"/>
                <a:cs typeface="Tahoma"/>
              </a:rPr>
              <a:t> next </a:t>
            </a:r>
            <a:r>
              <a:rPr dirty="0" sz="1600">
                <a:latin typeface="Tahoma"/>
                <a:cs typeface="Tahoma"/>
              </a:rPr>
              <a:t>higher</a:t>
            </a:r>
            <a:r>
              <a:rPr dirty="0" sz="1600" spc="-15">
                <a:latin typeface="Tahoma"/>
                <a:cs typeface="Tahoma"/>
              </a:rPr>
              <a:t> </a:t>
            </a:r>
            <a:r>
              <a:rPr dirty="0" sz="1600" spc="-20">
                <a:latin typeface="Tahoma"/>
                <a:cs typeface="Tahoma"/>
              </a:rPr>
              <a:t>layer</a:t>
            </a:r>
            <a:endParaRPr sz="16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475"/>
              </a:spcBef>
              <a:buClr>
                <a:srgbClr val="3333CC"/>
              </a:buClr>
              <a:buSzPct val="60000"/>
              <a:buChar char="■"/>
              <a:tabLst>
                <a:tab pos="354965" algn="l"/>
              </a:tabLst>
            </a:pPr>
            <a:r>
              <a:rPr dirty="0" sz="2000">
                <a:solidFill>
                  <a:srgbClr val="FF0000"/>
                </a:solidFill>
                <a:latin typeface="Tahoma"/>
                <a:cs typeface="Tahoma"/>
              </a:rPr>
              <a:t>Connections</a:t>
            </a:r>
            <a:r>
              <a:rPr dirty="0" sz="2000" spc="-4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0000"/>
                </a:solidFill>
                <a:latin typeface="Tahoma"/>
                <a:cs typeface="Tahoma"/>
              </a:rPr>
              <a:t>between</a:t>
            </a:r>
            <a:r>
              <a:rPr dirty="0" sz="2000" spc="-4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0000"/>
                </a:solidFill>
                <a:latin typeface="Tahoma"/>
                <a:cs typeface="Tahoma"/>
              </a:rPr>
              <a:t>layers</a:t>
            </a:r>
            <a:r>
              <a:rPr dirty="0" sz="2000" spc="-4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0000"/>
                </a:solidFill>
                <a:latin typeface="Tahoma"/>
                <a:cs typeface="Tahoma"/>
              </a:rPr>
              <a:t>are</a:t>
            </a:r>
            <a:r>
              <a:rPr dirty="0" sz="2000" spc="-4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0000"/>
                </a:solidFill>
                <a:latin typeface="Tahoma"/>
                <a:cs typeface="Tahoma"/>
              </a:rPr>
              <a:t>excitatory</a:t>
            </a:r>
            <a:endParaRPr sz="20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Clr>
                <a:srgbClr val="3333CC"/>
              </a:buClr>
              <a:buSzPct val="60000"/>
              <a:buChar char="■"/>
              <a:tabLst>
                <a:tab pos="354965" algn="l"/>
              </a:tabLst>
            </a:pPr>
            <a:r>
              <a:rPr dirty="0" sz="2000">
                <a:solidFill>
                  <a:srgbClr val="FF0000"/>
                </a:solidFill>
                <a:latin typeface="Tahoma"/>
                <a:cs typeface="Tahoma"/>
              </a:rPr>
              <a:t>Connections</a:t>
            </a:r>
            <a:r>
              <a:rPr dirty="0" sz="2000" spc="-4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0000"/>
                </a:solidFill>
                <a:latin typeface="Tahoma"/>
                <a:cs typeface="Tahoma"/>
              </a:rPr>
              <a:t>within</a:t>
            </a:r>
            <a:r>
              <a:rPr dirty="0" sz="2000" spc="-4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0000"/>
                </a:solidFill>
                <a:latin typeface="Tahoma"/>
                <a:cs typeface="Tahoma"/>
              </a:rPr>
              <a:t>layers</a:t>
            </a:r>
            <a:r>
              <a:rPr dirty="0" sz="2000" spc="-4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0000"/>
                </a:solidFill>
                <a:latin typeface="Tahoma"/>
                <a:cs typeface="Tahoma"/>
              </a:rPr>
              <a:t>are</a:t>
            </a:r>
            <a:r>
              <a:rPr dirty="0" sz="2000" spc="-5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0000"/>
                </a:solidFill>
                <a:latin typeface="Tahoma"/>
                <a:cs typeface="Tahoma"/>
              </a:rPr>
              <a:t>inhibitory</a:t>
            </a:r>
            <a:endParaRPr sz="2000">
              <a:latin typeface="Tahoma"/>
              <a:cs typeface="Tahoma"/>
            </a:endParaRPr>
          </a:p>
          <a:p>
            <a:pPr lvl="1" marL="755650" marR="704215" indent="-285750">
              <a:lnSpc>
                <a:spcPct val="100000"/>
              </a:lnSpc>
              <a:spcBef>
                <a:spcPts val="384"/>
              </a:spcBef>
              <a:buClr>
                <a:srgbClr val="FF0000"/>
              </a:buClr>
              <a:buSzPct val="53125"/>
              <a:buChar char="■"/>
              <a:tabLst>
                <a:tab pos="755650" algn="l"/>
              </a:tabLst>
            </a:pPr>
            <a:r>
              <a:rPr dirty="0" sz="1600">
                <a:latin typeface="Tahoma"/>
                <a:cs typeface="Tahoma"/>
              </a:rPr>
              <a:t>each</a:t>
            </a:r>
            <a:r>
              <a:rPr dirty="0" sz="1600" spc="-2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layer</a:t>
            </a:r>
            <a:r>
              <a:rPr dirty="0" sz="1600" spc="-2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consists</a:t>
            </a:r>
            <a:r>
              <a:rPr dirty="0" sz="1600" spc="-2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of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a</a:t>
            </a:r>
            <a:r>
              <a:rPr dirty="0" sz="1600" spc="-2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set</a:t>
            </a:r>
            <a:r>
              <a:rPr dirty="0" sz="1600" spc="-2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of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clusters</a:t>
            </a:r>
            <a:r>
              <a:rPr dirty="0" sz="1600" spc="-25">
                <a:latin typeface="Tahoma"/>
                <a:cs typeface="Tahoma"/>
              </a:rPr>
              <a:t> of </a:t>
            </a:r>
            <a:r>
              <a:rPr dirty="0" sz="1600">
                <a:latin typeface="Tahoma"/>
                <a:cs typeface="Tahoma"/>
              </a:rPr>
              <a:t>mutually</a:t>
            </a:r>
            <a:r>
              <a:rPr dirty="0" sz="1600" spc="-4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inhibitory</a:t>
            </a:r>
            <a:r>
              <a:rPr dirty="0" sz="1600" spc="-40">
                <a:latin typeface="Tahoma"/>
                <a:cs typeface="Tahoma"/>
              </a:rPr>
              <a:t> </a:t>
            </a:r>
            <a:r>
              <a:rPr dirty="0" sz="1600" spc="-20">
                <a:latin typeface="Tahoma"/>
                <a:cs typeface="Tahoma"/>
              </a:rPr>
              <a:t>units</a:t>
            </a:r>
            <a:endParaRPr sz="1600">
              <a:latin typeface="Tahoma"/>
              <a:cs typeface="Tahoma"/>
            </a:endParaRPr>
          </a:p>
          <a:p>
            <a:pPr lvl="1" marL="755650" marR="161290" indent="-285750">
              <a:lnSpc>
                <a:spcPct val="100000"/>
              </a:lnSpc>
              <a:spcBef>
                <a:spcPts val="380"/>
              </a:spcBef>
              <a:buClr>
                <a:srgbClr val="FF0000"/>
              </a:buClr>
              <a:buSzPct val="53125"/>
              <a:buChar char="■"/>
              <a:tabLst>
                <a:tab pos="755650" algn="l"/>
              </a:tabLst>
            </a:pPr>
            <a:r>
              <a:rPr dirty="0" sz="1600">
                <a:latin typeface="Tahoma"/>
                <a:cs typeface="Tahoma"/>
              </a:rPr>
              <a:t>the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units</a:t>
            </a:r>
            <a:r>
              <a:rPr dirty="0" sz="1600" spc="-1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within</a:t>
            </a:r>
            <a:r>
              <a:rPr dirty="0" sz="1600" spc="-1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a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cluster</a:t>
            </a:r>
            <a:r>
              <a:rPr dirty="0" sz="1600" spc="-1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inhibit</a:t>
            </a:r>
            <a:r>
              <a:rPr dirty="0" sz="1600" spc="-1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one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another</a:t>
            </a:r>
            <a:r>
              <a:rPr dirty="0" sz="1600" spc="-15">
                <a:latin typeface="Tahoma"/>
                <a:cs typeface="Tahoma"/>
              </a:rPr>
              <a:t> </a:t>
            </a:r>
            <a:r>
              <a:rPr dirty="0" sz="1600" spc="-25">
                <a:latin typeface="Tahoma"/>
                <a:cs typeface="Tahoma"/>
              </a:rPr>
              <a:t>in </a:t>
            </a:r>
            <a:r>
              <a:rPr dirty="0" sz="1600">
                <a:latin typeface="Tahoma"/>
                <a:cs typeface="Tahoma"/>
              </a:rPr>
              <a:t>such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a</a:t>
            </a:r>
            <a:r>
              <a:rPr dirty="0" sz="1600" spc="-1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way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that</a:t>
            </a:r>
            <a:r>
              <a:rPr dirty="0" sz="1600" spc="-1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only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one</a:t>
            </a:r>
            <a:r>
              <a:rPr dirty="0" sz="1600" spc="-1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unit</a:t>
            </a:r>
            <a:r>
              <a:rPr dirty="0" sz="1600" spc="-1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per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cluster</a:t>
            </a:r>
            <a:r>
              <a:rPr dirty="0" sz="1600" spc="-15">
                <a:latin typeface="Tahoma"/>
                <a:cs typeface="Tahoma"/>
              </a:rPr>
              <a:t> </a:t>
            </a:r>
            <a:r>
              <a:rPr dirty="0" sz="1600" spc="-25">
                <a:latin typeface="Tahoma"/>
                <a:cs typeface="Tahoma"/>
              </a:rPr>
              <a:t>may </a:t>
            </a:r>
            <a:r>
              <a:rPr dirty="0" sz="1600">
                <a:latin typeface="Tahoma"/>
                <a:cs typeface="Tahoma"/>
              </a:rPr>
              <a:t>be</a:t>
            </a:r>
            <a:r>
              <a:rPr dirty="0" sz="1600" spc="-10">
                <a:latin typeface="Tahoma"/>
                <a:cs typeface="Tahoma"/>
              </a:rPr>
              <a:t> active</a:t>
            </a:r>
            <a:endParaRPr sz="1600">
              <a:latin typeface="Tahoma"/>
              <a:cs typeface="Tahom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5271" y="1685544"/>
            <a:ext cx="3396996" cy="4468368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865507" y="6208699"/>
            <a:ext cx="32010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77850" marR="30480" indent="-53975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ourier New"/>
                <a:cs typeface="Courier New"/>
              </a:rPr>
              <a:t>The</a:t>
            </a:r>
            <a:r>
              <a:rPr dirty="0" sz="1800" spc="-570">
                <a:latin typeface="Courier New"/>
                <a:cs typeface="Courier New"/>
              </a:rPr>
              <a:t> </a:t>
            </a:r>
            <a:r>
              <a:rPr dirty="0" sz="1800" spc="-300">
                <a:latin typeface="Courier New"/>
                <a:cs typeface="Courier New"/>
              </a:rPr>
              <a:t>architecture</a:t>
            </a:r>
            <a:r>
              <a:rPr dirty="0" sz="1800" spc="-570">
                <a:latin typeface="Courier New"/>
                <a:cs typeface="Courier New"/>
              </a:rPr>
              <a:t> </a:t>
            </a:r>
            <a:r>
              <a:rPr dirty="0" sz="1800" spc="-335">
                <a:latin typeface="Courier New"/>
                <a:cs typeface="Courier New"/>
              </a:rPr>
              <a:t>of</a:t>
            </a:r>
            <a:r>
              <a:rPr dirty="0" sz="1800" spc="-570">
                <a:latin typeface="Courier New"/>
                <a:cs typeface="Courier New"/>
              </a:rPr>
              <a:t> </a:t>
            </a:r>
            <a:r>
              <a:rPr dirty="0" sz="1800" spc="-265">
                <a:latin typeface="Courier New"/>
                <a:cs typeface="Courier New"/>
              </a:rPr>
              <a:t>competitive </a:t>
            </a:r>
            <a:r>
              <a:rPr dirty="0" sz="1800" spc="-280">
                <a:latin typeface="Courier New"/>
                <a:cs typeface="Courier New"/>
              </a:rPr>
              <a:t>learning</a:t>
            </a:r>
            <a:r>
              <a:rPr dirty="0" sz="1800" spc="-580">
                <a:latin typeface="Courier New"/>
                <a:cs typeface="Courier New"/>
              </a:rPr>
              <a:t> </a:t>
            </a:r>
            <a:r>
              <a:rPr dirty="0" sz="1800" spc="-25">
                <a:latin typeface="Courier New"/>
                <a:cs typeface="Courier New"/>
              </a:rPr>
              <a:t>mechanism</a:t>
            </a:r>
            <a:r>
              <a:rPr dirty="0" baseline="7936" sz="2100" spc="-37">
                <a:latin typeface="Tahoma"/>
                <a:cs typeface="Tahoma"/>
              </a:rPr>
              <a:t>29</a:t>
            </a:r>
            <a:endParaRPr baseline="7936" sz="21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70510" marR="508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800000"/>
                </a:solidFill>
              </a:rPr>
              <a:t>Unsupervised</a:t>
            </a:r>
            <a:r>
              <a:rPr dirty="0" sz="3600" spc="-95">
                <a:solidFill>
                  <a:srgbClr val="800000"/>
                </a:solidFill>
              </a:rPr>
              <a:t> </a:t>
            </a:r>
            <a:r>
              <a:rPr dirty="0" sz="3600" spc="-10">
                <a:solidFill>
                  <a:srgbClr val="800000"/>
                </a:solidFill>
              </a:rPr>
              <a:t>Competitive Learning</a:t>
            </a:r>
            <a:endParaRPr sz="36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3452" rIns="0" bIns="0" rtlCol="0" vert="horz">
            <a:spAutoFit/>
          </a:bodyPr>
          <a:lstStyle/>
          <a:p>
            <a:pPr marL="240029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Winner-</a:t>
            </a:r>
            <a:r>
              <a:rPr dirty="0" spc="-20"/>
              <a:t>takes-</a:t>
            </a:r>
            <a:r>
              <a:rPr dirty="0"/>
              <a:t>all</a:t>
            </a:r>
            <a:r>
              <a:rPr dirty="0" spc="15"/>
              <a:t> </a:t>
            </a:r>
            <a:r>
              <a:rPr dirty="0" spc="-10"/>
              <a:t>(WTA)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15454" y="2142058"/>
            <a:ext cx="824357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928"/>
              <a:buChar char="■"/>
              <a:tabLst>
                <a:tab pos="354965" algn="l"/>
              </a:tabLst>
            </a:pPr>
            <a:r>
              <a:rPr dirty="0" sz="2800">
                <a:latin typeface="Tahoma"/>
                <a:cs typeface="Tahoma"/>
              </a:rPr>
              <a:t>Among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all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competing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nodes,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only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one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will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win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and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58354" y="2568778"/>
            <a:ext cx="282067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Tahoma"/>
                <a:cs typeface="Tahoma"/>
              </a:rPr>
              <a:t>all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others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will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 spc="-20">
                <a:latin typeface="Tahoma"/>
                <a:cs typeface="Tahoma"/>
              </a:rPr>
              <a:t>lose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1759026" y="3786352"/>
            <a:ext cx="4733925" cy="2199640"/>
            <a:chOff x="1759026" y="3786352"/>
            <a:chExt cx="4733925" cy="2199640"/>
          </a:xfrm>
        </p:grpSpPr>
        <p:sp>
          <p:nvSpPr>
            <p:cNvPr id="6" name="object 6" descr=""/>
            <p:cNvSpPr/>
            <p:nvPr/>
          </p:nvSpPr>
          <p:spPr>
            <a:xfrm>
              <a:off x="5192268" y="3790581"/>
              <a:ext cx="610235" cy="609600"/>
            </a:xfrm>
            <a:custGeom>
              <a:avLst/>
              <a:gdLst/>
              <a:ahLst/>
              <a:cxnLst/>
              <a:rect l="l" t="t" r="r" b="b"/>
              <a:pathLst>
                <a:path w="610235" h="609600">
                  <a:moveTo>
                    <a:pt x="305219" y="0"/>
                  </a:moveTo>
                  <a:lnTo>
                    <a:pt x="255778" y="3988"/>
                  </a:lnTo>
                  <a:lnTo>
                    <a:pt x="208874" y="15535"/>
                  </a:lnTo>
                  <a:lnTo>
                    <a:pt x="165133" y="34010"/>
                  </a:lnTo>
                  <a:lnTo>
                    <a:pt x="125180" y="58782"/>
                  </a:lnTo>
                  <a:lnTo>
                    <a:pt x="89639" y="89223"/>
                  </a:lnTo>
                  <a:lnTo>
                    <a:pt x="59136" y="124703"/>
                  </a:lnTo>
                  <a:lnTo>
                    <a:pt x="34296" y="164590"/>
                  </a:lnTo>
                  <a:lnTo>
                    <a:pt x="15743" y="208257"/>
                  </a:lnTo>
                  <a:lnTo>
                    <a:pt x="4102" y="255072"/>
                  </a:lnTo>
                  <a:lnTo>
                    <a:pt x="0" y="304406"/>
                  </a:lnTo>
                  <a:lnTo>
                    <a:pt x="4102" y="353953"/>
                  </a:lnTo>
                  <a:lnTo>
                    <a:pt x="15743" y="400939"/>
                  </a:lnTo>
                  <a:lnTo>
                    <a:pt x="34296" y="444739"/>
                  </a:lnTo>
                  <a:lnTo>
                    <a:pt x="59136" y="484726"/>
                  </a:lnTo>
                  <a:lnTo>
                    <a:pt x="89639" y="520277"/>
                  </a:lnTo>
                  <a:lnTo>
                    <a:pt x="125180" y="550766"/>
                  </a:lnTo>
                  <a:lnTo>
                    <a:pt x="165133" y="575568"/>
                  </a:lnTo>
                  <a:lnTo>
                    <a:pt x="208874" y="594058"/>
                  </a:lnTo>
                  <a:lnTo>
                    <a:pt x="255778" y="605610"/>
                  </a:lnTo>
                  <a:lnTo>
                    <a:pt x="305219" y="609600"/>
                  </a:lnTo>
                  <a:lnTo>
                    <a:pt x="354659" y="605610"/>
                  </a:lnTo>
                  <a:lnTo>
                    <a:pt x="401560" y="594061"/>
                  </a:lnTo>
                  <a:lnTo>
                    <a:pt x="445293" y="575579"/>
                  </a:lnTo>
                  <a:lnTo>
                    <a:pt x="485230" y="550791"/>
                  </a:lnTo>
                  <a:lnTo>
                    <a:pt x="520746" y="520326"/>
                  </a:lnTo>
                  <a:lnTo>
                    <a:pt x="551210" y="484811"/>
                  </a:lnTo>
                  <a:lnTo>
                    <a:pt x="575998" y="444874"/>
                  </a:lnTo>
                  <a:lnTo>
                    <a:pt x="594480" y="401141"/>
                  </a:lnTo>
                  <a:lnTo>
                    <a:pt x="606029" y="354240"/>
                  </a:lnTo>
                  <a:lnTo>
                    <a:pt x="610019" y="304800"/>
                  </a:lnTo>
                  <a:lnTo>
                    <a:pt x="606029" y="255359"/>
                  </a:lnTo>
                  <a:lnTo>
                    <a:pt x="594480" y="208458"/>
                  </a:lnTo>
                  <a:lnTo>
                    <a:pt x="575998" y="164725"/>
                  </a:lnTo>
                  <a:lnTo>
                    <a:pt x="551210" y="124788"/>
                  </a:lnTo>
                  <a:lnTo>
                    <a:pt x="520746" y="89273"/>
                  </a:lnTo>
                  <a:lnTo>
                    <a:pt x="485230" y="58808"/>
                  </a:lnTo>
                  <a:lnTo>
                    <a:pt x="445293" y="34020"/>
                  </a:lnTo>
                  <a:lnTo>
                    <a:pt x="401560" y="15538"/>
                  </a:lnTo>
                  <a:lnTo>
                    <a:pt x="354659" y="3989"/>
                  </a:lnTo>
                  <a:lnTo>
                    <a:pt x="305219" y="0"/>
                  </a:lnTo>
                  <a:close/>
                </a:path>
              </a:pathLst>
            </a:custGeom>
            <a:solidFill>
              <a:srgbClr val="00E4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188026" y="3786352"/>
              <a:ext cx="619125" cy="618490"/>
            </a:xfrm>
            <a:custGeom>
              <a:avLst/>
              <a:gdLst/>
              <a:ahLst/>
              <a:cxnLst/>
              <a:rect l="l" t="t" r="r" b="b"/>
              <a:pathLst>
                <a:path w="619125" h="618489">
                  <a:moveTo>
                    <a:pt x="341172" y="617220"/>
                  </a:moveTo>
                  <a:lnTo>
                    <a:pt x="277876" y="617220"/>
                  </a:lnTo>
                  <a:lnTo>
                    <a:pt x="285711" y="618490"/>
                  </a:lnTo>
                  <a:lnTo>
                    <a:pt x="333336" y="618490"/>
                  </a:lnTo>
                  <a:lnTo>
                    <a:pt x="341172" y="617220"/>
                  </a:lnTo>
                  <a:close/>
                </a:path>
                <a:path w="619125" h="618489">
                  <a:moveTo>
                    <a:pt x="341045" y="1270"/>
                  </a:moveTo>
                  <a:lnTo>
                    <a:pt x="277761" y="1270"/>
                  </a:lnTo>
                  <a:lnTo>
                    <a:pt x="239496" y="7620"/>
                  </a:lnTo>
                  <a:lnTo>
                    <a:pt x="232041" y="10160"/>
                  </a:lnTo>
                  <a:lnTo>
                    <a:pt x="224663" y="11430"/>
                  </a:lnTo>
                  <a:lnTo>
                    <a:pt x="217347" y="13970"/>
                  </a:lnTo>
                  <a:lnTo>
                    <a:pt x="188912" y="24130"/>
                  </a:lnTo>
                  <a:lnTo>
                    <a:pt x="182016" y="27940"/>
                  </a:lnTo>
                  <a:lnTo>
                    <a:pt x="175196" y="30480"/>
                  </a:lnTo>
                  <a:lnTo>
                    <a:pt x="161848" y="38100"/>
                  </a:lnTo>
                  <a:lnTo>
                    <a:pt x="155321" y="40640"/>
                  </a:lnTo>
                  <a:lnTo>
                    <a:pt x="142557" y="48260"/>
                  </a:lnTo>
                  <a:lnTo>
                    <a:pt x="136334" y="53340"/>
                  </a:lnTo>
                  <a:lnTo>
                    <a:pt x="130213" y="57150"/>
                  </a:lnTo>
                  <a:lnTo>
                    <a:pt x="124193" y="62230"/>
                  </a:lnTo>
                  <a:lnTo>
                    <a:pt x="118300" y="66040"/>
                  </a:lnTo>
                  <a:lnTo>
                    <a:pt x="112509" y="71120"/>
                  </a:lnTo>
                  <a:lnTo>
                    <a:pt x="106832" y="76200"/>
                  </a:lnTo>
                  <a:lnTo>
                    <a:pt x="101282" y="80010"/>
                  </a:lnTo>
                  <a:lnTo>
                    <a:pt x="95846" y="85090"/>
                  </a:lnTo>
                  <a:lnTo>
                    <a:pt x="90525" y="91440"/>
                  </a:lnTo>
                  <a:lnTo>
                    <a:pt x="85344" y="96520"/>
                  </a:lnTo>
                  <a:lnTo>
                    <a:pt x="80276" y="101600"/>
                  </a:lnTo>
                  <a:lnTo>
                    <a:pt x="75349" y="106680"/>
                  </a:lnTo>
                  <a:lnTo>
                    <a:pt x="70548" y="113030"/>
                  </a:lnTo>
                  <a:lnTo>
                    <a:pt x="65887" y="118110"/>
                  </a:lnTo>
                  <a:lnTo>
                    <a:pt x="61366" y="124460"/>
                  </a:lnTo>
                  <a:lnTo>
                    <a:pt x="56984" y="130810"/>
                  </a:lnTo>
                  <a:lnTo>
                    <a:pt x="52743" y="137160"/>
                  </a:lnTo>
                  <a:lnTo>
                    <a:pt x="48641" y="142240"/>
                  </a:lnTo>
                  <a:lnTo>
                    <a:pt x="44691" y="148590"/>
                  </a:lnTo>
                  <a:lnTo>
                    <a:pt x="40881" y="156210"/>
                  </a:lnTo>
                  <a:lnTo>
                    <a:pt x="37236" y="162560"/>
                  </a:lnTo>
                  <a:lnTo>
                    <a:pt x="33743" y="168910"/>
                  </a:lnTo>
                  <a:lnTo>
                    <a:pt x="30403" y="175260"/>
                  </a:lnTo>
                  <a:lnTo>
                    <a:pt x="27228" y="182880"/>
                  </a:lnTo>
                  <a:lnTo>
                    <a:pt x="24206" y="189230"/>
                  </a:lnTo>
                  <a:lnTo>
                    <a:pt x="21348" y="195580"/>
                  </a:lnTo>
                  <a:lnTo>
                    <a:pt x="18669" y="203200"/>
                  </a:lnTo>
                  <a:lnTo>
                    <a:pt x="16141" y="210820"/>
                  </a:lnTo>
                  <a:lnTo>
                    <a:pt x="13804" y="217170"/>
                  </a:lnTo>
                  <a:lnTo>
                    <a:pt x="4724" y="255270"/>
                  </a:lnTo>
                  <a:lnTo>
                    <a:pt x="304" y="293370"/>
                  </a:lnTo>
                  <a:lnTo>
                    <a:pt x="0" y="317500"/>
                  </a:lnTo>
                  <a:lnTo>
                    <a:pt x="304" y="325120"/>
                  </a:lnTo>
                  <a:lnTo>
                    <a:pt x="4749" y="364490"/>
                  </a:lnTo>
                  <a:lnTo>
                    <a:pt x="13830" y="401320"/>
                  </a:lnTo>
                  <a:lnTo>
                    <a:pt x="16179" y="408940"/>
                  </a:lnTo>
                  <a:lnTo>
                    <a:pt x="18707" y="416560"/>
                  </a:lnTo>
                  <a:lnTo>
                    <a:pt x="21399" y="422910"/>
                  </a:lnTo>
                  <a:lnTo>
                    <a:pt x="24257" y="430530"/>
                  </a:lnTo>
                  <a:lnTo>
                    <a:pt x="27266" y="436880"/>
                  </a:lnTo>
                  <a:lnTo>
                    <a:pt x="30454" y="444500"/>
                  </a:lnTo>
                  <a:lnTo>
                    <a:pt x="33794" y="450850"/>
                  </a:lnTo>
                  <a:lnTo>
                    <a:pt x="57048" y="488950"/>
                  </a:lnTo>
                  <a:lnTo>
                    <a:pt x="65963" y="500380"/>
                  </a:lnTo>
                  <a:lnTo>
                    <a:pt x="70624" y="506730"/>
                  </a:lnTo>
                  <a:lnTo>
                    <a:pt x="75425" y="511810"/>
                  </a:lnTo>
                  <a:lnTo>
                    <a:pt x="80352" y="518160"/>
                  </a:lnTo>
                  <a:lnTo>
                    <a:pt x="85420" y="523240"/>
                  </a:lnTo>
                  <a:lnTo>
                    <a:pt x="118389" y="553720"/>
                  </a:lnTo>
                  <a:lnTo>
                    <a:pt x="124294" y="557530"/>
                  </a:lnTo>
                  <a:lnTo>
                    <a:pt x="130302" y="562610"/>
                  </a:lnTo>
                  <a:lnTo>
                    <a:pt x="175298" y="589280"/>
                  </a:lnTo>
                  <a:lnTo>
                    <a:pt x="189014" y="594360"/>
                  </a:lnTo>
                  <a:lnTo>
                    <a:pt x="196011" y="598170"/>
                  </a:lnTo>
                  <a:lnTo>
                    <a:pt x="217462" y="605790"/>
                  </a:lnTo>
                  <a:lnTo>
                    <a:pt x="224777" y="607060"/>
                  </a:lnTo>
                  <a:lnTo>
                    <a:pt x="232156" y="609600"/>
                  </a:lnTo>
                  <a:lnTo>
                    <a:pt x="239610" y="610870"/>
                  </a:lnTo>
                  <a:lnTo>
                    <a:pt x="247142" y="613410"/>
                  </a:lnTo>
                  <a:lnTo>
                    <a:pt x="270103" y="617220"/>
                  </a:lnTo>
                  <a:lnTo>
                    <a:pt x="348945" y="617220"/>
                  </a:lnTo>
                  <a:lnTo>
                    <a:pt x="371906" y="613410"/>
                  </a:lnTo>
                  <a:lnTo>
                    <a:pt x="379425" y="610870"/>
                  </a:lnTo>
                  <a:lnTo>
                    <a:pt x="386880" y="609600"/>
                  </a:lnTo>
                  <a:lnTo>
                    <a:pt x="294081" y="609600"/>
                  </a:lnTo>
                  <a:lnTo>
                    <a:pt x="286435" y="608330"/>
                  </a:lnTo>
                  <a:lnTo>
                    <a:pt x="278841" y="608330"/>
                  </a:lnTo>
                  <a:lnTo>
                    <a:pt x="234530" y="600710"/>
                  </a:lnTo>
                  <a:lnTo>
                    <a:pt x="220294" y="595630"/>
                  </a:lnTo>
                  <a:lnTo>
                    <a:pt x="213283" y="594360"/>
                  </a:lnTo>
                  <a:lnTo>
                    <a:pt x="192735" y="586740"/>
                  </a:lnTo>
                  <a:lnTo>
                    <a:pt x="186042" y="582930"/>
                  </a:lnTo>
                  <a:lnTo>
                    <a:pt x="179438" y="580390"/>
                  </a:lnTo>
                  <a:lnTo>
                    <a:pt x="172923" y="576580"/>
                  </a:lnTo>
                  <a:lnTo>
                    <a:pt x="166497" y="574040"/>
                  </a:lnTo>
                  <a:lnTo>
                    <a:pt x="153936" y="566420"/>
                  </a:lnTo>
                  <a:lnTo>
                    <a:pt x="141757" y="558800"/>
                  </a:lnTo>
                  <a:lnTo>
                    <a:pt x="135826" y="554990"/>
                  </a:lnTo>
                  <a:lnTo>
                    <a:pt x="129997" y="549910"/>
                  </a:lnTo>
                  <a:lnTo>
                    <a:pt x="124269" y="546100"/>
                  </a:lnTo>
                  <a:lnTo>
                    <a:pt x="118656" y="541020"/>
                  </a:lnTo>
                  <a:lnTo>
                    <a:pt x="113157" y="535940"/>
                  </a:lnTo>
                  <a:lnTo>
                    <a:pt x="107772" y="532130"/>
                  </a:lnTo>
                  <a:lnTo>
                    <a:pt x="82626" y="505460"/>
                  </a:lnTo>
                  <a:lnTo>
                    <a:pt x="77978" y="500380"/>
                  </a:lnTo>
                  <a:lnTo>
                    <a:pt x="73456" y="495300"/>
                  </a:lnTo>
                  <a:lnTo>
                    <a:pt x="69062" y="488950"/>
                  </a:lnTo>
                  <a:lnTo>
                    <a:pt x="64808" y="483870"/>
                  </a:lnTo>
                  <a:lnTo>
                    <a:pt x="42278" y="445770"/>
                  </a:lnTo>
                  <a:lnTo>
                    <a:pt x="27647" y="412750"/>
                  </a:lnTo>
                  <a:lnTo>
                    <a:pt x="25209" y="406400"/>
                  </a:lnTo>
                  <a:lnTo>
                    <a:pt x="22936" y="398780"/>
                  </a:lnTo>
                  <a:lnTo>
                    <a:pt x="20828" y="392430"/>
                  </a:lnTo>
                  <a:lnTo>
                    <a:pt x="18884" y="384810"/>
                  </a:lnTo>
                  <a:lnTo>
                    <a:pt x="17119" y="377190"/>
                  </a:lnTo>
                  <a:lnTo>
                    <a:pt x="15532" y="369570"/>
                  </a:lnTo>
                  <a:lnTo>
                    <a:pt x="14122" y="363220"/>
                  </a:lnTo>
                  <a:lnTo>
                    <a:pt x="12877" y="355600"/>
                  </a:lnTo>
                  <a:lnTo>
                    <a:pt x="11823" y="347980"/>
                  </a:lnTo>
                  <a:lnTo>
                    <a:pt x="10985" y="340360"/>
                  </a:lnTo>
                  <a:lnTo>
                    <a:pt x="10414" y="334010"/>
                  </a:lnTo>
                  <a:lnTo>
                    <a:pt x="10299" y="332740"/>
                  </a:lnTo>
                  <a:lnTo>
                    <a:pt x="9817" y="325120"/>
                  </a:lnTo>
                  <a:lnTo>
                    <a:pt x="9525" y="317500"/>
                  </a:lnTo>
                  <a:lnTo>
                    <a:pt x="9573" y="300990"/>
                  </a:lnTo>
                  <a:lnTo>
                    <a:pt x="14097" y="256540"/>
                  </a:lnTo>
                  <a:lnTo>
                    <a:pt x="17094" y="242570"/>
                  </a:lnTo>
                  <a:lnTo>
                    <a:pt x="18859" y="234950"/>
                  </a:lnTo>
                  <a:lnTo>
                    <a:pt x="20789" y="227330"/>
                  </a:lnTo>
                  <a:lnTo>
                    <a:pt x="22898" y="220980"/>
                  </a:lnTo>
                  <a:lnTo>
                    <a:pt x="25171" y="213360"/>
                  </a:lnTo>
                  <a:lnTo>
                    <a:pt x="27609" y="207010"/>
                  </a:lnTo>
                  <a:lnTo>
                    <a:pt x="30213" y="199390"/>
                  </a:lnTo>
                  <a:lnTo>
                    <a:pt x="32981" y="193040"/>
                  </a:lnTo>
                  <a:lnTo>
                    <a:pt x="35902" y="186690"/>
                  </a:lnTo>
                  <a:lnTo>
                    <a:pt x="38989" y="179070"/>
                  </a:lnTo>
                  <a:lnTo>
                    <a:pt x="42214" y="172720"/>
                  </a:lnTo>
                  <a:lnTo>
                    <a:pt x="45605" y="166370"/>
                  </a:lnTo>
                  <a:lnTo>
                    <a:pt x="49149" y="160020"/>
                  </a:lnTo>
                  <a:lnTo>
                    <a:pt x="52832" y="153670"/>
                  </a:lnTo>
                  <a:lnTo>
                    <a:pt x="56654" y="148590"/>
                  </a:lnTo>
                  <a:lnTo>
                    <a:pt x="60629" y="142240"/>
                  </a:lnTo>
                  <a:lnTo>
                    <a:pt x="64744" y="135890"/>
                  </a:lnTo>
                  <a:lnTo>
                    <a:pt x="68999" y="130810"/>
                  </a:lnTo>
                  <a:lnTo>
                    <a:pt x="73380" y="124460"/>
                  </a:lnTo>
                  <a:lnTo>
                    <a:pt x="77901" y="119380"/>
                  </a:lnTo>
                  <a:lnTo>
                    <a:pt x="82550" y="113030"/>
                  </a:lnTo>
                  <a:lnTo>
                    <a:pt x="87325" y="107950"/>
                  </a:lnTo>
                  <a:lnTo>
                    <a:pt x="118567" y="78740"/>
                  </a:lnTo>
                  <a:lnTo>
                    <a:pt x="124180" y="73660"/>
                  </a:lnTo>
                  <a:lnTo>
                    <a:pt x="129895" y="69850"/>
                  </a:lnTo>
                  <a:lnTo>
                    <a:pt x="135724" y="64770"/>
                  </a:lnTo>
                  <a:lnTo>
                    <a:pt x="147701" y="57150"/>
                  </a:lnTo>
                  <a:lnTo>
                    <a:pt x="153835" y="53340"/>
                  </a:lnTo>
                  <a:lnTo>
                    <a:pt x="166395" y="45720"/>
                  </a:lnTo>
                  <a:lnTo>
                    <a:pt x="172821" y="41910"/>
                  </a:lnTo>
                  <a:lnTo>
                    <a:pt x="179336" y="39370"/>
                  </a:lnTo>
                  <a:lnTo>
                    <a:pt x="185940" y="35560"/>
                  </a:lnTo>
                  <a:lnTo>
                    <a:pt x="213169" y="25400"/>
                  </a:lnTo>
                  <a:lnTo>
                    <a:pt x="220179" y="22860"/>
                  </a:lnTo>
                  <a:lnTo>
                    <a:pt x="227266" y="21590"/>
                  </a:lnTo>
                  <a:lnTo>
                    <a:pt x="234416" y="19050"/>
                  </a:lnTo>
                  <a:lnTo>
                    <a:pt x="241642" y="17780"/>
                  </a:lnTo>
                  <a:lnTo>
                    <a:pt x="248932" y="15240"/>
                  </a:lnTo>
                  <a:lnTo>
                    <a:pt x="271183" y="11430"/>
                  </a:lnTo>
                  <a:lnTo>
                    <a:pt x="278714" y="11430"/>
                  </a:lnTo>
                  <a:lnTo>
                    <a:pt x="286308" y="10160"/>
                  </a:lnTo>
                  <a:lnTo>
                    <a:pt x="386765" y="10160"/>
                  </a:lnTo>
                  <a:lnTo>
                    <a:pt x="379310" y="7620"/>
                  </a:lnTo>
                  <a:lnTo>
                    <a:pt x="341045" y="1270"/>
                  </a:lnTo>
                  <a:close/>
                </a:path>
                <a:path w="619125" h="618489">
                  <a:moveTo>
                    <a:pt x="386765" y="10160"/>
                  </a:moveTo>
                  <a:lnTo>
                    <a:pt x="332498" y="10160"/>
                  </a:lnTo>
                  <a:lnTo>
                    <a:pt x="340080" y="11430"/>
                  </a:lnTo>
                  <a:lnTo>
                    <a:pt x="347624" y="11430"/>
                  </a:lnTo>
                  <a:lnTo>
                    <a:pt x="369874" y="15240"/>
                  </a:lnTo>
                  <a:lnTo>
                    <a:pt x="377164" y="17780"/>
                  </a:lnTo>
                  <a:lnTo>
                    <a:pt x="384390" y="19050"/>
                  </a:lnTo>
                  <a:lnTo>
                    <a:pt x="391541" y="21590"/>
                  </a:lnTo>
                  <a:lnTo>
                    <a:pt x="398627" y="22860"/>
                  </a:lnTo>
                  <a:lnTo>
                    <a:pt x="405638" y="25400"/>
                  </a:lnTo>
                  <a:lnTo>
                    <a:pt x="432879" y="35560"/>
                  </a:lnTo>
                  <a:lnTo>
                    <a:pt x="439483" y="39370"/>
                  </a:lnTo>
                  <a:lnTo>
                    <a:pt x="445998" y="41910"/>
                  </a:lnTo>
                  <a:lnTo>
                    <a:pt x="488937" y="68580"/>
                  </a:lnTo>
                  <a:lnTo>
                    <a:pt x="500265" y="78740"/>
                  </a:lnTo>
                  <a:lnTo>
                    <a:pt x="505764" y="82550"/>
                  </a:lnTo>
                  <a:lnTo>
                    <a:pt x="536295" y="113030"/>
                  </a:lnTo>
                  <a:lnTo>
                    <a:pt x="540956" y="119380"/>
                  </a:lnTo>
                  <a:lnTo>
                    <a:pt x="545477" y="124460"/>
                  </a:lnTo>
                  <a:lnTo>
                    <a:pt x="549859" y="129540"/>
                  </a:lnTo>
                  <a:lnTo>
                    <a:pt x="554113" y="135890"/>
                  </a:lnTo>
                  <a:lnTo>
                    <a:pt x="558228" y="142240"/>
                  </a:lnTo>
                  <a:lnTo>
                    <a:pt x="562203" y="147320"/>
                  </a:lnTo>
                  <a:lnTo>
                    <a:pt x="582968" y="186690"/>
                  </a:lnTo>
                  <a:lnTo>
                    <a:pt x="585901" y="193040"/>
                  </a:lnTo>
                  <a:lnTo>
                    <a:pt x="588670" y="199390"/>
                  </a:lnTo>
                  <a:lnTo>
                    <a:pt x="591273" y="207010"/>
                  </a:lnTo>
                  <a:lnTo>
                    <a:pt x="593712" y="213360"/>
                  </a:lnTo>
                  <a:lnTo>
                    <a:pt x="595998" y="220980"/>
                  </a:lnTo>
                  <a:lnTo>
                    <a:pt x="598106" y="227330"/>
                  </a:lnTo>
                  <a:lnTo>
                    <a:pt x="600036" y="234950"/>
                  </a:lnTo>
                  <a:lnTo>
                    <a:pt x="607949" y="279400"/>
                  </a:lnTo>
                  <a:lnTo>
                    <a:pt x="609409" y="317500"/>
                  </a:lnTo>
                  <a:lnTo>
                    <a:pt x="609104" y="325120"/>
                  </a:lnTo>
                  <a:lnTo>
                    <a:pt x="604824" y="363220"/>
                  </a:lnTo>
                  <a:lnTo>
                    <a:pt x="603415" y="369570"/>
                  </a:lnTo>
                  <a:lnTo>
                    <a:pt x="601827" y="377190"/>
                  </a:lnTo>
                  <a:lnTo>
                    <a:pt x="600075" y="384810"/>
                  </a:lnTo>
                  <a:lnTo>
                    <a:pt x="598131" y="391160"/>
                  </a:lnTo>
                  <a:lnTo>
                    <a:pt x="596023" y="398780"/>
                  </a:lnTo>
                  <a:lnTo>
                    <a:pt x="593750" y="406400"/>
                  </a:lnTo>
                  <a:lnTo>
                    <a:pt x="591312" y="412750"/>
                  </a:lnTo>
                  <a:lnTo>
                    <a:pt x="588708" y="419100"/>
                  </a:lnTo>
                  <a:lnTo>
                    <a:pt x="585939" y="426720"/>
                  </a:lnTo>
                  <a:lnTo>
                    <a:pt x="566089" y="464820"/>
                  </a:lnTo>
                  <a:lnTo>
                    <a:pt x="549935" y="488950"/>
                  </a:lnTo>
                  <a:lnTo>
                    <a:pt x="545541" y="495300"/>
                  </a:lnTo>
                  <a:lnTo>
                    <a:pt x="541020" y="500380"/>
                  </a:lnTo>
                  <a:lnTo>
                    <a:pt x="536371" y="505460"/>
                  </a:lnTo>
                  <a:lnTo>
                    <a:pt x="531596" y="511810"/>
                  </a:lnTo>
                  <a:lnTo>
                    <a:pt x="505853" y="535940"/>
                  </a:lnTo>
                  <a:lnTo>
                    <a:pt x="500354" y="541020"/>
                  </a:lnTo>
                  <a:lnTo>
                    <a:pt x="494741" y="546100"/>
                  </a:lnTo>
                  <a:lnTo>
                    <a:pt x="489026" y="549910"/>
                  </a:lnTo>
                  <a:lnTo>
                    <a:pt x="483196" y="553720"/>
                  </a:lnTo>
                  <a:lnTo>
                    <a:pt x="477266" y="558800"/>
                  </a:lnTo>
                  <a:lnTo>
                    <a:pt x="465086" y="566420"/>
                  </a:lnTo>
                  <a:lnTo>
                    <a:pt x="452526" y="574040"/>
                  </a:lnTo>
                  <a:lnTo>
                    <a:pt x="446100" y="576580"/>
                  </a:lnTo>
                  <a:lnTo>
                    <a:pt x="439585" y="580390"/>
                  </a:lnTo>
                  <a:lnTo>
                    <a:pt x="432993" y="582930"/>
                  </a:lnTo>
                  <a:lnTo>
                    <a:pt x="426300" y="586740"/>
                  </a:lnTo>
                  <a:lnTo>
                    <a:pt x="405752" y="594360"/>
                  </a:lnTo>
                  <a:lnTo>
                    <a:pt x="398741" y="595630"/>
                  </a:lnTo>
                  <a:lnTo>
                    <a:pt x="384505" y="600710"/>
                  </a:lnTo>
                  <a:lnTo>
                    <a:pt x="340207" y="608330"/>
                  </a:lnTo>
                  <a:lnTo>
                    <a:pt x="332613" y="608330"/>
                  </a:lnTo>
                  <a:lnTo>
                    <a:pt x="324967" y="609600"/>
                  </a:lnTo>
                  <a:lnTo>
                    <a:pt x="386880" y="609600"/>
                  </a:lnTo>
                  <a:lnTo>
                    <a:pt x="394258" y="607060"/>
                  </a:lnTo>
                  <a:lnTo>
                    <a:pt x="401574" y="605790"/>
                  </a:lnTo>
                  <a:lnTo>
                    <a:pt x="423024" y="598170"/>
                  </a:lnTo>
                  <a:lnTo>
                    <a:pt x="430009" y="594360"/>
                  </a:lnTo>
                  <a:lnTo>
                    <a:pt x="443725" y="589280"/>
                  </a:lnTo>
                  <a:lnTo>
                    <a:pt x="482587" y="566420"/>
                  </a:lnTo>
                  <a:lnTo>
                    <a:pt x="494728" y="557530"/>
                  </a:lnTo>
                  <a:lnTo>
                    <a:pt x="500634" y="553720"/>
                  </a:lnTo>
                  <a:lnTo>
                    <a:pt x="533577" y="523240"/>
                  </a:lnTo>
                  <a:lnTo>
                    <a:pt x="543572" y="511810"/>
                  </a:lnTo>
                  <a:lnTo>
                    <a:pt x="548373" y="506730"/>
                  </a:lnTo>
                  <a:lnTo>
                    <a:pt x="553034" y="500380"/>
                  </a:lnTo>
                  <a:lnTo>
                    <a:pt x="557555" y="495300"/>
                  </a:lnTo>
                  <a:lnTo>
                    <a:pt x="561936" y="488950"/>
                  </a:lnTo>
                  <a:lnTo>
                    <a:pt x="585177" y="450850"/>
                  </a:lnTo>
                  <a:lnTo>
                    <a:pt x="588518" y="443230"/>
                  </a:lnTo>
                  <a:lnTo>
                    <a:pt x="591705" y="436880"/>
                  </a:lnTo>
                  <a:lnTo>
                    <a:pt x="594715" y="430530"/>
                  </a:lnTo>
                  <a:lnTo>
                    <a:pt x="597573" y="422910"/>
                  </a:lnTo>
                  <a:lnTo>
                    <a:pt x="600265" y="416560"/>
                  </a:lnTo>
                  <a:lnTo>
                    <a:pt x="602780" y="408940"/>
                  </a:lnTo>
                  <a:lnTo>
                    <a:pt x="605129" y="401320"/>
                  </a:lnTo>
                  <a:lnTo>
                    <a:pt x="607301" y="394970"/>
                  </a:lnTo>
                  <a:lnTo>
                    <a:pt x="615467" y="356870"/>
                  </a:lnTo>
                  <a:lnTo>
                    <a:pt x="618921" y="317500"/>
                  </a:lnTo>
                  <a:lnTo>
                    <a:pt x="618921" y="300990"/>
                  </a:lnTo>
                  <a:lnTo>
                    <a:pt x="617539" y="279400"/>
                  </a:lnTo>
                  <a:lnTo>
                    <a:pt x="617423" y="278130"/>
                  </a:lnTo>
                  <a:lnTo>
                    <a:pt x="611085" y="240030"/>
                  </a:lnTo>
                  <a:lnTo>
                    <a:pt x="602742" y="210820"/>
                  </a:lnTo>
                  <a:lnTo>
                    <a:pt x="600214" y="203200"/>
                  </a:lnTo>
                  <a:lnTo>
                    <a:pt x="597535" y="195580"/>
                  </a:lnTo>
                  <a:lnTo>
                    <a:pt x="594677" y="189230"/>
                  </a:lnTo>
                  <a:lnTo>
                    <a:pt x="591654" y="181610"/>
                  </a:lnTo>
                  <a:lnTo>
                    <a:pt x="588467" y="175260"/>
                  </a:lnTo>
                  <a:lnTo>
                    <a:pt x="585127" y="168910"/>
                  </a:lnTo>
                  <a:lnTo>
                    <a:pt x="581634" y="162560"/>
                  </a:lnTo>
                  <a:lnTo>
                    <a:pt x="577977" y="154940"/>
                  </a:lnTo>
                  <a:lnTo>
                    <a:pt x="574179" y="148590"/>
                  </a:lnTo>
                  <a:lnTo>
                    <a:pt x="570217" y="142240"/>
                  </a:lnTo>
                  <a:lnTo>
                    <a:pt x="566115" y="135890"/>
                  </a:lnTo>
                  <a:lnTo>
                    <a:pt x="561873" y="130810"/>
                  </a:lnTo>
                  <a:lnTo>
                    <a:pt x="557491" y="124460"/>
                  </a:lnTo>
                  <a:lnTo>
                    <a:pt x="552958" y="118110"/>
                  </a:lnTo>
                  <a:lnTo>
                    <a:pt x="548297" y="113030"/>
                  </a:lnTo>
                  <a:lnTo>
                    <a:pt x="543496" y="106680"/>
                  </a:lnTo>
                  <a:lnTo>
                    <a:pt x="538568" y="101600"/>
                  </a:lnTo>
                  <a:lnTo>
                    <a:pt x="533501" y="96520"/>
                  </a:lnTo>
                  <a:lnTo>
                    <a:pt x="528320" y="90170"/>
                  </a:lnTo>
                  <a:lnTo>
                    <a:pt x="522998" y="85090"/>
                  </a:lnTo>
                  <a:lnTo>
                    <a:pt x="517563" y="80010"/>
                  </a:lnTo>
                  <a:lnTo>
                    <a:pt x="512000" y="74930"/>
                  </a:lnTo>
                  <a:lnTo>
                    <a:pt x="506336" y="71120"/>
                  </a:lnTo>
                  <a:lnTo>
                    <a:pt x="500545" y="66040"/>
                  </a:lnTo>
                  <a:lnTo>
                    <a:pt x="494639" y="60960"/>
                  </a:lnTo>
                  <a:lnTo>
                    <a:pt x="488619" y="57150"/>
                  </a:lnTo>
                  <a:lnTo>
                    <a:pt x="482498" y="53340"/>
                  </a:lnTo>
                  <a:lnTo>
                    <a:pt x="476262" y="48260"/>
                  </a:lnTo>
                  <a:lnTo>
                    <a:pt x="469938" y="44450"/>
                  </a:lnTo>
                  <a:lnTo>
                    <a:pt x="456971" y="36830"/>
                  </a:lnTo>
                  <a:lnTo>
                    <a:pt x="450342" y="34290"/>
                  </a:lnTo>
                  <a:lnTo>
                    <a:pt x="443623" y="30480"/>
                  </a:lnTo>
                  <a:lnTo>
                    <a:pt x="436803" y="27940"/>
                  </a:lnTo>
                  <a:lnTo>
                    <a:pt x="429907" y="24130"/>
                  </a:lnTo>
                  <a:lnTo>
                    <a:pt x="394144" y="11430"/>
                  </a:lnTo>
                  <a:lnTo>
                    <a:pt x="386765" y="10160"/>
                  </a:lnTo>
                  <a:close/>
                </a:path>
                <a:path w="619125" h="618489">
                  <a:moveTo>
                    <a:pt x="325323" y="0"/>
                  </a:moveTo>
                  <a:lnTo>
                    <a:pt x="293471" y="0"/>
                  </a:lnTo>
                  <a:lnTo>
                    <a:pt x="285584" y="1270"/>
                  </a:lnTo>
                  <a:lnTo>
                    <a:pt x="333209" y="1270"/>
                  </a:lnTo>
                  <a:lnTo>
                    <a:pt x="3253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878068" y="3790581"/>
              <a:ext cx="610235" cy="609600"/>
            </a:xfrm>
            <a:custGeom>
              <a:avLst/>
              <a:gdLst/>
              <a:ahLst/>
              <a:cxnLst/>
              <a:rect l="l" t="t" r="r" b="b"/>
              <a:pathLst>
                <a:path w="610235" h="609600">
                  <a:moveTo>
                    <a:pt x="305219" y="0"/>
                  </a:moveTo>
                  <a:lnTo>
                    <a:pt x="255778" y="3988"/>
                  </a:lnTo>
                  <a:lnTo>
                    <a:pt x="208874" y="15535"/>
                  </a:lnTo>
                  <a:lnTo>
                    <a:pt x="165133" y="34010"/>
                  </a:lnTo>
                  <a:lnTo>
                    <a:pt x="125180" y="58782"/>
                  </a:lnTo>
                  <a:lnTo>
                    <a:pt x="89639" y="89223"/>
                  </a:lnTo>
                  <a:lnTo>
                    <a:pt x="59136" y="124703"/>
                  </a:lnTo>
                  <a:lnTo>
                    <a:pt x="34296" y="164590"/>
                  </a:lnTo>
                  <a:lnTo>
                    <a:pt x="15743" y="208257"/>
                  </a:lnTo>
                  <a:lnTo>
                    <a:pt x="4102" y="255072"/>
                  </a:lnTo>
                  <a:lnTo>
                    <a:pt x="0" y="304406"/>
                  </a:lnTo>
                  <a:lnTo>
                    <a:pt x="4102" y="353953"/>
                  </a:lnTo>
                  <a:lnTo>
                    <a:pt x="15743" y="400939"/>
                  </a:lnTo>
                  <a:lnTo>
                    <a:pt x="34296" y="444739"/>
                  </a:lnTo>
                  <a:lnTo>
                    <a:pt x="59136" y="484726"/>
                  </a:lnTo>
                  <a:lnTo>
                    <a:pt x="89639" y="520277"/>
                  </a:lnTo>
                  <a:lnTo>
                    <a:pt x="125180" y="550766"/>
                  </a:lnTo>
                  <a:lnTo>
                    <a:pt x="165133" y="575568"/>
                  </a:lnTo>
                  <a:lnTo>
                    <a:pt x="208874" y="594058"/>
                  </a:lnTo>
                  <a:lnTo>
                    <a:pt x="255778" y="605610"/>
                  </a:lnTo>
                  <a:lnTo>
                    <a:pt x="305219" y="609600"/>
                  </a:lnTo>
                  <a:lnTo>
                    <a:pt x="354659" y="605610"/>
                  </a:lnTo>
                  <a:lnTo>
                    <a:pt x="401560" y="594061"/>
                  </a:lnTo>
                  <a:lnTo>
                    <a:pt x="445293" y="575579"/>
                  </a:lnTo>
                  <a:lnTo>
                    <a:pt x="485230" y="550791"/>
                  </a:lnTo>
                  <a:lnTo>
                    <a:pt x="520746" y="520326"/>
                  </a:lnTo>
                  <a:lnTo>
                    <a:pt x="551210" y="484811"/>
                  </a:lnTo>
                  <a:lnTo>
                    <a:pt x="575998" y="444874"/>
                  </a:lnTo>
                  <a:lnTo>
                    <a:pt x="594480" y="401141"/>
                  </a:lnTo>
                  <a:lnTo>
                    <a:pt x="606029" y="354240"/>
                  </a:lnTo>
                  <a:lnTo>
                    <a:pt x="610019" y="304800"/>
                  </a:lnTo>
                  <a:lnTo>
                    <a:pt x="606029" y="255359"/>
                  </a:lnTo>
                  <a:lnTo>
                    <a:pt x="594480" y="208458"/>
                  </a:lnTo>
                  <a:lnTo>
                    <a:pt x="575998" y="164725"/>
                  </a:lnTo>
                  <a:lnTo>
                    <a:pt x="551210" y="124788"/>
                  </a:lnTo>
                  <a:lnTo>
                    <a:pt x="520746" y="89273"/>
                  </a:lnTo>
                  <a:lnTo>
                    <a:pt x="485230" y="58808"/>
                  </a:lnTo>
                  <a:lnTo>
                    <a:pt x="445293" y="34020"/>
                  </a:lnTo>
                  <a:lnTo>
                    <a:pt x="401560" y="15538"/>
                  </a:lnTo>
                  <a:lnTo>
                    <a:pt x="354659" y="3989"/>
                  </a:lnTo>
                  <a:lnTo>
                    <a:pt x="305219" y="0"/>
                  </a:lnTo>
                  <a:close/>
                </a:path>
              </a:pathLst>
            </a:custGeom>
            <a:solidFill>
              <a:srgbClr val="00E4A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59026" y="3786352"/>
              <a:ext cx="3362121" cy="2198255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2066188" y="3786352"/>
              <a:ext cx="4426585" cy="2199640"/>
            </a:xfrm>
            <a:custGeom>
              <a:avLst/>
              <a:gdLst/>
              <a:ahLst/>
              <a:cxnLst/>
              <a:rect l="l" t="t" r="r" b="b"/>
              <a:pathLst>
                <a:path w="4426585" h="2199640">
                  <a:moveTo>
                    <a:pt x="4426559" y="300990"/>
                  </a:moveTo>
                  <a:lnTo>
                    <a:pt x="4426305" y="294640"/>
                  </a:lnTo>
                  <a:lnTo>
                    <a:pt x="4426255" y="293370"/>
                  </a:lnTo>
                  <a:lnTo>
                    <a:pt x="4425835" y="287020"/>
                  </a:lnTo>
                  <a:lnTo>
                    <a:pt x="4425759" y="285750"/>
                  </a:lnTo>
                  <a:lnTo>
                    <a:pt x="4425175" y="279400"/>
                  </a:lnTo>
                  <a:lnTo>
                    <a:pt x="4425061" y="278130"/>
                  </a:lnTo>
                  <a:lnTo>
                    <a:pt x="4418723" y="240030"/>
                  </a:lnTo>
                  <a:lnTo>
                    <a:pt x="4417047" y="233006"/>
                  </a:lnTo>
                  <a:lnTo>
                    <a:pt x="4417047" y="317500"/>
                  </a:lnTo>
                  <a:lnTo>
                    <a:pt x="4416742" y="325120"/>
                  </a:lnTo>
                  <a:lnTo>
                    <a:pt x="4412462" y="363220"/>
                  </a:lnTo>
                  <a:lnTo>
                    <a:pt x="4411053" y="369570"/>
                  </a:lnTo>
                  <a:lnTo>
                    <a:pt x="4409465" y="377190"/>
                  </a:lnTo>
                  <a:lnTo>
                    <a:pt x="4407713" y="384810"/>
                  </a:lnTo>
                  <a:lnTo>
                    <a:pt x="4405769" y="391160"/>
                  </a:lnTo>
                  <a:lnTo>
                    <a:pt x="4403661" y="398780"/>
                  </a:lnTo>
                  <a:lnTo>
                    <a:pt x="4401388" y="406400"/>
                  </a:lnTo>
                  <a:lnTo>
                    <a:pt x="4398950" y="412750"/>
                  </a:lnTo>
                  <a:lnTo>
                    <a:pt x="4396346" y="419100"/>
                  </a:lnTo>
                  <a:lnTo>
                    <a:pt x="4393577" y="426720"/>
                  </a:lnTo>
                  <a:lnTo>
                    <a:pt x="4373727" y="464820"/>
                  </a:lnTo>
                  <a:lnTo>
                    <a:pt x="4357573" y="488950"/>
                  </a:lnTo>
                  <a:lnTo>
                    <a:pt x="4353179" y="495300"/>
                  </a:lnTo>
                  <a:lnTo>
                    <a:pt x="4348658" y="500380"/>
                  </a:lnTo>
                  <a:lnTo>
                    <a:pt x="4344009" y="505460"/>
                  </a:lnTo>
                  <a:lnTo>
                    <a:pt x="4339234" y="511810"/>
                  </a:lnTo>
                  <a:lnTo>
                    <a:pt x="4313491" y="535940"/>
                  </a:lnTo>
                  <a:lnTo>
                    <a:pt x="4307992" y="541020"/>
                  </a:lnTo>
                  <a:lnTo>
                    <a:pt x="4302379" y="546100"/>
                  </a:lnTo>
                  <a:lnTo>
                    <a:pt x="4296664" y="549910"/>
                  </a:lnTo>
                  <a:lnTo>
                    <a:pt x="4290834" y="553720"/>
                  </a:lnTo>
                  <a:lnTo>
                    <a:pt x="4284904" y="558800"/>
                  </a:lnTo>
                  <a:lnTo>
                    <a:pt x="4272724" y="566420"/>
                  </a:lnTo>
                  <a:lnTo>
                    <a:pt x="4260164" y="574040"/>
                  </a:lnTo>
                  <a:lnTo>
                    <a:pt x="4253738" y="576580"/>
                  </a:lnTo>
                  <a:lnTo>
                    <a:pt x="4247223" y="580390"/>
                  </a:lnTo>
                  <a:lnTo>
                    <a:pt x="4240631" y="582930"/>
                  </a:lnTo>
                  <a:lnTo>
                    <a:pt x="4233938" y="586740"/>
                  </a:lnTo>
                  <a:lnTo>
                    <a:pt x="4213390" y="594360"/>
                  </a:lnTo>
                  <a:lnTo>
                    <a:pt x="4206379" y="595630"/>
                  </a:lnTo>
                  <a:lnTo>
                    <a:pt x="4192143" y="600710"/>
                  </a:lnTo>
                  <a:lnTo>
                    <a:pt x="4147845" y="608330"/>
                  </a:lnTo>
                  <a:lnTo>
                    <a:pt x="4140250" y="608330"/>
                  </a:lnTo>
                  <a:lnTo>
                    <a:pt x="4132605" y="609600"/>
                  </a:lnTo>
                  <a:lnTo>
                    <a:pt x="4111777" y="609600"/>
                  </a:lnTo>
                  <a:lnTo>
                    <a:pt x="4120883" y="597662"/>
                  </a:lnTo>
                  <a:lnTo>
                    <a:pt x="4117098" y="594779"/>
                  </a:lnTo>
                  <a:lnTo>
                    <a:pt x="4114800" y="590613"/>
                  </a:lnTo>
                  <a:lnTo>
                    <a:pt x="4093070" y="602627"/>
                  </a:lnTo>
                  <a:lnTo>
                    <a:pt x="4093070" y="618451"/>
                  </a:lnTo>
                  <a:lnTo>
                    <a:pt x="2911475" y="2169299"/>
                  </a:lnTo>
                  <a:lnTo>
                    <a:pt x="3280359" y="1062647"/>
                  </a:lnTo>
                  <a:lnTo>
                    <a:pt x="4086148" y="617334"/>
                  </a:lnTo>
                  <a:lnTo>
                    <a:pt x="4093070" y="618451"/>
                  </a:lnTo>
                  <a:lnTo>
                    <a:pt x="4093070" y="602627"/>
                  </a:lnTo>
                  <a:lnTo>
                    <a:pt x="4083621" y="607847"/>
                  </a:lnTo>
                  <a:lnTo>
                    <a:pt x="4042168" y="600710"/>
                  </a:lnTo>
                  <a:lnTo>
                    <a:pt x="4027932" y="595630"/>
                  </a:lnTo>
                  <a:lnTo>
                    <a:pt x="4020921" y="594360"/>
                  </a:lnTo>
                  <a:lnTo>
                    <a:pt x="4000373" y="586740"/>
                  </a:lnTo>
                  <a:lnTo>
                    <a:pt x="3993680" y="582930"/>
                  </a:lnTo>
                  <a:lnTo>
                    <a:pt x="3987076" y="580390"/>
                  </a:lnTo>
                  <a:lnTo>
                    <a:pt x="3980561" y="576580"/>
                  </a:lnTo>
                  <a:lnTo>
                    <a:pt x="3974134" y="574040"/>
                  </a:lnTo>
                  <a:lnTo>
                    <a:pt x="3961574" y="566420"/>
                  </a:lnTo>
                  <a:lnTo>
                    <a:pt x="3949395" y="558800"/>
                  </a:lnTo>
                  <a:lnTo>
                    <a:pt x="3943464" y="554990"/>
                  </a:lnTo>
                  <a:lnTo>
                    <a:pt x="3937635" y="549910"/>
                  </a:lnTo>
                  <a:lnTo>
                    <a:pt x="3931907" y="546100"/>
                  </a:lnTo>
                  <a:lnTo>
                    <a:pt x="3926294" y="541020"/>
                  </a:lnTo>
                  <a:lnTo>
                    <a:pt x="3920794" y="535940"/>
                  </a:lnTo>
                  <a:lnTo>
                    <a:pt x="3915410" y="532130"/>
                  </a:lnTo>
                  <a:lnTo>
                    <a:pt x="3890264" y="505460"/>
                  </a:lnTo>
                  <a:lnTo>
                    <a:pt x="3885615" y="500380"/>
                  </a:lnTo>
                  <a:lnTo>
                    <a:pt x="3881094" y="495300"/>
                  </a:lnTo>
                  <a:lnTo>
                    <a:pt x="3876700" y="488950"/>
                  </a:lnTo>
                  <a:lnTo>
                    <a:pt x="3872446" y="483870"/>
                  </a:lnTo>
                  <a:lnTo>
                    <a:pt x="3849916" y="445770"/>
                  </a:lnTo>
                  <a:lnTo>
                    <a:pt x="3835285" y="412750"/>
                  </a:lnTo>
                  <a:lnTo>
                    <a:pt x="3832847" y="406400"/>
                  </a:lnTo>
                  <a:lnTo>
                    <a:pt x="3830574" y="398780"/>
                  </a:lnTo>
                  <a:lnTo>
                    <a:pt x="3828465" y="392430"/>
                  </a:lnTo>
                  <a:lnTo>
                    <a:pt x="3826522" y="384810"/>
                  </a:lnTo>
                  <a:lnTo>
                    <a:pt x="3824757" y="377190"/>
                  </a:lnTo>
                  <a:lnTo>
                    <a:pt x="3823170" y="369570"/>
                  </a:lnTo>
                  <a:lnTo>
                    <a:pt x="3821760" y="363220"/>
                  </a:lnTo>
                  <a:lnTo>
                    <a:pt x="3820515" y="355600"/>
                  </a:lnTo>
                  <a:lnTo>
                    <a:pt x="3819461" y="347980"/>
                  </a:lnTo>
                  <a:lnTo>
                    <a:pt x="3818623" y="340360"/>
                  </a:lnTo>
                  <a:lnTo>
                    <a:pt x="3818051" y="334010"/>
                  </a:lnTo>
                  <a:lnTo>
                    <a:pt x="3817937" y="332740"/>
                  </a:lnTo>
                  <a:lnTo>
                    <a:pt x="3817455" y="325120"/>
                  </a:lnTo>
                  <a:lnTo>
                    <a:pt x="3817162" y="317500"/>
                  </a:lnTo>
                  <a:lnTo>
                    <a:pt x="3817201" y="300990"/>
                  </a:lnTo>
                  <a:lnTo>
                    <a:pt x="3821734" y="256540"/>
                  </a:lnTo>
                  <a:lnTo>
                    <a:pt x="3824732" y="242570"/>
                  </a:lnTo>
                  <a:lnTo>
                    <a:pt x="3826497" y="234950"/>
                  </a:lnTo>
                  <a:lnTo>
                    <a:pt x="3828427" y="227330"/>
                  </a:lnTo>
                  <a:lnTo>
                    <a:pt x="3830536" y="220980"/>
                  </a:lnTo>
                  <a:lnTo>
                    <a:pt x="3832809" y="213360"/>
                  </a:lnTo>
                  <a:lnTo>
                    <a:pt x="3835247" y="207010"/>
                  </a:lnTo>
                  <a:lnTo>
                    <a:pt x="3837851" y="199390"/>
                  </a:lnTo>
                  <a:lnTo>
                    <a:pt x="3840619" y="193040"/>
                  </a:lnTo>
                  <a:lnTo>
                    <a:pt x="3843540" y="186690"/>
                  </a:lnTo>
                  <a:lnTo>
                    <a:pt x="3846626" y="179070"/>
                  </a:lnTo>
                  <a:lnTo>
                    <a:pt x="3849852" y="172720"/>
                  </a:lnTo>
                  <a:lnTo>
                    <a:pt x="3853243" y="166370"/>
                  </a:lnTo>
                  <a:lnTo>
                    <a:pt x="3856786" y="160020"/>
                  </a:lnTo>
                  <a:lnTo>
                    <a:pt x="3860469" y="153670"/>
                  </a:lnTo>
                  <a:lnTo>
                    <a:pt x="3864292" y="148590"/>
                  </a:lnTo>
                  <a:lnTo>
                    <a:pt x="3868267" y="142240"/>
                  </a:lnTo>
                  <a:lnTo>
                    <a:pt x="3872382" y="135890"/>
                  </a:lnTo>
                  <a:lnTo>
                    <a:pt x="3876637" y="130810"/>
                  </a:lnTo>
                  <a:lnTo>
                    <a:pt x="3881018" y="124460"/>
                  </a:lnTo>
                  <a:lnTo>
                    <a:pt x="3885539" y="119380"/>
                  </a:lnTo>
                  <a:lnTo>
                    <a:pt x="3890187" y="113030"/>
                  </a:lnTo>
                  <a:lnTo>
                    <a:pt x="3894963" y="107950"/>
                  </a:lnTo>
                  <a:lnTo>
                    <a:pt x="3926205" y="78740"/>
                  </a:lnTo>
                  <a:lnTo>
                    <a:pt x="3931818" y="73660"/>
                  </a:lnTo>
                  <a:lnTo>
                    <a:pt x="3937533" y="69850"/>
                  </a:lnTo>
                  <a:lnTo>
                    <a:pt x="3943362" y="64770"/>
                  </a:lnTo>
                  <a:lnTo>
                    <a:pt x="3955338" y="57150"/>
                  </a:lnTo>
                  <a:lnTo>
                    <a:pt x="3961473" y="53340"/>
                  </a:lnTo>
                  <a:lnTo>
                    <a:pt x="3974033" y="45720"/>
                  </a:lnTo>
                  <a:lnTo>
                    <a:pt x="3980459" y="41910"/>
                  </a:lnTo>
                  <a:lnTo>
                    <a:pt x="3986974" y="39370"/>
                  </a:lnTo>
                  <a:lnTo>
                    <a:pt x="3993578" y="35560"/>
                  </a:lnTo>
                  <a:lnTo>
                    <a:pt x="4020807" y="25400"/>
                  </a:lnTo>
                  <a:lnTo>
                    <a:pt x="4027817" y="22860"/>
                  </a:lnTo>
                  <a:lnTo>
                    <a:pt x="4034904" y="21590"/>
                  </a:lnTo>
                  <a:lnTo>
                    <a:pt x="4042054" y="19050"/>
                  </a:lnTo>
                  <a:lnTo>
                    <a:pt x="4049280" y="17780"/>
                  </a:lnTo>
                  <a:lnTo>
                    <a:pt x="4056570" y="15240"/>
                  </a:lnTo>
                  <a:lnTo>
                    <a:pt x="4078821" y="11430"/>
                  </a:lnTo>
                  <a:lnTo>
                    <a:pt x="4086352" y="11430"/>
                  </a:lnTo>
                  <a:lnTo>
                    <a:pt x="4093946" y="10160"/>
                  </a:lnTo>
                  <a:lnTo>
                    <a:pt x="4140136" y="10160"/>
                  </a:lnTo>
                  <a:lnTo>
                    <a:pt x="4147718" y="11430"/>
                  </a:lnTo>
                  <a:lnTo>
                    <a:pt x="4155262" y="11430"/>
                  </a:lnTo>
                  <a:lnTo>
                    <a:pt x="4177512" y="15240"/>
                  </a:lnTo>
                  <a:lnTo>
                    <a:pt x="4184802" y="17780"/>
                  </a:lnTo>
                  <a:lnTo>
                    <a:pt x="4192028" y="19050"/>
                  </a:lnTo>
                  <a:lnTo>
                    <a:pt x="4199178" y="21590"/>
                  </a:lnTo>
                  <a:lnTo>
                    <a:pt x="4206265" y="22860"/>
                  </a:lnTo>
                  <a:lnTo>
                    <a:pt x="4213276" y="25400"/>
                  </a:lnTo>
                  <a:lnTo>
                    <a:pt x="4240517" y="35560"/>
                  </a:lnTo>
                  <a:lnTo>
                    <a:pt x="4247121" y="39370"/>
                  </a:lnTo>
                  <a:lnTo>
                    <a:pt x="4253636" y="41910"/>
                  </a:lnTo>
                  <a:lnTo>
                    <a:pt x="4296575" y="68580"/>
                  </a:lnTo>
                  <a:lnTo>
                    <a:pt x="4307903" y="78740"/>
                  </a:lnTo>
                  <a:lnTo>
                    <a:pt x="4313402" y="82550"/>
                  </a:lnTo>
                  <a:lnTo>
                    <a:pt x="4343933" y="113030"/>
                  </a:lnTo>
                  <a:lnTo>
                    <a:pt x="4348594" y="119380"/>
                  </a:lnTo>
                  <a:lnTo>
                    <a:pt x="4353115" y="124460"/>
                  </a:lnTo>
                  <a:lnTo>
                    <a:pt x="4357497" y="129540"/>
                  </a:lnTo>
                  <a:lnTo>
                    <a:pt x="4361751" y="135890"/>
                  </a:lnTo>
                  <a:lnTo>
                    <a:pt x="4365866" y="142240"/>
                  </a:lnTo>
                  <a:lnTo>
                    <a:pt x="4369841" y="147320"/>
                  </a:lnTo>
                  <a:lnTo>
                    <a:pt x="4390606" y="186690"/>
                  </a:lnTo>
                  <a:lnTo>
                    <a:pt x="4393539" y="193040"/>
                  </a:lnTo>
                  <a:lnTo>
                    <a:pt x="4396308" y="199390"/>
                  </a:lnTo>
                  <a:lnTo>
                    <a:pt x="4398911" y="207010"/>
                  </a:lnTo>
                  <a:lnTo>
                    <a:pt x="4401350" y="213360"/>
                  </a:lnTo>
                  <a:lnTo>
                    <a:pt x="4403636" y="220980"/>
                  </a:lnTo>
                  <a:lnTo>
                    <a:pt x="4405744" y="227330"/>
                  </a:lnTo>
                  <a:lnTo>
                    <a:pt x="4407674" y="234950"/>
                  </a:lnTo>
                  <a:lnTo>
                    <a:pt x="4415587" y="279400"/>
                  </a:lnTo>
                  <a:lnTo>
                    <a:pt x="4416145" y="285750"/>
                  </a:lnTo>
                  <a:lnTo>
                    <a:pt x="4416260" y="287020"/>
                  </a:lnTo>
                  <a:lnTo>
                    <a:pt x="4416653" y="293370"/>
                  </a:lnTo>
                  <a:lnTo>
                    <a:pt x="4416742" y="294640"/>
                  </a:lnTo>
                  <a:lnTo>
                    <a:pt x="4416984" y="300990"/>
                  </a:lnTo>
                  <a:lnTo>
                    <a:pt x="4417047" y="317500"/>
                  </a:lnTo>
                  <a:lnTo>
                    <a:pt x="4417047" y="233006"/>
                  </a:lnTo>
                  <a:lnTo>
                    <a:pt x="4416907" y="232410"/>
                  </a:lnTo>
                  <a:lnTo>
                    <a:pt x="4414901" y="224790"/>
                  </a:lnTo>
                  <a:lnTo>
                    <a:pt x="4412729" y="217170"/>
                  </a:lnTo>
                  <a:lnTo>
                    <a:pt x="4410380" y="210820"/>
                  </a:lnTo>
                  <a:lnTo>
                    <a:pt x="4407852" y="203200"/>
                  </a:lnTo>
                  <a:lnTo>
                    <a:pt x="4405173" y="195580"/>
                  </a:lnTo>
                  <a:lnTo>
                    <a:pt x="4402315" y="189230"/>
                  </a:lnTo>
                  <a:lnTo>
                    <a:pt x="4399292" y="181610"/>
                  </a:lnTo>
                  <a:lnTo>
                    <a:pt x="4396105" y="175260"/>
                  </a:lnTo>
                  <a:lnTo>
                    <a:pt x="4392765" y="168910"/>
                  </a:lnTo>
                  <a:lnTo>
                    <a:pt x="4389272" y="162560"/>
                  </a:lnTo>
                  <a:lnTo>
                    <a:pt x="4385615" y="154940"/>
                  </a:lnTo>
                  <a:lnTo>
                    <a:pt x="4381817" y="148590"/>
                  </a:lnTo>
                  <a:lnTo>
                    <a:pt x="4377855" y="142240"/>
                  </a:lnTo>
                  <a:lnTo>
                    <a:pt x="4373753" y="135890"/>
                  </a:lnTo>
                  <a:lnTo>
                    <a:pt x="4369511" y="130810"/>
                  </a:lnTo>
                  <a:lnTo>
                    <a:pt x="4365129" y="124460"/>
                  </a:lnTo>
                  <a:lnTo>
                    <a:pt x="4360596" y="118110"/>
                  </a:lnTo>
                  <a:lnTo>
                    <a:pt x="4355935" y="113030"/>
                  </a:lnTo>
                  <a:lnTo>
                    <a:pt x="4351134" y="106680"/>
                  </a:lnTo>
                  <a:lnTo>
                    <a:pt x="4346206" y="101600"/>
                  </a:lnTo>
                  <a:lnTo>
                    <a:pt x="4341139" y="96520"/>
                  </a:lnTo>
                  <a:lnTo>
                    <a:pt x="4335958" y="90170"/>
                  </a:lnTo>
                  <a:lnTo>
                    <a:pt x="4330636" y="85090"/>
                  </a:lnTo>
                  <a:lnTo>
                    <a:pt x="4325201" y="80010"/>
                  </a:lnTo>
                  <a:lnTo>
                    <a:pt x="4319638" y="74930"/>
                  </a:lnTo>
                  <a:lnTo>
                    <a:pt x="4313974" y="71120"/>
                  </a:lnTo>
                  <a:lnTo>
                    <a:pt x="4308183" y="66040"/>
                  </a:lnTo>
                  <a:lnTo>
                    <a:pt x="4302277" y="60960"/>
                  </a:lnTo>
                  <a:lnTo>
                    <a:pt x="4296257" y="57150"/>
                  </a:lnTo>
                  <a:lnTo>
                    <a:pt x="4290136" y="53340"/>
                  </a:lnTo>
                  <a:lnTo>
                    <a:pt x="4283900" y="48260"/>
                  </a:lnTo>
                  <a:lnTo>
                    <a:pt x="4277576" y="44450"/>
                  </a:lnTo>
                  <a:lnTo>
                    <a:pt x="4264609" y="36830"/>
                  </a:lnTo>
                  <a:lnTo>
                    <a:pt x="4257980" y="34290"/>
                  </a:lnTo>
                  <a:lnTo>
                    <a:pt x="4251261" y="30480"/>
                  </a:lnTo>
                  <a:lnTo>
                    <a:pt x="4244441" y="27940"/>
                  </a:lnTo>
                  <a:lnTo>
                    <a:pt x="4237545" y="24130"/>
                  </a:lnTo>
                  <a:lnTo>
                    <a:pt x="4201782" y="11430"/>
                  </a:lnTo>
                  <a:lnTo>
                    <a:pt x="4194403" y="10160"/>
                  </a:lnTo>
                  <a:lnTo>
                    <a:pt x="4186948" y="7620"/>
                  </a:lnTo>
                  <a:lnTo>
                    <a:pt x="4148683" y="1270"/>
                  </a:lnTo>
                  <a:lnTo>
                    <a:pt x="4140847" y="1270"/>
                  </a:lnTo>
                  <a:lnTo>
                    <a:pt x="4132961" y="0"/>
                  </a:lnTo>
                  <a:lnTo>
                    <a:pt x="4101109" y="0"/>
                  </a:lnTo>
                  <a:lnTo>
                    <a:pt x="4093222" y="1270"/>
                  </a:lnTo>
                  <a:lnTo>
                    <a:pt x="4085399" y="1270"/>
                  </a:lnTo>
                  <a:lnTo>
                    <a:pt x="4047134" y="7620"/>
                  </a:lnTo>
                  <a:lnTo>
                    <a:pt x="4039679" y="10160"/>
                  </a:lnTo>
                  <a:lnTo>
                    <a:pt x="4032300" y="11430"/>
                  </a:lnTo>
                  <a:lnTo>
                    <a:pt x="4024985" y="13970"/>
                  </a:lnTo>
                  <a:lnTo>
                    <a:pt x="3996550" y="24130"/>
                  </a:lnTo>
                  <a:lnTo>
                    <a:pt x="3989654" y="27940"/>
                  </a:lnTo>
                  <a:lnTo>
                    <a:pt x="3982834" y="30480"/>
                  </a:lnTo>
                  <a:lnTo>
                    <a:pt x="3969486" y="38100"/>
                  </a:lnTo>
                  <a:lnTo>
                    <a:pt x="3962958" y="40640"/>
                  </a:lnTo>
                  <a:lnTo>
                    <a:pt x="3950195" y="48260"/>
                  </a:lnTo>
                  <a:lnTo>
                    <a:pt x="3943972" y="53340"/>
                  </a:lnTo>
                  <a:lnTo>
                    <a:pt x="3937851" y="57150"/>
                  </a:lnTo>
                  <a:lnTo>
                    <a:pt x="3931831" y="62230"/>
                  </a:lnTo>
                  <a:lnTo>
                    <a:pt x="3925938" y="66040"/>
                  </a:lnTo>
                  <a:lnTo>
                    <a:pt x="3920147" y="71120"/>
                  </a:lnTo>
                  <a:lnTo>
                    <a:pt x="3914470" y="76200"/>
                  </a:lnTo>
                  <a:lnTo>
                    <a:pt x="3908920" y="80010"/>
                  </a:lnTo>
                  <a:lnTo>
                    <a:pt x="3903484" y="85090"/>
                  </a:lnTo>
                  <a:lnTo>
                    <a:pt x="3898163" y="91440"/>
                  </a:lnTo>
                  <a:lnTo>
                    <a:pt x="3892981" y="96520"/>
                  </a:lnTo>
                  <a:lnTo>
                    <a:pt x="3887914" y="101600"/>
                  </a:lnTo>
                  <a:lnTo>
                    <a:pt x="3882987" y="106680"/>
                  </a:lnTo>
                  <a:lnTo>
                    <a:pt x="3878186" y="113030"/>
                  </a:lnTo>
                  <a:lnTo>
                    <a:pt x="3873525" y="118110"/>
                  </a:lnTo>
                  <a:lnTo>
                    <a:pt x="3869004" y="124460"/>
                  </a:lnTo>
                  <a:lnTo>
                    <a:pt x="3864622" y="130810"/>
                  </a:lnTo>
                  <a:lnTo>
                    <a:pt x="3860381" y="137160"/>
                  </a:lnTo>
                  <a:lnTo>
                    <a:pt x="3856278" y="142240"/>
                  </a:lnTo>
                  <a:lnTo>
                    <a:pt x="3852329" y="148590"/>
                  </a:lnTo>
                  <a:lnTo>
                    <a:pt x="3848519" y="156210"/>
                  </a:lnTo>
                  <a:lnTo>
                    <a:pt x="3844874" y="162560"/>
                  </a:lnTo>
                  <a:lnTo>
                    <a:pt x="3841381" y="168910"/>
                  </a:lnTo>
                  <a:lnTo>
                    <a:pt x="3838041" y="175260"/>
                  </a:lnTo>
                  <a:lnTo>
                    <a:pt x="3834866" y="182880"/>
                  </a:lnTo>
                  <a:lnTo>
                    <a:pt x="3831844" y="189230"/>
                  </a:lnTo>
                  <a:lnTo>
                    <a:pt x="3828986" y="195580"/>
                  </a:lnTo>
                  <a:lnTo>
                    <a:pt x="3826306" y="203200"/>
                  </a:lnTo>
                  <a:lnTo>
                    <a:pt x="3823779" y="210820"/>
                  </a:lnTo>
                  <a:lnTo>
                    <a:pt x="3821442" y="217170"/>
                  </a:lnTo>
                  <a:lnTo>
                    <a:pt x="3812362" y="255270"/>
                  </a:lnTo>
                  <a:lnTo>
                    <a:pt x="3807942" y="293370"/>
                  </a:lnTo>
                  <a:lnTo>
                    <a:pt x="3807637" y="317500"/>
                  </a:lnTo>
                  <a:lnTo>
                    <a:pt x="3807942" y="325120"/>
                  </a:lnTo>
                  <a:lnTo>
                    <a:pt x="3808374" y="332740"/>
                  </a:lnTo>
                  <a:lnTo>
                    <a:pt x="3808450" y="334010"/>
                  </a:lnTo>
                  <a:lnTo>
                    <a:pt x="3809022" y="340360"/>
                  </a:lnTo>
                  <a:lnTo>
                    <a:pt x="3809136" y="341630"/>
                  </a:lnTo>
                  <a:lnTo>
                    <a:pt x="3815473" y="379730"/>
                  </a:lnTo>
                  <a:lnTo>
                    <a:pt x="3821468" y="401320"/>
                  </a:lnTo>
                  <a:lnTo>
                    <a:pt x="3823817" y="408940"/>
                  </a:lnTo>
                  <a:lnTo>
                    <a:pt x="3826345" y="416560"/>
                  </a:lnTo>
                  <a:lnTo>
                    <a:pt x="3829037" y="422910"/>
                  </a:lnTo>
                  <a:lnTo>
                    <a:pt x="3831894" y="430530"/>
                  </a:lnTo>
                  <a:lnTo>
                    <a:pt x="3834904" y="436880"/>
                  </a:lnTo>
                  <a:lnTo>
                    <a:pt x="3838092" y="444500"/>
                  </a:lnTo>
                  <a:lnTo>
                    <a:pt x="3841432" y="450850"/>
                  </a:lnTo>
                  <a:lnTo>
                    <a:pt x="3864686" y="488950"/>
                  </a:lnTo>
                  <a:lnTo>
                    <a:pt x="3873601" y="500380"/>
                  </a:lnTo>
                  <a:lnTo>
                    <a:pt x="3878262" y="506730"/>
                  </a:lnTo>
                  <a:lnTo>
                    <a:pt x="3883063" y="511810"/>
                  </a:lnTo>
                  <a:lnTo>
                    <a:pt x="3887990" y="518160"/>
                  </a:lnTo>
                  <a:lnTo>
                    <a:pt x="3893058" y="523240"/>
                  </a:lnTo>
                  <a:lnTo>
                    <a:pt x="3926027" y="553720"/>
                  </a:lnTo>
                  <a:lnTo>
                    <a:pt x="3931932" y="557530"/>
                  </a:lnTo>
                  <a:lnTo>
                    <a:pt x="3937939" y="562610"/>
                  </a:lnTo>
                  <a:lnTo>
                    <a:pt x="3982936" y="589280"/>
                  </a:lnTo>
                  <a:lnTo>
                    <a:pt x="3996652" y="594360"/>
                  </a:lnTo>
                  <a:lnTo>
                    <a:pt x="4003649" y="598170"/>
                  </a:lnTo>
                  <a:lnTo>
                    <a:pt x="4025100" y="605790"/>
                  </a:lnTo>
                  <a:lnTo>
                    <a:pt x="4032415" y="607060"/>
                  </a:lnTo>
                  <a:lnTo>
                    <a:pt x="4039793" y="609600"/>
                  </a:lnTo>
                  <a:lnTo>
                    <a:pt x="4047248" y="610870"/>
                  </a:lnTo>
                  <a:lnTo>
                    <a:pt x="4054779" y="613410"/>
                  </a:lnTo>
                  <a:lnTo>
                    <a:pt x="4069207" y="615810"/>
                  </a:lnTo>
                  <a:lnTo>
                    <a:pt x="3284804" y="1049299"/>
                  </a:lnTo>
                  <a:lnTo>
                    <a:pt x="3435820" y="596277"/>
                  </a:lnTo>
                  <a:lnTo>
                    <a:pt x="3431298" y="594779"/>
                  </a:lnTo>
                  <a:lnTo>
                    <a:pt x="3428504" y="590918"/>
                  </a:lnTo>
                  <a:lnTo>
                    <a:pt x="3422091" y="595566"/>
                  </a:lnTo>
                  <a:lnTo>
                    <a:pt x="3422091" y="607326"/>
                  </a:lnTo>
                  <a:lnTo>
                    <a:pt x="3272498" y="1056106"/>
                  </a:lnTo>
                  <a:lnTo>
                    <a:pt x="3268053" y="1058570"/>
                  </a:lnTo>
                  <a:lnTo>
                    <a:pt x="3268053" y="1069441"/>
                  </a:lnTo>
                  <a:lnTo>
                    <a:pt x="2900489" y="2172119"/>
                  </a:lnTo>
                  <a:lnTo>
                    <a:pt x="2890850" y="2070900"/>
                  </a:lnTo>
                  <a:lnTo>
                    <a:pt x="2890850" y="2171306"/>
                  </a:lnTo>
                  <a:lnTo>
                    <a:pt x="2877896" y="2146579"/>
                  </a:lnTo>
                  <a:lnTo>
                    <a:pt x="2877896" y="2167090"/>
                  </a:lnTo>
                  <a:lnTo>
                    <a:pt x="2858693" y="2146935"/>
                  </a:lnTo>
                  <a:lnTo>
                    <a:pt x="2858693" y="2160727"/>
                  </a:lnTo>
                  <a:lnTo>
                    <a:pt x="2831960" y="2141372"/>
                  </a:lnTo>
                  <a:lnTo>
                    <a:pt x="2831960" y="2153120"/>
                  </a:lnTo>
                  <a:lnTo>
                    <a:pt x="2069541" y="1731784"/>
                  </a:lnTo>
                  <a:lnTo>
                    <a:pt x="2171954" y="1675193"/>
                  </a:lnTo>
                  <a:lnTo>
                    <a:pt x="2831960" y="2153120"/>
                  </a:lnTo>
                  <a:lnTo>
                    <a:pt x="2831960" y="2141372"/>
                  </a:lnTo>
                  <a:lnTo>
                    <a:pt x="2181161" y="1670100"/>
                  </a:lnTo>
                  <a:lnTo>
                    <a:pt x="2318931" y="1593964"/>
                  </a:lnTo>
                  <a:lnTo>
                    <a:pt x="2858693" y="2160727"/>
                  </a:lnTo>
                  <a:lnTo>
                    <a:pt x="2858693" y="2146935"/>
                  </a:lnTo>
                  <a:lnTo>
                    <a:pt x="2327541" y="1589214"/>
                  </a:lnTo>
                  <a:lnTo>
                    <a:pt x="2519603" y="1483067"/>
                  </a:lnTo>
                  <a:lnTo>
                    <a:pt x="2877896" y="2167090"/>
                  </a:lnTo>
                  <a:lnTo>
                    <a:pt x="2877896" y="2146579"/>
                  </a:lnTo>
                  <a:lnTo>
                    <a:pt x="2527935" y="1478457"/>
                  </a:lnTo>
                  <a:lnTo>
                    <a:pt x="2810027" y="1322565"/>
                  </a:lnTo>
                  <a:lnTo>
                    <a:pt x="2890850" y="2171306"/>
                  </a:lnTo>
                  <a:lnTo>
                    <a:pt x="2890850" y="2070900"/>
                  </a:lnTo>
                  <a:lnTo>
                    <a:pt x="2819108" y="1317548"/>
                  </a:lnTo>
                  <a:lnTo>
                    <a:pt x="3268053" y="1069441"/>
                  </a:lnTo>
                  <a:lnTo>
                    <a:pt x="3268053" y="1058570"/>
                  </a:lnTo>
                  <a:lnTo>
                    <a:pt x="2818117" y="1307211"/>
                  </a:lnTo>
                  <a:lnTo>
                    <a:pt x="2809036" y="1211834"/>
                  </a:lnTo>
                  <a:lnTo>
                    <a:pt x="2809036" y="1312227"/>
                  </a:lnTo>
                  <a:lnTo>
                    <a:pt x="2523515" y="1470025"/>
                  </a:lnTo>
                  <a:lnTo>
                    <a:pt x="2515184" y="1454124"/>
                  </a:lnTo>
                  <a:lnTo>
                    <a:pt x="2515184" y="1474622"/>
                  </a:lnTo>
                  <a:lnTo>
                    <a:pt x="2320747" y="1582077"/>
                  </a:lnTo>
                  <a:lnTo>
                    <a:pt x="2312136" y="1573047"/>
                  </a:lnTo>
                  <a:lnTo>
                    <a:pt x="2312136" y="1586839"/>
                  </a:lnTo>
                  <a:lnTo>
                    <a:pt x="2172639" y="1663928"/>
                  </a:lnTo>
                  <a:lnTo>
                    <a:pt x="2163432" y="1657273"/>
                  </a:lnTo>
                  <a:lnTo>
                    <a:pt x="2163432" y="1669021"/>
                  </a:lnTo>
                  <a:lnTo>
                    <a:pt x="2059698" y="1726349"/>
                  </a:lnTo>
                  <a:lnTo>
                    <a:pt x="2049868" y="1720926"/>
                  </a:lnTo>
                  <a:lnTo>
                    <a:pt x="2049868" y="1731784"/>
                  </a:lnTo>
                  <a:lnTo>
                    <a:pt x="1287424" y="2153132"/>
                  </a:lnTo>
                  <a:lnTo>
                    <a:pt x="1947456" y="1675180"/>
                  </a:lnTo>
                  <a:lnTo>
                    <a:pt x="2049868" y="1731784"/>
                  </a:lnTo>
                  <a:lnTo>
                    <a:pt x="2049868" y="1720926"/>
                  </a:lnTo>
                  <a:lnTo>
                    <a:pt x="1955965" y="1669021"/>
                  </a:lnTo>
                  <a:lnTo>
                    <a:pt x="2059698" y="1593900"/>
                  </a:lnTo>
                  <a:lnTo>
                    <a:pt x="2163432" y="1669021"/>
                  </a:lnTo>
                  <a:lnTo>
                    <a:pt x="2163432" y="1657273"/>
                  </a:lnTo>
                  <a:lnTo>
                    <a:pt x="2067814" y="1588020"/>
                  </a:lnTo>
                  <a:lnTo>
                    <a:pt x="2213076" y="1482826"/>
                  </a:lnTo>
                  <a:lnTo>
                    <a:pt x="2312136" y="1586839"/>
                  </a:lnTo>
                  <a:lnTo>
                    <a:pt x="2312136" y="1573047"/>
                  </a:lnTo>
                  <a:lnTo>
                    <a:pt x="2220861" y="1477200"/>
                  </a:lnTo>
                  <a:lnTo>
                    <a:pt x="2435225" y="1321968"/>
                  </a:lnTo>
                  <a:lnTo>
                    <a:pt x="2515184" y="1474622"/>
                  </a:lnTo>
                  <a:lnTo>
                    <a:pt x="2515184" y="1454124"/>
                  </a:lnTo>
                  <a:lnTo>
                    <a:pt x="2443010" y="1316329"/>
                  </a:lnTo>
                  <a:lnTo>
                    <a:pt x="2785795" y="1068108"/>
                  </a:lnTo>
                  <a:lnTo>
                    <a:pt x="2809036" y="1312227"/>
                  </a:lnTo>
                  <a:lnTo>
                    <a:pt x="2809036" y="1211834"/>
                  </a:lnTo>
                  <a:lnTo>
                    <a:pt x="2794736" y="1061631"/>
                  </a:lnTo>
                  <a:lnTo>
                    <a:pt x="3422091" y="607326"/>
                  </a:lnTo>
                  <a:lnTo>
                    <a:pt x="3422091" y="595566"/>
                  </a:lnTo>
                  <a:lnTo>
                    <a:pt x="2793682" y="1050620"/>
                  </a:lnTo>
                  <a:lnTo>
                    <a:pt x="2750235" y="594321"/>
                  </a:lnTo>
                  <a:lnTo>
                    <a:pt x="2740761" y="595223"/>
                  </a:lnTo>
                  <a:lnTo>
                    <a:pt x="2784741" y="1057097"/>
                  </a:lnTo>
                  <a:lnTo>
                    <a:pt x="2438539" y="1307795"/>
                  </a:lnTo>
                  <a:lnTo>
                    <a:pt x="2063915" y="592569"/>
                  </a:lnTo>
                  <a:lnTo>
                    <a:pt x="2055482" y="596988"/>
                  </a:lnTo>
                  <a:lnTo>
                    <a:pt x="2430754" y="1313434"/>
                  </a:lnTo>
                  <a:lnTo>
                    <a:pt x="2214232" y="1470228"/>
                  </a:lnTo>
                  <a:lnTo>
                    <a:pt x="1377353" y="591489"/>
                  </a:lnTo>
                  <a:lnTo>
                    <a:pt x="1370457" y="598055"/>
                  </a:lnTo>
                  <a:lnTo>
                    <a:pt x="2206447" y="1475867"/>
                  </a:lnTo>
                  <a:lnTo>
                    <a:pt x="2059698" y="1582140"/>
                  </a:lnTo>
                  <a:lnTo>
                    <a:pt x="690892" y="590918"/>
                  </a:lnTo>
                  <a:lnTo>
                    <a:pt x="685304" y="598627"/>
                  </a:lnTo>
                  <a:lnTo>
                    <a:pt x="2051583" y="1588020"/>
                  </a:lnTo>
                  <a:lnTo>
                    <a:pt x="1946757" y="1663928"/>
                  </a:lnTo>
                  <a:lnTo>
                    <a:pt x="4597" y="590613"/>
                  </a:lnTo>
                  <a:lnTo>
                    <a:pt x="0" y="598944"/>
                  </a:lnTo>
                  <a:lnTo>
                    <a:pt x="1938235" y="1670100"/>
                  </a:lnTo>
                  <a:lnTo>
                    <a:pt x="1218704" y="2191131"/>
                  </a:lnTo>
                  <a:lnTo>
                    <a:pt x="1221498" y="2195004"/>
                  </a:lnTo>
                  <a:lnTo>
                    <a:pt x="1223810" y="2199157"/>
                  </a:lnTo>
                  <a:lnTo>
                    <a:pt x="2059711" y="1737220"/>
                  </a:lnTo>
                  <a:lnTo>
                    <a:pt x="2895600" y="2199157"/>
                  </a:lnTo>
                  <a:lnTo>
                    <a:pt x="2897873" y="2195017"/>
                  </a:lnTo>
                  <a:lnTo>
                    <a:pt x="2901683" y="2197874"/>
                  </a:lnTo>
                  <a:lnTo>
                    <a:pt x="4105008" y="618490"/>
                  </a:lnTo>
                  <a:lnTo>
                    <a:pt x="4140974" y="618490"/>
                  </a:lnTo>
                  <a:lnTo>
                    <a:pt x="4148810" y="617220"/>
                  </a:lnTo>
                  <a:lnTo>
                    <a:pt x="4156583" y="617220"/>
                  </a:lnTo>
                  <a:lnTo>
                    <a:pt x="4179544" y="613410"/>
                  </a:lnTo>
                  <a:lnTo>
                    <a:pt x="4187063" y="610870"/>
                  </a:lnTo>
                  <a:lnTo>
                    <a:pt x="4194518" y="609600"/>
                  </a:lnTo>
                  <a:lnTo>
                    <a:pt x="4201896" y="607060"/>
                  </a:lnTo>
                  <a:lnTo>
                    <a:pt x="4209211" y="605790"/>
                  </a:lnTo>
                  <a:lnTo>
                    <a:pt x="4230662" y="598170"/>
                  </a:lnTo>
                  <a:lnTo>
                    <a:pt x="4237647" y="594360"/>
                  </a:lnTo>
                  <a:lnTo>
                    <a:pt x="4251363" y="589280"/>
                  </a:lnTo>
                  <a:lnTo>
                    <a:pt x="4290225" y="566420"/>
                  </a:lnTo>
                  <a:lnTo>
                    <a:pt x="4302366" y="557530"/>
                  </a:lnTo>
                  <a:lnTo>
                    <a:pt x="4308272" y="553720"/>
                  </a:lnTo>
                  <a:lnTo>
                    <a:pt x="4341215" y="523240"/>
                  </a:lnTo>
                  <a:lnTo>
                    <a:pt x="4351210" y="511810"/>
                  </a:lnTo>
                  <a:lnTo>
                    <a:pt x="4356011" y="506730"/>
                  </a:lnTo>
                  <a:lnTo>
                    <a:pt x="4360672" y="500380"/>
                  </a:lnTo>
                  <a:lnTo>
                    <a:pt x="4365193" y="495300"/>
                  </a:lnTo>
                  <a:lnTo>
                    <a:pt x="4369574" y="488950"/>
                  </a:lnTo>
                  <a:lnTo>
                    <a:pt x="4392815" y="450850"/>
                  </a:lnTo>
                  <a:lnTo>
                    <a:pt x="4396156" y="443230"/>
                  </a:lnTo>
                  <a:lnTo>
                    <a:pt x="4399343" y="436880"/>
                  </a:lnTo>
                  <a:lnTo>
                    <a:pt x="4402353" y="430530"/>
                  </a:lnTo>
                  <a:lnTo>
                    <a:pt x="4405211" y="422910"/>
                  </a:lnTo>
                  <a:lnTo>
                    <a:pt x="4407903" y="416560"/>
                  </a:lnTo>
                  <a:lnTo>
                    <a:pt x="4410418" y="408940"/>
                  </a:lnTo>
                  <a:lnTo>
                    <a:pt x="4412767" y="401320"/>
                  </a:lnTo>
                  <a:lnTo>
                    <a:pt x="4414939" y="394970"/>
                  </a:lnTo>
                  <a:lnTo>
                    <a:pt x="4423105" y="356870"/>
                  </a:lnTo>
                  <a:lnTo>
                    <a:pt x="4426559" y="317500"/>
                  </a:lnTo>
                  <a:lnTo>
                    <a:pt x="4426559" y="3009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3680752" y="3247656"/>
            <a:ext cx="12960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20">
                <a:latin typeface="Courier New"/>
                <a:cs typeface="Courier New"/>
              </a:rPr>
              <a:t>output</a:t>
            </a:r>
            <a:endParaRPr sz="3600">
              <a:latin typeface="Courier New"/>
              <a:cs typeface="Courier New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5013299" y="3157410"/>
            <a:ext cx="1830705" cy="634365"/>
          </a:xfrm>
          <a:custGeom>
            <a:avLst/>
            <a:gdLst/>
            <a:ahLst/>
            <a:cxnLst/>
            <a:rect l="l" t="t" r="r" b="b"/>
            <a:pathLst>
              <a:path w="1830704" h="634364">
                <a:moveTo>
                  <a:pt x="68135" y="540194"/>
                </a:moveTo>
                <a:lnTo>
                  <a:pt x="66372" y="540194"/>
                </a:lnTo>
                <a:lnTo>
                  <a:pt x="64609" y="540791"/>
                </a:lnTo>
                <a:lnTo>
                  <a:pt x="64783" y="540791"/>
                </a:lnTo>
                <a:lnTo>
                  <a:pt x="63626" y="541718"/>
                </a:lnTo>
                <a:lnTo>
                  <a:pt x="0" y="614121"/>
                </a:lnTo>
                <a:lnTo>
                  <a:pt x="94639" y="633920"/>
                </a:lnTo>
                <a:lnTo>
                  <a:pt x="95986" y="633920"/>
                </a:lnTo>
                <a:lnTo>
                  <a:pt x="97561" y="633399"/>
                </a:lnTo>
                <a:lnTo>
                  <a:pt x="98856" y="632371"/>
                </a:lnTo>
                <a:lnTo>
                  <a:pt x="99733" y="630974"/>
                </a:lnTo>
                <a:lnTo>
                  <a:pt x="100075" y="629348"/>
                </a:lnTo>
                <a:lnTo>
                  <a:pt x="99834" y="627710"/>
                </a:lnTo>
                <a:lnTo>
                  <a:pt x="53815" y="615645"/>
                </a:lnTo>
                <a:lnTo>
                  <a:pt x="10477" y="615645"/>
                </a:lnTo>
                <a:lnTo>
                  <a:pt x="7467" y="606615"/>
                </a:lnTo>
                <a:lnTo>
                  <a:pt x="24168" y="601048"/>
                </a:lnTo>
                <a:lnTo>
                  <a:pt x="70777" y="548004"/>
                </a:lnTo>
                <a:lnTo>
                  <a:pt x="71640" y="546595"/>
                </a:lnTo>
                <a:lnTo>
                  <a:pt x="71958" y="544969"/>
                </a:lnTo>
                <a:lnTo>
                  <a:pt x="71716" y="543331"/>
                </a:lnTo>
                <a:lnTo>
                  <a:pt x="70916" y="541883"/>
                </a:lnTo>
                <a:lnTo>
                  <a:pt x="69672" y="540791"/>
                </a:lnTo>
                <a:lnTo>
                  <a:pt x="68135" y="540194"/>
                </a:lnTo>
                <a:close/>
              </a:path>
              <a:path w="1830704" h="634364">
                <a:moveTo>
                  <a:pt x="24168" y="601048"/>
                </a:moveTo>
                <a:lnTo>
                  <a:pt x="7467" y="606615"/>
                </a:lnTo>
                <a:lnTo>
                  <a:pt x="10477" y="615645"/>
                </a:lnTo>
                <a:lnTo>
                  <a:pt x="14592" y="614273"/>
                </a:lnTo>
                <a:lnTo>
                  <a:pt x="12547" y="614273"/>
                </a:lnTo>
                <a:lnTo>
                  <a:pt x="9994" y="606615"/>
                </a:lnTo>
                <a:lnTo>
                  <a:pt x="9944" y="606463"/>
                </a:lnTo>
                <a:lnTo>
                  <a:pt x="19410" y="606463"/>
                </a:lnTo>
                <a:lnTo>
                  <a:pt x="24168" y="601048"/>
                </a:lnTo>
                <a:close/>
              </a:path>
              <a:path w="1830704" h="634364">
                <a:moveTo>
                  <a:pt x="27193" y="610073"/>
                </a:moveTo>
                <a:lnTo>
                  <a:pt x="10477" y="615645"/>
                </a:lnTo>
                <a:lnTo>
                  <a:pt x="53815" y="615645"/>
                </a:lnTo>
                <a:lnTo>
                  <a:pt x="27193" y="610073"/>
                </a:lnTo>
                <a:close/>
              </a:path>
              <a:path w="1830704" h="634364">
                <a:moveTo>
                  <a:pt x="9944" y="606463"/>
                </a:moveTo>
                <a:lnTo>
                  <a:pt x="12496" y="614121"/>
                </a:lnTo>
                <a:lnTo>
                  <a:pt x="12547" y="614273"/>
                </a:lnTo>
                <a:lnTo>
                  <a:pt x="17940" y="608136"/>
                </a:lnTo>
                <a:lnTo>
                  <a:pt x="9944" y="606463"/>
                </a:lnTo>
                <a:close/>
              </a:path>
              <a:path w="1830704" h="634364">
                <a:moveTo>
                  <a:pt x="17940" y="608136"/>
                </a:moveTo>
                <a:lnTo>
                  <a:pt x="12547" y="614273"/>
                </a:lnTo>
                <a:lnTo>
                  <a:pt x="14592" y="614273"/>
                </a:lnTo>
                <a:lnTo>
                  <a:pt x="27193" y="610073"/>
                </a:lnTo>
                <a:lnTo>
                  <a:pt x="17940" y="608136"/>
                </a:lnTo>
                <a:close/>
              </a:path>
              <a:path w="1830704" h="634364">
                <a:moveTo>
                  <a:pt x="1827301" y="0"/>
                </a:moveTo>
                <a:lnTo>
                  <a:pt x="24168" y="601048"/>
                </a:lnTo>
                <a:lnTo>
                  <a:pt x="17940" y="608136"/>
                </a:lnTo>
                <a:lnTo>
                  <a:pt x="27193" y="610073"/>
                </a:lnTo>
                <a:lnTo>
                  <a:pt x="1830311" y="9029"/>
                </a:lnTo>
                <a:lnTo>
                  <a:pt x="1827301" y="0"/>
                </a:lnTo>
                <a:close/>
              </a:path>
              <a:path w="1830704" h="634364">
                <a:moveTo>
                  <a:pt x="19410" y="606463"/>
                </a:moveTo>
                <a:lnTo>
                  <a:pt x="9944" y="606463"/>
                </a:lnTo>
                <a:lnTo>
                  <a:pt x="17940" y="608136"/>
                </a:lnTo>
                <a:lnTo>
                  <a:pt x="19410" y="6064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2853664" y="5329653"/>
            <a:ext cx="4292600" cy="131191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072515">
              <a:lnSpc>
                <a:spcPct val="100000"/>
              </a:lnSpc>
              <a:spcBef>
                <a:spcPts val="390"/>
              </a:spcBef>
            </a:pPr>
            <a:r>
              <a:rPr dirty="0" sz="4400" spc="-50" b="1">
                <a:latin typeface="Arial"/>
                <a:cs typeface="Arial"/>
              </a:rPr>
              <a:t>…</a:t>
            </a:r>
            <a:endParaRPr sz="4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z="3600" spc="-620">
                <a:latin typeface="Courier New"/>
                <a:cs typeface="Courier New"/>
              </a:rPr>
              <a:t>input</a:t>
            </a:r>
            <a:r>
              <a:rPr dirty="0" sz="3600" spc="-1145">
                <a:latin typeface="Courier New"/>
                <a:cs typeface="Courier New"/>
              </a:rPr>
              <a:t> </a:t>
            </a:r>
            <a:r>
              <a:rPr dirty="0" sz="3600" spc="-710">
                <a:latin typeface="Courier New"/>
                <a:cs typeface="Courier New"/>
              </a:rPr>
              <a:t>(n-</a:t>
            </a:r>
            <a:r>
              <a:rPr dirty="0" sz="3600" spc="-490">
                <a:latin typeface="Courier New"/>
                <a:cs typeface="Courier New"/>
              </a:rPr>
              <a:t>dimensional)</a:t>
            </a:r>
            <a:endParaRPr sz="3600">
              <a:latin typeface="Courier New"/>
              <a:cs typeface="Courier New"/>
            </a:endParaRP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30</a:t>
            </a:fld>
          </a:p>
        </p:txBody>
      </p:sp>
      <p:sp>
        <p:nvSpPr>
          <p:cNvPr id="14" name="object 14" descr=""/>
          <p:cNvSpPr txBox="1"/>
          <p:nvPr/>
        </p:nvSpPr>
        <p:spPr>
          <a:xfrm>
            <a:off x="6979577" y="2790456"/>
            <a:ext cx="13716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420">
                <a:latin typeface="Courier New"/>
                <a:cs typeface="Courier New"/>
              </a:rPr>
              <a:t>winner</a:t>
            </a:r>
            <a:endParaRPr sz="3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3452" rIns="0" bIns="0" rtlCol="0" vert="horz">
            <a:spAutoFit/>
          </a:bodyPr>
          <a:lstStyle/>
          <a:p>
            <a:pPr marL="240029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Winner-</a:t>
            </a:r>
            <a:r>
              <a:rPr dirty="0" spc="-20"/>
              <a:t>takes-</a:t>
            </a:r>
            <a:r>
              <a:rPr dirty="0"/>
              <a:t>all</a:t>
            </a:r>
            <a:r>
              <a:rPr dirty="0" spc="15"/>
              <a:t> </a:t>
            </a:r>
            <a:r>
              <a:rPr dirty="0" spc="-10"/>
              <a:t>(WTA)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30</a:t>
            </a:fld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74751" rIns="0" bIns="0" rtlCol="0" vert="horz">
            <a:spAutoFit/>
          </a:bodyPr>
          <a:lstStyle/>
          <a:p>
            <a:pPr marL="812165" marR="5080" indent="-342900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928"/>
              <a:buChar char="■"/>
              <a:tabLst>
                <a:tab pos="812800" algn="l"/>
              </a:tabLst>
            </a:pPr>
            <a:r>
              <a:rPr dirty="0"/>
              <a:t>Easiest</a:t>
            </a:r>
            <a:r>
              <a:rPr dirty="0" spc="-50"/>
              <a:t> </a:t>
            </a:r>
            <a:r>
              <a:rPr dirty="0"/>
              <a:t>way</a:t>
            </a:r>
            <a:r>
              <a:rPr dirty="0" spc="-50"/>
              <a:t> </a:t>
            </a:r>
            <a:r>
              <a:rPr dirty="0"/>
              <a:t>to</a:t>
            </a:r>
            <a:r>
              <a:rPr dirty="0" spc="-50"/>
              <a:t> </a:t>
            </a:r>
            <a:r>
              <a:rPr dirty="0"/>
              <a:t>realize</a:t>
            </a:r>
            <a:r>
              <a:rPr dirty="0" spc="-50"/>
              <a:t> </a:t>
            </a:r>
            <a:r>
              <a:rPr dirty="0"/>
              <a:t>WTA:</a:t>
            </a:r>
            <a:r>
              <a:rPr dirty="0" spc="-50"/>
              <a:t> </a:t>
            </a:r>
            <a:r>
              <a:rPr dirty="0"/>
              <a:t>have</a:t>
            </a:r>
            <a:r>
              <a:rPr dirty="0" spc="-50"/>
              <a:t> </a:t>
            </a:r>
            <a:r>
              <a:rPr dirty="0"/>
              <a:t>an</a:t>
            </a:r>
            <a:r>
              <a:rPr dirty="0" spc="-50"/>
              <a:t> </a:t>
            </a:r>
            <a:r>
              <a:rPr dirty="0" spc="-10"/>
              <a:t>external, </a:t>
            </a:r>
            <a:r>
              <a:rPr dirty="0"/>
              <a:t>central</a:t>
            </a:r>
            <a:r>
              <a:rPr dirty="0" spc="-65"/>
              <a:t> </a:t>
            </a:r>
            <a:r>
              <a:rPr dirty="0"/>
              <a:t>arbitrator</a:t>
            </a:r>
            <a:r>
              <a:rPr dirty="0" spc="-60"/>
              <a:t> </a:t>
            </a:r>
            <a:r>
              <a:rPr dirty="0"/>
              <a:t>(a</a:t>
            </a:r>
            <a:r>
              <a:rPr dirty="0" spc="-65"/>
              <a:t> </a:t>
            </a:r>
            <a:r>
              <a:rPr dirty="0"/>
              <a:t>program)</a:t>
            </a:r>
            <a:r>
              <a:rPr dirty="0" spc="-65"/>
              <a:t> </a:t>
            </a:r>
            <a:r>
              <a:rPr dirty="0"/>
              <a:t>to</a:t>
            </a:r>
            <a:r>
              <a:rPr dirty="0" spc="-60"/>
              <a:t> </a:t>
            </a:r>
            <a:r>
              <a:rPr dirty="0"/>
              <a:t>decide</a:t>
            </a:r>
            <a:r>
              <a:rPr dirty="0" spc="-65"/>
              <a:t> </a:t>
            </a:r>
            <a:r>
              <a:rPr dirty="0" spc="-25"/>
              <a:t>the </a:t>
            </a:r>
            <a:r>
              <a:rPr dirty="0"/>
              <a:t>winner</a:t>
            </a:r>
            <a:r>
              <a:rPr dirty="0" spc="-70"/>
              <a:t> </a:t>
            </a:r>
            <a:r>
              <a:rPr dirty="0"/>
              <a:t>by</a:t>
            </a:r>
            <a:r>
              <a:rPr dirty="0" spc="-65"/>
              <a:t> </a:t>
            </a:r>
            <a:r>
              <a:rPr dirty="0"/>
              <a:t>comparing</a:t>
            </a:r>
            <a:r>
              <a:rPr dirty="0" spc="-65"/>
              <a:t> </a:t>
            </a:r>
            <a:r>
              <a:rPr dirty="0"/>
              <a:t>the</a:t>
            </a:r>
            <a:r>
              <a:rPr dirty="0" spc="-70"/>
              <a:t> </a:t>
            </a:r>
            <a:r>
              <a:rPr dirty="0"/>
              <a:t>current</a:t>
            </a:r>
            <a:r>
              <a:rPr dirty="0" spc="-65"/>
              <a:t> </a:t>
            </a:r>
            <a:r>
              <a:rPr dirty="0"/>
              <a:t>outputs</a:t>
            </a:r>
            <a:r>
              <a:rPr dirty="0" spc="-70"/>
              <a:t> </a:t>
            </a:r>
            <a:r>
              <a:rPr dirty="0" spc="-25"/>
              <a:t>of </a:t>
            </a:r>
            <a:r>
              <a:rPr dirty="0"/>
              <a:t>the</a:t>
            </a:r>
            <a:r>
              <a:rPr dirty="0" spc="-60"/>
              <a:t> </a:t>
            </a:r>
            <a:r>
              <a:rPr dirty="0"/>
              <a:t>competitors</a:t>
            </a:r>
            <a:r>
              <a:rPr dirty="0" spc="-60"/>
              <a:t> </a:t>
            </a:r>
            <a:r>
              <a:rPr dirty="0"/>
              <a:t>(break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60"/>
              <a:t> </a:t>
            </a:r>
            <a:r>
              <a:rPr dirty="0"/>
              <a:t>tie</a:t>
            </a:r>
            <a:r>
              <a:rPr dirty="0" spc="-60"/>
              <a:t> </a:t>
            </a:r>
            <a:r>
              <a:rPr dirty="0" spc="-10"/>
              <a:t>arbitrarily)</a:t>
            </a:r>
          </a:p>
          <a:p>
            <a:pPr marL="812165" marR="79375" indent="-342900">
              <a:lnSpc>
                <a:spcPct val="100000"/>
              </a:lnSpc>
              <a:spcBef>
                <a:spcPts val="1200"/>
              </a:spcBef>
              <a:buClr>
                <a:srgbClr val="3333CC"/>
              </a:buClr>
              <a:buSzPct val="58928"/>
              <a:buChar char="■"/>
              <a:tabLst>
                <a:tab pos="812800" algn="l"/>
              </a:tabLst>
            </a:pPr>
            <a:r>
              <a:rPr dirty="0"/>
              <a:t>This</a:t>
            </a:r>
            <a:r>
              <a:rPr dirty="0" spc="-55"/>
              <a:t> </a:t>
            </a:r>
            <a:r>
              <a:rPr dirty="0"/>
              <a:t>is</a:t>
            </a:r>
            <a:r>
              <a:rPr dirty="0" spc="-55"/>
              <a:t> </a:t>
            </a:r>
            <a:r>
              <a:rPr dirty="0"/>
              <a:t>biologically</a:t>
            </a:r>
            <a:r>
              <a:rPr dirty="0" spc="-55"/>
              <a:t> </a:t>
            </a:r>
            <a:r>
              <a:rPr dirty="0"/>
              <a:t>unsound</a:t>
            </a:r>
            <a:r>
              <a:rPr dirty="0" spc="-50"/>
              <a:t> </a:t>
            </a:r>
            <a:r>
              <a:rPr dirty="0"/>
              <a:t>(no</a:t>
            </a:r>
            <a:r>
              <a:rPr dirty="0" spc="-55"/>
              <a:t> </a:t>
            </a:r>
            <a:r>
              <a:rPr dirty="0"/>
              <a:t>such</a:t>
            </a:r>
            <a:r>
              <a:rPr dirty="0" spc="-55"/>
              <a:t> </a:t>
            </a:r>
            <a:r>
              <a:rPr dirty="0" spc="-10"/>
              <a:t>external </a:t>
            </a:r>
            <a:r>
              <a:rPr dirty="0"/>
              <a:t>arbitrator</a:t>
            </a:r>
            <a:r>
              <a:rPr dirty="0" spc="-65"/>
              <a:t> </a:t>
            </a:r>
            <a:r>
              <a:rPr dirty="0"/>
              <a:t>exists</a:t>
            </a:r>
            <a:r>
              <a:rPr dirty="0" spc="-65"/>
              <a:t> </a:t>
            </a:r>
            <a:r>
              <a:rPr dirty="0"/>
              <a:t>in</a:t>
            </a:r>
            <a:r>
              <a:rPr dirty="0" spc="-65"/>
              <a:t> </a:t>
            </a:r>
            <a:r>
              <a:rPr dirty="0"/>
              <a:t>biological</a:t>
            </a:r>
            <a:r>
              <a:rPr dirty="0" spc="-60"/>
              <a:t> </a:t>
            </a:r>
            <a:r>
              <a:rPr dirty="0"/>
              <a:t>nerve</a:t>
            </a:r>
            <a:r>
              <a:rPr dirty="0" spc="-65"/>
              <a:t> </a:t>
            </a:r>
            <a:r>
              <a:rPr dirty="0" spc="-10"/>
              <a:t>system)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45440" y="2309253"/>
            <a:ext cx="4853305" cy="36410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74675" indent="-328930">
              <a:lnSpc>
                <a:spcPct val="100000"/>
              </a:lnSpc>
              <a:spcBef>
                <a:spcPts val="100"/>
              </a:spcBef>
              <a:buChar char="•"/>
              <a:tabLst>
                <a:tab pos="574675" algn="l"/>
              </a:tabLst>
            </a:pP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initialize</a:t>
            </a:r>
            <a:r>
              <a:rPr dirty="0" sz="2400" spc="-5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K</a:t>
            </a:r>
            <a:r>
              <a:rPr dirty="0" sz="2400" spc="-5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prototype</a:t>
            </a:r>
            <a:r>
              <a:rPr dirty="0" sz="2400" spc="-5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 spc="-10">
                <a:solidFill>
                  <a:srgbClr val="000066"/>
                </a:solidFill>
                <a:latin typeface="Tahoma"/>
                <a:cs typeface="Tahoma"/>
              </a:rPr>
              <a:t>vectors</a:t>
            </a:r>
            <a:endParaRPr sz="2400">
              <a:latin typeface="Tahoma"/>
              <a:cs typeface="Tahoma"/>
            </a:endParaRPr>
          </a:p>
          <a:p>
            <a:pPr marL="566420" indent="-328295">
              <a:lnSpc>
                <a:spcPct val="100000"/>
              </a:lnSpc>
              <a:spcBef>
                <a:spcPts val="1745"/>
              </a:spcBef>
              <a:buChar char="•"/>
              <a:tabLst>
                <a:tab pos="566420" algn="l"/>
              </a:tabLst>
            </a:pP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present</a:t>
            </a:r>
            <a:r>
              <a:rPr dirty="0" sz="2400" spc="-3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a</a:t>
            </a:r>
            <a:r>
              <a:rPr dirty="0" sz="2400" spc="-2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single</a:t>
            </a:r>
            <a:r>
              <a:rPr dirty="0" sz="2400" spc="-3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 spc="-10">
                <a:solidFill>
                  <a:srgbClr val="000066"/>
                </a:solidFill>
                <a:latin typeface="Tahoma"/>
                <a:cs typeface="Tahoma"/>
              </a:rPr>
              <a:t>example</a:t>
            </a:r>
            <a:endParaRPr sz="2400">
              <a:latin typeface="Tahoma"/>
              <a:cs typeface="Tahoma"/>
            </a:endParaRPr>
          </a:p>
          <a:p>
            <a:pPr marL="494665" marR="297815" indent="-274320">
              <a:lnSpc>
                <a:spcPct val="106400"/>
              </a:lnSpc>
              <a:spcBef>
                <a:spcPts val="1785"/>
              </a:spcBef>
              <a:buChar char="•"/>
              <a:tabLst>
                <a:tab pos="494665" algn="l"/>
                <a:tab pos="549275" algn="l"/>
              </a:tabLst>
            </a:pP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	identify</a:t>
            </a:r>
            <a:r>
              <a:rPr dirty="0" sz="2400" spc="-4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the</a:t>
            </a:r>
            <a:r>
              <a:rPr dirty="0" sz="2400" spc="-3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closest</a:t>
            </a:r>
            <a:r>
              <a:rPr dirty="0" sz="2400" spc="-4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 spc="-10">
                <a:solidFill>
                  <a:srgbClr val="000066"/>
                </a:solidFill>
                <a:latin typeface="Tahoma"/>
                <a:cs typeface="Tahoma"/>
              </a:rPr>
              <a:t>prototype, i.e.,</a:t>
            </a:r>
            <a:r>
              <a:rPr dirty="0" sz="2400" spc="-10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the</a:t>
            </a:r>
            <a:r>
              <a:rPr dirty="0" sz="2400" spc="-5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 spc="-10">
                <a:solidFill>
                  <a:srgbClr val="000066"/>
                </a:solidFill>
                <a:latin typeface="Tahoma"/>
                <a:cs typeface="Tahoma"/>
              </a:rPr>
              <a:t>so-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called</a:t>
            </a:r>
            <a:r>
              <a:rPr dirty="0" sz="2400" spc="-10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500" spc="-70" b="1" i="1">
                <a:solidFill>
                  <a:srgbClr val="000066"/>
                </a:solidFill>
                <a:latin typeface="Verdana"/>
                <a:cs typeface="Verdana"/>
              </a:rPr>
              <a:t>winner</a:t>
            </a:r>
            <a:endParaRPr sz="2500">
              <a:latin typeface="Verdana"/>
              <a:cs typeface="Verdana"/>
            </a:endParaRPr>
          </a:p>
          <a:p>
            <a:pPr marL="499745" marR="654685" indent="-285750">
              <a:lnSpc>
                <a:spcPct val="100000"/>
              </a:lnSpc>
              <a:spcBef>
                <a:spcPts val="1295"/>
              </a:spcBef>
              <a:buChar char="•"/>
              <a:tabLst>
                <a:tab pos="499745" algn="l"/>
                <a:tab pos="542925" algn="l"/>
              </a:tabLst>
            </a:pP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	move</a:t>
            </a:r>
            <a:r>
              <a:rPr dirty="0" sz="2400" spc="-3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the</a:t>
            </a:r>
            <a:r>
              <a:rPr dirty="0" sz="2400" spc="-3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winner</a:t>
            </a:r>
            <a:r>
              <a:rPr dirty="0" sz="2400" spc="-3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 spc="-20">
                <a:solidFill>
                  <a:srgbClr val="000066"/>
                </a:solidFill>
                <a:latin typeface="Tahoma"/>
                <a:cs typeface="Tahoma"/>
              </a:rPr>
              <a:t>even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closer</a:t>
            </a:r>
            <a:r>
              <a:rPr dirty="0" sz="2400" spc="-4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towards</a:t>
            </a:r>
            <a:r>
              <a:rPr dirty="0" sz="2400" spc="-5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the</a:t>
            </a:r>
            <a:r>
              <a:rPr dirty="0" sz="2400" spc="-4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 spc="-10">
                <a:solidFill>
                  <a:srgbClr val="000066"/>
                </a:solidFill>
                <a:latin typeface="Tahoma"/>
                <a:cs typeface="Tahoma"/>
              </a:rPr>
              <a:t>example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Intuitively</a:t>
            </a:r>
            <a:r>
              <a:rPr dirty="0" sz="2400" spc="-8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 spc="-45">
                <a:solidFill>
                  <a:srgbClr val="000066"/>
                </a:solidFill>
                <a:latin typeface="Tahoma"/>
                <a:cs typeface="Tahoma"/>
              </a:rPr>
              <a:t>clear,</a:t>
            </a:r>
            <a:r>
              <a:rPr dirty="0" sz="2400" spc="-8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plausible</a:t>
            </a:r>
            <a:r>
              <a:rPr dirty="0" sz="2400" spc="-8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 spc="-10">
                <a:solidFill>
                  <a:srgbClr val="000066"/>
                </a:solidFill>
                <a:latin typeface="Tahoma"/>
                <a:cs typeface="Tahoma"/>
              </a:rPr>
              <a:t>procedure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45440" y="5924626"/>
            <a:ext cx="765302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64515" indent="-551815">
              <a:lnSpc>
                <a:spcPct val="100000"/>
              </a:lnSpc>
              <a:spcBef>
                <a:spcPts val="100"/>
              </a:spcBef>
              <a:buFont typeface="Courier New"/>
              <a:buChar char="•"/>
              <a:tabLst>
                <a:tab pos="564515" algn="l"/>
              </a:tabLst>
            </a:pP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places</a:t>
            </a:r>
            <a:r>
              <a:rPr dirty="0" sz="2400" spc="-4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prototypes</a:t>
            </a:r>
            <a:r>
              <a:rPr dirty="0" sz="2400" spc="-4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in</a:t>
            </a:r>
            <a:r>
              <a:rPr dirty="0" sz="2400" spc="-3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areas</a:t>
            </a:r>
            <a:r>
              <a:rPr dirty="0" sz="2400" spc="-4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with</a:t>
            </a:r>
            <a:r>
              <a:rPr dirty="0" sz="2400" spc="-3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high</a:t>
            </a:r>
            <a:r>
              <a:rPr dirty="0" sz="2400" spc="-3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density</a:t>
            </a:r>
            <a:r>
              <a:rPr dirty="0" sz="2400" spc="-4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of</a:t>
            </a:r>
            <a:r>
              <a:rPr dirty="0" sz="2400" spc="-3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 spc="-20">
                <a:solidFill>
                  <a:srgbClr val="000066"/>
                </a:solidFill>
                <a:latin typeface="Tahoma"/>
                <a:cs typeface="Tahoma"/>
              </a:rPr>
              <a:t>data</a:t>
            </a:r>
            <a:endParaRPr sz="2400">
              <a:latin typeface="Tahoma"/>
              <a:cs typeface="Tahoma"/>
            </a:endParaRPr>
          </a:p>
          <a:p>
            <a:pPr marL="564515" indent="-551815">
              <a:lnSpc>
                <a:spcPct val="100000"/>
              </a:lnSpc>
              <a:buFont typeface="Courier New"/>
              <a:buChar char="•"/>
              <a:tabLst>
                <a:tab pos="564515" algn="l"/>
              </a:tabLst>
            </a:pP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identifies</a:t>
            </a:r>
            <a:r>
              <a:rPr dirty="0" sz="2400" spc="-4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the</a:t>
            </a:r>
            <a:r>
              <a:rPr dirty="0" sz="2400" spc="-3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most</a:t>
            </a:r>
            <a:r>
              <a:rPr dirty="0" sz="2400" spc="-3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relevant</a:t>
            </a:r>
            <a:r>
              <a:rPr dirty="0" sz="2400" spc="-3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combinations</a:t>
            </a:r>
            <a:r>
              <a:rPr dirty="0" sz="2400" spc="-4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of</a:t>
            </a:r>
            <a:r>
              <a:rPr dirty="0" sz="2400" spc="-3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 spc="-10">
                <a:solidFill>
                  <a:srgbClr val="000066"/>
                </a:solidFill>
                <a:latin typeface="Tahoma"/>
                <a:cs typeface="Tahoma"/>
              </a:rPr>
              <a:t>features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7657274" y="3776535"/>
            <a:ext cx="794385" cy="972819"/>
            <a:chOff x="7657274" y="3776535"/>
            <a:chExt cx="794385" cy="972819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89074" y="4482236"/>
              <a:ext cx="362013" cy="267017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8711" y="4237761"/>
              <a:ext cx="152463" cy="15113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84756" y="4292472"/>
              <a:ext cx="153136" cy="15240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59381" y="3776535"/>
              <a:ext cx="153136" cy="15240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82749" y="4179023"/>
              <a:ext cx="152463" cy="151130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57274" y="3791673"/>
              <a:ext cx="561555" cy="432511"/>
            </a:xfrm>
            <a:prstGeom prst="rect">
              <a:avLst/>
            </a:prstGeom>
          </p:spPr>
        </p:pic>
      </p:grpSp>
      <p:pic>
        <p:nvPicPr>
          <p:cNvPr id="11" name="object 1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92149" y="3110636"/>
            <a:ext cx="152463" cy="151129"/>
          </a:xfrm>
          <a:prstGeom prst="rect">
            <a:avLst/>
          </a:prstGeom>
        </p:spPr>
      </p:pic>
      <p:grpSp>
        <p:nvGrpSpPr>
          <p:cNvPr id="12" name="object 12" descr=""/>
          <p:cNvGrpSpPr/>
          <p:nvPr/>
        </p:nvGrpSpPr>
        <p:grpSpPr>
          <a:xfrm>
            <a:off x="5852286" y="3228848"/>
            <a:ext cx="1506855" cy="1442720"/>
            <a:chOff x="5852286" y="3228848"/>
            <a:chExt cx="1506855" cy="1442720"/>
          </a:xfrm>
        </p:grpSpPr>
        <p:pic>
          <p:nvPicPr>
            <p:cNvPr id="13" name="object 1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06424" y="3418611"/>
              <a:ext cx="152463" cy="151129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52286" y="3228848"/>
              <a:ext cx="1370076" cy="1302918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01561" y="4520336"/>
              <a:ext cx="152463" cy="151130"/>
            </a:xfrm>
            <a:prstGeom prst="rect">
              <a:avLst/>
            </a:prstGeom>
          </p:spPr>
        </p:pic>
      </p:grpSp>
      <p:pic>
        <p:nvPicPr>
          <p:cNvPr id="16" name="object 16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742999" y="4558436"/>
            <a:ext cx="152463" cy="151130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858761" y="2939186"/>
            <a:ext cx="152463" cy="151129"/>
          </a:xfrm>
          <a:prstGeom prst="rect">
            <a:avLst/>
          </a:prstGeom>
        </p:spPr>
      </p:pic>
      <p:sp>
        <p:nvSpPr>
          <p:cNvPr id="18" name="object 18" descr=""/>
          <p:cNvSpPr/>
          <p:nvPr/>
        </p:nvSpPr>
        <p:spPr>
          <a:xfrm>
            <a:off x="185864" y="3142564"/>
            <a:ext cx="246379" cy="1485900"/>
          </a:xfrm>
          <a:custGeom>
            <a:avLst/>
            <a:gdLst/>
            <a:ahLst/>
            <a:cxnLst/>
            <a:rect l="l" t="t" r="r" b="b"/>
            <a:pathLst>
              <a:path w="246379" h="1485900">
                <a:moveTo>
                  <a:pt x="176961" y="1437173"/>
                </a:moveTo>
                <a:lnTo>
                  <a:pt x="123583" y="1460499"/>
                </a:lnTo>
                <a:lnTo>
                  <a:pt x="121132" y="1473199"/>
                </a:lnTo>
                <a:lnTo>
                  <a:pt x="116128" y="1473199"/>
                </a:lnTo>
                <a:lnTo>
                  <a:pt x="116370" y="1485899"/>
                </a:lnTo>
                <a:lnTo>
                  <a:pt x="137248" y="1485899"/>
                </a:lnTo>
                <a:lnTo>
                  <a:pt x="218763" y="1447799"/>
                </a:lnTo>
                <a:lnTo>
                  <a:pt x="186461" y="1447799"/>
                </a:lnTo>
                <a:lnTo>
                  <a:pt x="176961" y="1437173"/>
                </a:lnTo>
                <a:close/>
              </a:path>
              <a:path w="246379" h="1485900">
                <a:moveTo>
                  <a:pt x="188978" y="1431922"/>
                </a:moveTo>
                <a:lnTo>
                  <a:pt x="176961" y="1437173"/>
                </a:lnTo>
                <a:lnTo>
                  <a:pt x="186461" y="1447799"/>
                </a:lnTo>
                <a:lnTo>
                  <a:pt x="210032" y="1447799"/>
                </a:lnTo>
                <a:lnTo>
                  <a:pt x="188978" y="1431922"/>
                </a:lnTo>
                <a:close/>
              </a:path>
              <a:path w="246379" h="1485900">
                <a:moveTo>
                  <a:pt x="210769" y="1422399"/>
                </a:moveTo>
                <a:lnTo>
                  <a:pt x="188978" y="1431922"/>
                </a:lnTo>
                <a:lnTo>
                  <a:pt x="210032" y="1447799"/>
                </a:lnTo>
                <a:lnTo>
                  <a:pt x="210769" y="1422399"/>
                </a:lnTo>
                <a:close/>
              </a:path>
              <a:path w="246379" h="1485900">
                <a:moveTo>
                  <a:pt x="218452" y="1422399"/>
                </a:moveTo>
                <a:lnTo>
                  <a:pt x="210769" y="1422399"/>
                </a:lnTo>
                <a:lnTo>
                  <a:pt x="210032" y="1447799"/>
                </a:lnTo>
                <a:lnTo>
                  <a:pt x="216738" y="1447799"/>
                </a:lnTo>
                <a:lnTo>
                  <a:pt x="218452" y="1422399"/>
                </a:lnTo>
                <a:close/>
              </a:path>
              <a:path w="246379" h="1485900">
                <a:moveTo>
                  <a:pt x="215236" y="1416530"/>
                </a:moveTo>
                <a:lnTo>
                  <a:pt x="218452" y="1422399"/>
                </a:lnTo>
                <a:lnTo>
                  <a:pt x="216738" y="1447799"/>
                </a:lnTo>
                <a:lnTo>
                  <a:pt x="218763" y="1447799"/>
                </a:lnTo>
                <a:lnTo>
                  <a:pt x="245935" y="1435099"/>
                </a:lnTo>
                <a:lnTo>
                  <a:pt x="215236" y="1416530"/>
                </a:lnTo>
                <a:close/>
              </a:path>
              <a:path w="246379" h="1485900">
                <a:moveTo>
                  <a:pt x="159512" y="1409699"/>
                </a:moveTo>
                <a:lnTo>
                  <a:pt x="76174" y="1409699"/>
                </a:lnTo>
                <a:lnTo>
                  <a:pt x="84683" y="1422399"/>
                </a:lnTo>
                <a:lnTo>
                  <a:pt x="112204" y="1422399"/>
                </a:lnTo>
                <a:lnTo>
                  <a:pt x="122008" y="1435099"/>
                </a:lnTo>
                <a:lnTo>
                  <a:pt x="175107" y="1435099"/>
                </a:lnTo>
                <a:lnTo>
                  <a:pt x="176961" y="1437173"/>
                </a:lnTo>
                <a:lnTo>
                  <a:pt x="188978" y="1431922"/>
                </a:lnTo>
                <a:lnTo>
                  <a:pt x="159512" y="1409699"/>
                </a:lnTo>
                <a:close/>
              </a:path>
              <a:path w="246379" h="1485900">
                <a:moveTo>
                  <a:pt x="138277" y="1358899"/>
                </a:moveTo>
                <a:lnTo>
                  <a:pt x="129451" y="1358899"/>
                </a:lnTo>
                <a:lnTo>
                  <a:pt x="126682" y="1371599"/>
                </a:lnTo>
                <a:lnTo>
                  <a:pt x="119113" y="1371599"/>
                </a:lnTo>
                <a:lnTo>
                  <a:pt x="119329" y="1384299"/>
                </a:lnTo>
                <a:lnTo>
                  <a:pt x="125831" y="1384299"/>
                </a:lnTo>
                <a:lnTo>
                  <a:pt x="188978" y="1431922"/>
                </a:lnTo>
                <a:lnTo>
                  <a:pt x="210769" y="1422399"/>
                </a:lnTo>
                <a:lnTo>
                  <a:pt x="218452" y="1422399"/>
                </a:lnTo>
                <a:lnTo>
                  <a:pt x="215236" y="1416530"/>
                </a:lnTo>
                <a:lnTo>
                  <a:pt x="140957" y="1371599"/>
                </a:lnTo>
                <a:lnTo>
                  <a:pt x="138277" y="1358899"/>
                </a:lnTo>
                <a:close/>
              </a:path>
              <a:path w="246379" h="1485900">
                <a:moveTo>
                  <a:pt x="211493" y="1409699"/>
                </a:moveTo>
                <a:lnTo>
                  <a:pt x="203944" y="1409699"/>
                </a:lnTo>
                <a:lnTo>
                  <a:pt x="215236" y="1416530"/>
                </a:lnTo>
                <a:lnTo>
                  <a:pt x="211493" y="1409699"/>
                </a:lnTo>
                <a:close/>
              </a:path>
              <a:path w="246379" h="1485900">
                <a:moveTo>
                  <a:pt x="129501" y="1396999"/>
                </a:moveTo>
                <a:lnTo>
                  <a:pt x="52298" y="1396999"/>
                </a:lnTo>
                <a:lnTo>
                  <a:pt x="59728" y="1409699"/>
                </a:lnTo>
                <a:lnTo>
                  <a:pt x="139204" y="1409699"/>
                </a:lnTo>
                <a:lnTo>
                  <a:pt x="129501" y="1396999"/>
                </a:lnTo>
                <a:close/>
              </a:path>
              <a:path w="246379" h="1485900">
                <a:moveTo>
                  <a:pt x="95504" y="1384299"/>
                </a:moveTo>
                <a:lnTo>
                  <a:pt x="39243" y="1384299"/>
                </a:lnTo>
                <a:lnTo>
                  <a:pt x="45262" y="1396999"/>
                </a:lnTo>
                <a:lnTo>
                  <a:pt x="103911" y="1396999"/>
                </a:lnTo>
                <a:lnTo>
                  <a:pt x="95504" y="1384299"/>
                </a:lnTo>
                <a:close/>
              </a:path>
              <a:path w="246379" h="1485900">
                <a:moveTo>
                  <a:pt x="67563" y="1371599"/>
                </a:moveTo>
                <a:lnTo>
                  <a:pt x="22047" y="1371599"/>
                </a:lnTo>
                <a:lnTo>
                  <a:pt x="26695" y="1384299"/>
                </a:lnTo>
                <a:lnTo>
                  <a:pt x="74447" y="1384299"/>
                </a:lnTo>
                <a:lnTo>
                  <a:pt x="67563" y="1371599"/>
                </a:lnTo>
                <a:close/>
              </a:path>
              <a:path w="246379" h="1485900">
                <a:moveTo>
                  <a:pt x="51206" y="1358899"/>
                </a:moveTo>
                <a:lnTo>
                  <a:pt x="12966" y="1358899"/>
                </a:lnTo>
                <a:lnTo>
                  <a:pt x="16611" y="1371599"/>
                </a:lnTo>
                <a:lnTo>
                  <a:pt x="56781" y="1371599"/>
                </a:lnTo>
                <a:lnTo>
                  <a:pt x="51206" y="1358899"/>
                </a:lnTo>
                <a:close/>
              </a:path>
              <a:path w="246379" h="1485900">
                <a:moveTo>
                  <a:pt x="39192" y="1346199"/>
                </a:moveTo>
                <a:lnTo>
                  <a:pt x="6032" y="1346199"/>
                </a:lnTo>
                <a:lnTo>
                  <a:pt x="8623" y="1358899"/>
                </a:lnTo>
                <a:lnTo>
                  <a:pt x="43345" y="1358899"/>
                </a:lnTo>
                <a:lnTo>
                  <a:pt x="39192" y="1346199"/>
                </a:lnTo>
                <a:close/>
              </a:path>
              <a:path w="246379" h="1485900">
                <a:moveTo>
                  <a:pt x="31711" y="1333499"/>
                </a:moveTo>
                <a:lnTo>
                  <a:pt x="1562" y="1333499"/>
                </a:lnTo>
                <a:lnTo>
                  <a:pt x="3035" y="1346199"/>
                </a:lnTo>
                <a:lnTo>
                  <a:pt x="34290" y="1346199"/>
                </a:lnTo>
                <a:lnTo>
                  <a:pt x="31711" y="1333499"/>
                </a:lnTo>
                <a:close/>
              </a:path>
              <a:path w="246379" h="1485900">
                <a:moveTo>
                  <a:pt x="28701" y="114300"/>
                </a:moveTo>
                <a:lnTo>
                  <a:pt x="0" y="114300"/>
                </a:lnTo>
                <a:lnTo>
                  <a:pt x="0" y="1320799"/>
                </a:lnTo>
                <a:lnTo>
                  <a:pt x="215" y="1333499"/>
                </a:lnTo>
                <a:lnTo>
                  <a:pt x="28879" y="1333499"/>
                </a:lnTo>
                <a:lnTo>
                  <a:pt x="28625" y="1320799"/>
                </a:lnTo>
                <a:lnTo>
                  <a:pt x="28473" y="1320799"/>
                </a:lnTo>
                <a:lnTo>
                  <a:pt x="28448" y="127000"/>
                </a:lnTo>
                <a:lnTo>
                  <a:pt x="28701" y="114300"/>
                </a:lnTo>
                <a:close/>
              </a:path>
              <a:path w="246379" h="1485900">
                <a:moveTo>
                  <a:pt x="32232" y="101600"/>
                </a:moveTo>
                <a:lnTo>
                  <a:pt x="3035" y="101600"/>
                </a:lnTo>
                <a:lnTo>
                  <a:pt x="1562" y="114300"/>
                </a:lnTo>
                <a:lnTo>
                  <a:pt x="30200" y="114300"/>
                </a:lnTo>
                <a:lnTo>
                  <a:pt x="32232" y="101600"/>
                </a:lnTo>
                <a:close/>
              </a:path>
              <a:path w="246379" h="1485900">
                <a:moveTo>
                  <a:pt x="39839" y="88900"/>
                </a:moveTo>
                <a:lnTo>
                  <a:pt x="6032" y="88900"/>
                </a:lnTo>
                <a:lnTo>
                  <a:pt x="5499" y="101600"/>
                </a:lnTo>
                <a:lnTo>
                  <a:pt x="36194" y="101600"/>
                </a:lnTo>
                <a:lnTo>
                  <a:pt x="39839" y="88900"/>
                </a:lnTo>
                <a:close/>
              </a:path>
              <a:path w="246379" h="1485900">
                <a:moveTo>
                  <a:pt x="51816" y="76200"/>
                </a:moveTo>
                <a:lnTo>
                  <a:pt x="12966" y="76200"/>
                </a:lnTo>
                <a:lnTo>
                  <a:pt x="12331" y="88900"/>
                </a:lnTo>
                <a:lnTo>
                  <a:pt x="46697" y="88900"/>
                </a:lnTo>
                <a:lnTo>
                  <a:pt x="51816" y="76200"/>
                </a:lnTo>
                <a:close/>
              </a:path>
              <a:path w="246379" h="1485900">
                <a:moveTo>
                  <a:pt x="68110" y="63500"/>
                </a:moveTo>
                <a:lnTo>
                  <a:pt x="26695" y="63500"/>
                </a:lnTo>
                <a:lnTo>
                  <a:pt x="22047" y="76200"/>
                </a:lnTo>
                <a:lnTo>
                  <a:pt x="61645" y="76200"/>
                </a:lnTo>
                <a:lnTo>
                  <a:pt x="68110" y="63500"/>
                </a:lnTo>
                <a:close/>
              </a:path>
              <a:path w="246379" h="1485900">
                <a:moveTo>
                  <a:pt x="74447" y="63500"/>
                </a:moveTo>
                <a:lnTo>
                  <a:pt x="68110" y="63500"/>
                </a:lnTo>
                <a:lnTo>
                  <a:pt x="67563" y="76200"/>
                </a:lnTo>
                <a:lnTo>
                  <a:pt x="74447" y="63500"/>
                </a:lnTo>
                <a:close/>
              </a:path>
              <a:path w="246379" h="1485900">
                <a:moveTo>
                  <a:pt x="95961" y="50800"/>
                </a:moveTo>
                <a:lnTo>
                  <a:pt x="38646" y="50800"/>
                </a:lnTo>
                <a:lnTo>
                  <a:pt x="33058" y="63500"/>
                </a:lnTo>
                <a:lnTo>
                  <a:pt x="87909" y="63500"/>
                </a:lnTo>
                <a:lnTo>
                  <a:pt x="95961" y="50800"/>
                </a:lnTo>
                <a:close/>
              </a:path>
              <a:path w="246379" h="1485900">
                <a:moveTo>
                  <a:pt x="129895" y="38100"/>
                </a:moveTo>
                <a:lnTo>
                  <a:pt x="60248" y="38100"/>
                </a:lnTo>
                <a:lnTo>
                  <a:pt x="52844" y="50800"/>
                </a:lnTo>
                <a:lnTo>
                  <a:pt x="120484" y="50800"/>
                </a:lnTo>
                <a:lnTo>
                  <a:pt x="129895" y="38100"/>
                </a:lnTo>
                <a:close/>
              </a:path>
              <a:path w="246379" h="1485900">
                <a:moveTo>
                  <a:pt x="189915" y="25400"/>
                </a:moveTo>
                <a:lnTo>
                  <a:pt x="84226" y="25400"/>
                </a:lnTo>
                <a:lnTo>
                  <a:pt x="76174" y="38100"/>
                </a:lnTo>
                <a:lnTo>
                  <a:pt x="178917" y="38100"/>
                </a:lnTo>
                <a:lnTo>
                  <a:pt x="189915" y="25400"/>
                </a:lnTo>
                <a:close/>
              </a:path>
              <a:path w="246379" h="1485900">
                <a:moveTo>
                  <a:pt x="245770" y="0"/>
                </a:moveTo>
                <a:lnTo>
                  <a:pt x="174752" y="0"/>
                </a:lnTo>
                <a:lnTo>
                  <a:pt x="163626" y="12700"/>
                </a:lnTo>
                <a:lnTo>
                  <a:pt x="111798" y="12700"/>
                </a:lnTo>
                <a:lnTo>
                  <a:pt x="102704" y="25400"/>
                </a:lnTo>
                <a:lnTo>
                  <a:pt x="246100" y="25400"/>
                </a:lnTo>
                <a:lnTo>
                  <a:pt x="245770" y="0"/>
                </a:lnTo>
                <a:close/>
              </a:path>
            </a:pathLst>
          </a:custGeom>
          <a:solidFill>
            <a:srgbClr val="333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59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800000"/>
                </a:solidFill>
              </a:rPr>
              <a:t>Simple</a:t>
            </a:r>
            <a:r>
              <a:rPr dirty="0" sz="4000" spc="-165">
                <a:solidFill>
                  <a:srgbClr val="800000"/>
                </a:solidFill>
              </a:rPr>
              <a:t> </a:t>
            </a:r>
            <a:r>
              <a:rPr dirty="0" sz="4000">
                <a:solidFill>
                  <a:srgbClr val="800000"/>
                </a:solidFill>
              </a:rPr>
              <a:t>Competitive</a:t>
            </a:r>
            <a:r>
              <a:rPr dirty="0" sz="4000" spc="-160">
                <a:solidFill>
                  <a:srgbClr val="800000"/>
                </a:solidFill>
              </a:rPr>
              <a:t> </a:t>
            </a:r>
            <a:r>
              <a:rPr dirty="0" sz="4000" spc="-10">
                <a:solidFill>
                  <a:srgbClr val="800000"/>
                </a:solidFill>
              </a:rPr>
              <a:t>Learning</a:t>
            </a:r>
            <a:endParaRPr sz="4000"/>
          </a:p>
        </p:txBody>
      </p:sp>
      <p:sp>
        <p:nvSpPr>
          <p:cNvPr id="20" name="object 20" descr=""/>
          <p:cNvSpPr txBox="1"/>
          <p:nvPr/>
        </p:nvSpPr>
        <p:spPr>
          <a:xfrm>
            <a:off x="8388350" y="6508750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32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305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800000"/>
                </a:solidFill>
              </a:rPr>
              <a:t>Simple</a:t>
            </a:r>
            <a:r>
              <a:rPr dirty="0" sz="4000" spc="-165">
                <a:solidFill>
                  <a:srgbClr val="800000"/>
                </a:solidFill>
              </a:rPr>
              <a:t> </a:t>
            </a:r>
            <a:r>
              <a:rPr dirty="0" sz="4000">
                <a:solidFill>
                  <a:srgbClr val="800000"/>
                </a:solidFill>
              </a:rPr>
              <a:t>Competitive</a:t>
            </a:r>
            <a:r>
              <a:rPr dirty="0" sz="4000" spc="-160">
                <a:solidFill>
                  <a:srgbClr val="800000"/>
                </a:solidFill>
              </a:rPr>
              <a:t> </a:t>
            </a:r>
            <a:r>
              <a:rPr dirty="0" sz="4000" spc="-10">
                <a:solidFill>
                  <a:srgbClr val="800000"/>
                </a:solidFill>
              </a:rPr>
              <a:t>Learning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578802" y="2248166"/>
            <a:ext cx="178562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3333CC"/>
              </a:buClr>
              <a:buSzPct val="59375"/>
              <a:buChar char="■"/>
              <a:tabLst>
                <a:tab pos="354965" algn="l"/>
              </a:tabLst>
            </a:pPr>
            <a:r>
              <a:rPr dirty="0" sz="3200" spc="-10">
                <a:latin typeface="Tahoma"/>
                <a:cs typeface="Tahoma"/>
              </a:rPr>
              <a:t>Winner: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795202" y="2150059"/>
            <a:ext cx="4073525" cy="1488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Note:</a:t>
            </a:r>
            <a:r>
              <a:rPr dirty="0" sz="2400" spc="-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spc="-340">
                <a:latin typeface="Courier New"/>
                <a:cs typeface="Courier New"/>
              </a:rPr>
              <a:t>the</a:t>
            </a:r>
            <a:r>
              <a:rPr dirty="0" sz="2400" spc="-775">
                <a:latin typeface="Courier New"/>
                <a:cs typeface="Courier New"/>
              </a:rPr>
              <a:t> </a:t>
            </a:r>
            <a:r>
              <a:rPr dirty="0" sz="2400" spc="-380">
                <a:latin typeface="Courier New"/>
                <a:cs typeface="Courier New"/>
              </a:rPr>
              <a:t>inner</a:t>
            </a:r>
            <a:r>
              <a:rPr dirty="0" sz="2400" spc="-775">
                <a:latin typeface="Courier New"/>
                <a:cs typeface="Courier New"/>
              </a:rPr>
              <a:t> </a:t>
            </a:r>
            <a:r>
              <a:rPr dirty="0" sz="2400" spc="-305">
                <a:latin typeface="Courier New"/>
                <a:cs typeface="Courier New"/>
              </a:rPr>
              <a:t>product</a:t>
            </a:r>
            <a:r>
              <a:rPr dirty="0" sz="2400" spc="-780">
                <a:latin typeface="Courier New"/>
                <a:cs typeface="Courier New"/>
              </a:rPr>
              <a:t> </a:t>
            </a:r>
            <a:r>
              <a:rPr dirty="0" sz="2400" spc="-450">
                <a:latin typeface="Courier New"/>
                <a:cs typeface="Courier New"/>
              </a:rPr>
              <a:t>of</a:t>
            </a:r>
            <a:r>
              <a:rPr dirty="0" sz="2400" spc="-780">
                <a:latin typeface="Courier New"/>
                <a:cs typeface="Courier New"/>
              </a:rPr>
              <a:t> </a:t>
            </a:r>
            <a:r>
              <a:rPr dirty="0" sz="2400" spc="-130">
                <a:latin typeface="Courier New"/>
                <a:cs typeface="Courier New"/>
              </a:rPr>
              <a:t>two </a:t>
            </a:r>
            <a:r>
              <a:rPr dirty="0" sz="2400" spc="-229">
                <a:latin typeface="Courier New"/>
                <a:cs typeface="Courier New"/>
              </a:rPr>
              <a:t>normal</a:t>
            </a:r>
            <a:r>
              <a:rPr dirty="0" sz="2400" spc="-760">
                <a:latin typeface="Courier New"/>
                <a:cs typeface="Courier New"/>
              </a:rPr>
              <a:t> </a:t>
            </a:r>
            <a:r>
              <a:rPr dirty="0" sz="2400" spc="-345">
                <a:latin typeface="Courier New"/>
                <a:cs typeface="Courier New"/>
              </a:rPr>
              <a:t>vectors</a:t>
            </a:r>
            <a:r>
              <a:rPr dirty="0" sz="2400" spc="-760">
                <a:latin typeface="Courier New"/>
                <a:cs typeface="Courier New"/>
              </a:rPr>
              <a:t> </a:t>
            </a:r>
            <a:r>
              <a:rPr dirty="0" sz="2400" spc="-575">
                <a:latin typeface="Courier New"/>
                <a:cs typeface="Courier New"/>
              </a:rPr>
              <a:t>is</a:t>
            </a:r>
            <a:r>
              <a:rPr dirty="0" sz="2400" spc="-765">
                <a:latin typeface="Courier New"/>
                <a:cs typeface="Courier New"/>
              </a:rPr>
              <a:t> </a:t>
            </a:r>
            <a:r>
              <a:rPr dirty="0" sz="2400" spc="-400">
                <a:latin typeface="Courier New"/>
                <a:cs typeface="Courier New"/>
              </a:rPr>
              <a:t>related</a:t>
            </a:r>
            <a:r>
              <a:rPr dirty="0" sz="2400" spc="-755">
                <a:latin typeface="Courier New"/>
                <a:cs typeface="Courier New"/>
              </a:rPr>
              <a:t> </a:t>
            </a:r>
            <a:r>
              <a:rPr dirty="0" sz="2400" spc="-475">
                <a:latin typeface="Courier New"/>
                <a:cs typeface="Courier New"/>
              </a:rPr>
              <a:t>to </a:t>
            </a:r>
            <a:r>
              <a:rPr dirty="0" sz="2400" spc="-340">
                <a:latin typeface="Courier New"/>
                <a:cs typeface="Courier New"/>
              </a:rPr>
              <a:t>the</a:t>
            </a:r>
            <a:r>
              <a:rPr dirty="0" sz="2400" spc="-770">
                <a:latin typeface="Courier New"/>
                <a:cs typeface="Courier New"/>
              </a:rPr>
              <a:t> </a:t>
            </a:r>
            <a:r>
              <a:rPr dirty="0" sz="2400" spc="-290">
                <a:latin typeface="Courier New"/>
                <a:cs typeface="Courier New"/>
              </a:rPr>
              <a:t>cosine</a:t>
            </a:r>
            <a:r>
              <a:rPr dirty="0" sz="2400" spc="-770">
                <a:latin typeface="Courier New"/>
                <a:cs typeface="Courier New"/>
              </a:rPr>
              <a:t> </a:t>
            </a:r>
            <a:r>
              <a:rPr dirty="0" sz="2400" spc="-450">
                <a:latin typeface="Courier New"/>
                <a:cs typeface="Courier New"/>
              </a:rPr>
              <a:t>of</a:t>
            </a:r>
            <a:r>
              <a:rPr dirty="0" sz="2400" spc="-770">
                <a:latin typeface="Courier New"/>
                <a:cs typeface="Courier New"/>
              </a:rPr>
              <a:t> </a:t>
            </a:r>
            <a:r>
              <a:rPr dirty="0" sz="2400" spc="-340">
                <a:latin typeface="Courier New"/>
                <a:cs typeface="Courier New"/>
              </a:rPr>
              <a:t>the</a:t>
            </a:r>
            <a:r>
              <a:rPr dirty="0" sz="2400" spc="-770">
                <a:latin typeface="Courier New"/>
                <a:cs typeface="Courier New"/>
              </a:rPr>
              <a:t> </a:t>
            </a:r>
            <a:r>
              <a:rPr dirty="0" sz="2400" spc="-295">
                <a:latin typeface="Courier New"/>
                <a:cs typeface="Courier New"/>
              </a:rPr>
              <a:t>angle </a:t>
            </a:r>
            <a:r>
              <a:rPr dirty="0" sz="2400" spc="-160">
                <a:latin typeface="Courier New"/>
                <a:cs typeface="Courier New"/>
              </a:rPr>
              <a:t>between</a:t>
            </a:r>
            <a:r>
              <a:rPr dirty="0" sz="2400" spc="-725">
                <a:latin typeface="Courier New"/>
                <a:cs typeface="Courier New"/>
              </a:rPr>
              <a:t> </a:t>
            </a:r>
            <a:r>
              <a:rPr dirty="0" sz="2400" spc="-20">
                <a:latin typeface="Courier New"/>
                <a:cs typeface="Courier New"/>
              </a:rPr>
              <a:t>them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728478" y="3336124"/>
            <a:ext cx="541020" cy="3568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52120" algn="l"/>
              </a:tabLst>
            </a:pPr>
            <a:r>
              <a:rPr dirty="0" sz="2150" spc="-725" i="1">
                <a:latin typeface="Courier New"/>
                <a:cs typeface="Courier New"/>
              </a:rPr>
              <a:t>ji</a:t>
            </a:r>
            <a:r>
              <a:rPr dirty="0" sz="2150" i="1">
                <a:latin typeface="Courier New"/>
                <a:cs typeface="Courier New"/>
              </a:rPr>
              <a:t>	</a:t>
            </a:r>
            <a:r>
              <a:rPr dirty="0" sz="2150" spc="-750" i="1">
                <a:latin typeface="Courier New"/>
                <a:cs typeface="Courier New"/>
              </a:rPr>
              <a:t>i</a:t>
            </a:r>
            <a:endParaRPr sz="215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961349" y="3336124"/>
            <a:ext cx="101600" cy="3568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150" spc="-750" i="1">
                <a:latin typeface="Courier New"/>
                <a:cs typeface="Courier New"/>
              </a:rPr>
              <a:t>j</a:t>
            </a:r>
            <a:endParaRPr sz="215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364547" y="3021342"/>
            <a:ext cx="819785" cy="5930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700" spc="220" i="1">
                <a:latin typeface="Courier New"/>
                <a:cs typeface="Courier New"/>
              </a:rPr>
              <a:t>w</a:t>
            </a:r>
            <a:r>
              <a:rPr dirty="0" sz="3700" spc="-65" i="1">
                <a:latin typeface="Courier New"/>
                <a:cs typeface="Courier New"/>
              </a:rPr>
              <a:t> </a:t>
            </a:r>
            <a:r>
              <a:rPr dirty="0" sz="3700" spc="-655" i="1">
                <a:latin typeface="Courier New"/>
                <a:cs typeface="Courier New"/>
              </a:rPr>
              <a:t>x</a:t>
            </a:r>
            <a:endParaRPr sz="37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613482" y="2893923"/>
            <a:ext cx="526415" cy="8769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550" spc="545">
                <a:latin typeface="Courier New"/>
                <a:cs typeface="Courier New"/>
              </a:rPr>
              <a:t>Σ</a:t>
            </a:r>
            <a:endParaRPr sz="555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678012" y="3021342"/>
            <a:ext cx="840740" cy="5930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700" spc="-405" i="1">
                <a:latin typeface="Courier New"/>
                <a:cs typeface="Courier New"/>
              </a:rPr>
              <a:t>h</a:t>
            </a:r>
            <a:r>
              <a:rPr dirty="0" sz="3700" spc="330" i="1">
                <a:latin typeface="Courier New"/>
                <a:cs typeface="Courier New"/>
              </a:rPr>
              <a:t> </a:t>
            </a:r>
            <a:r>
              <a:rPr dirty="0" sz="3700" spc="-140">
                <a:latin typeface="Courier New"/>
                <a:cs typeface="Courier New"/>
              </a:rPr>
              <a:t>=</a:t>
            </a:r>
            <a:endParaRPr sz="37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66102" y="3648457"/>
            <a:ext cx="8054975" cy="3100070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2265045">
              <a:lnSpc>
                <a:spcPct val="100000"/>
              </a:lnSpc>
              <a:spcBef>
                <a:spcPts val="280"/>
              </a:spcBef>
            </a:pPr>
            <a:r>
              <a:rPr dirty="0" sz="2150" spc="-750" i="1">
                <a:latin typeface="Courier New"/>
                <a:cs typeface="Courier New"/>
              </a:rPr>
              <a:t>i</a:t>
            </a:r>
            <a:endParaRPr sz="2150">
              <a:latin typeface="Courier New"/>
              <a:cs typeface="Courier New"/>
            </a:endParaRPr>
          </a:p>
          <a:p>
            <a:pPr marL="920115">
              <a:lnSpc>
                <a:spcPct val="100000"/>
              </a:lnSpc>
              <a:spcBef>
                <a:spcPts val="295"/>
              </a:spcBef>
              <a:tabLst>
                <a:tab pos="4481195" algn="l"/>
              </a:tabLst>
            </a:pPr>
            <a:r>
              <a:rPr dirty="0" sz="3950" spc="-80" i="1">
                <a:latin typeface="Courier New"/>
                <a:cs typeface="Courier New"/>
              </a:rPr>
              <a:t>w</a:t>
            </a:r>
            <a:r>
              <a:rPr dirty="0" baseline="-24154" sz="3450" spc="-120" i="1">
                <a:latin typeface="Courier New"/>
                <a:cs typeface="Courier New"/>
              </a:rPr>
              <a:t>j</a:t>
            </a:r>
            <a:r>
              <a:rPr dirty="0" baseline="-24154" sz="3450" spc="-120">
                <a:latin typeface="Courier New"/>
                <a:cs typeface="Courier New"/>
              </a:rPr>
              <a:t>*</a:t>
            </a:r>
            <a:r>
              <a:rPr dirty="0" baseline="-24154" sz="3450" spc="-569">
                <a:latin typeface="Courier New"/>
                <a:cs typeface="Courier New"/>
              </a:rPr>
              <a:t> </a:t>
            </a:r>
            <a:r>
              <a:rPr dirty="0" sz="3950" spc="-2965">
                <a:latin typeface="Courier New"/>
                <a:cs typeface="Courier New"/>
              </a:rPr>
              <a:t></a:t>
            </a:r>
            <a:r>
              <a:rPr dirty="0" sz="3950" spc="-1585">
                <a:latin typeface="Courier New"/>
                <a:cs typeface="Courier New"/>
              </a:rPr>
              <a:t> </a:t>
            </a:r>
            <a:r>
              <a:rPr dirty="0" sz="3950" spc="-645" i="1">
                <a:latin typeface="Courier New"/>
                <a:cs typeface="Courier New"/>
              </a:rPr>
              <a:t>x</a:t>
            </a:r>
            <a:r>
              <a:rPr dirty="0" sz="3950" spc="-1370" i="1">
                <a:latin typeface="Courier New"/>
                <a:cs typeface="Courier New"/>
              </a:rPr>
              <a:t> </a:t>
            </a:r>
            <a:r>
              <a:rPr dirty="0" sz="3950" spc="-1820">
                <a:latin typeface="Courier New"/>
                <a:cs typeface="Courier New"/>
              </a:rPr>
              <a:t></a:t>
            </a:r>
            <a:r>
              <a:rPr dirty="0" sz="3950" spc="-1295">
                <a:latin typeface="Courier New"/>
                <a:cs typeface="Courier New"/>
              </a:rPr>
              <a:t> </a:t>
            </a:r>
            <a:r>
              <a:rPr dirty="0" sz="3950" i="1">
                <a:latin typeface="Courier New"/>
                <a:cs typeface="Courier New"/>
              </a:rPr>
              <a:t>w</a:t>
            </a:r>
            <a:r>
              <a:rPr dirty="0" baseline="-24154" sz="3450" i="1">
                <a:latin typeface="Courier New"/>
                <a:cs typeface="Courier New"/>
              </a:rPr>
              <a:t>j</a:t>
            </a:r>
            <a:r>
              <a:rPr dirty="0" baseline="-24154" sz="3450" spc="-330" i="1">
                <a:latin typeface="Courier New"/>
                <a:cs typeface="Courier New"/>
              </a:rPr>
              <a:t> </a:t>
            </a:r>
            <a:r>
              <a:rPr dirty="0" sz="3950" spc="-2965">
                <a:latin typeface="Courier New"/>
                <a:cs typeface="Courier New"/>
              </a:rPr>
              <a:t></a:t>
            </a:r>
            <a:r>
              <a:rPr dirty="0" sz="3950" spc="-1585">
                <a:latin typeface="Courier New"/>
                <a:cs typeface="Courier New"/>
              </a:rPr>
              <a:t> </a:t>
            </a:r>
            <a:r>
              <a:rPr dirty="0" sz="3950" spc="-695" i="1">
                <a:latin typeface="Courier New"/>
                <a:cs typeface="Courier New"/>
              </a:rPr>
              <a:t>x</a:t>
            </a:r>
            <a:r>
              <a:rPr dirty="0" sz="3950" i="1">
                <a:latin typeface="Courier New"/>
                <a:cs typeface="Courier New"/>
              </a:rPr>
              <a:t>	</a:t>
            </a:r>
            <a:r>
              <a:rPr dirty="0" sz="3950" spc="-25">
                <a:latin typeface="Courier New"/>
                <a:cs typeface="Courier New"/>
              </a:rPr>
              <a:t>6</a:t>
            </a:r>
            <a:r>
              <a:rPr dirty="0" sz="3950" spc="-25" i="1">
                <a:latin typeface="Courier New"/>
                <a:cs typeface="Courier New"/>
              </a:rPr>
              <a:t>x</a:t>
            </a:r>
            <a:endParaRPr sz="3950">
              <a:latin typeface="Courier New"/>
              <a:cs typeface="Courier New"/>
            </a:endParaRPr>
          </a:p>
          <a:p>
            <a:pPr marL="525145" marR="113664">
              <a:lnSpc>
                <a:spcPct val="100000"/>
              </a:lnSpc>
              <a:spcBef>
                <a:spcPts val="3005"/>
              </a:spcBef>
            </a:pPr>
            <a:r>
              <a:rPr dirty="0" sz="2400" b="1">
                <a:latin typeface="Arial"/>
                <a:cs typeface="Arial"/>
              </a:rPr>
              <a:t>Winner </a:t>
            </a:r>
            <a:r>
              <a:rPr dirty="0" sz="2400" spc="-50">
                <a:latin typeface="Courier New"/>
                <a:cs typeface="Courier New"/>
              </a:rPr>
              <a:t>=</a:t>
            </a:r>
            <a:r>
              <a:rPr dirty="0" sz="2400" spc="-770">
                <a:latin typeface="Courier New"/>
                <a:cs typeface="Courier New"/>
              </a:rPr>
              <a:t> </a:t>
            </a:r>
            <a:r>
              <a:rPr dirty="0" sz="2400" spc="-340">
                <a:latin typeface="Courier New"/>
                <a:cs typeface="Courier New"/>
              </a:rPr>
              <a:t>output</a:t>
            </a:r>
            <a:r>
              <a:rPr dirty="0" sz="2400" spc="-770">
                <a:latin typeface="Courier New"/>
                <a:cs typeface="Courier New"/>
              </a:rPr>
              <a:t> </a:t>
            </a:r>
            <a:r>
              <a:rPr dirty="0" sz="2400" spc="-114">
                <a:latin typeface="Courier New"/>
                <a:cs typeface="Courier New"/>
              </a:rPr>
              <a:t>node</a:t>
            </a:r>
            <a:r>
              <a:rPr dirty="0" sz="2400" spc="-770">
                <a:latin typeface="Courier New"/>
                <a:cs typeface="Courier New"/>
              </a:rPr>
              <a:t> </a:t>
            </a:r>
            <a:r>
              <a:rPr dirty="0" sz="2400" spc="-70">
                <a:latin typeface="Courier New"/>
                <a:cs typeface="Courier New"/>
              </a:rPr>
              <a:t>whose</a:t>
            </a:r>
            <a:r>
              <a:rPr dirty="0" sz="2400" spc="-765">
                <a:latin typeface="Courier New"/>
                <a:cs typeface="Courier New"/>
              </a:rPr>
              <a:t> </a:t>
            </a:r>
            <a:r>
              <a:rPr dirty="0" sz="2400" spc="-250">
                <a:latin typeface="Courier New"/>
                <a:cs typeface="Courier New"/>
              </a:rPr>
              <a:t>incoming</a:t>
            </a:r>
            <a:r>
              <a:rPr dirty="0" sz="2400" spc="-765">
                <a:latin typeface="Courier New"/>
                <a:cs typeface="Courier New"/>
              </a:rPr>
              <a:t> </a:t>
            </a:r>
            <a:r>
              <a:rPr dirty="0" sz="2400" spc="-285">
                <a:latin typeface="Courier New"/>
                <a:cs typeface="Courier New"/>
              </a:rPr>
              <a:t>weights</a:t>
            </a:r>
            <a:r>
              <a:rPr dirty="0" sz="2400" spc="-770">
                <a:latin typeface="Courier New"/>
                <a:cs typeface="Courier New"/>
              </a:rPr>
              <a:t> </a:t>
            </a:r>
            <a:r>
              <a:rPr dirty="0" sz="2400" spc="-295">
                <a:latin typeface="Courier New"/>
                <a:cs typeface="Courier New"/>
              </a:rPr>
              <a:t>are</a:t>
            </a:r>
            <a:r>
              <a:rPr dirty="0" sz="2400" spc="-770">
                <a:latin typeface="Courier New"/>
                <a:cs typeface="Courier New"/>
              </a:rPr>
              <a:t> </a:t>
            </a:r>
            <a:r>
              <a:rPr dirty="0" sz="2400" spc="-365">
                <a:latin typeface="Courier New"/>
                <a:cs typeface="Courier New"/>
              </a:rPr>
              <a:t>the </a:t>
            </a:r>
            <a:r>
              <a:rPr dirty="0" sz="2400" spc="-380">
                <a:latin typeface="Courier New"/>
                <a:cs typeface="Courier New"/>
              </a:rPr>
              <a:t>shortest</a:t>
            </a:r>
            <a:r>
              <a:rPr dirty="0" sz="2400" spc="-765">
                <a:latin typeface="Courier New"/>
                <a:cs typeface="Courier New"/>
              </a:rPr>
              <a:t> </a:t>
            </a:r>
            <a:r>
              <a:rPr dirty="0" sz="2400" spc="-280">
                <a:latin typeface="Courier New"/>
                <a:cs typeface="Courier New"/>
              </a:rPr>
              <a:t>Euclidean</a:t>
            </a:r>
            <a:r>
              <a:rPr dirty="0" sz="2400" spc="-755">
                <a:latin typeface="Courier New"/>
                <a:cs typeface="Courier New"/>
              </a:rPr>
              <a:t> </a:t>
            </a:r>
            <a:r>
              <a:rPr dirty="0" sz="2400" spc="-330">
                <a:latin typeface="Courier New"/>
                <a:cs typeface="Courier New"/>
              </a:rPr>
              <a:t>distance</a:t>
            </a:r>
            <a:r>
              <a:rPr dirty="0" sz="2400" spc="-755">
                <a:latin typeface="Courier New"/>
                <a:cs typeface="Courier New"/>
              </a:rPr>
              <a:t> </a:t>
            </a:r>
            <a:r>
              <a:rPr dirty="0" sz="2400" spc="-254">
                <a:latin typeface="Courier New"/>
                <a:cs typeface="Courier New"/>
              </a:rPr>
              <a:t>from</a:t>
            </a:r>
            <a:r>
              <a:rPr dirty="0" sz="2400" spc="-755">
                <a:latin typeface="Courier New"/>
                <a:cs typeface="Courier New"/>
              </a:rPr>
              <a:t> </a:t>
            </a:r>
            <a:r>
              <a:rPr dirty="0" sz="2400" spc="-340">
                <a:latin typeface="Courier New"/>
                <a:cs typeface="Courier New"/>
              </a:rPr>
              <a:t>the</a:t>
            </a:r>
            <a:r>
              <a:rPr dirty="0" sz="2400" spc="-755">
                <a:latin typeface="Courier New"/>
                <a:cs typeface="Courier New"/>
              </a:rPr>
              <a:t> </a:t>
            </a:r>
            <a:r>
              <a:rPr dirty="0" sz="2400" spc="-409">
                <a:latin typeface="Courier New"/>
                <a:cs typeface="Courier New"/>
              </a:rPr>
              <a:t>input</a:t>
            </a:r>
            <a:r>
              <a:rPr dirty="0" sz="2400" spc="-760">
                <a:latin typeface="Courier New"/>
                <a:cs typeface="Courier New"/>
              </a:rPr>
              <a:t> </a:t>
            </a:r>
            <a:r>
              <a:rPr dirty="0" sz="2400" spc="-370">
                <a:latin typeface="Courier New"/>
                <a:cs typeface="Courier New"/>
              </a:rPr>
              <a:t>vector</a:t>
            </a:r>
            <a:endParaRPr sz="2400">
              <a:latin typeface="Courier New"/>
              <a:cs typeface="Courier New"/>
            </a:endParaRPr>
          </a:p>
          <a:p>
            <a:pPr marL="367665" indent="-342265">
              <a:lnSpc>
                <a:spcPct val="100000"/>
              </a:lnSpc>
              <a:spcBef>
                <a:spcPts val="830"/>
              </a:spcBef>
              <a:buClr>
                <a:srgbClr val="3333CC"/>
              </a:buClr>
              <a:buSzPct val="59375"/>
              <a:buChar char="■"/>
              <a:tabLst>
                <a:tab pos="367665" algn="l"/>
              </a:tabLst>
            </a:pPr>
            <a:r>
              <a:rPr dirty="0" sz="3200">
                <a:latin typeface="Tahoma"/>
                <a:cs typeface="Tahoma"/>
              </a:rPr>
              <a:t>Lateral</a:t>
            </a:r>
            <a:r>
              <a:rPr dirty="0" sz="3200" spc="-65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inhibition</a:t>
            </a:r>
            <a:endParaRPr sz="3200">
              <a:latin typeface="Tahoma"/>
              <a:cs typeface="Tahoma"/>
            </a:endParaRPr>
          </a:p>
          <a:p>
            <a:pPr algn="r" marR="17780">
              <a:lnSpc>
                <a:spcPct val="100000"/>
              </a:lnSpc>
              <a:spcBef>
                <a:spcPts val="1295"/>
              </a:spcBef>
            </a:pPr>
            <a:r>
              <a:rPr dirty="0" sz="1400" spc="-25">
                <a:latin typeface="Tahoma"/>
                <a:cs typeface="Tahoma"/>
              </a:rPr>
              <a:t>33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70407" y="2028964"/>
            <a:ext cx="800608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3333CC"/>
              </a:buClr>
              <a:buSzPct val="59375"/>
              <a:buChar char="■"/>
              <a:tabLst>
                <a:tab pos="354965" algn="l"/>
              </a:tabLst>
            </a:pPr>
            <a:r>
              <a:rPr dirty="0" sz="3200">
                <a:latin typeface="Tahoma"/>
                <a:cs typeface="Tahoma"/>
              </a:rPr>
              <a:t>(One</a:t>
            </a:r>
            <a:r>
              <a:rPr dirty="0" sz="3200" spc="-7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possible)</a:t>
            </a:r>
            <a:r>
              <a:rPr dirty="0" sz="3200" spc="-6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update</a:t>
            </a:r>
            <a:r>
              <a:rPr dirty="0" sz="3200" spc="-6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rule</a:t>
            </a:r>
            <a:r>
              <a:rPr dirty="0" sz="3200" spc="-6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for</a:t>
            </a:r>
            <a:r>
              <a:rPr dirty="0" sz="3200" spc="-6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all</a:t>
            </a:r>
            <a:r>
              <a:rPr dirty="0" sz="3200" spc="-60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neurons: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96378" y="3968610"/>
            <a:ext cx="269240" cy="616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850" spc="-2014">
                <a:latin typeface="Courier New"/>
                <a:cs typeface="Courier New"/>
              </a:rPr>
              <a:t></a:t>
            </a:r>
            <a:endParaRPr sz="385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45578" y="4261408"/>
            <a:ext cx="4732020" cy="616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25"/>
              </a:spcBef>
              <a:tabLst>
                <a:tab pos="2251710" algn="l"/>
                <a:tab pos="3482340" algn="l"/>
              </a:tabLst>
            </a:pPr>
            <a:r>
              <a:rPr dirty="0" baseline="-5050" sz="5775" spc="-4365">
                <a:latin typeface="Courier New"/>
                <a:cs typeface="Courier New"/>
              </a:rPr>
              <a:t></a:t>
            </a:r>
            <a:r>
              <a:rPr dirty="0" baseline="-21645" sz="5775" spc="-4365">
                <a:latin typeface="Courier New"/>
                <a:cs typeface="Courier New"/>
              </a:rPr>
              <a:t></a:t>
            </a:r>
            <a:r>
              <a:rPr dirty="0" baseline="-21645" sz="5775" spc="-2879">
                <a:latin typeface="Courier New"/>
                <a:cs typeface="Courier New"/>
              </a:rPr>
              <a:t> </a:t>
            </a:r>
            <a:r>
              <a:rPr dirty="0" sz="3850" spc="-605" i="1">
                <a:latin typeface="Courier New"/>
                <a:cs typeface="Courier New"/>
              </a:rPr>
              <a:t>y</a:t>
            </a:r>
            <a:r>
              <a:rPr dirty="0" sz="3850" spc="-1805" i="1">
                <a:latin typeface="Courier New"/>
                <a:cs typeface="Courier New"/>
              </a:rPr>
              <a:t> </a:t>
            </a:r>
            <a:r>
              <a:rPr dirty="0" baseline="-23456" sz="3375" spc="-1095" i="1">
                <a:latin typeface="Courier New"/>
                <a:cs typeface="Courier New"/>
              </a:rPr>
              <a:t>j</a:t>
            </a:r>
            <a:r>
              <a:rPr dirty="0" baseline="-23456" sz="3375" spc="97" i="1">
                <a:latin typeface="Courier New"/>
                <a:cs typeface="Courier New"/>
              </a:rPr>
              <a:t> </a:t>
            </a:r>
            <a:r>
              <a:rPr dirty="0" sz="3850" spc="-185">
                <a:latin typeface="Courier New"/>
                <a:cs typeface="Courier New"/>
              </a:rPr>
              <a:t>=</a:t>
            </a:r>
            <a:r>
              <a:rPr dirty="0" sz="3850" spc="-1465">
                <a:latin typeface="Courier New"/>
                <a:cs typeface="Courier New"/>
              </a:rPr>
              <a:t> </a:t>
            </a:r>
            <a:r>
              <a:rPr dirty="0" sz="3850" spc="-445">
                <a:latin typeface="Courier New"/>
                <a:cs typeface="Courier New"/>
              </a:rPr>
              <a:t>0</a:t>
            </a:r>
            <a:r>
              <a:rPr dirty="0" sz="3850">
                <a:latin typeface="Courier New"/>
                <a:cs typeface="Courier New"/>
              </a:rPr>
              <a:t>	</a:t>
            </a:r>
            <a:r>
              <a:rPr dirty="0" sz="3850" spc="-1275" i="1">
                <a:latin typeface="Courier New"/>
                <a:cs typeface="Courier New"/>
              </a:rPr>
              <a:t>if</a:t>
            </a:r>
            <a:r>
              <a:rPr dirty="0" sz="3850" i="1">
                <a:latin typeface="Courier New"/>
                <a:cs typeface="Courier New"/>
              </a:rPr>
              <a:t>	</a:t>
            </a:r>
            <a:r>
              <a:rPr dirty="0" sz="3850" spc="-1250" i="1">
                <a:latin typeface="Courier New"/>
                <a:cs typeface="Courier New"/>
              </a:rPr>
              <a:t>j</a:t>
            </a:r>
            <a:r>
              <a:rPr dirty="0" sz="3850" spc="-1265" i="1">
                <a:latin typeface="Courier New"/>
                <a:cs typeface="Courier New"/>
              </a:rPr>
              <a:t> </a:t>
            </a:r>
            <a:r>
              <a:rPr dirty="0" sz="3850" spc="-185">
                <a:latin typeface="Courier New"/>
                <a:cs typeface="Courier New"/>
              </a:rPr>
              <a:t>s</a:t>
            </a:r>
            <a:r>
              <a:rPr dirty="0" sz="3850" spc="-615">
                <a:latin typeface="Courier New"/>
                <a:cs typeface="Courier New"/>
              </a:rPr>
              <a:t> </a:t>
            </a:r>
            <a:r>
              <a:rPr dirty="0" sz="3850" spc="-1250" i="1">
                <a:latin typeface="Courier New"/>
                <a:cs typeface="Courier New"/>
              </a:rPr>
              <a:t>j</a:t>
            </a:r>
            <a:r>
              <a:rPr dirty="0" sz="3850" spc="-1750" i="1">
                <a:latin typeface="Courier New"/>
                <a:cs typeface="Courier New"/>
              </a:rPr>
              <a:t> </a:t>
            </a:r>
            <a:r>
              <a:rPr dirty="0" sz="3850" spc="-445">
                <a:latin typeface="Courier New"/>
                <a:cs typeface="Courier New"/>
              </a:rPr>
              <a:t>*</a:t>
            </a:r>
            <a:endParaRPr sz="385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70978" y="3451072"/>
            <a:ext cx="1615440" cy="616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baseline="-4329" sz="5775" spc="-4365">
                <a:latin typeface="Courier New"/>
                <a:cs typeface="Courier New"/>
              </a:rPr>
              <a:t></a:t>
            </a:r>
            <a:r>
              <a:rPr dirty="0" baseline="-16594" sz="5775" spc="-4365">
                <a:latin typeface="Courier New"/>
                <a:cs typeface="Courier New"/>
              </a:rPr>
              <a:t></a:t>
            </a:r>
            <a:r>
              <a:rPr dirty="0" baseline="-16594" sz="5775" spc="-2879">
                <a:latin typeface="Courier New"/>
                <a:cs typeface="Courier New"/>
              </a:rPr>
              <a:t> </a:t>
            </a:r>
            <a:r>
              <a:rPr dirty="0" sz="3850" spc="-605" i="1">
                <a:latin typeface="Courier New"/>
                <a:cs typeface="Courier New"/>
              </a:rPr>
              <a:t>y</a:t>
            </a:r>
            <a:r>
              <a:rPr dirty="0" sz="3850" spc="-1805" i="1">
                <a:latin typeface="Courier New"/>
                <a:cs typeface="Courier New"/>
              </a:rPr>
              <a:t> </a:t>
            </a:r>
            <a:r>
              <a:rPr dirty="0" baseline="-23456" sz="3375" spc="-660" i="1">
                <a:latin typeface="Courier New"/>
                <a:cs typeface="Courier New"/>
              </a:rPr>
              <a:t>j</a:t>
            </a:r>
            <a:r>
              <a:rPr dirty="0" baseline="-23456" sz="3375" spc="-660">
                <a:latin typeface="Courier New"/>
                <a:cs typeface="Courier New"/>
              </a:rPr>
              <a:t>*</a:t>
            </a:r>
            <a:r>
              <a:rPr dirty="0" baseline="-23456" sz="3375" spc="-232">
                <a:latin typeface="Courier New"/>
                <a:cs typeface="Courier New"/>
              </a:rPr>
              <a:t> </a:t>
            </a:r>
            <a:r>
              <a:rPr dirty="0" sz="3850" spc="-185">
                <a:latin typeface="Courier New"/>
                <a:cs typeface="Courier New"/>
              </a:rPr>
              <a:t>=</a:t>
            </a:r>
            <a:r>
              <a:rPr dirty="0" sz="3850" spc="-1830">
                <a:latin typeface="Courier New"/>
                <a:cs typeface="Courier New"/>
              </a:rPr>
              <a:t> </a:t>
            </a:r>
            <a:r>
              <a:rPr dirty="0" sz="3850" spc="-445">
                <a:latin typeface="Courier New"/>
                <a:cs typeface="Courier New"/>
              </a:rPr>
              <a:t>1</a:t>
            </a:r>
            <a:endParaRPr sz="385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326191" y="2928150"/>
            <a:ext cx="33083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585" i="1">
                <a:latin typeface="Courier New"/>
                <a:cs typeface="Courier New"/>
              </a:rPr>
              <a:t>j</a:t>
            </a:r>
            <a:r>
              <a:rPr dirty="0" sz="2250" spc="-585">
                <a:latin typeface="Courier New"/>
                <a:cs typeface="Courier New"/>
              </a:rPr>
              <a:t>*</a:t>
            </a:r>
            <a:r>
              <a:rPr dirty="0" sz="2250" spc="-585" i="1">
                <a:latin typeface="Courier New"/>
                <a:cs typeface="Courier New"/>
              </a:rPr>
              <a:t>i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465046" y="2928150"/>
            <a:ext cx="201358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398270" algn="l"/>
                <a:tab pos="1920875" algn="l"/>
              </a:tabLst>
            </a:pPr>
            <a:r>
              <a:rPr dirty="0" sz="2250" spc="-585" i="1">
                <a:latin typeface="Courier New"/>
                <a:cs typeface="Courier New"/>
              </a:rPr>
              <a:t>j</a:t>
            </a:r>
            <a:r>
              <a:rPr dirty="0" sz="2250" spc="-585">
                <a:latin typeface="Courier New"/>
                <a:cs typeface="Courier New"/>
              </a:rPr>
              <a:t>*</a:t>
            </a:r>
            <a:r>
              <a:rPr dirty="0" sz="2250" spc="-585" i="1">
                <a:latin typeface="Courier New"/>
                <a:cs typeface="Courier New"/>
              </a:rPr>
              <a:t>i</a:t>
            </a:r>
            <a:r>
              <a:rPr dirty="0" sz="2250" i="1">
                <a:latin typeface="Courier New"/>
                <a:cs typeface="Courier New"/>
              </a:rPr>
              <a:t>	</a:t>
            </a:r>
            <a:r>
              <a:rPr dirty="0" sz="2250" spc="-780" i="1">
                <a:latin typeface="Courier New"/>
                <a:cs typeface="Courier New"/>
              </a:rPr>
              <a:t>j</a:t>
            </a:r>
            <a:r>
              <a:rPr dirty="0" sz="2250" i="1">
                <a:latin typeface="Courier New"/>
                <a:cs typeface="Courier New"/>
              </a:rPr>
              <a:t>	</a:t>
            </a:r>
            <a:r>
              <a:rPr dirty="0" sz="2250" spc="-780" i="1">
                <a:latin typeface="Courier New"/>
                <a:cs typeface="Courier New"/>
              </a:rPr>
              <a:t>i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96378" y="2319997"/>
            <a:ext cx="4104004" cy="952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159510" algn="l"/>
              </a:tabLst>
            </a:pPr>
            <a:r>
              <a:rPr dirty="0" sz="3850" spc="-655">
                <a:latin typeface="Courier New"/>
                <a:cs typeface="Courier New"/>
              </a:rPr>
              <a:t></a:t>
            </a:r>
            <a:r>
              <a:rPr dirty="0" sz="3850" spc="-655" i="1">
                <a:latin typeface="Courier New"/>
                <a:cs typeface="Courier New"/>
              </a:rPr>
              <a:t>w</a:t>
            </a:r>
            <a:r>
              <a:rPr dirty="0" sz="3850" i="1">
                <a:latin typeface="Courier New"/>
                <a:cs typeface="Courier New"/>
              </a:rPr>
              <a:t>	</a:t>
            </a:r>
            <a:r>
              <a:rPr dirty="0" sz="3850" spc="-185">
                <a:latin typeface="Courier New"/>
                <a:cs typeface="Courier New"/>
              </a:rPr>
              <a:t>=</a:t>
            </a:r>
            <a:r>
              <a:rPr dirty="0" sz="3850" spc="-1889">
                <a:latin typeface="Courier New"/>
                <a:cs typeface="Courier New"/>
              </a:rPr>
              <a:t> </a:t>
            </a:r>
            <a:r>
              <a:rPr dirty="0" sz="4050" spc="-335" i="1">
                <a:latin typeface="Courier New"/>
                <a:cs typeface="Courier New"/>
              </a:rPr>
              <a:t>η</a:t>
            </a:r>
            <a:r>
              <a:rPr dirty="0" sz="3850" spc="-335" i="1">
                <a:latin typeface="Courier New"/>
                <a:cs typeface="Courier New"/>
              </a:rPr>
              <a:t>y</a:t>
            </a:r>
            <a:r>
              <a:rPr dirty="0" sz="3850" spc="-610" i="1">
                <a:latin typeface="Courier New"/>
                <a:cs typeface="Courier New"/>
              </a:rPr>
              <a:t> </a:t>
            </a:r>
            <a:r>
              <a:rPr dirty="0" sz="6050" spc="-1505">
                <a:latin typeface="Courier New"/>
                <a:cs typeface="Courier New"/>
              </a:rPr>
              <a:t>(</a:t>
            </a:r>
            <a:r>
              <a:rPr dirty="0" sz="3850" spc="-1505" i="1">
                <a:latin typeface="Courier New"/>
                <a:cs typeface="Courier New"/>
              </a:rPr>
              <a:t>x</a:t>
            </a:r>
            <a:r>
              <a:rPr dirty="0" sz="3850" spc="-600" i="1">
                <a:latin typeface="Courier New"/>
                <a:cs typeface="Courier New"/>
              </a:rPr>
              <a:t> </a:t>
            </a:r>
            <a:r>
              <a:rPr dirty="0" sz="3850" spc="-185">
                <a:latin typeface="Courier New"/>
                <a:cs typeface="Courier New"/>
              </a:rPr>
              <a:t>–</a:t>
            </a:r>
            <a:r>
              <a:rPr dirty="0" sz="3850" spc="-1580">
                <a:latin typeface="Courier New"/>
                <a:cs typeface="Courier New"/>
              </a:rPr>
              <a:t> </a:t>
            </a:r>
            <a:r>
              <a:rPr dirty="0" sz="3850" spc="250" i="1">
                <a:latin typeface="Courier New"/>
                <a:cs typeface="Courier New"/>
              </a:rPr>
              <a:t>w</a:t>
            </a:r>
            <a:r>
              <a:rPr dirty="0" sz="3850" spc="-640" i="1">
                <a:latin typeface="Courier New"/>
                <a:cs typeface="Courier New"/>
              </a:rPr>
              <a:t>  </a:t>
            </a:r>
            <a:r>
              <a:rPr dirty="0" sz="6050" spc="-2410">
                <a:latin typeface="Courier New"/>
                <a:cs typeface="Courier New"/>
              </a:rPr>
              <a:t>)</a:t>
            </a:r>
            <a:endParaRPr sz="60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305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800000"/>
                </a:solidFill>
              </a:rPr>
              <a:t>Simple</a:t>
            </a:r>
            <a:r>
              <a:rPr dirty="0" sz="4000" spc="-165">
                <a:solidFill>
                  <a:srgbClr val="800000"/>
                </a:solidFill>
              </a:rPr>
              <a:t> </a:t>
            </a:r>
            <a:r>
              <a:rPr dirty="0" sz="4000">
                <a:solidFill>
                  <a:srgbClr val="800000"/>
                </a:solidFill>
              </a:rPr>
              <a:t>Competitive</a:t>
            </a:r>
            <a:r>
              <a:rPr dirty="0" sz="4000" spc="-160">
                <a:solidFill>
                  <a:srgbClr val="800000"/>
                </a:solidFill>
              </a:rPr>
              <a:t> </a:t>
            </a:r>
            <a:r>
              <a:rPr dirty="0" sz="4000" spc="-10">
                <a:solidFill>
                  <a:srgbClr val="800000"/>
                </a:solidFill>
              </a:rPr>
              <a:t>Learning</a:t>
            </a:r>
            <a:endParaRPr sz="4000"/>
          </a:p>
        </p:txBody>
      </p:sp>
      <p:sp>
        <p:nvSpPr>
          <p:cNvPr id="10" name="object 10" descr=""/>
          <p:cNvSpPr txBox="1"/>
          <p:nvPr/>
        </p:nvSpPr>
        <p:spPr>
          <a:xfrm>
            <a:off x="5314873" y="2726702"/>
            <a:ext cx="3498850" cy="1488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80">
                <a:latin typeface="Courier New"/>
                <a:cs typeface="Courier New"/>
              </a:rPr>
              <a:t>The</a:t>
            </a:r>
            <a:r>
              <a:rPr dirty="0" sz="2400" spc="-755">
                <a:latin typeface="Courier New"/>
                <a:cs typeface="Courier New"/>
              </a:rPr>
              <a:t> </a:t>
            </a:r>
            <a:r>
              <a:rPr dirty="0" sz="2400" spc="-210">
                <a:latin typeface="Courier New"/>
                <a:cs typeface="Courier New"/>
              </a:rPr>
              <a:t>neuron</a:t>
            </a:r>
            <a:r>
              <a:rPr dirty="0" sz="2400" spc="-755">
                <a:latin typeface="Courier New"/>
                <a:cs typeface="Courier New"/>
              </a:rPr>
              <a:t> </a:t>
            </a:r>
            <a:r>
              <a:rPr dirty="0" sz="2400" spc="-380">
                <a:latin typeface="Courier New"/>
                <a:cs typeface="Courier New"/>
              </a:rPr>
              <a:t>with</a:t>
            </a:r>
            <a:r>
              <a:rPr dirty="0" sz="2400" spc="-755">
                <a:latin typeface="Courier New"/>
                <a:cs typeface="Courier New"/>
              </a:rPr>
              <a:t> </a:t>
            </a:r>
            <a:r>
              <a:rPr dirty="0" sz="2400" spc="-430">
                <a:latin typeface="Courier New"/>
                <a:cs typeface="Courier New"/>
              </a:rPr>
              <a:t>largest </a:t>
            </a:r>
            <a:r>
              <a:rPr dirty="0" sz="2400" spc="-434">
                <a:latin typeface="Courier New"/>
                <a:cs typeface="Courier New"/>
              </a:rPr>
              <a:t>activation</a:t>
            </a:r>
            <a:r>
              <a:rPr dirty="0" sz="2400" spc="-765">
                <a:latin typeface="Courier New"/>
                <a:cs typeface="Courier New"/>
              </a:rPr>
              <a:t> </a:t>
            </a:r>
            <a:r>
              <a:rPr dirty="0" sz="2400" spc="-575">
                <a:latin typeface="Courier New"/>
                <a:cs typeface="Courier New"/>
              </a:rPr>
              <a:t>is</a:t>
            </a:r>
            <a:r>
              <a:rPr dirty="0" sz="2400" spc="-765">
                <a:latin typeface="Courier New"/>
                <a:cs typeface="Courier New"/>
              </a:rPr>
              <a:t> </a:t>
            </a:r>
            <a:r>
              <a:rPr dirty="0" sz="2400" spc="-285">
                <a:latin typeface="Courier New"/>
                <a:cs typeface="Courier New"/>
              </a:rPr>
              <a:t>then</a:t>
            </a:r>
            <a:r>
              <a:rPr dirty="0" sz="2400" spc="-760">
                <a:latin typeface="Courier New"/>
                <a:cs typeface="Courier New"/>
              </a:rPr>
              <a:t> </a:t>
            </a:r>
            <a:r>
              <a:rPr dirty="0" sz="2400" spc="-170">
                <a:latin typeface="Courier New"/>
                <a:cs typeface="Courier New"/>
              </a:rPr>
              <a:t>adapted </a:t>
            </a:r>
            <a:r>
              <a:rPr dirty="0" sz="2400" spc="-450">
                <a:latin typeface="Courier New"/>
                <a:cs typeface="Courier New"/>
              </a:rPr>
              <a:t>to</a:t>
            </a:r>
            <a:r>
              <a:rPr dirty="0" sz="2400" spc="-770">
                <a:latin typeface="Courier New"/>
                <a:cs typeface="Courier New"/>
              </a:rPr>
              <a:t> </a:t>
            </a:r>
            <a:r>
              <a:rPr dirty="0" sz="2400" spc="-114">
                <a:latin typeface="Courier New"/>
                <a:cs typeface="Courier New"/>
              </a:rPr>
              <a:t>be</a:t>
            </a:r>
            <a:r>
              <a:rPr dirty="0" sz="2400" spc="-765">
                <a:latin typeface="Courier New"/>
                <a:cs typeface="Courier New"/>
              </a:rPr>
              <a:t> </a:t>
            </a:r>
            <a:r>
              <a:rPr dirty="0" sz="2400" spc="-85">
                <a:latin typeface="Courier New"/>
                <a:cs typeface="Courier New"/>
              </a:rPr>
              <a:t>more</a:t>
            </a:r>
            <a:r>
              <a:rPr dirty="0" sz="2400" spc="-765">
                <a:latin typeface="Courier New"/>
                <a:cs typeface="Courier New"/>
              </a:rPr>
              <a:t> </a:t>
            </a:r>
            <a:r>
              <a:rPr dirty="0" sz="2400" spc="-555">
                <a:latin typeface="Courier New"/>
                <a:cs typeface="Courier New"/>
              </a:rPr>
              <a:t>likely</a:t>
            </a:r>
            <a:r>
              <a:rPr dirty="0" sz="2400" spc="-770">
                <a:latin typeface="Courier New"/>
                <a:cs typeface="Courier New"/>
              </a:rPr>
              <a:t> </a:t>
            </a:r>
            <a:r>
              <a:rPr dirty="0" sz="2400" spc="-340">
                <a:latin typeface="Courier New"/>
                <a:cs typeface="Courier New"/>
              </a:rPr>
              <a:t>the</a:t>
            </a:r>
            <a:r>
              <a:rPr dirty="0" sz="2400" spc="-765">
                <a:latin typeface="Courier New"/>
                <a:cs typeface="Courier New"/>
              </a:rPr>
              <a:t> </a:t>
            </a:r>
            <a:r>
              <a:rPr dirty="0" sz="2400" spc="-420">
                <a:latin typeface="Courier New"/>
                <a:cs typeface="Courier New"/>
              </a:rPr>
              <a:t>input </a:t>
            </a:r>
            <a:r>
              <a:rPr dirty="0" sz="2400" spc="-450">
                <a:latin typeface="Courier New"/>
                <a:cs typeface="Courier New"/>
              </a:rPr>
              <a:t>that</a:t>
            </a:r>
            <a:r>
              <a:rPr dirty="0" sz="2400" spc="-760">
                <a:latin typeface="Courier New"/>
                <a:cs typeface="Courier New"/>
              </a:rPr>
              <a:t> </a:t>
            </a:r>
            <a:r>
              <a:rPr dirty="0" sz="2400" spc="-165">
                <a:latin typeface="Courier New"/>
                <a:cs typeface="Courier New"/>
              </a:rPr>
              <a:t>caused</a:t>
            </a:r>
            <a:r>
              <a:rPr dirty="0" sz="2400" spc="-755">
                <a:latin typeface="Courier New"/>
                <a:cs typeface="Courier New"/>
              </a:rPr>
              <a:t> </a:t>
            </a:r>
            <a:r>
              <a:rPr dirty="0" sz="2400" spc="-340">
                <a:latin typeface="Courier New"/>
                <a:cs typeface="Courier New"/>
              </a:rPr>
              <a:t>the</a:t>
            </a:r>
            <a:r>
              <a:rPr dirty="0" sz="2400" spc="-755">
                <a:latin typeface="Courier New"/>
                <a:cs typeface="Courier New"/>
              </a:rPr>
              <a:t> </a:t>
            </a:r>
            <a:r>
              <a:rPr dirty="0" sz="2400" spc="-445">
                <a:latin typeface="Courier New"/>
                <a:cs typeface="Courier New"/>
              </a:rPr>
              <a:t>excitation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64603" y="5192090"/>
            <a:ext cx="773303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292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Only</a:t>
            </a:r>
            <a:r>
              <a:rPr dirty="0" sz="2400" spc="-4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the</a:t>
            </a:r>
            <a:r>
              <a:rPr dirty="0" sz="2400" spc="-4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incoming</a:t>
            </a:r>
            <a:r>
              <a:rPr dirty="0" sz="2400" spc="-4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weights</a:t>
            </a:r>
            <a:r>
              <a:rPr dirty="0" sz="2400" spc="-4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of</a:t>
            </a:r>
            <a:r>
              <a:rPr dirty="0" sz="2400" spc="-4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the</a:t>
            </a:r>
            <a:r>
              <a:rPr dirty="0" sz="2400" spc="-4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winner</a:t>
            </a:r>
            <a:r>
              <a:rPr dirty="0" sz="2400" spc="-4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node</a:t>
            </a:r>
            <a:r>
              <a:rPr dirty="0" sz="2400" spc="-40" b="1">
                <a:latin typeface="Arial"/>
                <a:cs typeface="Arial"/>
              </a:rPr>
              <a:t> </a:t>
            </a:r>
            <a:r>
              <a:rPr dirty="0" sz="2400" spc="-25" b="1">
                <a:latin typeface="Arial"/>
                <a:cs typeface="Arial"/>
              </a:rPr>
              <a:t>are </a:t>
            </a:r>
            <a:r>
              <a:rPr dirty="0" sz="2400" spc="-10" b="1">
                <a:latin typeface="Arial"/>
                <a:cs typeface="Arial"/>
              </a:rPr>
              <a:t>modified.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400" spc="120">
                <a:latin typeface="Courier New"/>
                <a:cs typeface="Courier New"/>
              </a:rPr>
              <a:t>Some</a:t>
            </a:r>
            <a:r>
              <a:rPr dirty="0" sz="2400" spc="-760">
                <a:latin typeface="Courier New"/>
                <a:cs typeface="Courier New"/>
              </a:rPr>
              <a:t> </a:t>
            </a:r>
            <a:r>
              <a:rPr dirty="0" sz="2400" spc="-434">
                <a:latin typeface="Courier New"/>
                <a:cs typeface="Courier New"/>
              </a:rPr>
              <a:t>units</a:t>
            </a:r>
            <a:r>
              <a:rPr dirty="0" sz="2400" spc="-765">
                <a:latin typeface="Courier New"/>
                <a:cs typeface="Courier New"/>
              </a:rPr>
              <a:t> </a:t>
            </a:r>
            <a:r>
              <a:rPr dirty="0" sz="2400" spc="65">
                <a:latin typeface="Courier New"/>
                <a:cs typeface="Courier New"/>
              </a:rPr>
              <a:t>may</a:t>
            </a:r>
            <a:r>
              <a:rPr dirty="0" sz="2400" spc="-760">
                <a:latin typeface="Courier New"/>
                <a:cs typeface="Courier New"/>
              </a:rPr>
              <a:t> </a:t>
            </a:r>
            <a:r>
              <a:rPr dirty="0" sz="2400" spc="-254">
                <a:latin typeface="Courier New"/>
                <a:cs typeface="Courier New"/>
              </a:rPr>
              <a:t>never</a:t>
            </a:r>
            <a:r>
              <a:rPr dirty="0" sz="2400" spc="-760">
                <a:latin typeface="Courier New"/>
                <a:cs typeface="Courier New"/>
              </a:rPr>
              <a:t> </a:t>
            </a:r>
            <a:r>
              <a:rPr dirty="0" sz="2400" spc="-385">
                <a:latin typeface="Courier New"/>
                <a:cs typeface="Courier New"/>
              </a:rPr>
              <a:t>or</a:t>
            </a:r>
            <a:r>
              <a:rPr dirty="0" sz="2400" spc="-760">
                <a:latin typeface="Courier New"/>
                <a:cs typeface="Courier New"/>
              </a:rPr>
              <a:t> </a:t>
            </a:r>
            <a:r>
              <a:rPr dirty="0" sz="2400" spc="-450">
                <a:latin typeface="Courier New"/>
                <a:cs typeface="Courier New"/>
              </a:rPr>
              <a:t>rarely</a:t>
            </a:r>
            <a:r>
              <a:rPr dirty="0" sz="2400" spc="-760">
                <a:latin typeface="Courier New"/>
                <a:cs typeface="Courier New"/>
              </a:rPr>
              <a:t> </a:t>
            </a:r>
            <a:r>
              <a:rPr dirty="0" sz="2400" spc="-30">
                <a:latin typeface="Courier New"/>
                <a:cs typeface="Courier New"/>
              </a:rPr>
              <a:t>become</a:t>
            </a:r>
            <a:r>
              <a:rPr dirty="0" sz="2400" spc="-760">
                <a:latin typeface="Courier New"/>
                <a:cs typeface="Courier New"/>
              </a:rPr>
              <a:t> </a:t>
            </a:r>
            <a:r>
              <a:rPr dirty="0" sz="2400" spc="-114">
                <a:latin typeface="Courier New"/>
                <a:cs typeface="Courier New"/>
              </a:rPr>
              <a:t>a</a:t>
            </a:r>
            <a:r>
              <a:rPr dirty="0" sz="2400" spc="-760">
                <a:latin typeface="Courier New"/>
                <a:cs typeface="Courier New"/>
              </a:rPr>
              <a:t> </a:t>
            </a:r>
            <a:r>
              <a:rPr dirty="0" sz="2400" spc="-365">
                <a:latin typeface="Courier New"/>
                <a:cs typeface="Courier New"/>
              </a:rPr>
              <a:t>winner,</a:t>
            </a:r>
            <a:r>
              <a:rPr dirty="0" sz="2400" spc="-760">
                <a:latin typeface="Courier New"/>
                <a:cs typeface="Courier New"/>
              </a:rPr>
              <a:t> </a:t>
            </a:r>
            <a:r>
              <a:rPr dirty="0" sz="2400" spc="-114">
                <a:latin typeface="Courier New"/>
                <a:cs typeface="Courier New"/>
              </a:rPr>
              <a:t>and</a:t>
            </a:r>
            <a:r>
              <a:rPr dirty="0" sz="2400" spc="-760">
                <a:latin typeface="Courier New"/>
                <a:cs typeface="Courier New"/>
              </a:rPr>
              <a:t> </a:t>
            </a:r>
            <a:r>
              <a:rPr dirty="0" sz="2400" spc="-25">
                <a:latin typeface="Courier New"/>
                <a:cs typeface="Courier New"/>
              </a:rPr>
              <a:t>so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64603" y="6303340"/>
            <a:ext cx="65608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90">
                <a:latin typeface="Courier New"/>
                <a:cs typeface="Courier New"/>
              </a:rPr>
              <a:t>weight</a:t>
            </a:r>
            <a:r>
              <a:rPr dirty="0" sz="2400" spc="-770">
                <a:latin typeface="Courier New"/>
                <a:cs typeface="Courier New"/>
              </a:rPr>
              <a:t> </a:t>
            </a:r>
            <a:r>
              <a:rPr dirty="0" sz="2400" spc="-360">
                <a:latin typeface="Courier New"/>
                <a:cs typeface="Courier New"/>
              </a:rPr>
              <a:t>vector</a:t>
            </a:r>
            <a:r>
              <a:rPr dirty="0" sz="2400" spc="-760">
                <a:latin typeface="Courier New"/>
                <a:cs typeface="Courier New"/>
              </a:rPr>
              <a:t> </a:t>
            </a:r>
            <a:r>
              <a:rPr dirty="0" sz="2400" spc="65">
                <a:latin typeface="Courier New"/>
                <a:cs typeface="Courier New"/>
              </a:rPr>
              <a:t>may</a:t>
            </a:r>
            <a:r>
              <a:rPr dirty="0" sz="2400" spc="-770">
                <a:latin typeface="Courier New"/>
                <a:cs typeface="Courier New"/>
              </a:rPr>
              <a:t> </a:t>
            </a:r>
            <a:r>
              <a:rPr dirty="0" sz="2400" spc="-340">
                <a:latin typeface="Courier New"/>
                <a:cs typeface="Courier New"/>
              </a:rPr>
              <a:t>not</a:t>
            </a:r>
            <a:r>
              <a:rPr dirty="0" sz="2400" spc="-765">
                <a:latin typeface="Courier New"/>
                <a:cs typeface="Courier New"/>
              </a:rPr>
              <a:t> </a:t>
            </a:r>
            <a:r>
              <a:rPr dirty="0" sz="2400" spc="-114">
                <a:latin typeface="Courier New"/>
                <a:cs typeface="Courier New"/>
              </a:rPr>
              <a:t>be</a:t>
            </a:r>
            <a:r>
              <a:rPr dirty="0" sz="2400" spc="-765">
                <a:latin typeface="Courier New"/>
                <a:cs typeface="Courier New"/>
              </a:rPr>
              <a:t> </a:t>
            </a:r>
            <a:r>
              <a:rPr dirty="0" sz="2400" spc="-135">
                <a:latin typeface="Courier New"/>
                <a:cs typeface="Courier New"/>
              </a:rPr>
              <a:t>updated</a:t>
            </a:r>
            <a:r>
              <a:rPr dirty="0" sz="2400" spc="-135" b="1">
                <a:solidFill>
                  <a:srgbClr val="FF0000"/>
                </a:solidFill>
                <a:latin typeface="Arial"/>
                <a:cs typeface="Arial"/>
              </a:rPr>
              <a:t>DEAD</a:t>
            </a:r>
            <a:r>
              <a:rPr dirty="0" sz="24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spc="-20" b="1">
                <a:solidFill>
                  <a:srgbClr val="FF0000"/>
                </a:solidFill>
                <a:latin typeface="Arial"/>
                <a:cs typeface="Arial"/>
              </a:rPr>
              <a:t>UNIT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8388350" y="6508750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34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78739" y="2298280"/>
            <a:ext cx="7535545" cy="158559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355600" marR="5080" indent="-342900">
              <a:lnSpc>
                <a:spcPts val="3829"/>
              </a:lnSpc>
              <a:spcBef>
                <a:spcPts val="240"/>
              </a:spcBef>
              <a:buClr>
                <a:srgbClr val="3333CC"/>
              </a:buClr>
              <a:buSzPct val="59375"/>
              <a:buChar char="■"/>
              <a:tabLst>
                <a:tab pos="355600" algn="l"/>
              </a:tabLst>
            </a:pPr>
            <a:r>
              <a:rPr dirty="0" sz="3200">
                <a:latin typeface="Tahoma"/>
                <a:cs typeface="Tahoma"/>
              </a:rPr>
              <a:t>Each</a:t>
            </a:r>
            <a:r>
              <a:rPr dirty="0" sz="3200" spc="-7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output</a:t>
            </a:r>
            <a:r>
              <a:rPr dirty="0" sz="3200" spc="-6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unit</a:t>
            </a:r>
            <a:r>
              <a:rPr dirty="0" sz="3200" spc="-6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moves</a:t>
            </a:r>
            <a:r>
              <a:rPr dirty="0" sz="3200" spc="-7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to</a:t>
            </a:r>
            <a:r>
              <a:rPr dirty="0" sz="3200" spc="-6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the</a:t>
            </a:r>
            <a:r>
              <a:rPr dirty="0" sz="3200" spc="-6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center</a:t>
            </a:r>
            <a:r>
              <a:rPr dirty="0" sz="3200" spc="-65">
                <a:latin typeface="Tahoma"/>
                <a:cs typeface="Tahoma"/>
              </a:rPr>
              <a:t> </a:t>
            </a:r>
            <a:r>
              <a:rPr dirty="0" sz="3200" spc="-25">
                <a:latin typeface="Tahoma"/>
                <a:cs typeface="Tahoma"/>
              </a:rPr>
              <a:t>of </a:t>
            </a:r>
            <a:r>
              <a:rPr dirty="0" sz="3200">
                <a:latin typeface="Tahoma"/>
                <a:cs typeface="Tahoma"/>
              </a:rPr>
              <a:t>mass</a:t>
            </a:r>
            <a:r>
              <a:rPr dirty="0" sz="3200" spc="-5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of</a:t>
            </a:r>
            <a:r>
              <a:rPr dirty="0" sz="3200" spc="-4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</a:t>
            </a:r>
            <a:r>
              <a:rPr dirty="0" sz="3200" spc="-4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cluster</a:t>
            </a:r>
            <a:r>
              <a:rPr dirty="0" sz="3200" spc="-4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of</a:t>
            </a:r>
            <a:r>
              <a:rPr dirty="0" sz="3200" spc="-5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input</a:t>
            </a:r>
            <a:r>
              <a:rPr dirty="0" sz="3200" spc="-4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vectors</a:t>
            </a:r>
            <a:r>
              <a:rPr dirty="0" sz="3200" spc="-45">
                <a:latin typeface="Tahoma"/>
                <a:cs typeface="Tahoma"/>
              </a:rPr>
              <a:t> </a:t>
            </a:r>
            <a:r>
              <a:rPr dirty="0" sz="3200" spc="140">
                <a:latin typeface="Tahoma"/>
                <a:cs typeface="Tahoma"/>
              </a:rPr>
              <a:t></a:t>
            </a:r>
            <a:endParaRPr sz="3200">
              <a:latin typeface="Tahoma"/>
              <a:cs typeface="Tahoma"/>
            </a:endParaRPr>
          </a:p>
          <a:p>
            <a:pPr marL="2755900">
              <a:lnSpc>
                <a:spcPct val="100000"/>
              </a:lnSpc>
              <a:spcBef>
                <a:spcPts val="640"/>
              </a:spcBef>
            </a:pPr>
            <a:r>
              <a:rPr dirty="0" sz="3200" spc="-10" b="1">
                <a:solidFill>
                  <a:srgbClr val="FF0000"/>
                </a:solidFill>
                <a:latin typeface="Tahoma"/>
                <a:cs typeface="Tahoma"/>
              </a:rPr>
              <a:t>clustering</a:t>
            </a:r>
            <a:endParaRPr sz="3200">
              <a:latin typeface="Tahoma"/>
              <a:cs typeface="Tahom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9800" y="4539602"/>
            <a:ext cx="1649285" cy="171972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21400" y="4468622"/>
            <a:ext cx="1649285" cy="17145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30600" y="4468622"/>
            <a:ext cx="1649285" cy="17145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305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800000"/>
                </a:solidFill>
              </a:rPr>
              <a:t>Simple</a:t>
            </a:r>
            <a:r>
              <a:rPr dirty="0" sz="4000" spc="-165">
                <a:solidFill>
                  <a:srgbClr val="800000"/>
                </a:solidFill>
              </a:rPr>
              <a:t> </a:t>
            </a:r>
            <a:r>
              <a:rPr dirty="0" sz="4000">
                <a:solidFill>
                  <a:srgbClr val="800000"/>
                </a:solidFill>
              </a:rPr>
              <a:t>Competitive</a:t>
            </a:r>
            <a:r>
              <a:rPr dirty="0" sz="4000" spc="-160">
                <a:solidFill>
                  <a:srgbClr val="800000"/>
                </a:solidFill>
              </a:rPr>
              <a:t> </a:t>
            </a:r>
            <a:r>
              <a:rPr dirty="0" sz="4000" spc="-10">
                <a:solidFill>
                  <a:srgbClr val="800000"/>
                </a:solidFill>
              </a:rPr>
              <a:t>Learning</a:t>
            </a:r>
            <a:endParaRPr sz="4000"/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35</a:t>
            </a:fld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0407" rIns="0" bIns="0" rtlCol="0" vert="horz">
            <a:spAutoFit/>
          </a:bodyPr>
          <a:lstStyle/>
          <a:p>
            <a:pPr marL="1270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800000"/>
                </a:solidFill>
              </a:rPr>
              <a:t>Enforcing</a:t>
            </a:r>
            <a:r>
              <a:rPr dirty="0" sz="4000" spc="-130">
                <a:solidFill>
                  <a:srgbClr val="800000"/>
                </a:solidFill>
              </a:rPr>
              <a:t> </a:t>
            </a:r>
            <a:r>
              <a:rPr dirty="0" sz="4000">
                <a:solidFill>
                  <a:srgbClr val="800000"/>
                </a:solidFill>
              </a:rPr>
              <a:t>fairer</a:t>
            </a:r>
            <a:r>
              <a:rPr dirty="0" sz="4000" spc="-130">
                <a:solidFill>
                  <a:srgbClr val="800000"/>
                </a:solidFill>
              </a:rPr>
              <a:t> </a:t>
            </a:r>
            <a:r>
              <a:rPr dirty="0" sz="4000" spc="-10">
                <a:solidFill>
                  <a:srgbClr val="800000"/>
                </a:solidFill>
              </a:rPr>
              <a:t>competition</a:t>
            </a:r>
            <a:endParaRPr sz="4000"/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35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402272" y="2077605"/>
            <a:ext cx="8208645" cy="420179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355600" marR="455930" indent="-342900">
              <a:lnSpc>
                <a:spcPct val="79900"/>
              </a:lnSpc>
              <a:spcBef>
                <a:spcPts val="770"/>
              </a:spcBef>
              <a:buClr>
                <a:srgbClr val="3333CC"/>
              </a:buClr>
              <a:buSzPct val="58928"/>
              <a:buFont typeface="Tahoma"/>
              <a:buChar char="■"/>
              <a:tabLst>
                <a:tab pos="355600" algn="l"/>
              </a:tabLst>
            </a:pPr>
            <a:r>
              <a:rPr dirty="0" sz="2800" spc="-755">
                <a:latin typeface="Courier New"/>
                <a:cs typeface="Courier New"/>
              </a:rPr>
              <a:t>Initial</a:t>
            </a:r>
            <a:r>
              <a:rPr dirty="0" sz="2800" spc="-890">
                <a:latin typeface="Courier New"/>
                <a:cs typeface="Courier New"/>
              </a:rPr>
              <a:t> </a:t>
            </a:r>
            <a:r>
              <a:rPr dirty="0" sz="2800" spc="-484">
                <a:latin typeface="Courier New"/>
                <a:cs typeface="Courier New"/>
              </a:rPr>
              <a:t>position</a:t>
            </a:r>
            <a:r>
              <a:rPr dirty="0" sz="2800" spc="-885">
                <a:latin typeface="Courier New"/>
                <a:cs typeface="Courier New"/>
              </a:rPr>
              <a:t> </a:t>
            </a:r>
            <a:r>
              <a:rPr dirty="0" sz="2800" spc="-520">
                <a:latin typeface="Courier New"/>
                <a:cs typeface="Courier New"/>
              </a:rPr>
              <a:t>of</a:t>
            </a:r>
            <a:r>
              <a:rPr dirty="0" sz="2800" spc="-880">
                <a:latin typeface="Courier New"/>
                <a:cs typeface="Courier New"/>
              </a:rPr>
              <a:t> </a:t>
            </a:r>
            <a:r>
              <a:rPr dirty="0" sz="2800" spc="-340">
                <a:latin typeface="Courier New"/>
                <a:cs typeface="Courier New"/>
              </a:rPr>
              <a:t>weight</a:t>
            </a:r>
            <a:r>
              <a:rPr dirty="0" sz="2800" spc="-885">
                <a:latin typeface="Courier New"/>
                <a:cs typeface="Courier New"/>
              </a:rPr>
              <a:t> </a:t>
            </a:r>
            <a:r>
              <a:rPr dirty="0" sz="2800" spc="-420">
                <a:latin typeface="Courier New"/>
                <a:cs typeface="Courier New"/>
              </a:rPr>
              <a:t>vector</a:t>
            </a:r>
            <a:r>
              <a:rPr dirty="0" sz="2800" spc="-885">
                <a:latin typeface="Courier New"/>
                <a:cs typeface="Courier New"/>
              </a:rPr>
              <a:t> </a:t>
            </a:r>
            <a:r>
              <a:rPr dirty="0" sz="2800" spc="-520">
                <a:latin typeface="Courier New"/>
                <a:cs typeface="Courier New"/>
              </a:rPr>
              <a:t>of</a:t>
            </a:r>
            <a:r>
              <a:rPr dirty="0" sz="2800" spc="-885">
                <a:latin typeface="Courier New"/>
                <a:cs typeface="Courier New"/>
              </a:rPr>
              <a:t> </a:t>
            </a:r>
            <a:r>
              <a:rPr dirty="0" sz="2800" spc="-140">
                <a:latin typeface="Courier New"/>
                <a:cs typeface="Courier New"/>
              </a:rPr>
              <a:t>an</a:t>
            </a:r>
            <a:r>
              <a:rPr dirty="0" sz="2800" spc="-880">
                <a:latin typeface="Courier New"/>
                <a:cs typeface="Courier New"/>
              </a:rPr>
              <a:t> </a:t>
            </a:r>
            <a:r>
              <a:rPr dirty="0" sz="2800" spc="-395">
                <a:latin typeface="Courier New"/>
                <a:cs typeface="Courier New"/>
              </a:rPr>
              <a:t>output</a:t>
            </a:r>
            <a:r>
              <a:rPr dirty="0" sz="2800" spc="-885">
                <a:latin typeface="Courier New"/>
                <a:cs typeface="Courier New"/>
              </a:rPr>
              <a:t> </a:t>
            </a:r>
            <a:r>
              <a:rPr dirty="0" sz="2800" spc="-580">
                <a:latin typeface="Courier New"/>
                <a:cs typeface="Courier New"/>
              </a:rPr>
              <a:t>unit </a:t>
            </a:r>
            <a:r>
              <a:rPr dirty="0" sz="2800" spc="75">
                <a:latin typeface="Courier New"/>
                <a:cs typeface="Courier New"/>
              </a:rPr>
              <a:t>may</a:t>
            </a:r>
            <a:r>
              <a:rPr dirty="0" sz="2800" spc="-900">
                <a:latin typeface="Courier New"/>
                <a:cs typeface="Courier New"/>
              </a:rPr>
              <a:t> </a:t>
            </a:r>
            <a:r>
              <a:rPr dirty="0" sz="2800" spc="-140">
                <a:latin typeface="Courier New"/>
                <a:cs typeface="Courier New"/>
              </a:rPr>
              <a:t>be</a:t>
            </a:r>
            <a:r>
              <a:rPr dirty="0" sz="2800" spc="-890">
                <a:latin typeface="Courier New"/>
                <a:cs typeface="Courier New"/>
              </a:rPr>
              <a:t> </a:t>
            </a:r>
            <a:r>
              <a:rPr dirty="0" sz="2800" spc="-600">
                <a:latin typeface="Courier New"/>
                <a:cs typeface="Courier New"/>
              </a:rPr>
              <a:t>in</a:t>
            </a:r>
            <a:r>
              <a:rPr dirty="0" sz="2800" spc="-885">
                <a:latin typeface="Courier New"/>
                <a:cs typeface="Courier New"/>
              </a:rPr>
              <a:t> </a:t>
            </a:r>
            <a:r>
              <a:rPr dirty="0" sz="2800" spc="-395">
                <a:latin typeface="Courier New"/>
                <a:cs typeface="Courier New"/>
              </a:rPr>
              <a:t>region</a:t>
            </a:r>
            <a:r>
              <a:rPr dirty="0" sz="2800" spc="-890">
                <a:latin typeface="Courier New"/>
                <a:cs typeface="Courier New"/>
              </a:rPr>
              <a:t> </a:t>
            </a:r>
            <a:r>
              <a:rPr dirty="0" sz="2800" spc="-445">
                <a:latin typeface="Courier New"/>
                <a:cs typeface="Courier New"/>
              </a:rPr>
              <a:t>with</a:t>
            </a:r>
            <a:r>
              <a:rPr dirty="0" sz="2800" spc="-890">
                <a:latin typeface="Courier New"/>
                <a:cs typeface="Courier New"/>
              </a:rPr>
              <a:t> </a:t>
            </a:r>
            <a:r>
              <a:rPr dirty="0" sz="2800" spc="-240">
                <a:latin typeface="Courier New"/>
                <a:cs typeface="Courier New"/>
              </a:rPr>
              <a:t>few</a:t>
            </a:r>
            <a:r>
              <a:rPr dirty="0" sz="2800" spc="-885">
                <a:latin typeface="Courier New"/>
                <a:cs typeface="Courier New"/>
              </a:rPr>
              <a:t> </a:t>
            </a:r>
            <a:r>
              <a:rPr dirty="0" sz="2800" spc="-910">
                <a:latin typeface="Courier New"/>
                <a:cs typeface="Courier New"/>
              </a:rPr>
              <a:t>(if</a:t>
            </a:r>
            <a:r>
              <a:rPr dirty="0" sz="2800" spc="-890">
                <a:latin typeface="Courier New"/>
                <a:cs typeface="Courier New"/>
              </a:rPr>
              <a:t> </a:t>
            </a:r>
            <a:r>
              <a:rPr dirty="0" sz="2800" spc="-330">
                <a:latin typeface="Courier New"/>
                <a:cs typeface="Courier New"/>
              </a:rPr>
              <a:t>any)</a:t>
            </a:r>
            <a:r>
              <a:rPr dirty="0" sz="2800" spc="-890">
                <a:latin typeface="Courier New"/>
                <a:cs typeface="Courier New"/>
              </a:rPr>
              <a:t> </a:t>
            </a:r>
            <a:r>
              <a:rPr dirty="0" sz="2800" spc="-434">
                <a:latin typeface="Courier New"/>
                <a:cs typeface="Courier New"/>
              </a:rPr>
              <a:t>patterns</a:t>
            </a:r>
            <a:endParaRPr sz="2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0"/>
              </a:spcBef>
              <a:buClr>
                <a:srgbClr val="3333CC"/>
              </a:buClr>
              <a:buFont typeface="Tahoma"/>
              <a:buChar char="■"/>
            </a:pPr>
            <a:endParaRPr sz="2800">
              <a:latin typeface="Courier New"/>
              <a:cs typeface="Courier New"/>
            </a:endParaRPr>
          </a:p>
          <a:p>
            <a:pPr marL="355600" marR="5080" indent="-342900">
              <a:lnSpc>
                <a:spcPct val="79900"/>
              </a:lnSpc>
              <a:buClr>
                <a:srgbClr val="3333CC"/>
              </a:buClr>
              <a:buSzPct val="58928"/>
              <a:buFont typeface="Tahoma"/>
              <a:buChar char="■"/>
              <a:tabLst>
                <a:tab pos="355600" algn="l"/>
              </a:tabLst>
            </a:pPr>
            <a:r>
              <a:rPr dirty="0" sz="2800" spc="140">
                <a:latin typeface="Courier New"/>
                <a:cs typeface="Courier New"/>
              </a:rPr>
              <a:t>Some</a:t>
            </a:r>
            <a:r>
              <a:rPr dirty="0" sz="2800" spc="-890">
                <a:latin typeface="Courier New"/>
                <a:cs typeface="Courier New"/>
              </a:rPr>
              <a:t> </a:t>
            </a:r>
            <a:r>
              <a:rPr dirty="0" sz="2800" spc="-505">
                <a:latin typeface="Courier New"/>
                <a:cs typeface="Courier New"/>
              </a:rPr>
              <a:t>units</a:t>
            </a:r>
            <a:r>
              <a:rPr dirty="0" sz="2800" spc="-885">
                <a:latin typeface="Courier New"/>
                <a:cs typeface="Courier New"/>
              </a:rPr>
              <a:t> </a:t>
            </a:r>
            <a:r>
              <a:rPr dirty="0" sz="2800" spc="75">
                <a:latin typeface="Courier New"/>
                <a:cs typeface="Courier New"/>
              </a:rPr>
              <a:t>may</a:t>
            </a:r>
            <a:r>
              <a:rPr dirty="0" sz="2800" spc="-885">
                <a:latin typeface="Courier New"/>
                <a:cs typeface="Courier New"/>
              </a:rPr>
              <a:t> </a:t>
            </a:r>
            <a:r>
              <a:rPr dirty="0" sz="2800" spc="-290">
                <a:latin typeface="Courier New"/>
                <a:cs typeface="Courier New"/>
              </a:rPr>
              <a:t>never</a:t>
            </a:r>
            <a:r>
              <a:rPr dirty="0" sz="2800" spc="-890">
                <a:latin typeface="Courier New"/>
                <a:cs typeface="Courier New"/>
              </a:rPr>
              <a:t> </a:t>
            </a:r>
            <a:r>
              <a:rPr dirty="0" sz="2800" spc="-445">
                <a:latin typeface="Courier New"/>
                <a:cs typeface="Courier New"/>
              </a:rPr>
              <a:t>or</a:t>
            </a:r>
            <a:r>
              <a:rPr dirty="0" sz="2800" spc="-894">
                <a:latin typeface="Courier New"/>
                <a:cs typeface="Courier New"/>
              </a:rPr>
              <a:t> </a:t>
            </a:r>
            <a:r>
              <a:rPr dirty="0" sz="2800" spc="-525">
                <a:latin typeface="Courier New"/>
                <a:cs typeface="Courier New"/>
              </a:rPr>
              <a:t>rarely</a:t>
            </a:r>
            <a:r>
              <a:rPr dirty="0" sz="2800" spc="-885">
                <a:latin typeface="Courier New"/>
                <a:cs typeface="Courier New"/>
              </a:rPr>
              <a:t> </a:t>
            </a:r>
            <a:r>
              <a:rPr dirty="0" sz="2800" spc="-35">
                <a:latin typeface="Courier New"/>
                <a:cs typeface="Courier New"/>
              </a:rPr>
              <a:t>become</a:t>
            </a:r>
            <a:r>
              <a:rPr dirty="0" sz="2800" spc="-885">
                <a:latin typeface="Courier New"/>
                <a:cs typeface="Courier New"/>
              </a:rPr>
              <a:t> </a:t>
            </a:r>
            <a:r>
              <a:rPr dirty="0" sz="2800" spc="-140">
                <a:latin typeface="Courier New"/>
                <a:cs typeface="Courier New"/>
              </a:rPr>
              <a:t>a</a:t>
            </a:r>
            <a:r>
              <a:rPr dirty="0" sz="2800" spc="-885">
                <a:latin typeface="Courier New"/>
                <a:cs typeface="Courier New"/>
              </a:rPr>
              <a:t> </a:t>
            </a:r>
            <a:r>
              <a:rPr dirty="0" sz="2800" spc="-409">
                <a:latin typeface="Courier New"/>
                <a:cs typeface="Courier New"/>
              </a:rPr>
              <a:t>winner, </a:t>
            </a:r>
            <a:r>
              <a:rPr dirty="0" sz="2800" spc="-140">
                <a:latin typeface="Courier New"/>
                <a:cs typeface="Courier New"/>
              </a:rPr>
              <a:t>and</a:t>
            </a:r>
            <a:r>
              <a:rPr dirty="0" sz="2800" spc="-890">
                <a:latin typeface="Courier New"/>
                <a:cs typeface="Courier New"/>
              </a:rPr>
              <a:t> </a:t>
            </a:r>
            <a:r>
              <a:rPr dirty="0" sz="2800" spc="-215">
                <a:latin typeface="Courier New"/>
                <a:cs typeface="Courier New"/>
              </a:rPr>
              <a:t>so</a:t>
            </a:r>
            <a:r>
              <a:rPr dirty="0" sz="2800" spc="-885">
                <a:latin typeface="Courier New"/>
                <a:cs typeface="Courier New"/>
              </a:rPr>
              <a:t> </a:t>
            </a:r>
            <a:r>
              <a:rPr dirty="0" sz="2800" spc="-340">
                <a:latin typeface="Courier New"/>
                <a:cs typeface="Courier New"/>
              </a:rPr>
              <a:t>weight</a:t>
            </a:r>
            <a:r>
              <a:rPr dirty="0" sz="2800" spc="-885">
                <a:latin typeface="Courier New"/>
                <a:cs typeface="Courier New"/>
              </a:rPr>
              <a:t> </a:t>
            </a:r>
            <a:r>
              <a:rPr dirty="0" sz="2800" spc="-420">
                <a:latin typeface="Courier New"/>
                <a:cs typeface="Courier New"/>
              </a:rPr>
              <a:t>vector</a:t>
            </a:r>
            <a:r>
              <a:rPr dirty="0" sz="2800" spc="-894">
                <a:latin typeface="Courier New"/>
                <a:cs typeface="Courier New"/>
              </a:rPr>
              <a:t> </a:t>
            </a:r>
            <a:r>
              <a:rPr dirty="0" sz="2800" spc="75">
                <a:latin typeface="Courier New"/>
                <a:cs typeface="Courier New"/>
              </a:rPr>
              <a:t>may</a:t>
            </a:r>
            <a:r>
              <a:rPr dirty="0" sz="2800" spc="-885">
                <a:latin typeface="Courier New"/>
                <a:cs typeface="Courier New"/>
              </a:rPr>
              <a:t> </a:t>
            </a:r>
            <a:r>
              <a:rPr dirty="0" sz="2800" spc="-395">
                <a:latin typeface="Courier New"/>
                <a:cs typeface="Courier New"/>
              </a:rPr>
              <a:t>not</a:t>
            </a:r>
            <a:r>
              <a:rPr dirty="0" sz="2800" spc="-885">
                <a:latin typeface="Courier New"/>
                <a:cs typeface="Courier New"/>
              </a:rPr>
              <a:t> </a:t>
            </a:r>
            <a:r>
              <a:rPr dirty="0" sz="2800" spc="-140">
                <a:latin typeface="Courier New"/>
                <a:cs typeface="Courier New"/>
              </a:rPr>
              <a:t>be</a:t>
            </a:r>
            <a:r>
              <a:rPr dirty="0" sz="2800" spc="-885">
                <a:latin typeface="Courier New"/>
                <a:cs typeface="Courier New"/>
              </a:rPr>
              <a:t> </a:t>
            </a:r>
            <a:r>
              <a:rPr dirty="0" sz="2800" spc="-330">
                <a:latin typeface="Courier New"/>
                <a:cs typeface="Courier New"/>
              </a:rPr>
              <a:t>updated,</a:t>
            </a:r>
            <a:r>
              <a:rPr dirty="0" sz="2800" spc="-95">
                <a:latin typeface="Courier New"/>
                <a:cs typeface="Courier New"/>
              </a:rPr>
              <a:t> </a:t>
            </a:r>
            <a:r>
              <a:rPr dirty="0" sz="2800" spc="-385">
                <a:latin typeface="Courier New"/>
                <a:cs typeface="Courier New"/>
              </a:rPr>
              <a:t>thus preventing</a:t>
            </a:r>
            <a:r>
              <a:rPr dirty="0" sz="2800" spc="-890">
                <a:latin typeface="Courier New"/>
                <a:cs typeface="Courier New"/>
              </a:rPr>
              <a:t> </a:t>
            </a:r>
            <a:r>
              <a:rPr dirty="0" sz="2800" spc="-985">
                <a:latin typeface="Courier New"/>
                <a:cs typeface="Courier New"/>
              </a:rPr>
              <a:t>it</a:t>
            </a:r>
            <a:r>
              <a:rPr dirty="0" sz="2800" spc="-885">
                <a:latin typeface="Courier New"/>
                <a:cs typeface="Courier New"/>
              </a:rPr>
              <a:t> </a:t>
            </a:r>
            <a:r>
              <a:rPr dirty="0" sz="2800" spc="-509">
                <a:latin typeface="Courier New"/>
                <a:cs typeface="Courier New"/>
              </a:rPr>
              <a:t>finding</a:t>
            </a:r>
            <a:r>
              <a:rPr dirty="0" sz="2800" spc="-885">
                <a:latin typeface="Courier New"/>
                <a:cs typeface="Courier New"/>
              </a:rPr>
              <a:t> </a:t>
            </a:r>
            <a:r>
              <a:rPr dirty="0" sz="2800" spc="-525">
                <a:latin typeface="Courier New"/>
                <a:cs typeface="Courier New"/>
              </a:rPr>
              <a:t>richer</a:t>
            </a:r>
            <a:r>
              <a:rPr dirty="0" sz="2800" spc="-890">
                <a:latin typeface="Courier New"/>
                <a:cs typeface="Courier New"/>
              </a:rPr>
              <a:t> </a:t>
            </a:r>
            <a:r>
              <a:rPr dirty="0" sz="2800" spc="-484">
                <a:latin typeface="Courier New"/>
                <a:cs typeface="Courier New"/>
              </a:rPr>
              <a:t>part</a:t>
            </a:r>
            <a:r>
              <a:rPr dirty="0" sz="2800" spc="-885">
                <a:latin typeface="Courier New"/>
                <a:cs typeface="Courier New"/>
              </a:rPr>
              <a:t> </a:t>
            </a:r>
            <a:r>
              <a:rPr dirty="0" sz="2800" spc="-520">
                <a:latin typeface="Courier New"/>
                <a:cs typeface="Courier New"/>
              </a:rPr>
              <a:t>of</a:t>
            </a:r>
            <a:r>
              <a:rPr dirty="0" sz="2800" spc="-890">
                <a:latin typeface="Courier New"/>
                <a:cs typeface="Courier New"/>
              </a:rPr>
              <a:t> </a:t>
            </a:r>
            <a:r>
              <a:rPr dirty="0" sz="2800" spc="-445">
                <a:latin typeface="Courier New"/>
                <a:cs typeface="Courier New"/>
              </a:rPr>
              <a:t>pattern</a:t>
            </a:r>
            <a:r>
              <a:rPr dirty="0" sz="2800" spc="-885">
                <a:latin typeface="Courier New"/>
                <a:cs typeface="Courier New"/>
              </a:rPr>
              <a:t> </a:t>
            </a:r>
            <a:r>
              <a:rPr dirty="0" sz="2800" spc="-10">
                <a:latin typeface="Courier New"/>
                <a:cs typeface="Courier New"/>
              </a:rPr>
              <a:t>space</a:t>
            </a:r>
            <a:endParaRPr sz="2800">
              <a:latin typeface="Courier New"/>
              <a:cs typeface="Courier New"/>
            </a:endParaRPr>
          </a:p>
          <a:p>
            <a:pPr marL="355600">
              <a:lnSpc>
                <a:spcPts val="2815"/>
              </a:lnSpc>
            </a:pPr>
            <a:r>
              <a:rPr dirty="0" sz="2800">
                <a:latin typeface="Courier New"/>
                <a:cs typeface="Courier New"/>
              </a:rPr>
              <a:t></a:t>
            </a:r>
            <a:r>
              <a:rPr dirty="0" sz="2800" b="1">
                <a:solidFill>
                  <a:srgbClr val="FF0000"/>
                </a:solidFill>
                <a:latin typeface="Arial"/>
                <a:cs typeface="Arial"/>
              </a:rPr>
              <a:t>DEAD</a:t>
            </a:r>
            <a:r>
              <a:rPr dirty="0" sz="2800" spc="-1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800" spc="-20" b="1">
                <a:solidFill>
                  <a:srgbClr val="FF0000"/>
                </a:solidFill>
                <a:latin typeface="Arial"/>
                <a:cs typeface="Arial"/>
              </a:rPr>
              <a:t>UNIT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2800">
              <a:latin typeface="Arial"/>
              <a:cs typeface="Arial"/>
            </a:endParaRPr>
          </a:p>
          <a:p>
            <a:pPr marL="355600" marR="1010919" indent="-342900">
              <a:lnSpc>
                <a:spcPct val="79900"/>
              </a:lnSpc>
              <a:spcBef>
                <a:spcPts val="5"/>
              </a:spcBef>
              <a:buClr>
                <a:srgbClr val="3333CC"/>
              </a:buClr>
              <a:buSzPct val="58928"/>
              <a:buFont typeface="Tahoma"/>
              <a:buChar char="■"/>
              <a:tabLst>
                <a:tab pos="355600" algn="l"/>
              </a:tabLst>
            </a:pPr>
            <a:r>
              <a:rPr dirty="0" sz="2800" spc="-100">
                <a:latin typeface="Courier New"/>
                <a:cs typeface="Courier New"/>
              </a:rPr>
              <a:t>More</a:t>
            </a:r>
            <a:r>
              <a:rPr dirty="0" sz="2800" spc="-890">
                <a:latin typeface="Courier New"/>
                <a:cs typeface="Courier New"/>
              </a:rPr>
              <a:t> </a:t>
            </a:r>
            <a:r>
              <a:rPr dirty="0" sz="2800" spc="-615">
                <a:latin typeface="Courier New"/>
                <a:cs typeface="Courier New"/>
              </a:rPr>
              <a:t>efficient</a:t>
            </a:r>
            <a:r>
              <a:rPr dirty="0" sz="2800" spc="-890">
                <a:latin typeface="Courier New"/>
                <a:cs typeface="Courier New"/>
              </a:rPr>
              <a:t> </a:t>
            </a:r>
            <a:r>
              <a:rPr dirty="0" sz="2800" spc="-520">
                <a:latin typeface="Courier New"/>
                <a:cs typeface="Courier New"/>
              </a:rPr>
              <a:t>to</a:t>
            </a:r>
            <a:r>
              <a:rPr dirty="0" sz="2800" spc="-890">
                <a:latin typeface="Courier New"/>
                <a:cs typeface="Courier New"/>
              </a:rPr>
              <a:t> </a:t>
            </a:r>
            <a:r>
              <a:rPr dirty="0" sz="2800" spc="-265">
                <a:latin typeface="Courier New"/>
                <a:cs typeface="Courier New"/>
              </a:rPr>
              <a:t>ensure</a:t>
            </a:r>
            <a:r>
              <a:rPr dirty="0" sz="2800" spc="-890">
                <a:latin typeface="Courier New"/>
                <a:cs typeface="Courier New"/>
              </a:rPr>
              <a:t> </a:t>
            </a:r>
            <a:r>
              <a:rPr dirty="0" sz="2800" spc="-140">
                <a:latin typeface="Courier New"/>
                <a:cs typeface="Courier New"/>
              </a:rPr>
              <a:t>a</a:t>
            </a:r>
            <a:r>
              <a:rPr dirty="0" sz="2800" spc="-890">
                <a:latin typeface="Courier New"/>
                <a:cs typeface="Courier New"/>
              </a:rPr>
              <a:t> </a:t>
            </a:r>
            <a:r>
              <a:rPr dirty="0" sz="2800" spc="-625">
                <a:latin typeface="Courier New"/>
                <a:cs typeface="Courier New"/>
              </a:rPr>
              <a:t>fairer</a:t>
            </a:r>
            <a:r>
              <a:rPr dirty="0" sz="2800" spc="-894">
                <a:latin typeface="Courier New"/>
                <a:cs typeface="Courier New"/>
              </a:rPr>
              <a:t> </a:t>
            </a:r>
            <a:r>
              <a:rPr dirty="0" sz="2800" spc="-395">
                <a:latin typeface="Courier New"/>
                <a:cs typeface="Courier New"/>
              </a:rPr>
              <a:t>competition </a:t>
            </a:r>
            <a:r>
              <a:rPr dirty="0" sz="2800" spc="-175">
                <a:latin typeface="Courier New"/>
                <a:cs typeface="Courier New"/>
              </a:rPr>
              <a:t>where</a:t>
            </a:r>
            <a:r>
              <a:rPr dirty="0" sz="2800" spc="-880">
                <a:latin typeface="Courier New"/>
                <a:cs typeface="Courier New"/>
              </a:rPr>
              <a:t> </a:t>
            </a:r>
            <a:r>
              <a:rPr dirty="0" sz="2800" spc="-180">
                <a:latin typeface="Courier New"/>
                <a:cs typeface="Courier New"/>
              </a:rPr>
              <a:t>each</a:t>
            </a:r>
            <a:r>
              <a:rPr dirty="0" sz="2800" spc="-875">
                <a:latin typeface="Courier New"/>
                <a:cs typeface="Courier New"/>
              </a:rPr>
              <a:t> </a:t>
            </a:r>
            <a:r>
              <a:rPr dirty="0" sz="2800" spc="-560">
                <a:latin typeface="Courier New"/>
                <a:cs typeface="Courier New"/>
              </a:rPr>
              <a:t>unit</a:t>
            </a:r>
            <a:r>
              <a:rPr dirty="0" sz="2800" spc="-880">
                <a:latin typeface="Courier New"/>
                <a:cs typeface="Courier New"/>
              </a:rPr>
              <a:t> </a:t>
            </a:r>
            <a:r>
              <a:rPr dirty="0" sz="2800" spc="-190">
                <a:latin typeface="Courier New"/>
                <a:cs typeface="Courier New"/>
              </a:rPr>
              <a:t>has</a:t>
            </a:r>
            <a:r>
              <a:rPr dirty="0" sz="2800" spc="-875">
                <a:latin typeface="Courier New"/>
                <a:cs typeface="Courier New"/>
              </a:rPr>
              <a:t> </a:t>
            </a:r>
            <a:r>
              <a:rPr dirty="0" sz="2800" spc="-140">
                <a:latin typeface="Courier New"/>
                <a:cs typeface="Courier New"/>
              </a:rPr>
              <a:t>an</a:t>
            </a:r>
            <a:r>
              <a:rPr dirty="0" sz="2800" spc="-875">
                <a:latin typeface="Courier New"/>
                <a:cs typeface="Courier New"/>
              </a:rPr>
              <a:t> </a:t>
            </a:r>
            <a:r>
              <a:rPr dirty="0" sz="2800" spc="-320">
                <a:latin typeface="Courier New"/>
                <a:cs typeface="Courier New"/>
              </a:rPr>
              <a:t>equal</a:t>
            </a:r>
            <a:r>
              <a:rPr dirty="0" sz="2800" spc="-885">
                <a:latin typeface="Courier New"/>
                <a:cs typeface="Courier New"/>
              </a:rPr>
              <a:t> </a:t>
            </a:r>
            <a:r>
              <a:rPr dirty="0" sz="2800" spc="-190">
                <a:latin typeface="Courier New"/>
                <a:cs typeface="Courier New"/>
              </a:rPr>
              <a:t>chance</a:t>
            </a:r>
            <a:r>
              <a:rPr dirty="0" sz="2800" spc="-875">
                <a:latin typeface="Courier New"/>
                <a:cs typeface="Courier New"/>
              </a:rPr>
              <a:t> </a:t>
            </a:r>
            <a:r>
              <a:rPr dirty="0" sz="2800" spc="-545">
                <a:latin typeface="Courier New"/>
                <a:cs typeface="Courier New"/>
              </a:rPr>
              <a:t>of </a:t>
            </a:r>
            <a:r>
              <a:rPr dirty="0" sz="2800" spc="-395">
                <a:latin typeface="Courier New"/>
                <a:cs typeface="Courier New"/>
              </a:rPr>
              <a:t>representing</a:t>
            </a:r>
            <a:r>
              <a:rPr dirty="0" sz="2800" spc="-875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some</a:t>
            </a:r>
            <a:r>
              <a:rPr dirty="0" sz="2800" spc="-869">
                <a:latin typeface="Courier New"/>
                <a:cs typeface="Courier New"/>
              </a:rPr>
              <a:t> </a:t>
            </a:r>
            <a:r>
              <a:rPr dirty="0" sz="2800" spc="-484">
                <a:latin typeface="Courier New"/>
                <a:cs typeface="Courier New"/>
              </a:rPr>
              <a:t>part</a:t>
            </a:r>
            <a:r>
              <a:rPr dirty="0" sz="2800" spc="-869">
                <a:latin typeface="Courier New"/>
                <a:cs typeface="Courier New"/>
              </a:rPr>
              <a:t> </a:t>
            </a:r>
            <a:r>
              <a:rPr dirty="0" sz="2800" spc="-520">
                <a:latin typeface="Courier New"/>
                <a:cs typeface="Courier New"/>
              </a:rPr>
              <a:t>of</a:t>
            </a:r>
            <a:r>
              <a:rPr dirty="0" sz="2800" spc="-869">
                <a:latin typeface="Courier New"/>
                <a:cs typeface="Courier New"/>
              </a:rPr>
              <a:t> </a:t>
            </a:r>
            <a:r>
              <a:rPr dirty="0" sz="2800" spc="-540">
                <a:latin typeface="Courier New"/>
                <a:cs typeface="Courier New"/>
              </a:rPr>
              <a:t>training</a:t>
            </a:r>
            <a:r>
              <a:rPr dirty="0" sz="2800" spc="-869">
                <a:latin typeface="Courier New"/>
                <a:cs typeface="Courier New"/>
              </a:rPr>
              <a:t> </a:t>
            </a:r>
            <a:r>
              <a:rPr dirty="0" sz="2800" spc="-350">
                <a:latin typeface="Courier New"/>
                <a:cs typeface="Courier New"/>
              </a:rPr>
              <a:t>data</a:t>
            </a:r>
            <a:endParaRPr sz="2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50264" y="2094115"/>
            <a:ext cx="7860030" cy="79248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355600" marR="5080" indent="-342900">
              <a:lnSpc>
                <a:spcPct val="79900"/>
              </a:lnSpc>
              <a:spcBef>
                <a:spcPts val="770"/>
              </a:spcBef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Modify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weights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both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winning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and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losing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units </a:t>
            </a:r>
            <a:r>
              <a:rPr dirty="0" sz="2800">
                <a:latin typeface="Tahoma"/>
                <a:cs typeface="Tahoma"/>
              </a:rPr>
              <a:t>but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at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different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learning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rates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595119" y="4138815"/>
            <a:ext cx="6946265" cy="1474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latin typeface="Tahoma"/>
                <a:cs typeface="Tahoma"/>
              </a:rPr>
              <a:t>where</a:t>
            </a:r>
            <a:endParaRPr sz="2800">
              <a:latin typeface="Tahoma"/>
              <a:cs typeface="Tahoma"/>
            </a:endParaRPr>
          </a:p>
          <a:p>
            <a:pPr marL="12700" marR="5080">
              <a:lnSpc>
                <a:spcPct val="79900"/>
              </a:lnSpc>
              <a:spcBef>
                <a:spcPts val="2685"/>
              </a:spcBef>
            </a:pPr>
            <a:r>
              <a:rPr dirty="0" sz="2800">
                <a:latin typeface="Tahoma"/>
                <a:cs typeface="Tahoma"/>
              </a:rPr>
              <a:t>which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has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effect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slowly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moving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losing </a:t>
            </a:r>
            <a:r>
              <a:rPr dirty="0" sz="2800">
                <a:latin typeface="Tahoma"/>
                <a:cs typeface="Tahoma"/>
              </a:rPr>
              <a:t>units</a:t>
            </a:r>
            <a:r>
              <a:rPr dirty="0" sz="2800" spc="-9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towards</a:t>
            </a:r>
            <a:r>
              <a:rPr dirty="0" sz="2800" spc="-9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denser</a:t>
            </a:r>
            <a:r>
              <a:rPr dirty="0" sz="2800" spc="-9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regions</a:t>
            </a:r>
            <a:r>
              <a:rPr dirty="0" sz="2800" spc="-9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pattern</a:t>
            </a:r>
            <a:r>
              <a:rPr dirty="0" sz="2800" spc="-9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space.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650961" y="3240362"/>
            <a:ext cx="4953000" cy="549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3250" spc="-595" i="1">
                <a:latin typeface="Courier New"/>
                <a:cs typeface="Courier New"/>
              </a:rPr>
              <a:t>w</a:t>
            </a:r>
            <a:r>
              <a:rPr dirty="0" sz="3250" spc="-595">
                <a:latin typeface="Courier New"/>
                <a:cs typeface="Courier New"/>
              </a:rPr>
              <a:t>(</a:t>
            </a:r>
            <a:r>
              <a:rPr dirty="0" sz="3250" spc="-595" i="1">
                <a:latin typeface="Courier New"/>
                <a:cs typeface="Courier New"/>
              </a:rPr>
              <a:t>t</a:t>
            </a:r>
            <a:r>
              <a:rPr dirty="0" sz="3250" spc="-1200" i="1">
                <a:latin typeface="Courier New"/>
                <a:cs typeface="Courier New"/>
              </a:rPr>
              <a:t> </a:t>
            </a:r>
            <a:r>
              <a:rPr dirty="0" sz="3250" spc="-210">
                <a:latin typeface="Courier New"/>
                <a:cs typeface="Courier New"/>
              </a:rPr>
              <a:t>+</a:t>
            </a:r>
            <a:r>
              <a:rPr dirty="0" sz="3250" spc="-760">
                <a:latin typeface="Courier New"/>
                <a:cs typeface="Courier New"/>
              </a:rPr>
              <a:t>1</a:t>
            </a:r>
            <a:r>
              <a:rPr dirty="0" sz="3250" spc="-450">
                <a:latin typeface="Courier New"/>
                <a:cs typeface="Courier New"/>
              </a:rPr>
              <a:t>)</a:t>
            </a:r>
            <a:r>
              <a:rPr dirty="0" sz="3250" spc="-1180">
                <a:latin typeface="Courier New"/>
                <a:cs typeface="Courier New"/>
              </a:rPr>
              <a:t> </a:t>
            </a:r>
            <a:r>
              <a:rPr dirty="0" sz="3250" spc="-185">
                <a:latin typeface="Courier New"/>
                <a:cs typeface="Courier New"/>
              </a:rPr>
              <a:t>=</a:t>
            </a:r>
            <a:r>
              <a:rPr dirty="0" sz="3250" spc="-1150">
                <a:latin typeface="Courier New"/>
                <a:cs typeface="Courier New"/>
              </a:rPr>
              <a:t> </a:t>
            </a:r>
            <a:r>
              <a:rPr dirty="0" sz="3250" spc="-610" i="1">
                <a:latin typeface="Courier New"/>
                <a:cs typeface="Courier New"/>
              </a:rPr>
              <a:t>w</a:t>
            </a:r>
            <a:r>
              <a:rPr dirty="0" sz="3250" spc="-610">
                <a:latin typeface="Courier New"/>
                <a:cs typeface="Courier New"/>
              </a:rPr>
              <a:t>(</a:t>
            </a:r>
            <a:r>
              <a:rPr dirty="0" sz="3250" spc="-610" i="1">
                <a:latin typeface="Courier New"/>
                <a:cs typeface="Courier New"/>
              </a:rPr>
              <a:t>t</a:t>
            </a:r>
            <a:r>
              <a:rPr dirty="0" sz="3250" spc="-610">
                <a:latin typeface="Courier New"/>
                <a:cs typeface="Courier New"/>
              </a:rPr>
              <a:t>)</a:t>
            </a:r>
            <a:r>
              <a:rPr dirty="0" sz="3250" spc="-1390">
                <a:latin typeface="Courier New"/>
                <a:cs typeface="Courier New"/>
              </a:rPr>
              <a:t> </a:t>
            </a:r>
            <a:r>
              <a:rPr dirty="0" sz="3250" spc="-185">
                <a:latin typeface="Courier New"/>
                <a:cs typeface="Courier New"/>
              </a:rPr>
              <a:t>+</a:t>
            </a:r>
            <a:r>
              <a:rPr dirty="0" sz="3250" spc="-1285">
                <a:latin typeface="Courier New"/>
                <a:cs typeface="Courier New"/>
              </a:rPr>
              <a:t> </a:t>
            </a:r>
            <a:r>
              <a:rPr dirty="0" baseline="38461" sz="4875" spc="-907">
                <a:latin typeface="Courier New"/>
                <a:cs typeface="Courier New"/>
              </a:rPr>
              <a:t></a:t>
            </a:r>
            <a:r>
              <a:rPr dirty="0" baseline="40849" sz="5100" spc="-907" i="1">
                <a:latin typeface="Courier New"/>
                <a:cs typeface="Courier New"/>
              </a:rPr>
              <a:t>η</a:t>
            </a:r>
            <a:r>
              <a:rPr dirty="0" baseline="48245" sz="2850" spc="-907" i="1">
                <a:latin typeface="Courier New"/>
                <a:cs typeface="Courier New"/>
              </a:rPr>
              <a:t>w</a:t>
            </a:r>
            <a:r>
              <a:rPr dirty="0" baseline="48245" sz="2850" spc="-1170" i="1">
                <a:latin typeface="Courier New"/>
                <a:cs typeface="Courier New"/>
              </a:rPr>
              <a:t> </a:t>
            </a:r>
            <a:r>
              <a:rPr dirty="0" baseline="42735" sz="4875" spc="-862">
                <a:latin typeface="Courier New"/>
                <a:cs typeface="Courier New"/>
              </a:rPr>
              <a:t>(</a:t>
            </a:r>
            <a:r>
              <a:rPr dirty="0" baseline="42735" sz="4875" spc="-862" i="1">
                <a:latin typeface="Courier New"/>
                <a:cs typeface="Courier New"/>
              </a:rPr>
              <a:t>x</a:t>
            </a:r>
            <a:r>
              <a:rPr dirty="0" baseline="42735" sz="4875" spc="-2017" i="1">
                <a:latin typeface="Courier New"/>
                <a:cs typeface="Courier New"/>
              </a:rPr>
              <a:t> </a:t>
            </a:r>
            <a:r>
              <a:rPr dirty="0" baseline="42735" sz="4875" spc="-277">
                <a:latin typeface="Courier New"/>
                <a:cs typeface="Courier New"/>
              </a:rPr>
              <a:t>–</a:t>
            </a:r>
            <a:r>
              <a:rPr dirty="0" baseline="42735" sz="4875" spc="-2017">
                <a:latin typeface="Courier New"/>
                <a:cs typeface="Courier New"/>
              </a:rPr>
              <a:t> </a:t>
            </a:r>
            <a:r>
              <a:rPr dirty="0" baseline="42735" sz="4875" spc="-1019" i="1">
                <a:latin typeface="Courier New"/>
                <a:cs typeface="Courier New"/>
              </a:rPr>
              <a:t>w</a:t>
            </a:r>
            <a:r>
              <a:rPr dirty="0" baseline="42735" sz="4875" spc="-1019">
                <a:latin typeface="Courier New"/>
                <a:cs typeface="Courier New"/>
              </a:rPr>
              <a:t>(</a:t>
            </a:r>
            <a:r>
              <a:rPr dirty="0" baseline="42735" sz="4875" spc="-1019" i="1">
                <a:latin typeface="Courier New"/>
                <a:cs typeface="Courier New"/>
              </a:rPr>
              <a:t>t</a:t>
            </a:r>
            <a:r>
              <a:rPr dirty="0" baseline="42735" sz="4875" spc="-1019">
                <a:latin typeface="Courier New"/>
                <a:cs typeface="Courier New"/>
              </a:rPr>
              <a:t>))</a:t>
            </a:r>
            <a:endParaRPr baseline="42735" sz="4875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334446" y="3560796"/>
            <a:ext cx="2254885" cy="549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baseline="33333" sz="4875" spc="-1545">
                <a:latin typeface="Courier New"/>
                <a:cs typeface="Courier New"/>
              </a:rPr>
              <a:t></a:t>
            </a:r>
            <a:r>
              <a:rPr dirty="0" sz="3400" spc="-1030" i="1">
                <a:latin typeface="Courier New"/>
                <a:cs typeface="Courier New"/>
              </a:rPr>
              <a:t>η</a:t>
            </a:r>
            <a:r>
              <a:rPr dirty="0" sz="3400" spc="-409" i="1">
                <a:latin typeface="Courier New"/>
                <a:cs typeface="Courier New"/>
              </a:rPr>
              <a:t> </a:t>
            </a:r>
            <a:r>
              <a:rPr dirty="0" sz="3250" spc="-575">
                <a:latin typeface="Courier New"/>
                <a:cs typeface="Courier New"/>
              </a:rPr>
              <a:t>(</a:t>
            </a:r>
            <a:r>
              <a:rPr dirty="0" sz="3250" spc="-575" i="1">
                <a:latin typeface="Courier New"/>
                <a:cs typeface="Courier New"/>
              </a:rPr>
              <a:t>x</a:t>
            </a:r>
            <a:r>
              <a:rPr dirty="0" sz="3250" spc="-1350" i="1">
                <a:latin typeface="Courier New"/>
                <a:cs typeface="Courier New"/>
              </a:rPr>
              <a:t> </a:t>
            </a:r>
            <a:r>
              <a:rPr dirty="0" sz="3250" spc="-185">
                <a:latin typeface="Courier New"/>
                <a:cs typeface="Courier New"/>
              </a:rPr>
              <a:t>–</a:t>
            </a:r>
            <a:r>
              <a:rPr dirty="0" sz="3250" spc="-1350">
                <a:latin typeface="Courier New"/>
                <a:cs typeface="Courier New"/>
              </a:rPr>
              <a:t> </a:t>
            </a:r>
            <a:r>
              <a:rPr dirty="0" sz="3250" spc="-680" i="1">
                <a:latin typeface="Courier New"/>
                <a:cs typeface="Courier New"/>
              </a:rPr>
              <a:t>w</a:t>
            </a:r>
            <a:r>
              <a:rPr dirty="0" sz="3250" spc="-680">
                <a:latin typeface="Courier New"/>
                <a:cs typeface="Courier New"/>
              </a:rPr>
              <a:t>(</a:t>
            </a:r>
            <a:r>
              <a:rPr dirty="0" sz="3250" spc="-680" i="1">
                <a:latin typeface="Courier New"/>
                <a:cs typeface="Courier New"/>
              </a:rPr>
              <a:t>t</a:t>
            </a:r>
            <a:r>
              <a:rPr dirty="0" sz="3250" spc="-680">
                <a:latin typeface="Courier New"/>
                <a:cs typeface="Courier New"/>
              </a:rPr>
              <a:t>))</a:t>
            </a:r>
            <a:endParaRPr sz="325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359846" y="3692042"/>
            <a:ext cx="594360" cy="5232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250" spc="-1660">
                <a:latin typeface="Courier New"/>
                <a:cs typeface="Courier New"/>
              </a:rPr>
              <a:t></a:t>
            </a:r>
            <a:r>
              <a:rPr dirty="0" sz="3250" spc="-145">
                <a:latin typeface="Courier New"/>
                <a:cs typeface="Courier New"/>
              </a:rPr>
              <a:t> </a:t>
            </a:r>
            <a:r>
              <a:rPr dirty="0" sz="1900" spc="-50" i="1">
                <a:latin typeface="Courier New"/>
                <a:cs typeface="Courier New"/>
              </a:rPr>
              <a:t>L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86474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800000"/>
                </a:solidFill>
              </a:rPr>
              <a:t>Leaky</a:t>
            </a:r>
            <a:r>
              <a:rPr dirty="0" sz="4000" spc="-130">
                <a:solidFill>
                  <a:srgbClr val="800000"/>
                </a:solidFill>
              </a:rPr>
              <a:t> </a:t>
            </a:r>
            <a:r>
              <a:rPr dirty="0" sz="4000" spc="-10">
                <a:solidFill>
                  <a:srgbClr val="800000"/>
                </a:solidFill>
              </a:rPr>
              <a:t>learning</a:t>
            </a:r>
            <a:endParaRPr sz="4000"/>
          </a:p>
        </p:txBody>
      </p:sp>
      <p:grpSp>
        <p:nvGrpSpPr>
          <p:cNvPr id="8" name="object 8" descr=""/>
          <p:cNvGrpSpPr/>
          <p:nvPr/>
        </p:nvGrpSpPr>
        <p:grpSpPr>
          <a:xfrm>
            <a:off x="2884665" y="4279519"/>
            <a:ext cx="383540" cy="275590"/>
            <a:chOff x="2884665" y="4279519"/>
            <a:chExt cx="383540" cy="275590"/>
          </a:xfrm>
        </p:grpSpPr>
        <p:sp>
          <p:nvSpPr>
            <p:cNvPr id="9" name="object 9" descr=""/>
            <p:cNvSpPr/>
            <p:nvPr/>
          </p:nvSpPr>
          <p:spPr>
            <a:xfrm>
              <a:off x="2884665" y="4279519"/>
              <a:ext cx="203835" cy="275590"/>
            </a:xfrm>
            <a:custGeom>
              <a:avLst/>
              <a:gdLst/>
              <a:ahLst/>
              <a:cxnLst/>
              <a:rect l="l" t="t" r="r" b="b"/>
              <a:pathLst>
                <a:path w="203835" h="275589">
                  <a:moveTo>
                    <a:pt x="153212" y="0"/>
                  </a:moveTo>
                  <a:lnTo>
                    <a:pt x="114401" y="10185"/>
                  </a:lnTo>
                  <a:lnTo>
                    <a:pt x="88861" y="32600"/>
                  </a:lnTo>
                  <a:lnTo>
                    <a:pt x="87845" y="27508"/>
                  </a:lnTo>
                  <a:lnTo>
                    <a:pt x="57200" y="1015"/>
                  </a:lnTo>
                  <a:lnTo>
                    <a:pt x="48006" y="0"/>
                  </a:lnTo>
                  <a:lnTo>
                    <a:pt x="36766" y="2031"/>
                  </a:lnTo>
                  <a:lnTo>
                    <a:pt x="10210" y="33629"/>
                  </a:lnTo>
                  <a:lnTo>
                    <a:pt x="1015" y="65214"/>
                  </a:lnTo>
                  <a:lnTo>
                    <a:pt x="0" y="67246"/>
                  </a:lnTo>
                  <a:lnTo>
                    <a:pt x="2044" y="70307"/>
                  </a:lnTo>
                  <a:lnTo>
                    <a:pt x="6121" y="72339"/>
                  </a:lnTo>
                  <a:lnTo>
                    <a:pt x="8166" y="72339"/>
                  </a:lnTo>
                  <a:lnTo>
                    <a:pt x="13271" y="70307"/>
                  </a:lnTo>
                  <a:lnTo>
                    <a:pt x="15316" y="66230"/>
                  </a:lnTo>
                  <a:lnTo>
                    <a:pt x="21450" y="44830"/>
                  </a:lnTo>
                  <a:lnTo>
                    <a:pt x="24510" y="36677"/>
                  </a:lnTo>
                  <a:lnTo>
                    <a:pt x="31661" y="22415"/>
                  </a:lnTo>
                  <a:lnTo>
                    <a:pt x="35750" y="17322"/>
                  </a:lnTo>
                  <a:lnTo>
                    <a:pt x="40855" y="14262"/>
                  </a:lnTo>
                  <a:lnTo>
                    <a:pt x="45961" y="13246"/>
                  </a:lnTo>
                  <a:lnTo>
                    <a:pt x="50050" y="14262"/>
                  </a:lnTo>
                  <a:lnTo>
                    <a:pt x="53111" y="16306"/>
                  </a:lnTo>
                  <a:lnTo>
                    <a:pt x="55156" y="19354"/>
                  </a:lnTo>
                  <a:lnTo>
                    <a:pt x="57200" y="23431"/>
                  </a:lnTo>
                  <a:lnTo>
                    <a:pt x="58216" y="31584"/>
                  </a:lnTo>
                  <a:lnTo>
                    <a:pt x="57200" y="40754"/>
                  </a:lnTo>
                  <a:lnTo>
                    <a:pt x="55156" y="50952"/>
                  </a:lnTo>
                  <a:lnTo>
                    <a:pt x="22466" y="174231"/>
                  </a:lnTo>
                  <a:lnTo>
                    <a:pt x="22466" y="178307"/>
                  </a:lnTo>
                  <a:lnTo>
                    <a:pt x="23494" y="183413"/>
                  </a:lnTo>
                  <a:lnTo>
                    <a:pt x="25539" y="186461"/>
                  </a:lnTo>
                  <a:lnTo>
                    <a:pt x="29616" y="189522"/>
                  </a:lnTo>
                  <a:lnTo>
                    <a:pt x="34721" y="190538"/>
                  </a:lnTo>
                  <a:lnTo>
                    <a:pt x="40855" y="189522"/>
                  </a:lnTo>
                  <a:lnTo>
                    <a:pt x="46977" y="186461"/>
                  </a:lnTo>
                  <a:lnTo>
                    <a:pt x="52095" y="182384"/>
                  </a:lnTo>
                  <a:lnTo>
                    <a:pt x="55156" y="175259"/>
                  </a:lnTo>
                  <a:lnTo>
                    <a:pt x="83756" y="62153"/>
                  </a:lnTo>
                  <a:lnTo>
                    <a:pt x="89877" y="51968"/>
                  </a:lnTo>
                  <a:lnTo>
                    <a:pt x="120522" y="21399"/>
                  </a:lnTo>
                  <a:lnTo>
                    <a:pt x="151168" y="13246"/>
                  </a:lnTo>
                  <a:lnTo>
                    <a:pt x="157289" y="14262"/>
                  </a:lnTo>
                  <a:lnTo>
                    <a:pt x="162407" y="17322"/>
                  </a:lnTo>
                  <a:lnTo>
                    <a:pt x="166484" y="21399"/>
                  </a:lnTo>
                  <a:lnTo>
                    <a:pt x="169557" y="26492"/>
                  </a:lnTo>
                  <a:lnTo>
                    <a:pt x="171589" y="32600"/>
                  </a:lnTo>
                  <a:lnTo>
                    <a:pt x="171589" y="45846"/>
                  </a:lnTo>
                  <a:lnTo>
                    <a:pt x="167512" y="68262"/>
                  </a:lnTo>
                  <a:lnTo>
                    <a:pt x="117462" y="262889"/>
                  </a:lnTo>
                  <a:lnTo>
                    <a:pt x="118478" y="267982"/>
                  </a:lnTo>
                  <a:lnTo>
                    <a:pt x="120522" y="271030"/>
                  </a:lnTo>
                  <a:lnTo>
                    <a:pt x="125628" y="274091"/>
                  </a:lnTo>
                  <a:lnTo>
                    <a:pt x="130733" y="275107"/>
                  </a:lnTo>
                  <a:lnTo>
                    <a:pt x="136867" y="274091"/>
                  </a:lnTo>
                  <a:lnTo>
                    <a:pt x="199174" y="69291"/>
                  </a:lnTo>
                  <a:lnTo>
                    <a:pt x="203263" y="42798"/>
                  </a:lnTo>
                  <a:lnTo>
                    <a:pt x="201218" y="29552"/>
                  </a:lnTo>
                  <a:lnTo>
                    <a:pt x="196113" y="19354"/>
                  </a:lnTo>
                  <a:lnTo>
                    <a:pt x="187934" y="10185"/>
                  </a:lnTo>
                  <a:lnTo>
                    <a:pt x="177723" y="5092"/>
                  </a:lnTo>
                  <a:lnTo>
                    <a:pt x="165468" y="1015"/>
                  </a:lnTo>
                  <a:lnTo>
                    <a:pt x="1532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01200" y="4420133"/>
              <a:ext cx="166484" cy="105968"/>
            </a:xfrm>
            <a:prstGeom prst="rect">
              <a:avLst/>
            </a:prstGeom>
          </p:spPr>
        </p:pic>
      </p:grpSp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89236" y="4207160"/>
            <a:ext cx="333997" cy="270033"/>
          </a:xfrm>
          <a:prstGeom prst="rect">
            <a:avLst/>
          </a:prstGeom>
        </p:spPr>
      </p:pic>
      <p:grpSp>
        <p:nvGrpSpPr>
          <p:cNvPr id="12" name="object 12" descr=""/>
          <p:cNvGrpSpPr/>
          <p:nvPr/>
        </p:nvGrpSpPr>
        <p:grpSpPr>
          <a:xfrm>
            <a:off x="3834574" y="4279519"/>
            <a:ext cx="368935" cy="275590"/>
            <a:chOff x="3834574" y="4279519"/>
            <a:chExt cx="368935" cy="275590"/>
          </a:xfrm>
        </p:grpSpPr>
        <p:sp>
          <p:nvSpPr>
            <p:cNvPr id="13" name="object 13" descr=""/>
            <p:cNvSpPr/>
            <p:nvPr/>
          </p:nvSpPr>
          <p:spPr>
            <a:xfrm>
              <a:off x="3834574" y="4279519"/>
              <a:ext cx="202565" cy="275590"/>
            </a:xfrm>
            <a:custGeom>
              <a:avLst/>
              <a:gdLst/>
              <a:ahLst/>
              <a:cxnLst/>
              <a:rect l="l" t="t" r="r" b="b"/>
              <a:pathLst>
                <a:path w="202564" h="275589">
                  <a:moveTo>
                    <a:pt x="153200" y="0"/>
                  </a:moveTo>
                  <a:lnTo>
                    <a:pt x="113372" y="10185"/>
                  </a:lnTo>
                  <a:lnTo>
                    <a:pt x="87833" y="32600"/>
                  </a:lnTo>
                  <a:lnTo>
                    <a:pt x="86817" y="27508"/>
                  </a:lnTo>
                  <a:lnTo>
                    <a:pt x="56172" y="1015"/>
                  </a:lnTo>
                  <a:lnTo>
                    <a:pt x="48005" y="0"/>
                  </a:lnTo>
                  <a:lnTo>
                    <a:pt x="36766" y="2031"/>
                  </a:lnTo>
                  <a:lnTo>
                    <a:pt x="9182" y="33629"/>
                  </a:lnTo>
                  <a:lnTo>
                    <a:pt x="1015" y="65214"/>
                  </a:lnTo>
                  <a:lnTo>
                    <a:pt x="0" y="67246"/>
                  </a:lnTo>
                  <a:lnTo>
                    <a:pt x="1015" y="70307"/>
                  </a:lnTo>
                  <a:lnTo>
                    <a:pt x="5105" y="72339"/>
                  </a:lnTo>
                  <a:lnTo>
                    <a:pt x="8166" y="72339"/>
                  </a:lnTo>
                  <a:lnTo>
                    <a:pt x="12255" y="70307"/>
                  </a:lnTo>
                  <a:lnTo>
                    <a:pt x="15316" y="66230"/>
                  </a:lnTo>
                  <a:lnTo>
                    <a:pt x="21450" y="44830"/>
                  </a:lnTo>
                  <a:lnTo>
                    <a:pt x="27571" y="28524"/>
                  </a:lnTo>
                  <a:lnTo>
                    <a:pt x="31661" y="22415"/>
                  </a:lnTo>
                  <a:lnTo>
                    <a:pt x="35750" y="17322"/>
                  </a:lnTo>
                  <a:lnTo>
                    <a:pt x="39827" y="14262"/>
                  </a:lnTo>
                  <a:lnTo>
                    <a:pt x="44932" y="13246"/>
                  </a:lnTo>
                  <a:lnTo>
                    <a:pt x="50050" y="14262"/>
                  </a:lnTo>
                  <a:lnTo>
                    <a:pt x="53111" y="16306"/>
                  </a:lnTo>
                  <a:lnTo>
                    <a:pt x="55156" y="19354"/>
                  </a:lnTo>
                  <a:lnTo>
                    <a:pt x="56172" y="23431"/>
                  </a:lnTo>
                  <a:lnTo>
                    <a:pt x="57188" y="31584"/>
                  </a:lnTo>
                  <a:lnTo>
                    <a:pt x="56172" y="40754"/>
                  </a:lnTo>
                  <a:lnTo>
                    <a:pt x="54127" y="50952"/>
                  </a:lnTo>
                  <a:lnTo>
                    <a:pt x="22466" y="174231"/>
                  </a:lnTo>
                  <a:lnTo>
                    <a:pt x="22466" y="183413"/>
                  </a:lnTo>
                  <a:lnTo>
                    <a:pt x="24511" y="186461"/>
                  </a:lnTo>
                  <a:lnTo>
                    <a:pt x="29616" y="189522"/>
                  </a:lnTo>
                  <a:lnTo>
                    <a:pt x="34721" y="190538"/>
                  </a:lnTo>
                  <a:lnTo>
                    <a:pt x="40855" y="189522"/>
                  </a:lnTo>
                  <a:lnTo>
                    <a:pt x="46977" y="186461"/>
                  </a:lnTo>
                  <a:lnTo>
                    <a:pt x="52082" y="182384"/>
                  </a:lnTo>
                  <a:lnTo>
                    <a:pt x="54127" y="175259"/>
                  </a:lnTo>
                  <a:lnTo>
                    <a:pt x="83756" y="62153"/>
                  </a:lnTo>
                  <a:lnTo>
                    <a:pt x="89877" y="51968"/>
                  </a:lnTo>
                  <a:lnTo>
                    <a:pt x="120523" y="21399"/>
                  </a:lnTo>
                  <a:lnTo>
                    <a:pt x="151168" y="13246"/>
                  </a:lnTo>
                  <a:lnTo>
                    <a:pt x="157289" y="14262"/>
                  </a:lnTo>
                  <a:lnTo>
                    <a:pt x="171589" y="39738"/>
                  </a:lnTo>
                  <a:lnTo>
                    <a:pt x="166484" y="68262"/>
                  </a:lnTo>
                  <a:lnTo>
                    <a:pt x="117462" y="258813"/>
                  </a:lnTo>
                  <a:lnTo>
                    <a:pt x="117462" y="267982"/>
                  </a:lnTo>
                  <a:lnTo>
                    <a:pt x="120523" y="271030"/>
                  </a:lnTo>
                  <a:lnTo>
                    <a:pt x="124612" y="274091"/>
                  </a:lnTo>
                  <a:lnTo>
                    <a:pt x="129717" y="275107"/>
                  </a:lnTo>
                  <a:lnTo>
                    <a:pt x="135839" y="274091"/>
                  </a:lnTo>
                  <a:lnTo>
                    <a:pt x="199174" y="69291"/>
                  </a:lnTo>
                  <a:lnTo>
                    <a:pt x="202234" y="42798"/>
                  </a:lnTo>
                  <a:lnTo>
                    <a:pt x="201206" y="29552"/>
                  </a:lnTo>
                  <a:lnTo>
                    <a:pt x="195084" y="19354"/>
                  </a:lnTo>
                  <a:lnTo>
                    <a:pt x="187934" y="10185"/>
                  </a:lnTo>
                  <a:lnTo>
                    <a:pt x="177723" y="5092"/>
                  </a:lnTo>
                  <a:lnTo>
                    <a:pt x="165468" y="1015"/>
                  </a:lnTo>
                  <a:lnTo>
                    <a:pt x="153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51109" y="4364088"/>
              <a:ext cx="152184" cy="159969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35</a:t>
            </a:fld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86474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800000"/>
                </a:solidFill>
              </a:rPr>
              <a:t>Leaky</a:t>
            </a:r>
            <a:r>
              <a:rPr dirty="0" sz="4000" spc="-130">
                <a:solidFill>
                  <a:srgbClr val="800000"/>
                </a:solidFill>
              </a:rPr>
              <a:t> </a:t>
            </a:r>
            <a:r>
              <a:rPr dirty="0" sz="4000" spc="-10">
                <a:solidFill>
                  <a:srgbClr val="800000"/>
                </a:solidFill>
              </a:rPr>
              <a:t>learning</a:t>
            </a:r>
            <a:endParaRPr sz="4000"/>
          </a:p>
        </p:txBody>
      </p:sp>
      <p:grpSp>
        <p:nvGrpSpPr>
          <p:cNvPr id="3" name="object 3" descr=""/>
          <p:cNvGrpSpPr/>
          <p:nvPr/>
        </p:nvGrpSpPr>
        <p:grpSpPr>
          <a:xfrm>
            <a:off x="2875089" y="2344254"/>
            <a:ext cx="3428365" cy="1248410"/>
            <a:chOff x="2875089" y="2344254"/>
            <a:chExt cx="3428365" cy="124841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75089" y="3238906"/>
              <a:ext cx="152463" cy="151129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23014" y="3440836"/>
              <a:ext cx="152463" cy="151129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88804" y="3310661"/>
              <a:ext cx="152463" cy="15112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19234" y="2344254"/>
              <a:ext cx="3284080" cy="1248346"/>
            </a:xfrm>
            <a:prstGeom prst="rect">
              <a:avLst/>
            </a:prstGeom>
          </p:spPr>
        </p:pic>
      </p:grpSp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97518" y="3896207"/>
            <a:ext cx="3346970" cy="212509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5377179" y="5612765"/>
            <a:ext cx="124523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434">
                <a:latin typeface="Courier New"/>
                <a:cs typeface="Courier New"/>
              </a:rPr>
              <a:t>Initial</a:t>
            </a:r>
            <a:r>
              <a:rPr dirty="0" sz="1600" spc="-515">
                <a:latin typeface="Courier New"/>
                <a:cs typeface="Courier New"/>
              </a:rPr>
              <a:t> </a:t>
            </a:r>
            <a:r>
              <a:rPr dirty="0" sz="1600" spc="-185">
                <a:latin typeface="Courier New"/>
                <a:cs typeface="Courier New"/>
              </a:rPr>
              <a:t>weights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378075" y="5901054"/>
            <a:ext cx="62420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310">
                <a:latin typeface="Courier New"/>
                <a:cs typeface="Courier New"/>
              </a:rPr>
              <a:t>Outlier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450965" y="2300605"/>
            <a:ext cx="161798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40">
                <a:latin typeface="Courier New"/>
                <a:cs typeface="Courier New"/>
              </a:rPr>
              <a:t>Expected</a:t>
            </a:r>
            <a:r>
              <a:rPr dirty="0" sz="1600" spc="-475">
                <a:latin typeface="Courier New"/>
                <a:cs typeface="Courier New"/>
              </a:rPr>
              <a:t> </a:t>
            </a:r>
            <a:r>
              <a:rPr dirty="0" sz="1600" spc="-180">
                <a:latin typeface="Courier New"/>
                <a:cs typeface="Courier New"/>
              </a:rPr>
              <a:t>weights</a:t>
            </a:r>
            <a:endParaRPr sz="1600">
              <a:latin typeface="Courier New"/>
              <a:cs typeface="Courier New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84754" y="4693284"/>
            <a:ext cx="381000" cy="432434"/>
          </a:xfrm>
          <a:prstGeom prst="rect">
            <a:avLst/>
          </a:prstGeom>
        </p:spPr>
      </p:pic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35</a:t>
            </a:fld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86474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800000"/>
                </a:solidFill>
              </a:rPr>
              <a:t>Leaky</a:t>
            </a:r>
            <a:r>
              <a:rPr dirty="0" sz="4000" spc="-130">
                <a:solidFill>
                  <a:srgbClr val="800000"/>
                </a:solidFill>
              </a:rPr>
              <a:t> </a:t>
            </a:r>
            <a:r>
              <a:rPr dirty="0" sz="4000" spc="-10">
                <a:solidFill>
                  <a:srgbClr val="800000"/>
                </a:solidFill>
              </a:rPr>
              <a:t>learning</a:t>
            </a:r>
            <a:endParaRPr sz="4000"/>
          </a:p>
        </p:txBody>
      </p:sp>
      <p:grpSp>
        <p:nvGrpSpPr>
          <p:cNvPr id="3" name="object 3" descr=""/>
          <p:cNvGrpSpPr/>
          <p:nvPr/>
        </p:nvGrpSpPr>
        <p:grpSpPr>
          <a:xfrm>
            <a:off x="2591054" y="3152546"/>
            <a:ext cx="3154045" cy="1521460"/>
            <a:chOff x="2591054" y="3152546"/>
            <a:chExt cx="3154045" cy="152146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91054" y="4472787"/>
              <a:ext cx="201320" cy="20066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75314" y="3152546"/>
              <a:ext cx="152463" cy="151129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43169" y="3896207"/>
              <a:ext cx="201320" cy="20066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23014" y="3440836"/>
              <a:ext cx="152463" cy="151129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2697759" y="3551973"/>
              <a:ext cx="2960370" cy="1035050"/>
            </a:xfrm>
            <a:custGeom>
              <a:avLst/>
              <a:gdLst/>
              <a:ahLst/>
              <a:cxnLst/>
              <a:rect l="l" t="t" r="r" b="b"/>
              <a:pathLst>
                <a:path w="2960370" h="1035050">
                  <a:moveTo>
                    <a:pt x="51981" y="1016723"/>
                  </a:moveTo>
                  <a:lnTo>
                    <a:pt x="47447" y="1004862"/>
                  </a:lnTo>
                  <a:lnTo>
                    <a:pt x="0" y="1022985"/>
                  </a:lnTo>
                  <a:lnTo>
                    <a:pt x="4521" y="1034846"/>
                  </a:lnTo>
                  <a:lnTo>
                    <a:pt x="51981" y="1016723"/>
                  </a:lnTo>
                  <a:close/>
                </a:path>
                <a:path w="2960370" h="1035050">
                  <a:moveTo>
                    <a:pt x="135026" y="984999"/>
                  </a:moveTo>
                  <a:lnTo>
                    <a:pt x="130505" y="973137"/>
                  </a:lnTo>
                  <a:lnTo>
                    <a:pt x="83045" y="991260"/>
                  </a:lnTo>
                  <a:lnTo>
                    <a:pt x="87579" y="1003122"/>
                  </a:lnTo>
                  <a:lnTo>
                    <a:pt x="135026" y="984999"/>
                  </a:lnTo>
                  <a:close/>
                </a:path>
                <a:path w="2960370" h="1035050">
                  <a:moveTo>
                    <a:pt x="218084" y="953287"/>
                  </a:moveTo>
                  <a:lnTo>
                    <a:pt x="213550" y="941412"/>
                  </a:lnTo>
                  <a:lnTo>
                    <a:pt x="166090" y="959548"/>
                  </a:lnTo>
                  <a:lnTo>
                    <a:pt x="170624" y="971410"/>
                  </a:lnTo>
                  <a:lnTo>
                    <a:pt x="218084" y="953287"/>
                  </a:lnTo>
                  <a:close/>
                </a:path>
                <a:path w="2960370" h="1035050">
                  <a:moveTo>
                    <a:pt x="301129" y="921562"/>
                  </a:moveTo>
                  <a:lnTo>
                    <a:pt x="296595" y="909701"/>
                  </a:lnTo>
                  <a:lnTo>
                    <a:pt x="249135" y="927823"/>
                  </a:lnTo>
                  <a:lnTo>
                    <a:pt x="253669" y="939685"/>
                  </a:lnTo>
                  <a:lnTo>
                    <a:pt x="301129" y="921562"/>
                  </a:lnTo>
                  <a:close/>
                </a:path>
                <a:path w="2960370" h="1035050">
                  <a:moveTo>
                    <a:pt x="384175" y="889838"/>
                  </a:moveTo>
                  <a:lnTo>
                    <a:pt x="379641" y="877976"/>
                  </a:lnTo>
                  <a:lnTo>
                    <a:pt x="332193" y="896099"/>
                  </a:lnTo>
                  <a:lnTo>
                    <a:pt x="336715" y="907973"/>
                  </a:lnTo>
                  <a:lnTo>
                    <a:pt x="384175" y="889838"/>
                  </a:lnTo>
                  <a:close/>
                </a:path>
                <a:path w="2960370" h="1035050">
                  <a:moveTo>
                    <a:pt x="467220" y="858126"/>
                  </a:moveTo>
                  <a:lnTo>
                    <a:pt x="462699" y="846264"/>
                  </a:lnTo>
                  <a:lnTo>
                    <a:pt x="415239" y="864387"/>
                  </a:lnTo>
                  <a:lnTo>
                    <a:pt x="419773" y="876249"/>
                  </a:lnTo>
                  <a:lnTo>
                    <a:pt x="467220" y="858126"/>
                  </a:lnTo>
                  <a:close/>
                </a:path>
                <a:path w="2960370" h="1035050">
                  <a:moveTo>
                    <a:pt x="550278" y="826401"/>
                  </a:moveTo>
                  <a:lnTo>
                    <a:pt x="545744" y="814539"/>
                  </a:lnTo>
                  <a:lnTo>
                    <a:pt x="498284" y="832662"/>
                  </a:lnTo>
                  <a:lnTo>
                    <a:pt x="502818" y="844524"/>
                  </a:lnTo>
                  <a:lnTo>
                    <a:pt x="550278" y="826401"/>
                  </a:lnTo>
                  <a:close/>
                </a:path>
                <a:path w="2960370" h="1035050">
                  <a:moveTo>
                    <a:pt x="633323" y="794677"/>
                  </a:moveTo>
                  <a:lnTo>
                    <a:pt x="628789" y="782815"/>
                  </a:lnTo>
                  <a:lnTo>
                    <a:pt x="581329" y="800938"/>
                  </a:lnTo>
                  <a:lnTo>
                    <a:pt x="585863" y="812812"/>
                  </a:lnTo>
                  <a:lnTo>
                    <a:pt x="633323" y="794677"/>
                  </a:lnTo>
                  <a:close/>
                </a:path>
                <a:path w="2960370" h="1035050">
                  <a:moveTo>
                    <a:pt x="716368" y="762965"/>
                  </a:moveTo>
                  <a:lnTo>
                    <a:pt x="711835" y="751103"/>
                  </a:lnTo>
                  <a:lnTo>
                    <a:pt x="664387" y="769226"/>
                  </a:lnTo>
                  <a:lnTo>
                    <a:pt x="668909" y="781088"/>
                  </a:lnTo>
                  <a:lnTo>
                    <a:pt x="716368" y="762965"/>
                  </a:lnTo>
                  <a:close/>
                </a:path>
                <a:path w="2960370" h="1035050">
                  <a:moveTo>
                    <a:pt x="799414" y="731240"/>
                  </a:moveTo>
                  <a:lnTo>
                    <a:pt x="794893" y="719378"/>
                  </a:lnTo>
                  <a:lnTo>
                    <a:pt x="747433" y="737501"/>
                  </a:lnTo>
                  <a:lnTo>
                    <a:pt x="751967" y="749363"/>
                  </a:lnTo>
                  <a:lnTo>
                    <a:pt x="799414" y="731240"/>
                  </a:lnTo>
                  <a:close/>
                </a:path>
                <a:path w="2960370" h="1035050">
                  <a:moveTo>
                    <a:pt x="882472" y="699528"/>
                  </a:moveTo>
                  <a:lnTo>
                    <a:pt x="877938" y="687654"/>
                  </a:lnTo>
                  <a:lnTo>
                    <a:pt x="830478" y="705789"/>
                  </a:lnTo>
                  <a:lnTo>
                    <a:pt x="835012" y="717651"/>
                  </a:lnTo>
                  <a:lnTo>
                    <a:pt x="882472" y="699528"/>
                  </a:lnTo>
                  <a:close/>
                </a:path>
                <a:path w="2960370" h="1035050">
                  <a:moveTo>
                    <a:pt x="965517" y="667804"/>
                  </a:moveTo>
                  <a:lnTo>
                    <a:pt x="960983" y="655942"/>
                  </a:lnTo>
                  <a:lnTo>
                    <a:pt x="913523" y="674065"/>
                  </a:lnTo>
                  <a:lnTo>
                    <a:pt x="918057" y="685927"/>
                  </a:lnTo>
                  <a:lnTo>
                    <a:pt x="965517" y="667804"/>
                  </a:lnTo>
                  <a:close/>
                </a:path>
                <a:path w="2960370" h="1035050">
                  <a:moveTo>
                    <a:pt x="1048562" y="636079"/>
                  </a:moveTo>
                  <a:lnTo>
                    <a:pt x="1044028" y="624217"/>
                  </a:lnTo>
                  <a:lnTo>
                    <a:pt x="996581" y="642340"/>
                  </a:lnTo>
                  <a:lnTo>
                    <a:pt x="1001102" y="654202"/>
                  </a:lnTo>
                  <a:lnTo>
                    <a:pt x="1048562" y="636079"/>
                  </a:lnTo>
                  <a:close/>
                </a:path>
                <a:path w="2960370" h="1035050">
                  <a:moveTo>
                    <a:pt x="1131608" y="604367"/>
                  </a:moveTo>
                  <a:lnTo>
                    <a:pt x="1127086" y="592493"/>
                  </a:lnTo>
                  <a:lnTo>
                    <a:pt x="1079627" y="610628"/>
                  </a:lnTo>
                  <a:lnTo>
                    <a:pt x="1084160" y="622490"/>
                  </a:lnTo>
                  <a:lnTo>
                    <a:pt x="1131608" y="604367"/>
                  </a:lnTo>
                  <a:close/>
                </a:path>
                <a:path w="2960370" h="1035050">
                  <a:moveTo>
                    <a:pt x="1214666" y="572643"/>
                  </a:moveTo>
                  <a:lnTo>
                    <a:pt x="1210132" y="560781"/>
                  </a:lnTo>
                  <a:lnTo>
                    <a:pt x="1162672" y="578904"/>
                  </a:lnTo>
                  <a:lnTo>
                    <a:pt x="1167206" y="590765"/>
                  </a:lnTo>
                  <a:lnTo>
                    <a:pt x="1214666" y="572643"/>
                  </a:lnTo>
                  <a:close/>
                </a:path>
                <a:path w="2960370" h="1035050">
                  <a:moveTo>
                    <a:pt x="1297711" y="540918"/>
                  </a:moveTo>
                  <a:lnTo>
                    <a:pt x="1293177" y="529056"/>
                  </a:lnTo>
                  <a:lnTo>
                    <a:pt x="1245717" y="547179"/>
                  </a:lnTo>
                  <a:lnTo>
                    <a:pt x="1250251" y="559054"/>
                  </a:lnTo>
                  <a:lnTo>
                    <a:pt x="1297711" y="540918"/>
                  </a:lnTo>
                  <a:close/>
                </a:path>
                <a:path w="2960370" h="1035050">
                  <a:moveTo>
                    <a:pt x="1380756" y="509206"/>
                  </a:moveTo>
                  <a:lnTo>
                    <a:pt x="1376222" y="497344"/>
                  </a:lnTo>
                  <a:lnTo>
                    <a:pt x="1328775" y="515467"/>
                  </a:lnTo>
                  <a:lnTo>
                    <a:pt x="1333296" y="527329"/>
                  </a:lnTo>
                  <a:lnTo>
                    <a:pt x="1380756" y="509206"/>
                  </a:lnTo>
                  <a:close/>
                </a:path>
                <a:path w="2960370" h="1035050">
                  <a:moveTo>
                    <a:pt x="1463802" y="477481"/>
                  </a:moveTo>
                  <a:lnTo>
                    <a:pt x="1459280" y="465620"/>
                  </a:lnTo>
                  <a:lnTo>
                    <a:pt x="1411820" y="483743"/>
                  </a:lnTo>
                  <a:lnTo>
                    <a:pt x="1416354" y="495604"/>
                  </a:lnTo>
                  <a:lnTo>
                    <a:pt x="1463802" y="477481"/>
                  </a:lnTo>
                  <a:close/>
                </a:path>
                <a:path w="2960370" h="1035050">
                  <a:moveTo>
                    <a:pt x="1546860" y="445770"/>
                  </a:moveTo>
                  <a:lnTo>
                    <a:pt x="1542326" y="433895"/>
                  </a:lnTo>
                  <a:lnTo>
                    <a:pt x="1494866" y="452031"/>
                  </a:lnTo>
                  <a:lnTo>
                    <a:pt x="1499400" y="463892"/>
                  </a:lnTo>
                  <a:lnTo>
                    <a:pt x="1546860" y="445770"/>
                  </a:lnTo>
                  <a:close/>
                </a:path>
                <a:path w="2960370" h="1035050">
                  <a:moveTo>
                    <a:pt x="1629905" y="414045"/>
                  </a:moveTo>
                  <a:lnTo>
                    <a:pt x="1625371" y="402183"/>
                  </a:lnTo>
                  <a:lnTo>
                    <a:pt x="1577911" y="420306"/>
                  </a:lnTo>
                  <a:lnTo>
                    <a:pt x="1582445" y="432168"/>
                  </a:lnTo>
                  <a:lnTo>
                    <a:pt x="1629905" y="414045"/>
                  </a:lnTo>
                  <a:close/>
                </a:path>
                <a:path w="2960370" h="1035050">
                  <a:moveTo>
                    <a:pt x="1712950" y="382320"/>
                  </a:moveTo>
                  <a:lnTo>
                    <a:pt x="1708416" y="370459"/>
                  </a:lnTo>
                  <a:lnTo>
                    <a:pt x="1660969" y="388581"/>
                  </a:lnTo>
                  <a:lnTo>
                    <a:pt x="1665490" y="400443"/>
                  </a:lnTo>
                  <a:lnTo>
                    <a:pt x="1712950" y="382320"/>
                  </a:lnTo>
                  <a:close/>
                </a:path>
                <a:path w="2960370" h="1035050">
                  <a:moveTo>
                    <a:pt x="1795995" y="350608"/>
                  </a:moveTo>
                  <a:lnTo>
                    <a:pt x="1791474" y="338734"/>
                  </a:lnTo>
                  <a:lnTo>
                    <a:pt x="1744014" y="356870"/>
                  </a:lnTo>
                  <a:lnTo>
                    <a:pt x="1748548" y="368731"/>
                  </a:lnTo>
                  <a:lnTo>
                    <a:pt x="1795995" y="350608"/>
                  </a:lnTo>
                  <a:close/>
                </a:path>
                <a:path w="2960370" h="1035050">
                  <a:moveTo>
                    <a:pt x="1879053" y="318884"/>
                  </a:moveTo>
                  <a:lnTo>
                    <a:pt x="1874520" y="307022"/>
                  </a:lnTo>
                  <a:lnTo>
                    <a:pt x="1827060" y="325145"/>
                  </a:lnTo>
                  <a:lnTo>
                    <a:pt x="1831594" y="337007"/>
                  </a:lnTo>
                  <a:lnTo>
                    <a:pt x="1879053" y="318884"/>
                  </a:lnTo>
                  <a:close/>
                </a:path>
                <a:path w="2960370" h="1035050">
                  <a:moveTo>
                    <a:pt x="1962099" y="287159"/>
                  </a:moveTo>
                  <a:lnTo>
                    <a:pt x="1957565" y="275297"/>
                  </a:lnTo>
                  <a:lnTo>
                    <a:pt x="1910105" y="293420"/>
                  </a:lnTo>
                  <a:lnTo>
                    <a:pt x="1914639" y="305295"/>
                  </a:lnTo>
                  <a:lnTo>
                    <a:pt x="1962099" y="287159"/>
                  </a:lnTo>
                  <a:close/>
                </a:path>
                <a:path w="2960370" h="1035050">
                  <a:moveTo>
                    <a:pt x="2045144" y="255447"/>
                  </a:moveTo>
                  <a:lnTo>
                    <a:pt x="2040610" y="243586"/>
                  </a:lnTo>
                  <a:lnTo>
                    <a:pt x="1993163" y="261708"/>
                  </a:lnTo>
                  <a:lnTo>
                    <a:pt x="1997684" y="273570"/>
                  </a:lnTo>
                  <a:lnTo>
                    <a:pt x="2045144" y="255447"/>
                  </a:lnTo>
                  <a:close/>
                </a:path>
                <a:path w="2960370" h="1035050">
                  <a:moveTo>
                    <a:pt x="2128189" y="223723"/>
                  </a:moveTo>
                  <a:lnTo>
                    <a:pt x="2123668" y="211861"/>
                  </a:lnTo>
                  <a:lnTo>
                    <a:pt x="2076208" y="229984"/>
                  </a:lnTo>
                  <a:lnTo>
                    <a:pt x="2080742" y="241846"/>
                  </a:lnTo>
                  <a:lnTo>
                    <a:pt x="2128189" y="223723"/>
                  </a:lnTo>
                  <a:close/>
                </a:path>
                <a:path w="2960370" h="1035050">
                  <a:moveTo>
                    <a:pt x="2211247" y="191998"/>
                  </a:moveTo>
                  <a:lnTo>
                    <a:pt x="2206714" y="180136"/>
                  </a:lnTo>
                  <a:lnTo>
                    <a:pt x="2159254" y="198259"/>
                  </a:lnTo>
                  <a:lnTo>
                    <a:pt x="2163788" y="210134"/>
                  </a:lnTo>
                  <a:lnTo>
                    <a:pt x="2211247" y="191998"/>
                  </a:lnTo>
                  <a:close/>
                </a:path>
                <a:path w="2960370" h="1035050">
                  <a:moveTo>
                    <a:pt x="2294293" y="160286"/>
                  </a:moveTo>
                  <a:lnTo>
                    <a:pt x="2289759" y="148424"/>
                  </a:lnTo>
                  <a:lnTo>
                    <a:pt x="2242299" y="166547"/>
                  </a:lnTo>
                  <a:lnTo>
                    <a:pt x="2246833" y="178409"/>
                  </a:lnTo>
                  <a:lnTo>
                    <a:pt x="2294293" y="160286"/>
                  </a:lnTo>
                  <a:close/>
                </a:path>
                <a:path w="2960370" h="1035050">
                  <a:moveTo>
                    <a:pt x="2377338" y="128562"/>
                  </a:moveTo>
                  <a:lnTo>
                    <a:pt x="2372804" y="116700"/>
                  </a:lnTo>
                  <a:lnTo>
                    <a:pt x="2325357" y="134823"/>
                  </a:lnTo>
                  <a:lnTo>
                    <a:pt x="2329878" y="146685"/>
                  </a:lnTo>
                  <a:lnTo>
                    <a:pt x="2377338" y="128562"/>
                  </a:lnTo>
                  <a:close/>
                </a:path>
                <a:path w="2960370" h="1035050">
                  <a:moveTo>
                    <a:pt x="2460383" y="96850"/>
                  </a:moveTo>
                  <a:lnTo>
                    <a:pt x="2455862" y="84975"/>
                  </a:lnTo>
                  <a:lnTo>
                    <a:pt x="2408402" y="103111"/>
                  </a:lnTo>
                  <a:lnTo>
                    <a:pt x="2412936" y="114973"/>
                  </a:lnTo>
                  <a:lnTo>
                    <a:pt x="2460383" y="96850"/>
                  </a:lnTo>
                  <a:close/>
                </a:path>
                <a:path w="2960370" h="1035050">
                  <a:moveTo>
                    <a:pt x="2543441" y="65125"/>
                  </a:moveTo>
                  <a:lnTo>
                    <a:pt x="2538907" y="53263"/>
                  </a:lnTo>
                  <a:lnTo>
                    <a:pt x="2491448" y="71386"/>
                  </a:lnTo>
                  <a:lnTo>
                    <a:pt x="2495981" y="83248"/>
                  </a:lnTo>
                  <a:lnTo>
                    <a:pt x="2543441" y="65125"/>
                  </a:lnTo>
                  <a:close/>
                </a:path>
                <a:path w="2960370" h="1035050">
                  <a:moveTo>
                    <a:pt x="2654020" y="16090"/>
                  </a:moveTo>
                  <a:lnTo>
                    <a:pt x="2630474" y="12217"/>
                  </a:lnTo>
                  <a:lnTo>
                    <a:pt x="2630474" y="25082"/>
                  </a:lnTo>
                  <a:lnTo>
                    <a:pt x="2625610" y="31127"/>
                  </a:lnTo>
                  <a:lnTo>
                    <a:pt x="2622816" y="23825"/>
                  </a:lnTo>
                  <a:lnTo>
                    <a:pt x="2630474" y="25082"/>
                  </a:lnTo>
                  <a:lnTo>
                    <a:pt x="2630474" y="12217"/>
                  </a:lnTo>
                  <a:lnTo>
                    <a:pt x="2556230" y="0"/>
                  </a:lnTo>
                  <a:lnTo>
                    <a:pt x="2554198" y="0"/>
                  </a:lnTo>
                  <a:lnTo>
                    <a:pt x="2548928" y="7200"/>
                  </a:lnTo>
                  <a:lnTo>
                    <a:pt x="2549525" y="9105"/>
                  </a:lnTo>
                  <a:lnTo>
                    <a:pt x="2550680" y="10718"/>
                  </a:lnTo>
                  <a:lnTo>
                    <a:pt x="2552281" y="11899"/>
                  </a:lnTo>
                  <a:lnTo>
                    <a:pt x="2554173" y="12522"/>
                  </a:lnTo>
                  <a:lnTo>
                    <a:pt x="2618028" y="23037"/>
                  </a:lnTo>
                  <a:lnTo>
                    <a:pt x="2574493" y="39662"/>
                  </a:lnTo>
                  <a:lnTo>
                    <a:pt x="2579027" y="51536"/>
                  </a:lnTo>
                  <a:lnTo>
                    <a:pt x="2622562" y="34899"/>
                  </a:lnTo>
                  <a:lnTo>
                    <a:pt x="2581973" y="85318"/>
                  </a:lnTo>
                  <a:lnTo>
                    <a:pt x="2580983" y="87045"/>
                  </a:lnTo>
                  <a:lnTo>
                    <a:pt x="2580576" y="88988"/>
                  </a:lnTo>
                  <a:lnTo>
                    <a:pt x="2580792" y="90957"/>
                  </a:lnTo>
                  <a:lnTo>
                    <a:pt x="2581605" y="92773"/>
                  </a:lnTo>
                  <a:lnTo>
                    <a:pt x="2582938" y="94246"/>
                  </a:lnTo>
                  <a:lnTo>
                    <a:pt x="2584666" y="95237"/>
                  </a:lnTo>
                  <a:lnTo>
                    <a:pt x="2586609" y="95643"/>
                  </a:lnTo>
                  <a:lnTo>
                    <a:pt x="2588577" y="95427"/>
                  </a:lnTo>
                  <a:lnTo>
                    <a:pt x="2590393" y="94615"/>
                  </a:lnTo>
                  <a:lnTo>
                    <a:pt x="2591866" y="93281"/>
                  </a:lnTo>
                  <a:lnTo>
                    <a:pt x="2645346" y="26860"/>
                  </a:lnTo>
                  <a:lnTo>
                    <a:pt x="2653601" y="16598"/>
                  </a:lnTo>
                  <a:lnTo>
                    <a:pt x="2654020" y="16090"/>
                  </a:lnTo>
                  <a:close/>
                </a:path>
                <a:path w="2960370" h="1035050">
                  <a:moveTo>
                    <a:pt x="2778175" y="144030"/>
                  </a:moveTo>
                  <a:lnTo>
                    <a:pt x="2752229" y="100355"/>
                  </a:lnTo>
                  <a:lnTo>
                    <a:pt x="2741307" y="106845"/>
                  </a:lnTo>
                  <a:lnTo>
                    <a:pt x="2767266" y="150520"/>
                  </a:lnTo>
                  <a:lnTo>
                    <a:pt x="2778175" y="144030"/>
                  </a:lnTo>
                  <a:close/>
                </a:path>
                <a:path w="2960370" h="1035050">
                  <a:moveTo>
                    <a:pt x="2795968" y="87998"/>
                  </a:moveTo>
                  <a:lnTo>
                    <a:pt x="2795422" y="86093"/>
                  </a:lnTo>
                  <a:lnTo>
                    <a:pt x="2794317" y="84442"/>
                  </a:lnTo>
                  <a:lnTo>
                    <a:pt x="2792742" y="83223"/>
                  </a:lnTo>
                  <a:lnTo>
                    <a:pt x="2719768" y="42735"/>
                  </a:lnTo>
                  <a:lnTo>
                    <a:pt x="2706090" y="35140"/>
                  </a:lnTo>
                  <a:lnTo>
                    <a:pt x="2706890" y="134239"/>
                  </a:lnTo>
                  <a:lnTo>
                    <a:pt x="2713291" y="140538"/>
                  </a:lnTo>
                  <a:lnTo>
                    <a:pt x="2715018" y="140246"/>
                  </a:lnTo>
                  <a:lnTo>
                    <a:pt x="2715171" y="140246"/>
                  </a:lnTo>
                  <a:lnTo>
                    <a:pt x="2716885" y="139357"/>
                  </a:lnTo>
                  <a:lnTo>
                    <a:pt x="2718333" y="137960"/>
                  </a:lnTo>
                  <a:lnTo>
                    <a:pt x="2719247" y="136194"/>
                  </a:lnTo>
                  <a:lnTo>
                    <a:pt x="2719565" y="134239"/>
                  </a:lnTo>
                  <a:lnTo>
                    <a:pt x="2719362" y="106845"/>
                  </a:lnTo>
                  <a:lnTo>
                    <a:pt x="2719247" y="91859"/>
                  </a:lnTo>
                  <a:lnTo>
                    <a:pt x="2719171" y="83223"/>
                  </a:lnTo>
                  <a:lnTo>
                    <a:pt x="2719057" y="69418"/>
                  </a:lnTo>
                  <a:lnTo>
                    <a:pt x="2721851" y="74091"/>
                  </a:lnTo>
                  <a:lnTo>
                    <a:pt x="2732760" y="67602"/>
                  </a:lnTo>
                  <a:lnTo>
                    <a:pt x="2729966" y="62928"/>
                  </a:lnTo>
                  <a:lnTo>
                    <a:pt x="2786583" y="94322"/>
                  </a:lnTo>
                  <a:lnTo>
                    <a:pt x="2788615" y="95072"/>
                  </a:lnTo>
                  <a:lnTo>
                    <a:pt x="2790444" y="95072"/>
                  </a:lnTo>
                  <a:lnTo>
                    <a:pt x="2792349" y="94526"/>
                  </a:lnTo>
                  <a:lnTo>
                    <a:pt x="2794000" y="93421"/>
                  </a:lnTo>
                  <a:lnTo>
                    <a:pt x="2795219" y="91859"/>
                  </a:lnTo>
                  <a:lnTo>
                    <a:pt x="2795905" y="89992"/>
                  </a:lnTo>
                  <a:lnTo>
                    <a:pt x="2795968" y="87998"/>
                  </a:lnTo>
                  <a:close/>
                </a:path>
                <a:path w="2960370" h="1035050">
                  <a:moveTo>
                    <a:pt x="2823591" y="220446"/>
                  </a:moveTo>
                  <a:lnTo>
                    <a:pt x="2797645" y="176784"/>
                  </a:lnTo>
                  <a:lnTo>
                    <a:pt x="2786723" y="183273"/>
                  </a:lnTo>
                  <a:lnTo>
                    <a:pt x="2812669" y="226936"/>
                  </a:lnTo>
                  <a:lnTo>
                    <a:pt x="2823591" y="220446"/>
                  </a:lnTo>
                  <a:close/>
                </a:path>
                <a:path w="2960370" h="1035050">
                  <a:moveTo>
                    <a:pt x="2869006" y="296875"/>
                  </a:moveTo>
                  <a:lnTo>
                    <a:pt x="2843060" y="253199"/>
                  </a:lnTo>
                  <a:lnTo>
                    <a:pt x="2832138" y="259689"/>
                  </a:lnTo>
                  <a:lnTo>
                    <a:pt x="2858084" y="303364"/>
                  </a:lnTo>
                  <a:lnTo>
                    <a:pt x="2869006" y="296875"/>
                  </a:lnTo>
                  <a:close/>
                </a:path>
                <a:path w="2960370" h="1035050">
                  <a:moveTo>
                    <a:pt x="2914421" y="373303"/>
                  </a:moveTo>
                  <a:lnTo>
                    <a:pt x="2888475" y="329628"/>
                  </a:lnTo>
                  <a:lnTo>
                    <a:pt x="2877553" y="336118"/>
                  </a:lnTo>
                  <a:lnTo>
                    <a:pt x="2903499" y="379793"/>
                  </a:lnTo>
                  <a:lnTo>
                    <a:pt x="2914421" y="373303"/>
                  </a:lnTo>
                  <a:close/>
                </a:path>
                <a:path w="2960370" h="1035050">
                  <a:moveTo>
                    <a:pt x="2959836" y="449732"/>
                  </a:moveTo>
                  <a:lnTo>
                    <a:pt x="2933877" y="406057"/>
                  </a:lnTo>
                  <a:lnTo>
                    <a:pt x="2922968" y="412546"/>
                  </a:lnTo>
                  <a:lnTo>
                    <a:pt x="2948914" y="456209"/>
                  </a:lnTo>
                  <a:lnTo>
                    <a:pt x="2959836" y="449732"/>
                  </a:lnTo>
                  <a:close/>
                </a:path>
              </a:pathLst>
            </a:custGeom>
            <a:solidFill>
              <a:srgbClr val="00A77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78709" y="4362297"/>
              <a:ext cx="201320" cy="200660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16169" y="3680307"/>
              <a:ext cx="201320" cy="200660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3048686" y="3230244"/>
              <a:ext cx="2463165" cy="1201420"/>
            </a:xfrm>
            <a:custGeom>
              <a:avLst/>
              <a:gdLst/>
              <a:ahLst/>
              <a:cxnLst/>
              <a:rect l="l" t="t" r="r" b="b"/>
              <a:pathLst>
                <a:path w="2463165" h="1201420">
                  <a:moveTo>
                    <a:pt x="48463" y="1170749"/>
                  </a:moveTo>
                  <a:lnTo>
                    <a:pt x="40932" y="1160513"/>
                  </a:lnTo>
                  <a:lnTo>
                    <a:pt x="0" y="1190586"/>
                  </a:lnTo>
                  <a:lnTo>
                    <a:pt x="7518" y="1200823"/>
                  </a:lnTo>
                  <a:lnTo>
                    <a:pt x="48463" y="1170749"/>
                  </a:lnTo>
                  <a:close/>
                </a:path>
                <a:path w="2463165" h="1201420">
                  <a:moveTo>
                    <a:pt x="120103" y="1118108"/>
                  </a:moveTo>
                  <a:lnTo>
                    <a:pt x="112585" y="1107871"/>
                  </a:lnTo>
                  <a:lnTo>
                    <a:pt x="71640" y="1137958"/>
                  </a:lnTo>
                  <a:lnTo>
                    <a:pt x="79159" y="1148181"/>
                  </a:lnTo>
                  <a:lnTo>
                    <a:pt x="120103" y="1118108"/>
                  </a:lnTo>
                  <a:close/>
                </a:path>
                <a:path w="2463165" h="1201420">
                  <a:moveTo>
                    <a:pt x="191744" y="1065479"/>
                  </a:moveTo>
                  <a:lnTo>
                    <a:pt x="184226" y="1055243"/>
                  </a:lnTo>
                  <a:lnTo>
                    <a:pt x="143281" y="1085316"/>
                  </a:lnTo>
                  <a:lnTo>
                    <a:pt x="150799" y="1095552"/>
                  </a:lnTo>
                  <a:lnTo>
                    <a:pt x="191744" y="1065479"/>
                  </a:lnTo>
                  <a:close/>
                </a:path>
                <a:path w="2463165" h="1201420">
                  <a:moveTo>
                    <a:pt x="263385" y="1012837"/>
                  </a:moveTo>
                  <a:lnTo>
                    <a:pt x="255866" y="1002601"/>
                  </a:lnTo>
                  <a:lnTo>
                    <a:pt x="214934" y="1032687"/>
                  </a:lnTo>
                  <a:lnTo>
                    <a:pt x="222453" y="1042911"/>
                  </a:lnTo>
                  <a:lnTo>
                    <a:pt x="263385" y="1012837"/>
                  </a:lnTo>
                  <a:close/>
                </a:path>
                <a:path w="2463165" h="1201420">
                  <a:moveTo>
                    <a:pt x="335026" y="960208"/>
                  </a:moveTo>
                  <a:lnTo>
                    <a:pt x="327507" y="949972"/>
                  </a:lnTo>
                  <a:lnTo>
                    <a:pt x="286575" y="980046"/>
                  </a:lnTo>
                  <a:lnTo>
                    <a:pt x="294093" y="990282"/>
                  </a:lnTo>
                  <a:lnTo>
                    <a:pt x="335026" y="960208"/>
                  </a:lnTo>
                  <a:close/>
                </a:path>
                <a:path w="2463165" h="1201420">
                  <a:moveTo>
                    <a:pt x="406679" y="907567"/>
                  </a:moveTo>
                  <a:lnTo>
                    <a:pt x="399148" y="897331"/>
                  </a:lnTo>
                  <a:lnTo>
                    <a:pt x="358216" y="927417"/>
                  </a:lnTo>
                  <a:lnTo>
                    <a:pt x="365734" y="937641"/>
                  </a:lnTo>
                  <a:lnTo>
                    <a:pt x="406679" y="907567"/>
                  </a:lnTo>
                  <a:close/>
                </a:path>
                <a:path w="2463165" h="1201420">
                  <a:moveTo>
                    <a:pt x="478320" y="854938"/>
                  </a:moveTo>
                  <a:lnTo>
                    <a:pt x="470801" y="844702"/>
                  </a:lnTo>
                  <a:lnTo>
                    <a:pt x="429856" y="874776"/>
                  </a:lnTo>
                  <a:lnTo>
                    <a:pt x="437375" y="885012"/>
                  </a:lnTo>
                  <a:lnTo>
                    <a:pt x="478320" y="854938"/>
                  </a:lnTo>
                  <a:close/>
                </a:path>
                <a:path w="2463165" h="1201420">
                  <a:moveTo>
                    <a:pt x="549960" y="802297"/>
                  </a:moveTo>
                  <a:lnTo>
                    <a:pt x="542442" y="792060"/>
                  </a:lnTo>
                  <a:lnTo>
                    <a:pt x="501497" y="822147"/>
                  </a:lnTo>
                  <a:lnTo>
                    <a:pt x="509016" y="832370"/>
                  </a:lnTo>
                  <a:lnTo>
                    <a:pt x="549960" y="802297"/>
                  </a:lnTo>
                  <a:close/>
                </a:path>
                <a:path w="2463165" h="1201420">
                  <a:moveTo>
                    <a:pt x="621601" y="749668"/>
                  </a:moveTo>
                  <a:lnTo>
                    <a:pt x="614083" y="739432"/>
                  </a:lnTo>
                  <a:lnTo>
                    <a:pt x="573151" y="769505"/>
                  </a:lnTo>
                  <a:lnTo>
                    <a:pt x="580669" y="779741"/>
                  </a:lnTo>
                  <a:lnTo>
                    <a:pt x="621601" y="749668"/>
                  </a:lnTo>
                  <a:close/>
                </a:path>
                <a:path w="2463165" h="1201420">
                  <a:moveTo>
                    <a:pt x="693242" y="697026"/>
                  </a:moveTo>
                  <a:lnTo>
                    <a:pt x="685723" y="686790"/>
                  </a:lnTo>
                  <a:lnTo>
                    <a:pt x="644791" y="716876"/>
                  </a:lnTo>
                  <a:lnTo>
                    <a:pt x="652310" y="727100"/>
                  </a:lnTo>
                  <a:lnTo>
                    <a:pt x="693242" y="697026"/>
                  </a:lnTo>
                  <a:close/>
                </a:path>
                <a:path w="2463165" h="1201420">
                  <a:moveTo>
                    <a:pt x="764882" y="644398"/>
                  </a:moveTo>
                  <a:lnTo>
                    <a:pt x="757364" y="634161"/>
                  </a:lnTo>
                  <a:lnTo>
                    <a:pt x="716432" y="664235"/>
                  </a:lnTo>
                  <a:lnTo>
                    <a:pt x="723950" y="674471"/>
                  </a:lnTo>
                  <a:lnTo>
                    <a:pt x="764882" y="644398"/>
                  </a:lnTo>
                  <a:close/>
                </a:path>
                <a:path w="2463165" h="1201420">
                  <a:moveTo>
                    <a:pt x="836536" y="591756"/>
                  </a:moveTo>
                  <a:lnTo>
                    <a:pt x="829017" y="581520"/>
                  </a:lnTo>
                  <a:lnTo>
                    <a:pt x="788073" y="611606"/>
                  </a:lnTo>
                  <a:lnTo>
                    <a:pt x="795591" y="621830"/>
                  </a:lnTo>
                  <a:lnTo>
                    <a:pt x="836536" y="591756"/>
                  </a:lnTo>
                  <a:close/>
                </a:path>
                <a:path w="2463165" h="1201420">
                  <a:moveTo>
                    <a:pt x="908177" y="539127"/>
                  </a:moveTo>
                  <a:lnTo>
                    <a:pt x="900658" y="528891"/>
                  </a:lnTo>
                  <a:lnTo>
                    <a:pt x="859713" y="558965"/>
                  </a:lnTo>
                  <a:lnTo>
                    <a:pt x="867232" y="569201"/>
                  </a:lnTo>
                  <a:lnTo>
                    <a:pt x="908177" y="539127"/>
                  </a:lnTo>
                  <a:close/>
                </a:path>
                <a:path w="2463165" h="1201420">
                  <a:moveTo>
                    <a:pt x="979817" y="486486"/>
                  </a:moveTo>
                  <a:lnTo>
                    <a:pt x="972299" y="476250"/>
                  </a:lnTo>
                  <a:lnTo>
                    <a:pt x="931354" y="506323"/>
                  </a:lnTo>
                  <a:lnTo>
                    <a:pt x="938885" y="516559"/>
                  </a:lnTo>
                  <a:lnTo>
                    <a:pt x="979817" y="486486"/>
                  </a:lnTo>
                  <a:close/>
                </a:path>
                <a:path w="2463165" h="1201420">
                  <a:moveTo>
                    <a:pt x="1051458" y="433857"/>
                  </a:moveTo>
                  <a:lnTo>
                    <a:pt x="1043940" y="423621"/>
                  </a:lnTo>
                  <a:lnTo>
                    <a:pt x="1003007" y="453694"/>
                  </a:lnTo>
                  <a:lnTo>
                    <a:pt x="1010526" y="463931"/>
                  </a:lnTo>
                  <a:lnTo>
                    <a:pt x="1051458" y="433857"/>
                  </a:lnTo>
                  <a:close/>
                </a:path>
                <a:path w="2463165" h="1201420">
                  <a:moveTo>
                    <a:pt x="1123099" y="381215"/>
                  </a:moveTo>
                  <a:lnTo>
                    <a:pt x="1115580" y="370979"/>
                  </a:lnTo>
                  <a:lnTo>
                    <a:pt x="1074648" y="401053"/>
                  </a:lnTo>
                  <a:lnTo>
                    <a:pt x="1082167" y="411289"/>
                  </a:lnTo>
                  <a:lnTo>
                    <a:pt x="1123099" y="381215"/>
                  </a:lnTo>
                  <a:close/>
                </a:path>
                <a:path w="2463165" h="1201420">
                  <a:moveTo>
                    <a:pt x="1194752" y="328587"/>
                  </a:moveTo>
                  <a:lnTo>
                    <a:pt x="1187234" y="318350"/>
                  </a:lnTo>
                  <a:lnTo>
                    <a:pt x="1146289" y="348437"/>
                  </a:lnTo>
                  <a:lnTo>
                    <a:pt x="1153807" y="358660"/>
                  </a:lnTo>
                  <a:lnTo>
                    <a:pt x="1194752" y="328587"/>
                  </a:lnTo>
                  <a:close/>
                </a:path>
                <a:path w="2463165" h="1201420">
                  <a:moveTo>
                    <a:pt x="1266393" y="275945"/>
                  </a:moveTo>
                  <a:lnTo>
                    <a:pt x="1258874" y="265709"/>
                  </a:lnTo>
                  <a:lnTo>
                    <a:pt x="1217930" y="295783"/>
                  </a:lnTo>
                  <a:lnTo>
                    <a:pt x="1225448" y="306031"/>
                  </a:lnTo>
                  <a:lnTo>
                    <a:pt x="1266393" y="275945"/>
                  </a:lnTo>
                  <a:close/>
                </a:path>
                <a:path w="2463165" h="1201420">
                  <a:moveTo>
                    <a:pt x="1338033" y="223316"/>
                  </a:moveTo>
                  <a:lnTo>
                    <a:pt x="1330515" y="213080"/>
                  </a:lnTo>
                  <a:lnTo>
                    <a:pt x="1289570" y="243154"/>
                  </a:lnTo>
                  <a:lnTo>
                    <a:pt x="1297101" y="253390"/>
                  </a:lnTo>
                  <a:lnTo>
                    <a:pt x="1338033" y="223316"/>
                  </a:lnTo>
                  <a:close/>
                </a:path>
                <a:path w="2463165" h="1201420">
                  <a:moveTo>
                    <a:pt x="1409674" y="170675"/>
                  </a:moveTo>
                  <a:lnTo>
                    <a:pt x="1402156" y="160439"/>
                  </a:lnTo>
                  <a:lnTo>
                    <a:pt x="1361224" y="190512"/>
                  </a:lnTo>
                  <a:lnTo>
                    <a:pt x="1368742" y="200748"/>
                  </a:lnTo>
                  <a:lnTo>
                    <a:pt x="1409674" y="170675"/>
                  </a:lnTo>
                  <a:close/>
                </a:path>
                <a:path w="2463165" h="1201420">
                  <a:moveTo>
                    <a:pt x="1481315" y="118046"/>
                  </a:moveTo>
                  <a:lnTo>
                    <a:pt x="1473796" y="107810"/>
                  </a:lnTo>
                  <a:lnTo>
                    <a:pt x="1432864" y="137883"/>
                  </a:lnTo>
                  <a:lnTo>
                    <a:pt x="1440383" y="148120"/>
                  </a:lnTo>
                  <a:lnTo>
                    <a:pt x="1481315" y="118046"/>
                  </a:lnTo>
                  <a:close/>
                </a:path>
                <a:path w="2463165" h="1201420">
                  <a:moveTo>
                    <a:pt x="1552968" y="65405"/>
                  </a:moveTo>
                  <a:lnTo>
                    <a:pt x="1545450" y="55168"/>
                  </a:lnTo>
                  <a:lnTo>
                    <a:pt x="1504505" y="85242"/>
                  </a:lnTo>
                  <a:lnTo>
                    <a:pt x="1512023" y="95478"/>
                  </a:lnTo>
                  <a:lnTo>
                    <a:pt x="1552968" y="65405"/>
                  </a:lnTo>
                  <a:close/>
                </a:path>
                <a:path w="2463165" h="1201420">
                  <a:moveTo>
                    <a:pt x="1631264" y="0"/>
                  </a:moveTo>
                  <a:lnTo>
                    <a:pt x="1532712" y="10439"/>
                  </a:lnTo>
                  <a:lnTo>
                    <a:pt x="1527073" y="17424"/>
                  </a:lnTo>
                  <a:lnTo>
                    <a:pt x="1527581" y="19342"/>
                  </a:lnTo>
                  <a:lnTo>
                    <a:pt x="1528660" y="21005"/>
                  </a:lnTo>
                  <a:lnTo>
                    <a:pt x="1530210" y="22263"/>
                  </a:lnTo>
                  <a:lnTo>
                    <a:pt x="1532318" y="23075"/>
                  </a:lnTo>
                  <a:lnTo>
                    <a:pt x="1534045" y="23075"/>
                  </a:lnTo>
                  <a:lnTo>
                    <a:pt x="1598409" y="16256"/>
                  </a:lnTo>
                  <a:lnTo>
                    <a:pt x="1576146" y="32613"/>
                  </a:lnTo>
                  <a:lnTo>
                    <a:pt x="1583664" y="42849"/>
                  </a:lnTo>
                  <a:lnTo>
                    <a:pt x="1605940" y="26492"/>
                  </a:lnTo>
                  <a:lnTo>
                    <a:pt x="1580184" y="85877"/>
                  </a:lnTo>
                  <a:lnTo>
                    <a:pt x="1579689" y="87795"/>
                  </a:lnTo>
                  <a:lnTo>
                    <a:pt x="1579816" y="89776"/>
                  </a:lnTo>
                  <a:lnTo>
                    <a:pt x="1580553" y="91630"/>
                  </a:lnTo>
                  <a:lnTo>
                    <a:pt x="1581810" y="93154"/>
                  </a:lnTo>
                  <a:lnTo>
                    <a:pt x="1583486" y="94221"/>
                  </a:lnTo>
                  <a:lnTo>
                    <a:pt x="1585417" y="94716"/>
                  </a:lnTo>
                  <a:lnTo>
                    <a:pt x="1587106" y="94716"/>
                  </a:lnTo>
                  <a:lnTo>
                    <a:pt x="1589239" y="93865"/>
                  </a:lnTo>
                  <a:lnTo>
                    <a:pt x="1590776" y="92595"/>
                  </a:lnTo>
                  <a:lnTo>
                    <a:pt x="1591843" y="90919"/>
                  </a:lnTo>
                  <a:lnTo>
                    <a:pt x="1630159" y="2540"/>
                  </a:lnTo>
                  <a:lnTo>
                    <a:pt x="1631264" y="0"/>
                  </a:lnTo>
                  <a:close/>
                </a:path>
                <a:path w="2463165" h="1201420">
                  <a:moveTo>
                    <a:pt x="1792554" y="116484"/>
                  </a:moveTo>
                  <a:lnTo>
                    <a:pt x="1749996" y="88734"/>
                  </a:lnTo>
                  <a:lnTo>
                    <a:pt x="1743062" y="99377"/>
                  </a:lnTo>
                  <a:lnTo>
                    <a:pt x="1785620" y="127114"/>
                  </a:lnTo>
                  <a:lnTo>
                    <a:pt x="1792554" y="116484"/>
                  </a:lnTo>
                  <a:close/>
                </a:path>
                <a:path w="2463165" h="1201420">
                  <a:moveTo>
                    <a:pt x="1812467" y="80162"/>
                  </a:moveTo>
                  <a:lnTo>
                    <a:pt x="1788579" y="72618"/>
                  </a:lnTo>
                  <a:lnTo>
                    <a:pt x="1707464" y="68580"/>
                  </a:lnTo>
                  <a:lnTo>
                    <a:pt x="1750987" y="155346"/>
                  </a:lnTo>
                  <a:lnTo>
                    <a:pt x="1756575" y="160591"/>
                  </a:lnTo>
                  <a:lnTo>
                    <a:pt x="1758530" y="160591"/>
                  </a:lnTo>
                  <a:lnTo>
                    <a:pt x="1763852" y="153365"/>
                  </a:lnTo>
                  <a:lnTo>
                    <a:pt x="1763255" y="151472"/>
                  </a:lnTo>
                  <a:lnTo>
                    <a:pt x="1728571" y="82346"/>
                  </a:lnTo>
                  <a:lnTo>
                    <a:pt x="1805813" y="86194"/>
                  </a:lnTo>
                  <a:lnTo>
                    <a:pt x="1807794" y="85979"/>
                  </a:lnTo>
                  <a:lnTo>
                    <a:pt x="1809597" y="85166"/>
                  </a:lnTo>
                  <a:lnTo>
                    <a:pt x="1811070" y="83832"/>
                  </a:lnTo>
                  <a:lnTo>
                    <a:pt x="1812061" y="82105"/>
                  </a:lnTo>
                  <a:lnTo>
                    <a:pt x="1812467" y="80162"/>
                  </a:lnTo>
                  <a:close/>
                </a:path>
                <a:path w="2463165" h="1201420">
                  <a:moveTo>
                    <a:pt x="1867027" y="165036"/>
                  </a:moveTo>
                  <a:lnTo>
                    <a:pt x="1824469" y="137287"/>
                  </a:lnTo>
                  <a:lnTo>
                    <a:pt x="1817535" y="147929"/>
                  </a:lnTo>
                  <a:lnTo>
                    <a:pt x="1860092" y="175679"/>
                  </a:lnTo>
                  <a:lnTo>
                    <a:pt x="1867027" y="165036"/>
                  </a:lnTo>
                  <a:close/>
                </a:path>
                <a:path w="2463165" h="1201420">
                  <a:moveTo>
                    <a:pt x="1941487" y="213588"/>
                  </a:moveTo>
                  <a:lnTo>
                    <a:pt x="1898942" y="185851"/>
                  </a:lnTo>
                  <a:lnTo>
                    <a:pt x="1892007" y="196481"/>
                  </a:lnTo>
                  <a:lnTo>
                    <a:pt x="1934552" y="224231"/>
                  </a:lnTo>
                  <a:lnTo>
                    <a:pt x="1941487" y="213588"/>
                  </a:lnTo>
                  <a:close/>
                </a:path>
                <a:path w="2463165" h="1201420">
                  <a:moveTo>
                    <a:pt x="2015959" y="262153"/>
                  </a:moveTo>
                  <a:lnTo>
                    <a:pt x="1973402" y="234403"/>
                  </a:lnTo>
                  <a:lnTo>
                    <a:pt x="1966468" y="245046"/>
                  </a:lnTo>
                  <a:lnTo>
                    <a:pt x="2009025" y="272783"/>
                  </a:lnTo>
                  <a:lnTo>
                    <a:pt x="2015959" y="262153"/>
                  </a:lnTo>
                  <a:close/>
                </a:path>
                <a:path w="2463165" h="1201420">
                  <a:moveTo>
                    <a:pt x="2090432" y="310705"/>
                  </a:moveTo>
                  <a:lnTo>
                    <a:pt x="2047875" y="282956"/>
                  </a:lnTo>
                  <a:lnTo>
                    <a:pt x="2040940" y="293598"/>
                  </a:lnTo>
                  <a:lnTo>
                    <a:pt x="2083498" y="321335"/>
                  </a:lnTo>
                  <a:lnTo>
                    <a:pt x="2090432" y="310705"/>
                  </a:lnTo>
                  <a:close/>
                </a:path>
                <a:path w="2463165" h="1201420">
                  <a:moveTo>
                    <a:pt x="2164892" y="359257"/>
                  </a:moveTo>
                  <a:lnTo>
                    <a:pt x="2122347" y="331508"/>
                  </a:lnTo>
                  <a:lnTo>
                    <a:pt x="2115413" y="342150"/>
                  </a:lnTo>
                  <a:lnTo>
                    <a:pt x="2157958" y="369900"/>
                  </a:lnTo>
                  <a:lnTo>
                    <a:pt x="2164892" y="359257"/>
                  </a:lnTo>
                  <a:close/>
                </a:path>
                <a:path w="2463165" h="1201420">
                  <a:moveTo>
                    <a:pt x="2239365" y="407809"/>
                  </a:moveTo>
                  <a:lnTo>
                    <a:pt x="2196808" y="380072"/>
                  </a:lnTo>
                  <a:lnTo>
                    <a:pt x="2189873" y="390702"/>
                  </a:lnTo>
                  <a:lnTo>
                    <a:pt x="2232431" y="418452"/>
                  </a:lnTo>
                  <a:lnTo>
                    <a:pt x="2239365" y="407809"/>
                  </a:lnTo>
                  <a:close/>
                </a:path>
                <a:path w="2463165" h="1201420">
                  <a:moveTo>
                    <a:pt x="2313838" y="456374"/>
                  </a:moveTo>
                  <a:lnTo>
                    <a:pt x="2271280" y="428625"/>
                  </a:lnTo>
                  <a:lnTo>
                    <a:pt x="2264346" y="439267"/>
                  </a:lnTo>
                  <a:lnTo>
                    <a:pt x="2306904" y="467004"/>
                  </a:lnTo>
                  <a:lnTo>
                    <a:pt x="2313838" y="456374"/>
                  </a:lnTo>
                  <a:close/>
                </a:path>
                <a:path w="2463165" h="1201420">
                  <a:moveTo>
                    <a:pt x="2388298" y="504926"/>
                  </a:moveTo>
                  <a:lnTo>
                    <a:pt x="2345753" y="477177"/>
                  </a:lnTo>
                  <a:lnTo>
                    <a:pt x="2338819" y="487819"/>
                  </a:lnTo>
                  <a:lnTo>
                    <a:pt x="2381364" y="515569"/>
                  </a:lnTo>
                  <a:lnTo>
                    <a:pt x="2388298" y="504926"/>
                  </a:lnTo>
                  <a:close/>
                </a:path>
                <a:path w="2463165" h="1201420">
                  <a:moveTo>
                    <a:pt x="2462771" y="553478"/>
                  </a:moveTo>
                  <a:lnTo>
                    <a:pt x="2420213" y="525729"/>
                  </a:lnTo>
                  <a:lnTo>
                    <a:pt x="2413279" y="536371"/>
                  </a:lnTo>
                  <a:lnTo>
                    <a:pt x="2455837" y="564121"/>
                  </a:lnTo>
                  <a:lnTo>
                    <a:pt x="2462771" y="55347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5875020" y="3606164"/>
            <a:ext cx="195135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Tahoma"/>
                <a:cs typeface="Tahoma"/>
              </a:rPr>
              <a:t>winning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 spc="-20">
                <a:latin typeface="Tahoma"/>
                <a:cs typeface="Tahoma"/>
              </a:rPr>
              <a:t>unit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35</a:t>
            </a:fld>
          </a:p>
        </p:txBody>
      </p:sp>
      <p:sp>
        <p:nvSpPr>
          <p:cNvPr id="13" name="object 13" descr=""/>
          <p:cNvSpPr txBox="1"/>
          <p:nvPr/>
        </p:nvSpPr>
        <p:spPr>
          <a:xfrm>
            <a:off x="1842770" y="4686300"/>
            <a:ext cx="164274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Tahoma"/>
                <a:cs typeface="Tahoma"/>
              </a:rPr>
              <a:t>losing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 spc="-20">
                <a:latin typeface="Tahoma"/>
                <a:cs typeface="Tahoma"/>
              </a:rPr>
              <a:t>unit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86474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800000"/>
                </a:solidFill>
              </a:rPr>
              <a:t>Leaky</a:t>
            </a:r>
            <a:r>
              <a:rPr dirty="0" sz="4000" spc="-130">
                <a:solidFill>
                  <a:srgbClr val="800000"/>
                </a:solidFill>
              </a:rPr>
              <a:t> </a:t>
            </a:r>
            <a:r>
              <a:rPr dirty="0" sz="4000" spc="-10">
                <a:solidFill>
                  <a:srgbClr val="800000"/>
                </a:solidFill>
              </a:rPr>
              <a:t>learning</a:t>
            </a:r>
            <a:endParaRPr sz="4000"/>
          </a:p>
        </p:txBody>
      </p:sp>
      <p:grpSp>
        <p:nvGrpSpPr>
          <p:cNvPr id="3" name="object 3" descr=""/>
          <p:cNvGrpSpPr/>
          <p:nvPr/>
        </p:nvGrpSpPr>
        <p:grpSpPr>
          <a:xfrm>
            <a:off x="3304984" y="2806471"/>
            <a:ext cx="438784" cy="381635"/>
            <a:chOff x="3304984" y="2806471"/>
            <a:chExt cx="438784" cy="38163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04984" y="2806471"/>
              <a:ext cx="152463" cy="151129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51034" y="2835046"/>
              <a:ext cx="292163" cy="353059"/>
            </a:xfrm>
            <a:prstGeom prst="rect">
              <a:avLst/>
            </a:prstGeom>
          </p:spPr>
        </p:pic>
      </p:grp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19234" y="2950616"/>
            <a:ext cx="152463" cy="15112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03054" y="3238906"/>
            <a:ext cx="152463" cy="15112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75314" y="2878861"/>
            <a:ext cx="152463" cy="15112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99164" y="2892831"/>
            <a:ext cx="152463" cy="15112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580449" y="5183276"/>
            <a:ext cx="152463" cy="151129"/>
          </a:xfrm>
          <a:prstGeom prst="rect">
            <a:avLst/>
          </a:prstGeom>
        </p:spPr>
      </p:pic>
      <p:grpSp>
        <p:nvGrpSpPr>
          <p:cNvPr id="11" name="object 11" descr=""/>
          <p:cNvGrpSpPr/>
          <p:nvPr/>
        </p:nvGrpSpPr>
        <p:grpSpPr>
          <a:xfrm>
            <a:off x="4675314" y="3094761"/>
            <a:ext cx="1064895" cy="997585"/>
            <a:chOff x="4675314" y="3094761"/>
            <a:chExt cx="1064895" cy="997585"/>
          </a:xfrm>
        </p:grpSpPr>
        <p:pic>
          <p:nvPicPr>
            <p:cNvPr id="12" name="object 1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51259" y="3094761"/>
              <a:ext cx="152463" cy="151129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75314" y="3152546"/>
              <a:ext cx="1064475" cy="939468"/>
            </a:xfrm>
            <a:prstGeom prst="rect">
              <a:avLst/>
            </a:prstGeom>
          </p:spPr>
        </p:pic>
      </p:grpSp>
      <p:pic>
        <p:nvPicPr>
          <p:cNvPr id="14" name="object 14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875089" y="3238906"/>
            <a:ext cx="152463" cy="151129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595805" y="4040352"/>
            <a:ext cx="773149" cy="628242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388804" y="3310661"/>
            <a:ext cx="152463" cy="151129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3027679" y="4469129"/>
            <a:ext cx="266382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Tahoma"/>
                <a:cs typeface="Tahoma"/>
              </a:rPr>
              <a:t>move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to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denser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regions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8" name="object 1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35</a:t>
            </a:fld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4112" y="-28574"/>
            <a:ext cx="3570604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800000"/>
                </a:solidFill>
              </a:rPr>
              <a:t>SCL</a:t>
            </a:r>
            <a:r>
              <a:rPr dirty="0" sz="4000" spc="-70">
                <a:solidFill>
                  <a:srgbClr val="800000"/>
                </a:solidFill>
              </a:rPr>
              <a:t> </a:t>
            </a:r>
            <a:r>
              <a:rPr dirty="0" sz="4000" spc="-10">
                <a:solidFill>
                  <a:srgbClr val="800000"/>
                </a:solidFill>
              </a:rPr>
              <a:t>Examples</a:t>
            </a:r>
            <a:endParaRPr sz="4000"/>
          </a:p>
        </p:txBody>
      </p:sp>
      <p:sp>
        <p:nvSpPr>
          <p:cNvPr id="3" name="object 3" descr=""/>
          <p:cNvSpPr/>
          <p:nvPr/>
        </p:nvSpPr>
        <p:spPr>
          <a:xfrm>
            <a:off x="179514" y="614705"/>
            <a:ext cx="8686800" cy="6243320"/>
          </a:xfrm>
          <a:custGeom>
            <a:avLst/>
            <a:gdLst/>
            <a:ahLst/>
            <a:cxnLst/>
            <a:rect l="l" t="t" r="r" b="b"/>
            <a:pathLst>
              <a:path w="8686800" h="6243320">
                <a:moveTo>
                  <a:pt x="8686800" y="0"/>
                </a:moveTo>
                <a:lnTo>
                  <a:pt x="0" y="0"/>
                </a:lnTo>
                <a:lnTo>
                  <a:pt x="0" y="6243294"/>
                </a:lnTo>
                <a:lnTo>
                  <a:pt x="8686800" y="6243294"/>
                </a:lnTo>
                <a:lnTo>
                  <a:pt x="86868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258254" y="535205"/>
            <a:ext cx="1953260" cy="1299845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u="sng" sz="2000" b="1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6</a:t>
            </a:r>
            <a:r>
              <a:rPr dirty="0" u="sng" sz="2000" spc="-5" b="1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dirty="0" u="sng" sz="2000" spc="-10" b="1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Cases:</a:t>
            </a:r>
            <a:endParaRPr sz="2000">
              <a:latin typeface="Courier New"/>
              <a:cs typeface="Courier New"/>
            </a:endParaRPr>
          </a:p>
          <a:p>
            <a:pPr marL="377825">
              <a:lnSpc>
                <a:spcPct val="100000"/>
              </a:lnSpc>
              <a:spcBef>
                <a:spcPts val="490"/>
              </a:spcBef>
            </a:pPr>
            <a:r>
              <a:rPr dirty="0" sz="1600">
                <a:latin typeface="Courier New"/>
                <a:cs typeface="Courier New"/>
              </a:rPr>
              <a:t>(0</a:t>
            </a:r>
            <a:r>
              <a:rPr dirty="0" sz="1600" spc="-1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1</a:t>
            </a:r>
            <a:r>
              <a:rPr dirty="0" sz="1600" spc="-15">
                <a:latin typeface="Courier New"/>
                <a:cs typeface="Courier New"/>
              </a:rPr>
              <a:t> </a:t>
            </a:r>
            <a:r>
              <a:rPr dirty="0" sz="1600" spc="-25">
                <a:latin typeface="Courier New"/>
                <a:cs typeface="Courier New"/>
              </a:rPr>
              <a:t>1)</a:t>
            </a:r>
            <a:endParaRPr sz="160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  <a:spcBef>
                <a:spcPts val="380"/>
              </a:spcBef>
            </a:pPr>
            <a:r>
              <a:rPr dirty="0" sz="1600">
                <a:latin typeface="Courier New"/>
                <a:cs typeface="Courier New"/>
              </a:rPr>
              <a:t>(0.2</a:t>
            </a:r>
            <a:r>
              <a:rPr dirty="0" sz="1600" spc="-3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0.2</a:t>
            </a:r>
            <a:r>
              <a:rPr dirty="0" sz="1600" spc="-35">
                <a:latin typeface="Courier New"/>
                <a:cs typeface="Courier New"/>
              </a:rPr>
              <a:t> </a:t>
            </a:r>
            <a:r>
              <a:rPr dirty="0" sz="1600" spc="-20">
                <a:latin typeface="Courier New"/>
                <a:cs typeface="Courier New"/>
              </a:rPr>
              <a:t>0.2)</a:t>
            </a:r>
            <a:endParaRPr sz="160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  <a:spcBef>
                <a:spcPts val="380"/>
              </a:spcBef>
            </a:pPr>
            <a:r>
              <a:rPr dirty="0" sz="1600">
                <a:latin typeface="Courier New"/>
                <a:cs typeface="Courier New"/>
              </a:rPr>
              <a:t>(0.4</a:t>
            </a:r>
            <a:r>
              <a:rPr dirty="0" sz="1600" spc="-3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0.6</a:t>
            </a:r>
            <a:r>
              <a:rPr dirty="0" sz="1600" spc="-35">
                <a:latin typeface="Courier New"/>
                <a:cs typeface="Courier New"/>
              </a:rPr>
              <a:t> </a:t>
            </a:r>
            <a:r>
              <a:rPr dirty="0" sz="1600" spc="-20">
                <a:latin typeface="Courier New"/>
                <a:cs typeface="Courier New"/>
              </a:rPr>
              <a:t>0.5)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001454" y="933348"/>
            <a:ext cx="1610360" cy="90170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600">
                <a:latin typeface="Courier New"/>
                <a:cs typeface="Courier New"/>
              </a:rPr>
              <a:t>(1</a:t>
            </a:r>
            <a:r>
              <a:rPr dirty="0" sz="1600" spc="-1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1</a:t>
            </a:r>
            <a:r>
              <a:rPr dirty="0" sz="1600" spc="-15">
                <a:latin typeface="Courier New"/>
                <a:cs typeface="Courier New"/>
              </a:rPr>
              <a:t> </a:t>
            </a:r>
            <a:r>
              <a:rPr dirty="0" sz="1600" spc="-20">
                <a:latin typeface="Courier New"/>
                <a:cs typeface="Courier New"/>
              </a:rPr>
              <a:t>0.5)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1600">
                <a:latin typeface="Courier New"/>
                <a:cs typeface="Courier New"/>
              </a:rPr>
              <a:t>(0.5</a:t>
            </a:r>
            <a:r>
              <a:rPr dirty="0" sz="1600" spc="-3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0.5</a:t>
            </a:r>
            <a:r>
              <a:rPr dirty="0" sz="1600" spc="-35">
                <a:latin typeface="Courier New"/>
                <a:cs typeface="Courier New"/>
              </a:rPr>
              <a:t> </a:t>
            </a:r>
            <a:r>
              <a:rPr dirty="0" sz="1600" spc="-20">
                <a:latin typeface="Courier New"/>
                <a:cs typeface="Courier New"/>
              </a:rPr>
              <a:t>0.5)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1600">
                <a:latin typeface="Courier New"/>
                <a:cs typeface="Courier New"/>
              </a:rPr>
              <a:t>(0</a:t>
            </a:r>
            <a:r>
              <a:rPr dirty="0" sz="1600" spc="-1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0</a:t>
            </a:r>
            <a:r>
              <a:rPr dirty="0" sz="1600" spc="-15">
                <a:latin typeface="Courier New"/>
                <a:cs typeface="Courier New"/>
              </a:rPr>
              <a:t> </a:t>
            </a:r>
            <a:r>
              <a:rPr dirty="0" sz="1600" spc="-25">
                <a:latin typeface="Courier New"/>
                <a:cs typeface="Courier New"/>
              </a:rPr>
              <a:t>0)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58254" y="2094128"/>
            <a:ext cx="5146040" cy="60960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u="sng" sz="160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Learning</a:t>
            </a:r>
            <a:r>
              <a:rPr dirty="0" u="sng" sz="1600" spc="-65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dirty="0" u="sng" sz="160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Rate:</a:t>
            </a:r>
            <a:r>
              <a:rPr dirty="0" sz="1600" spc="-65">
                <a:latin typeface="Courier New"/>
                <a:cs typeface="Courier New"/>
              </a:rPr>
              <a:t> </a:t>
            </a:r>
            <a:r>
              <a:rPr dirty="0" sz="1600" spc="-25">
                <a:latin typeface="Courier New"/>
                <a:cs typeface="Courier New"/>
              </a:rPr>
              <a:t>0.5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u="sng" sz="160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Initial</a:t>
            </a:r>
            <a:r>
              <a:rPr dirty="0" u="sng" sz="1600" spc="-7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dirty="0" u="sng" sz="1600" spc="-1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Randomly-</a:t>
            </a:r>
            <a:r>
              <a:rPr dirty="0" u="sng" sz="160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Generated</a:t>
            </a:r>
            <a:r>
              <a:rPr dirty="0" u="sng" sz="1600" spc="-7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dirty="0" u="sng" sz="160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Weight</a:t>
            </a:r>
            <a:r>
              <a:rPr dirty="0" u="sng" sz="1600" spc="-7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dirty="0" u="sng" sz="1600" spc="-1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Vectors:</a:t>
            </a:r>
            <a:endParaRPr sz="1600">
              <a:latin typeface="Courier New"/>
              <a:cs typeface="Courier New"/>
            </a:endParaRPr>
          </a:p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483044" y="2773976"/>
          <a:ext cx="7820659" cy="812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4629"/>
                <a:gridCol w="670559"/>
                <a:gridCol w="731519"/>
                <a:gridCol w="670559"/>
                <a:gridCol w="365760"/>
                <a:gridCol w="2438400"/>
                <a:gridCol w="1341120"/>
                <a:gridCol w="365759"/>
                <a:gridCol w="946150"/>
              </a:tblGrid>
              <a:tr h="260350">
                <a:tc>
                  <a:txBody>
                    <a:bodyPr/>
                    <a:lstStyle/>
                    <a:p>
                      <a:pPr algn="ctr" marR="21590">
                        <a:lnSpc>
                          <a:spcPts val="1650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[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3975">
                        <a:lnSpc>
                          <a:spcPts val="1650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0.14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0.75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0325">
                        <a:lnSpc>
                          <a:spcPts val="1650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0.71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650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]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92100">
                <a:tc>
                  <a:txBody>
                    <a:bodyPr/>
                    <a:lstStyle/>
                    <a:p>
                      <a:pPr algn="ctr" marR="21590">
                        <a:lnSpc>
                          <a:spcPts val="1895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[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3975"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0.99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0.51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0325"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0.37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895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]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ts val="1895"/>
                        </a:lnSpc>
                      </a:pPr>
                      <a:r>
                        <a:rPr dirty="0" sz="1600">
                          <a:latin typeface="Courier New"/>
                          <a:cs typeface="Courier New"/>
                        </a:rPr>
                        <a:t>Hence,</a:t>
                      </a:r>
                      <a:r>
                        <a:rPr dirty="0" sz="1600" spc="-4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>
                          <a:latin typeface="Courier New"/>
                          <a:cs typeface="Courier New"/>
                        </a:rPr>
                        <a:t>there</a:t>
                      </a:r>
                      <a:r>
                        <a:rPr dirty="0" sz="1600" spc="-4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>
                          <a:latin typeface="Courier New"/>
                          <a:cs typeface="Courier New"/>
                        </a:rPr>
                        <a:t>are</a:t>
                      </a:r>
                      <a:r>
                        <a:rPr dirty="0" sz="1600" spc="-4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50">
                          <a:latin typeface="Courier New"/>
                          <a:cs typeface="Courier New"/>
                        </a:rPr>
                        <a:t>3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895"/>
                        </a:lnSpc>
                      </a:pPr>
                      <a:r>
                        <a:rPr dirty="0" sz="1600">
                          <a:latin typeface="Courier New"/>
                          <a:cs typeface="Courier New"/>
                        </a:rPr>
                        <a:t>classes</a:t>
                      </a:r>
                      <a:r>
                        <a:rPr dirty="0" sz="1600" spc="-7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25">
                          <a:latin typeface="Courier New"/>
                          <a:cs typeface="Courier New"/>
                        </a:rPr>
                        <a:t>to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895"/>
                        </a:lnSpc>
                      </a:pPr>
                      <a:r>
                        <a:rPr dirty="0" sz="1600" spc="-25">
                          <a:latin typeface="Courier New"/>
                          <a:cs typeface="Courier New"/>
                        </a:rPr>
                        <a:t>be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895"/>
                        </a:lnSpc>
                      </a:pPr>
                      <a:r>
                        <a:rPr dirty="0" sz="1600" spc="-10">
                          <a:latin typeface="Courier New"/>
                          <a:cs typeface="Courier New"/>
                        </a:rPr>
                        <a:t>learned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60350">
                <a:tc>
                  <a:txBody>
                    <a:bodyPr/>
                    <a:lstStyle/>
                    <a:p>
                      <a:pPr algn="ctr" marR="21590">
                        <a:lnSpc>
                          <a:spcPts val="1895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[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3975"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0.73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0.81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0325"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0.87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895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]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8" name="object 8" descr=""/>
          <p:cNvSpPr txBox="1"/>
          <p:nvPr/>
        </p:nvSpPr>
        <p:spPr>
          <a:xfrm>
            <a:off x="258254" y="3895750"/>
            <a:ext cx="307340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160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Training</a:t>
            </a:r>
            <a:r>
              <a:rPr dirty="0" u="sng" sz="1600" spc="-5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dirty="0" u="sng" sz="160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on</a:t>
            </a:r>
            <a:r>
              <a:rPr dirty="0" u="sng" sz="1600" spc="-5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dirty="0" u="sng" sz="160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Input</a:t>
            </a:r>
            <a:r>
              <a:rPr dirty="0" u="sng" sz="1600" spc="-45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dirty="0" u="sng" sz="1600" spc="-1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Vectors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622734" y="4479950"/>
            <a:ext cx="270764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06625" algn="l"/>
              </a:tabLst>
            </a:pPr>
            <a:r>
              <a:rPr dirty="0" sz="1600">
                <a:latin typeface="Courier New"/>
                <a:cs typeface="Courier New"/>
              </a:rPr>
              <a:t>0.71</a:t>
            </a:r>
            <a:r>
              <a:rPr dirty="0" sz="1600" spc="-2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]</a:t>
            </a:r>
            <a:r>
              <a:rPr dirty="0" sz="1600" spc="-25">
                <a:latin typeface="Courier New"/>
                <a:cs typeface="Courier New"/>
              </a:rPr>
              <a:t> </a:t>
            </a:r>
            <a:r>
              <a:rPr dirty="0" sz="1600" spc="-10">
                <a:latin typeface="Courier New"/>
                <a:cs typeface="Courier New"/>
              </a:rPr>
              <a:t>Distance:</a:t>
            </a:r>
            <a:r>
              <a:rPr dirty="0" sz="1600">
                <a:latin typeface="Courier New"/>
                <a:cs typeface="Courier New"/>
              </a:rPr>
              <a:t>	</a:t>
            </a:r>
            <a:r>
              <a:rPr dirty="0" sz="1600" spc="-20">
                <a:latin typeface="Courier New"/>
                <a:cs typeface="Courier New"/>
              </a:rPr>
              <a:t>0.41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58254" y="4138828"/>
            <a:ext cx="5146040" cy="90170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  <a:tabLst>
                <a:tab pos="2450465" algn="l"/>
                <a:tab pos="3425825" algn="l"/>
                <a:tab pos="4157345" algn="l"/>
              </a:tabLst>
            </a:pPr>
            <a:r>
              <a:rPr dirty="0" sz="1600">
                <a:latin typeface="Courier New"/>
                <a:cs typeface="Courier New"/>
              </a:rPr>
              <a:t>Input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vector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#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 spc="-25">
                <a:latin typeface="Courier New"/>
                <a:cs typeface="Courier New"/>
              </a:rPr>
              <a:t>1:</a:t>
            </a:r>
            <a:r>
              <a:rPr dirty="0" sz="1600">
                <a:latin typeface="Courier New"/>
                <a:cs typeface="Courier New"/>
              </a:rPr>
              <a:t>	[</a:t>
            </a:r>
            <a:r>
              <a:rPr dirty="0" sz="1600" spc="-10">
                <a:latin typeface="Courier New"/>
                <a:cs typeface="Courier New"/>
              </a:rPr>
              <a:t> </a:t>
            </a:r>
            <a:r>
              <a:rPr dirty="0" sz="1600" spc="-20">
                <a:latin typeface="Courier New"/>
                <a:cs typeface="Courier New"/>
              </a:rPr>
              <a:t>0.00</a:t>
            </a:r>
            <a:r>
              <a:rPr dirty="0" sz="1600">
                <a:latin typeface="Courier New"/>
                <a:cs typeface="Courier New"/>
              </a:rPr>
              <a:t>	</a:t>
            </a:r>
            <a:r>
              <a:rPr dirty="0" sz="1600" spc="-20">
                <a:latin typeface="Courier New"/>
                <a:cs typeface="Courier New"/>
              </a:rPr>
              <a:t>1.00</a:t>
            </a:r>
            <a:r>
              <a:rPr dirty="0" sz="1600">
                <a:latin typeface="Courier New"/>
                <a:cs typeface="Courier New"/>
              </a:rPr>
              <a:t>	1.00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 spc="-50">
                <a:latin typeface="Courier New"/>
                <a:cs typeface="Courier New"/>
              </a:rPr>
              <a:t>]</a:t>
            </a:r>
            <a:endParaRPr sz="1600">
              <a:latin typeface="Courier New"/>
              <a:cs typeface="Courier New"/>
            </a:endParaRPr>
          </a:p>
          <a:p>
            <a:pPr marL="377825" marR="5080">
              <a:lnSpc>
                <a:spcPct val="119800"/>
              </a:lnSpc>
              <a:tabLst>
                <a:tab pos="4645025" algn="l"/>
              </a:tabLst>
            </a:pPr>
            <a:r>
              <a:rPr dirty="0" sz="1600">
                <a:latin typeface="Courier New"/>
                <a:cs typeface="Courier New"/>
              </a:rPr>
              <a:t>Winning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weight</a:t>
            </a:r>
            <a:r>
              <a:rPr dirty="0" sz="1600" spc="-3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vector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#</a:t>
            </a:r>
            <a:r>
              <a:rPr dirty="0" sz="1600" spc="-3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1:</a:t>
            </a:r>
            <a:r>
              <a:rPr dirty="0" sz="1600" spc="-3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[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 spc="-20">
                <a:latin typeface="Courier New"/>
                <a:cs typeface="Courier New"/>
              </a:rPr>
              <a:t>0.14</a:t>
            </a:r>
            <a:r>
              <a:rPr dirty="0" sz="1600">
                <a:latin typeface="Courier New"/>
                <a:cs typeface="Courier New"/>
              </a:rPr>
              <a:t>	</a:t>
            </a:r>
            <a:r>
              <a:rPr dirty="0" sz="1600" spc="-20">
                <a:latin typeface="Courier New"/>
                <a:cs typeface="Courier New"/>
              </a:rPr>
              <a:t>0.75 </a:t>
            </a:r>
            <a:r>
              <a:rPr dirty="0" sz="1600">
                <a:latin typeface="Courier New"/>
                <a:cs typeface="Courier New"/>
              </a:rPr>
              <a:t>Updated</a:t>
            </a:r>
            <a:r>
              <a:rPr dirty="0" sz="1600" spc="-6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weight</a:t>
            </a:r>
            <a:r>
              <a:rPr dirty="0" sz="1600" spc="-65">
                <a:latin typeface="Courier New"/>
                <a:cs typeface="Courier New"/>
              </a:rPr>
              <a:t> </a:t>
            </a:r>
            <a:r>
              <a:rPr dirty="0" sz="1600" spc="-10">
                <a:latin typeface="Courier New"/>
                <a:cs typeface="Courier New"/>
              </a:rPr>
              <a:t>vector: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24014" y="5064150"/>
            <a:ext cx="746252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87425" algn="l"/>
                <a:tab pos="1718945" algn="l"/>
                <a:tab pos="3425825" algn="l"/>
                <a:tab pos="4157345" algn="l"/>
                <a:tab pos="5986145" algn="l"/>
                <a:tab pos="6717665" algn="l"/>
              </a:tabLst>
            </a:pPr>
            <a:r>
              <a:rPr dirty="0" sz="1600" b="1">
                <a:latin typeface="Courier New"/>
                <a:cs typeface="Courier New"/>
              </a:rPr>
              <a:t>[</a:t>
            </a:r>
            <a:r>
              <a:rPr dirty="0" sz="1600" spc="-10" b="1">
                <a:latin typeface="Courier New"/>
                <a:cs typeface="Courier New"/>
              </a:rPr>
              <a:t> </a:t>
            </a:r>
            <a:r>
              <a:rPr dirty="0" sz="1600" spc="-20" b="1">
                <a:latin typeface="Courier New"/>
                <a:cs typeface="Courier New"/>
              </a:rPr>
              <a:t>0.07</a:t>
            </a:r>
            <a:r>
              <a:rPr dirty="0" sz="1600" b="1">
                <a:latin typeface="Courier New"/>
                <a:cs typeface="Courier New"/>
              </a:rPr>
              <a:t>	</a:t>
            </a:r>
            <a:r>
              <a:rPr dirty="0" sz="1600" spc="-20" b="1">
                <a:latin typeface="Courier New"/>
                <a:cs typeface="Courier New"/>
              </a:rPr>
              <a:t>0.87</a:t>
            </a:r>
            <a:r>
              <a:rPr dirty="0" sz="1600" b="1">
                <a:latin typeface="Courier New"/>
                <a:cs typeface="Courier New"/>
              </a:rPr>
              <a:t>	0.85</a:t>
            </a:r>
            <a:r>
              <a:rPr dirty="0" sz="1600" spc="-30" b="1">
                <a:latin typeface="Courier New"/>
                <a:cs typeface="Courier New"/>
              </a:rPr>
              <a:t> </a:t>
            </a:r>
            <a:r>
              <a:rPr dirty="0" sz="1600" b="1">
                <a:latin typeface="Courier New"/>
                <a:cs typeface="Courier New"/>
              </a:rPr>
              <a:t>]</a:t>
            </a:r>
            <a:r>
              <a:rPr dirty="0" sz="1600">
                <a:latin typeface="Courier New"/>
                <a:cs typeface="Courier New"/>
              </a:rPr>
              <a:t>[</a:t>
            </a:r>
            <a:r>
              <a:rPr dirty="0" sz="1600" spc="-30">
                <a:latin typeface="Courier New"/>
                <a:cs typeface="Courier New"/>
              </a:rPr>
              <a:t> </a:t>
            </a:r>
            <a:r>
              <a:rPr dirty="0" sz="1600" spc="-20">
                <a:latin typeface="Courier New"/>
                <a:cs typeface="Courier New"/>
              </a:rPr>
              <a:t>0.99</a:t>
            </a:r>
            <a:r>
              <a:rPr dirty="0" sz="1600">
                <a:latin typeface="Courier New"/>
                <a:cs typeface="Courier New"/>
              </a:rPr>
              <a:t>	</a:t>
            </a:r>
            <a:r>
              <a:rPr dirty="0" sz="1600" spc="-20">
                <a:latin typeface="Courier New"/>
                <a:cs typeface="Courier New"/>
              </a:rPr>
              <a:t>0.51</a:t>
            </a:r>
            <a:r>
              <a:rPr dirty="0" sz="1600">
                <a:latin typeface="Courier New"/>
                <a:cs typeface="Courier New"/>
              </a:rPr>
              <a:t>	0.37</a:t>
            </a:r>
            <a:r>
              <a:rPr dirty="0" sz="1600" spc="-2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]</a:t>
            </a:r>
            <a:r>
              <a:rPr dirty="0" sz="1600" spc="-2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[</a:t>
            </a:r>
            <a:r>
              <a:rPr dirty="0" sz="1600" spc="-20">
                <a:latin typeface="Courier New"/>
                <a:cs typeface="Courier New"/>
              </a:rPr>
              <a:t> 0.73</a:t>
            </a:r>
            <a:r>
              <a:rPr dirty="0" sz="1600">
                <a:latin typeface="Courier New"/>
                <a:cs typeface="Courier New"/>
              </a:rPr>
              <a:t>	</a:t>
            </a:r>
            <a:r>
              <a:rPr dirty="0" sz="1600" spc="-20">
                <a:latin typeface="Courier New"/>
                <a:cs typeface="Courier New"/>
              </a:rPr>
              <a:t>0.81</a:t>
            </a:r>
            <a:r>
              <a:rPr dirty="0" sz="1600">
                <a:latin typeface="Courier New"/>
                <a:cs typeface="Courier New"/>
              </a:rPr>
              <a:t>	0.87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 spc="-50">
                <a:latin typeface="Courier New"/>
                <a:cs typeface="Courier New"/>
              </a:rPr>
              <a:t>]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622734" y="5940450"/>
            <a:ext cx="270764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06625" algn="l"/>
              </a:tabLst>
            </a:pPr>
            <a:r>
              <a:rPr dirty="0" sz="1600">
                <a:latin typeface="Courier New"/>
                <a:cs typeface="Courier New"/>
              </a:rPr>
              <a:t>0.87</a:t>
            </a:r>
            <a:r>
              <a:rPr dirty="0" sz="1600" spc="-2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]</a:t>
            </a:r>
            <a:r>
              <a:rPr dirty="0" sz="1600" spc="-25">
                <a:latin typeface="Courier New"/>
                <a:cs typeface="Courier New"/>
              </a:rPr>
              <a:t> </a:t>
            </a:r>
            <a:r>
              <a:rPr dirty="0" sz="1600" spc="-10">
                <a:latin typeface="Courier New"/>
                <a:cs typeface="Courier New"/>
              </a:rPr>
              <a:t>Distance:</a:t>
            </a:r>
            <a:r>
              <a:rPr dirty="0" sz="1600">
                <a:latin typeface="Courier New"/>
                <a:cs typeface="Courier New"/>
              </a:rPr>
              <a:t>	</a:t>
            </a:r>
            <a:r>
              <a:rPr dirty="0" sz="1600" spc="-20">
                <a:latin typeface="Courier New"/>
                <a:cs typeface="Courier New"/>
              </a:rPr>
              <a:t>0.50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58254" y="5599328"/>
            <a:ext cx="5146040" cy="90170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  <a:tabLst>
                <a:tab pos="2450465" algn="l"/>
                <a:tab pos="3425825" algn="l"/>
                <a:tab pos="4157345" algn="l"/>
              </a:tabLst>
            </a:pPr>
            <a:r>
              <a:rPr dirty="0" sz="1600">
                <a:latin typeface="Courier New"/>
                <a:cs typeface="Courier New"/>
              </a:rPr>
              <a:t>Input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vector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#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 spc="-25">
                <a:latin typeface="Courier New"/>
                <a:cs typeface="Courier New"/>
              </a:rPr>
              <a:t>2:</a:t>
            </a:r>
            <a:r>
              <a:rPr dirty="0" sz="1600">
                <a:latin typeface="Courier New"/>
                <a:cs typeface="Courier New"/>
              </a:rPr>
              <a:t>	[</a:t>
            </a:r>
            <a:r>
              <a:rPr dirty="0" sz="1600" spc="-10">
                <a:latin typeface="Courier New"/>
                <a:cs typeface="Courier New"/>
              </a:rPr>
              <a:t> </a:t>
            </a:r>
            <a:r>
              <a:rPr dirty="0" sz="1600" spc="-20">
                <a:latin typeface="Courier New"/>
                <a:cs typeface="Courier New"/>
              </a:rPr>
              <a:t>1.00</a:t>
            </a:r>
            <a:r>
              <a:rPr dirty="0" sz="1600">
                <a:latin typeface="Courier New"/>
                <a:cs typeface="Courier New"/>
              </a:rPr>
              <a:t>	</a:t>
            </a:r>
            <a:r>
              <a:rPr dirty="0" sz="1600" spc="-20">
                <a:latin typeface="Courier New"/>
                <a:cs typeface="Courier New"/>
              </a:rPr>
              <a:t>1.00</a:t>
            </a:r>
            <a:r>
              <a:rPr dirty="0" sz="1600">
                <a:latin typeface="Courier New"/>
                <a:cs typeface="Courier New"/>
              </a:rPr>
              <a:t>	0.50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 spc="-50">
                <a:latin typeface="Courier New"/>
                <a:cs typeface="Courier New"/>
              </a:rPr>
              <a:t>]</a:t>
            </a:r>
            <a:endParaRPr sz="1600">
              <a:latin typeface="Courier New"/>
              <a:cs typeface="Courier New"/>
            </a:endParaRPr>
          </a:p>
          <a:p>
            <a:pPr marL="377825" marR="5080">
              <a:lnSpc>
                <a:spcPct val="119800"/>
              </a:lnSpc>
              <a:tabLst>
                <a:tab pos="4645025" algn="l"/>
              </a:tabLst>
            </a:pPr>
            <a:r>
              <a:rPr dirty="0" sz="1600">
                <a:latin typeface="Courier New"/>
                <a:cs typeface="Courier New"/>
              </a:rPr>
              <a:t>Winning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weight</a:t>
            </a:r>
            <a:r>
              <a:rPr dirty="0" sz="1600" spc="-3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vector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#</a:t>
            </a:r>
            <a:r>
              <a:rPr dirty="0" sz="1600" spc="-3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3:</a:t>
            </a:r>
            <a:r>
              <a:rPr dirty="0" sz="1600" spc="-3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[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 spc="-20">
                <a:latin typeface="Courier New"/>
                <a:cs typeface="Courier New"/>
              </a:rPr>
              <a:t>0.73</a:t>
            </a:r>
            <a:r>
              <a:rPr dirty="0" sz="1600">
                <a:latin typeface="Courier New"/>
                <a:cs typeface="Courier New"/>
              </a:rPr>
              <a:t>	</a:t>
            </a:r>
            <a:r>
              <a:rPr dirty="0" sz="1600" spc="-20">
                <a:latin typeface="Courier New"/>
                <a:cs typeface="Courier New"/>
              </a:rPr>
              <a:t>0.81 </a:t>
            </a:r>
            <a:r>
              <a:rPr dirty="0" sz="1600">
                <a:latin typeface="Courier New"/>
                <a:cs typeface="Courier New"/>
              </a:rPr>
              <a:t>Updated</a:t>
            </a:r>
            <a:r>
              <a:rPr dirty="0" sz="1600" spc="-6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weight</a:t>
            </a:r>
            <a:r>
              <a:rPr dirty="0" sz="1600" spc="-65">
                <a:latin typeface="Courier New"/>
                <a:cs typeface="Courier New"/>
              </a:rPr>
              <a:t> </a:t>
            </a:r>
            <a:r>
              <a:rPr dirty="0" sz="1600" spc="-10">
                <a:latin typeface="Courier New"/>
                <a:cs typeface="Courier New"/>
              </a:rPr>
              <a:t>vector: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24014" y="6524650"/>
            <a:ext cx="734060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87425" algn="l"/>
                <a:tab pos="1718945" algn="l"/>
                <a:tab pos="3425825" algn="l"/>
                <a:tab pos="4157345" algn="l"/>
                <a:tab pos="5864225" algn="l"/>
                <a:tab pos="6595745" algn="l"/>
              </a:tabLst>
            </a:pPr>
            <a:r>
              <a:rPr dirty="0" sz="1600">
                <a:latin typeface="Courier New"/>
                <a:cs typeface="Courier New"/>
              </a:rPr>
              <a:t>[</a:t>
            </a:r>
            <a:r>
              <a:rPr dirty="0" sz="1600" spc="-10">
                <a:latin typeface="Courier New"/>
                <a:cs typeface="Courier New"/>
              </a:rPr>
              <a:t> </a:t>
            </a:r>
            <a:r>
              <a:rPr dirty="0" sz="1600" spc="-20">
                <a:latin typeface="Courier New"/>
                <a:cs typeface="Courier New"/>
              </a:rPr>
              <a:t>0.07</a:t>
            </a:r>
            <a:r>
              <a:rPr dirty="0" sz="1600">
                <a:latin typeface="Courier New"/>
                <a:cs typeface="Courier New"/>
              </a:rPr>
              <a:t>	</a:t>
            </a:r>
            <a:r>
              <a:rPr dirty="0" sz="1600" spc="-20">
                <a:latin typeface="Courier New"/>
                <a:cs typeface="Courier New"/>
              </a:rPr>
              <a:t>0.87</a:t>
            </a:r>
            <a:r>
              <a:rPr dirty="0" sz="1600">
                <a:latin typeface="Courier New"/>
                <a:cs typeface="Courier New"/>
              </a:rPr>
              <a:t>	0.85</a:t>
            </a:r>
            <a:r>
              <a:rPr dirty="0" sz="1600" spc="-3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][</a:t>
            </a:r>
            <a:r>
              <a:rPr dirty="0" sz="1600" spc="-30">
                <a:latin typeface="Courier New"/>
                <a:cs typeface="Courier New"/>
              </a:rPr>
              <a:t> </a:t>
            </a:r>
            <a:r>
              <a:rPr dirty="0" sz="1600" spc="-20">
                <a:latin typeface="Courier New"/>
                <a:cs typeface="Courier New"/>
              </a:rPr>
              <a:t>0.99</a:t>
            </a:r>
            <a:r>
              <a:rPr dirty="0" sz="1600">
                <a:latin typeface="Courier New"/>
                <a:cs typeface="Courier New"/>
              </a:rPr>
              <a:t>	</a:t>
            </a:r>
            <a:r>
              <a:rPr dirty="0" sz="1600" spc="-20">
                <a:latin typeface="Courier New"/>
                <a:cs typeface="Courier New"/>
              </a:rPr>
              <a:t>0.51</a:t>
            </a:r>
            <a:r>
              <a:rPr dirty="0" sz="1600">
                <a:latin typeface="Courier New"/>
                <a:cs typeface="Courier New"/>
              </a:rPr>
              <a:t>	0.37</a:t>
            </a:r>
            <a:r>
              <a:rPr dirty="0" sz="1600" spc="-3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]</a:t>
            </a:r>
            <a:r>
              <a:rPr dirty="0" sz="1600" b="1">
                <a:latin typeface="Courier New"/>
                <a:cs typeface="Courier New"/>
              </a:rPr>
              <a:t>[</a:t>
            </a:r>
            <a:r>
              <a:rPr dirty="0" sz="1600" spc="-30" b="1">
                <a:latin typeface="Courier New"/>
                <a:cs typeface="Courier New"/>
              </a:rPr>
              <a:t> </a:t>
            </a:r>
            <a:r>
              <a:rPr dirty="0" sz="1600" spc="-20" b="1">
                <a:latin typeface="Courier New"/>
                <a:cs typeface="Courier New"/>
              </a:rPr>
              <a:t>0.87</a:t>
            </a:r>
            <a:r>
              <a:rPr dirty="0" sz="1600" b="1">
                <a:latin typeface="Courier New"/>
                <a:cs typeface="Courier New"/>
              </a:rPr>
              <a:t>	</a:t>
            </a:r>
            <a:r>
              <a:rPr dirty="0" sz="1600" spc="-20" b="1">
                <a:latin typeface="Courier New"/>
                <a:cs typeface="Courier New"/>
              </a:rPr>
              <a:t>0.90</a:t>
            </a:r>
            <a:r>
              <a:rPr dirty="0" sz="1600" b="1">
                <a:latin typeface="Courier New"/>
                <a:cs typeface="Courier New"/>
              </a:rPr>
              <a:t>	0.69</a:t>
            </a:r>
            <a:r>
              <a:rPr dirty="0" sz="1600" spc="-40" b="1">
                <a:latin typeface="Courier New"/>
                <a:cs typeface="Courier New"/>
              </a:rPr>
              <a:t> </a:t>
            </a:r>
            <a:r>
              <a:rPr dirty="0" sz="1600" spc="-50" b="1">
                <a:latin typeface="Courier New"/>
                <a:cs typeface="Courier New"/>
              </a:rPr>
              <a:t>]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8115274" y="634504"/>
            <a:ext cx="127635" cy="6038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800" spc="-1530">
                <a:latin typeface="Courier New"/>
                <a:cs typeface="Courier New"/>
              </a:rPr>
              <a:t>)</a:t>
            </a:r>
            <a:endParaRPr sz="3800">
              <a:latin typeface="Courier New"/>
              <a:cs typeface="Courier New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660923" y="1871675"/>
            <a:ext cx="228600" cy="394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-16203" sz="3600" spc="-2760">
                <a:latin typeface="Courier New"/>
                <a:cs typeface="Courier New"/>
              </a:rPr>
              <a:t></a:t>
            </a:r>
            <a:r>
              <a:rPr dirty="0" sz="2400" spc="-1839">
                <a:latin typeface="Courier New"/>
                <a:cs typeface="Courier New"/>
              </a:rPr>
              <a:t>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686323" y="1433042"/>
            <a:ext cx="177800" cy="394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00" spc="-1275">
                <a:latin typeface="Courier New"/>
                <a:cs typeface="Courier New"/>
              </a:rPr>
              <a:t>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043978" y="1843811"/>
            <a:ext cx="1541145" cy="394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775970" algn="l"/>
              </a:tabLst>
            </a:pPr>
            <a:r>
              <a:rPr dirty="0" sz="2400" spc="-805" i="1">
                <a:latin typeface="Courier New"/>
                <a:cs typeface="Courier New"/>
              </a:rPr>
              <a:t>if</a:t>
            </a:r>
            <a:r>
              <a:rPr dirty="0" sz="2400" i="1">
                <a:latin typeface="Courier New"/>
                <a:cs typeface="Courier New"/>
              </a:rPr>
              <a:t>	</a:t>
            </a:r>
            <a:r>
              <a:rPr dirty="0" sz="2400" spc="-780" i="1">
                <a:latin typeface="Courier New"/>
                <a:cs typeface="Courier New"/>
              </a:rPr>
              <a:t>j</a:t>
            </a:r>
            <a:r>
              <a:rPr dirty="0" sz="2400" spc="-795" i="1">
                <a:latin typeface="Courier New"/>
                <a:cs typeface="Courier New"/>
              </a:rPr>
              <a:t> </a:t>
            </a:r>
            <a:r>
              <a:rPr dirty="0" sz="2400" spc="-114">
                <a:latin typeface="Courier New"/>
                <a:cs typeface="Courier New"/>
              </a:rPr>
              <a:t>s</a:t>
            </a:r>
            <a:r>
              <a:rPr dirty="0" sz="2400" spc="-390">
                <a:latin typeface="Courier New"/>
                <a:cs typeface="Courier New"/>
              </a:rPr>
              <a:t> </a:t>
            </a:r>
            <a:r>
              <a:rPr dirty="0" sz="2400" spc="-780" i="1">
                <a:latin typeface="Courier New"/>
                <a:cs typeface="Courier New"/>
              </a:rPr>
              <a:t>j</a:t>
            </a:r>
            <a:r>
              <a:rPr dirty="0" sz="2400" spc="-1095" i="1">
                <a:latin typeface="Courier New"/>
                <a:cs typeface="Courier New"/>
              </a:rPr>
              <a:t> </a:t>
            </a:r>
            <a:r>
              <a:rPr dirty="0" sz="2400" spc="-135">
                <a:latin typeface="Courier New"/>
                <a:cs typeface="Courier New"/>
              </a:rPr>
              <a:t>*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660923" y="1843811"/>
            <a:ext cx="982344" cy="394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33564" sz="3600" spc="-1837">
                <a:latin typeface="Courier New"/>
                <a:cs typeface="Courier New"/>
              </a:rPr>
              <a:t></a:t>
            </a:r>
            <a:r>
              <a:rPr dirty="0" baseline="33564" sz="3600" spc="-1807">
                <a:latin typeface="Courier New"/>
                <a:cs typeface="Courier New"/>
              </a:rPr>
              <a:t> </a:t>
            </a:r>
            <a:r>
              <a:rPr dirty="0" sz="2400" spc="-375" i="1">
                <a:latin typeface="Courier New"/>
                <a:cs typeface="Courier New"/>
              </a:rPr>
              <a:t>y</a:t>
            </a:r>
            <a:r>
              <a:rPr dirty="0" sz="2400" spc="130" i="1">
                <a:latin typeface="Courier New"/>
                <a:cs typeface="Courier New"/>
              </a:rPr>
              <a:t> </a:t>
            </a:r>
            <a:r>
              <a:rPr dirty="0" sz="2400" spc="-114">
                <a:latin typeface="Courier New"/>
                <a:cs typeface="Courier New"/>
              </a:rPr>
              <a:t>=</a:t>
            </a:r>
            <a:r>
              <a:rPr dirty="0" sz="2400" spc="-925">
                <a:latin typeface="Courier New"/>
                <a:cs typeface="Courier New"/>
              </a:rPr>
              <a:t> </a:t>
            </a:r>
            <a:r>
              <a:rPr dirty="0" sz="2400" spc="-50">
                <a:latin typeface="Courier New"/>
                <a:cs typeface="Courier New"/>
              </a:rPr>
              <a:t>0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5686323" y="1341500"/>
            <a:ext cx="981075" cy="394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08330" algn="l"/>
              </a:tabLst>
            </a:pPr>
            <a:r>
              <a:rPr dirty="0" baseline="-4629" sz="3600" spc="-1837">
                <a:latin typeface="Courier New"/>
                <a:cs typeface="Courier New"/>
              </a:rPr>
              <a:t></a:t>
            </a:r>
            <a:r>
              <a:rPr dirty="0" baseline="-4629" sz="3600" spc="-1807">
                <a:latin typeface="Courier New"/>
                <a:cs typeface="Courier New"/>
              </a:rPr>
              <a:t> </a:t>
            </a:r>
            <a:r>
              <a:rPr dirty="0" sz="2400" spc="-425" i="1">
                <a:latin typeface="Courier New"/>
                <a:cs typeface="Courier New"/>
              </a:rPr>
              <a:t>y</a:t>
            </a:r>
            <a:r>
              <a:rPr dirty="0" sz="2400" i="1">
                <a:latin typeface="Courier New"/>
                <a:cs typeface="Courier New"/>
              </a:rPr>
              <a:t>	</a:t>
            </a:r>
            <a:r>
              <a:rPr dirty="0" sz="2400" spc="-114">
                <a:latin typeface="Courier New"/>
                <a:cs typeface="Courier New"/>
              </a:rPr>
              <a:t>=</a:t>
            </a:r>
            <a:r>
              <a:rPr dirty="0" sz="2400" spc="-1160">
                <a:latin typeface="Courier New"/>
                <a:cs typeface="Courier New"/>
              </a:rPr>
              <a:t> </a:t>
            </a:r>
            <a:r>
              <a:rPr dirty="0" sz="2400" spc="-170">
                <a:latin typeface="Courier New"/>
                <a:cs typeface="Courier New"/>
              </a:rPr>
              <a:t>1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6043688" y="2048255"/>
            <a:ext cx="75565" cy="2406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00" spc="-505" i="1">
                <a:latin typeface="Courier New"/>
                <a:cs typeface="Courier New"/>
              </a:rPr>
              <a:t>j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6043688" y="1545932"/>
            <a:ext cx="171450" cy="2406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00" spc="-300" i="1">
                <a:latin typeface="Courier New"/>
                <a:cs typeface="Courier New"/>
              </a:rPr>
              <a:t>j</a:t>
            </a:r>
            <a:r>
              <a:rPr dirty="0" sz="1400" spc="-300">
                <a:latin typeface="Courier New"/>
                <a:cs typeface="Courier New"/>
              </a:rPr>
              <a:t>*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7875968" y="1018146"/>
            <a:ext cx="215265" cy="2406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00" spc="-375" i="1">
                <a:latin typeface="Courier New"/>
                <a:cs typeface="Courier New"/>
              </a:rPr>
              <a:t>j</a:t>
            </a:r>
            <a:r>
              <a:rPr dirty="0" sz="1400" spc="-375">
                <a:latin typeface="Courier New"/>
                <a:cs typeface="Courier New"/>
              </a:rPr>
              <a:t>*</a:t>
            </a:r>
            <a:r>
              <a:rPr dirty="0" sz="1400" spc="-375" i="1">
                <a:latin typeface="Courier New"/>
                <a:cs typeface="Courier New"/>
              </a:rPr>
              <a:t>i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6961022" y="1018146"/>
            <a:ext cx="399415" cy="2406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35915" algn="l"/>
              </a:tabLst>
            </a:pPr>
            <a:r>
              <a:rPr dirty="0" sz="1400" spc="-505" i="1">
                <a:latin typeface="Courier New"/>
                <a:cs typeface="Courier New"/>
              </a:rPr>
              <a:t>j</a:t>
            </a:r>
            <a:r>
              <a:rPr dirty="0" sz="1400" i="1">
                <a:latin typeface="Courier New"/>
                <a:cs typeface="Courier New"/>
              </a:rPr>
              <a:t>	</a:t>
            </a:r>
            <a:r>
              <a:rPr dirty="0" sz="1400" spc="-505" i="1">
                <a:latin typeface="Courier New"/>
                <a:cs typeface="Courier New"/>
              </a:rPr>
              <a:t>i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6101118" y="1018146"/>
            <a:ext cx="215265" cy="2406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00" spc="-375" i="1">
                <a:latin typeface="Courier New"/>
                <a:cs typeface="Courier New"/>
              </a:rPr>
              <a:t>j</a:t>
            </a:r>
            <a:r>
              <a:rPr dirty="0" sz="1400" spc="-375">
                <a:latin typeface="Courier New"/>
                <a:cs typeface="Courier New"/>
              </a:rPr>
              <a:t>*</a:t>
            </a:r>
            <a:r>
              <a:rPr dirty="0" sz="1400" spc="-375" i="1">
                <a:latin typeface="Courier New"/>
                <a:cs typeface="Courier New"/>
              </a:rPr>
              <a:t>i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5686323" y="639279"/>
            <a:ext cx="2192020" cy="6038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23900" algn="l"/>
              </a:tabLst>
            </a:pPr>
            <a:r>
              <a:rPr dirty="0" sz="2400" spc="-415">
                <a:latin typeface="Courier New"/>
                <a:cs typeface="Courier New"/>
              </a:rPr>
              <a:t></a:t>
            </a:r>
            <a:r>
              <a:rPr dirty="0" sz="2400" spc="-415" i="1">
                <a:latin typeface="Courier New"/>
                <a:cs typeface="Courier New"/>
              </a:rPr>
              <a:t>w</a:t>
            </a:r>
            <a:r>
              <a:rPr dirty="0" sz="2400" i="1">
                <a:latin typeface="Courier New"/>
                <a:cs typeface="Courier New"/>
              </a:rPr>
              <a:t>	</a:t>
            </a:r>
            <a:r>
              <a:rPr dirty="0" sz="2400" spc="-114">
                <a:latin typeface="Courier New"/>
                <a:cs typeface="Courier New"/>
              </a:rPr>
              <a:t>=</a:t>
            </a:r>
            <a:r>
              <a:rPr dirty="0" sz="2400" spc="-1190">
                <a:latin typeface="Courier New"/>
                <a:cs typeface="Courier New"/>
              </a:rPr>
              <a:t> </a:t>
            </a:r>
            <a:r>
              <a:rPr dirty="0" sz="2500" spc="-210" i="1">
                <a:latin typeface="Courier New"/>
                <a:cs typeface="Courier New"/>
              </a:rPr>
              <a:t>η</a:t>
            </a:r>
            <a:r>
              <a:rPr dirty="0" sz="2400" spc="-210" i="1">
                <a:latin typeface="Courier New"/>
                <a:cs typeface="Courier New"/>
              </a:rPr>
              <a:t>y</a:t>
            </a:r>
            <a:r>
              <a:rPr dirty="0" sz="2400" spc="-390" i="1">
                <a:latin typeface="Courier New"/>
                <a:cs typeface="Courier New"/>
              </a:rPr>
              <a:t> </a:t>
            </a:r>
            <a:r>
              <a:rPr dirty="0" sz="3800" spc="-950">
                <a:latin typeface="Courier New"/>
                <a:cs typeface="Courier New"/>
              </a:rPr>
              <a:t>(</a:t>
            </a:r>
            <a:r>
              <a:rPr dirty="0" sz="2400" spc="-950" i="1">
                <a:latin typeface="Courier New"/>
                <a:cs typeface="Courier New"/>
              </a:rPr>
              <a:t>x</a:t>
            </a:r>
            <a:r>
              <a:rPr dirty="0" sz="2400" spc="-375" i="1">
                <a:latin typeface="Courier New"/>
                <a:cs typeface="Courier New"/>
              </a:rPr>
              <a:t> </a:t>
            </a:r>
            <a:r>
              <a:rPr dirty="0" sz="2400" spc="-114">
                <a:latin typeface="Courier New"/>
                <a:cs typeface="Courier New"/>
              </a:rPr>
              <a:t>–</a:t>
            </a:r>
            <a:r>
              <a:rPr dirty="0" sz="2400" spc="-1000">
                <a:latin typeface="Courier New"/>
                <a:cs typeface="Courier New"/>
              </a:rPr>
              <a:t> </a:t>
            </a:r>
            <a:r>
              <a:rPr dirty="0" sz="2400" spc="120" i="1">
                <a:latin typeface="Courier New"/>
                <a:cs typeface="Courier New"/>
              </a:rPr>
              <a:t>w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8388350" y="6508750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41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79387" y="836714"/>
            <a:ext cx="8610600" cy="5833110"/>
          </a:xfrm>
          <a:custGeom>
            <a:avLst/>
            <a:gdLst/>
            <a:ahLst/>
            <a:cxnLst/>
            <a:rect l="l" t="t" r="r" b="b"/>
            <a:pathLst>
              <a:path w="8610600" h="5833109">
                <a:moveTo>
                  <a:pt x="8610600" y="0"/>
                </a:moveTo>
                <a:lnTo>
                  <a:pt x="0" y="0"/>
                </a:lnTo>
                <a:lnTo>
                  <a:pt x="0" y="5832653"/>
                </a:lnTo>
                <a:lnTo>
                  <a:pt x="8610600" y="5832653"/>
                </a:lnTo>
                <a:lnTo>
                  <a:pt x="861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5622607" y="1135799"/>
            <a:ext cx="197612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ourier New"/>
                <a:cs typeface="Courier New"/>
              </a:rPr>
              <a:t>0.37</a:t>
            </a:r>
            <a:r>
              <a:rPr dirty="0" sz="1600" spc="-2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]</a:t>
            </a:r>
            <a:r>
              <a:rPr dirty="0" sz="1600" spc="-25">
                <a:latin typeface="Courier New"/>
                <a:cs typeface="Courier New"/>
              </a:rPr>
              <a:t> </a:t>
            </a:r>
            <a:r>
              <a:rPr dirty="0" sz="1600" spc="-10">
                <a:latin typeface="Courier New"/>
                <a:cs typeface="Courier New"/>
              </a:rPr>
              <a:t>Distance: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58127" y="794677"/>
            <a:ext cx="5146040" cy="90170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  <a:tabLst>
                <a:tab pos="2450465" algn="l"/>
                <a:tab pos="3425825" algn="l"/>
                <a:tab pos="4157345" algn="l"/>
              </a:tabLst>
            </a:pPr>
            <a:r>
              <a:rPr dirty="0" sz="1600">
                <a:latin typeface="Courier New"/>
                <a:cs typeface="Courier New"/>
              </a:rPr>
              <a:t>Input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vector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#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 spc="-25">
                <a:latin typeface="Courier New"/>
                <a:cs typeface="Courier New"/>
              </a:rPr>
              <a:t>3:</a:t>
            </a:r>
            <a:r>
              <a:rPr dirty="0" sz="1600">
                <a:latin typeface="Courier New"/>
                <a:cs typeface="Courier New"/>
              </a:rPr>
              <a:t>	[</a:t>
            </a:r>
            <a:r>
              <a:rPr dirty="0" sz="1600" spc="-10">
                <a:latin typeface="Courier New"/>
                <a:cs typeface="Courier New"/>
              </a:rPr>
              <a:t> </a:t>
            </a:r>
            <a:r>
              <a:rPr dirty="0" sz="1600" spc="-20">
                <a:latin typeface="Courier New"/>
                <a:cs typeface="Courier New"/>
              </a:rPr>
              <a:t>0.20</a:t>
            </a:r>
            <a:r>
              <a:rPr dirty="0" sz="1600">
                <a:latin typeface="Courier New"/>
                <a:cs typeface="Courier New"/>
              </a:rPr>
              <a:t>	</a:t>
            </a:r>
            <a:r>
              <a:rPr dirty="0" sz="1600" spc="-20">
                <a:latin typeface="Courier New"/>
                <a:cs typeface="Courier New"/>
              </a:rPr>
              <a:t>0.20</a:t>
            </a:r>
            <a:r>
              <a:rPr dirty="0" sz="1600">
                <a:latin typeface="Courier New"/>
                <a:cs typeface="Courier New"/>
              </a:rPr>
              <a:t>	0.20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 spc="-50">
                <a:latin typeface="Courier New"/>
                <a:cs typeface="Courier New"/>
              </a:rPr>
              <a:t>]</a:t>
            </a:r>
            <a:endParaRPr sz="1600">
              <a:latin typeface="Courier New"/>
              <a:cs typeface="Courier New"/>
            </a:endParaRPr>
          </a:p>
          <a:p>
            <a:pPr marL="378460" marR="5080">
              <a:lnSpc>
                <a:spcPct val="119800"/>
              </a:lnSpc>
              <a:tabLst>
                <a:tab pos="4645025" algn="l"/>
              </a:tabLst>
            </a:pPr>
            <a:r>
              <a:rPr dirty="0" sz="1600">
                <a:latin typeface="Courier New"/>
                <a:cs typeface="Courier New"/>
              </a:rPr>
              <a:t>Winning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weight</a:t>
            </a:r>
            <a:r>
              <a:rPr dirty="0" sz="1600" spc="-3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vector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#</a:t>
            </a:r>
            <a:r>
              <a:rPr dirty="0" sz="1600" spc="-3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2:</a:t>
            </a:r>
            <a:r>
              <a:rPr dirty="0" sz="1600" spc="-3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[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 spc="-20">
                <a:latin typeface="Courier New"/>
                <a:cs typeface="Courier New"/>
              </a:rPr>
              <a:t>0.99</a:t>
            </a:r>
            <a:r>
              <a:rPr dirty="0" sz="1600">
                <a:latin typeface="Courier New"/>
                <a:cs typeface="Courier New"/>
              </a:rPr>
              <a:t>	</a:t>
            </a:r>
            <a:r>
              <a:rPr dirty="0" sz="1600" spc="-20">
                <a:latin typeface="Courier New"/>
                <a:cs typeface="Courier New"/>
              </a:rPr>
              <a:t>0.51 </a:t>
            </a:r>
            <a:r>
              <a:rPr dirty="0" sz="1600">
                <a:latin typeface="Courier New"/>
                <a:cs typeface="Courier New"/>
              </a:rPr>
              <a:t>Updated</a:t>
            </a:r>
            <a:r>
              <a:rPr dirty="0" sz="1600" spc="-6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weight</a:t>
            </a:r>
            <a:r>
              <a:rPr dirty="0" sz="1600" spc="-65">
                <a:latin typeface="Courier New"/>
                <a:cs typeface="Courier New"/>
              </a:rPr>
              <a:t> </a:t>
            </a:r>
            <a:r>
              <a:rPr dirty="0" sz="1600" spc="-10">
                <a:latin typeface="Courier New"/>
                <a:cs typeface="Courier New"/>
              </a:rPr>
              <a:t>vector: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23887" y="1719999"/>
            <a:ext cx="734060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87425" algn="l"/>
                <a:tab pos="1718945" algn="l"/>
                <a:tab pos="3425825" algn="l"/>
                <a:tab pos="4157345" algn="l"/>
                <a:tab pos="5864225" algn="l"/>
                <a:tab pos="6595745" algn="l"/>
              </a:tabLst>
            </a:pPr>
            <a:r>
              <a:rPr dirty="0" sz="1600">
                <a:latin typeface="Courier New"/>
                <a:cs typeface="Courier New"/>
              </a:rPr>
              <a:t>[</a:t>
            </a:r>
            <a:r>
              <a:rPr dirty="0" sz="1600" spc="-10">
                <a:latin typeface="Courier New"/>
                <a:cs typeface="Courier New"/>
              </a:rPr>
              <a:t> </a:t>
            </a:r>
            <a:r>
              <a:rPr dirty="0" sz="1600" spc="-20">
                <a:latin typeface="Courier New"/>
                <a:cs typeface="Courier New"/>
              </a:rPr>
              <a:t>0.07</a:t>
            </a:r>
            <a:r>
              <a:rPr dirty="0" sz="1600">
                <a:latin typeface="Courier New"/>
                <a:cs typeface="Courier New"/>
              </a:rPr>
              <a:t>	</a:t>
            </a:r>
            <a:r>
              <a:rPr dirty="0" sz="1600" spc="-20">
                <a:latin typeface="Courier New"/>
                <a:cs typeface="Courier New"/>
              </a:rPr>
              <a:t>0.87</a:t>
            </a:r>
            <a:r>
              <a:rPr dirty="0" sz="1600">
                <a:latin typeface="Courier New"/>
                <a:cs typeface="Courier New"/>
              </a:rPr>
              <a:t>	0.85</a:t>
            </a:r>
            <a:r>
              <a:rPr dirty="0" sz="1600" spc="-3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]</a:t>
            </a:r>
            <a:r>
              <a:rPr dirty="0" sz="1600" b="1">
                <a:latin typeface="Courier New"/>
                <a:cs typeface="Courier New"/>
              </a:rPr>
              <a:t>[</a:t>
            </a:r>
            <a:r>
              <a:rPr dirty="0" sz="1600" spc="-30" b="1">
                <a:latin typeface="Courier New"/>
                <a:cs typeface="Courier New"/>
              </a:rPr>
              <a:t> </a:t>
            </a:r>
            <a:r>
              <a:rPr dirty="0" sz="1600" spc="-20" b="1">
                <a:latin typeface="Courier New"/>
                <a:cs typeface="Courier New"/>
              </a:rPr>
              <a:t>0.59</a:t>
            </a:r>
            <a:r>
              <a:rPr dirty="0" sz="1600" b="1">
                <a:latin typeface="Courier New"/>
                <a:cs typeface="Courier New"/>
              </a:rPr>
              <a:t>	</a:t>
            </a:r>
            <a:r>
              <a:rPr dirty="0" sz="1600" spc="-20" b="1">
                <a:latin typeface="Courier New"/>
                <a:cs typeface="Courier New"/>
              </a:rPr>
              <a:t>0.36</a:t>
            </a:r>
            <a:r>
              <a:rPr dirty="0" sz="1600" b="1">
                <a:latin typeface="Courier New"/>
                <a:cs typeface="Courier New"/>
              </a:rPr>
              <a:t>	0.29</a:t>
            </a:r>
            <a:r>
              <a:rPr dirty="0" sz="1600" spc="-30" b="1">
                <a:latin typeface="Courier New"/>
                <a:cs typeface="Courier New"/>
              </a:rPr>
              <a:t> </a:t>
            </a:r>
            <a:r>
              <a:rPr dirty="0" sz="1600" b="1">
                <a:latin typeface="Courier New"/>
                <a:cs typeface="Courier New"/>
              </a:rPr>
              <a:t>]</a:t>
            </a:r>
            <a:r>
              <a:rPr dirty="0" sz="1600">
                <a:latin typeface="Courier New"/>
                <a:cs typeface="Courier New"/>
              </a:rPr>
              <a:t>[</a:t>
            </a:r>
            <a:r>
              <a:rPr dirty="0" sz="1600" spc="-30">
                <a:latin typeface="Courier New"/>
                <a:cs typeface="Courier New"/>
              </a:rPr>
              <a:t> </a:t>
            </a:r>
            <a:r>
              <a:rPr dirty="0" sz="1600" spc="-20">
                <a:latin typeface="Courier New"/>
                <a:cs typeface="Courier New"/>
              </a:rPr>
              <a:t>0.87</a:t>
            </a:r>
            <a:r>
              <a:rPr dirty="0" sz="1600">
                <a:latin typeface="Courier New"/>
                <a:cs typeface="Courier New"/>
              </a:rPr>
              <a:t>	</a:t>
            </a:r>
            <a:r>
              <a:rPr dirty="0" sz="1600" spc="-20">
                <a:latin typeface="Courier New"/>
                <a:cs typeface="Courier New"/>
              </a:rPr>
              <a:t>0.90</a:t>
            </a:r>
            <a:r>
              <a:rPr dirty="0" sz="1600">
                <a:latin typeface="Courier New"/>
                <a:cs typeface="Courier New"/>
              </a:rPr>
              <a:t>	0.69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 spc="-50">
                <a:latin typeface="Courier New"/>
                <a:cs typeface="Courier New"/>
              </a:rPr>
              <a:t>]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622607" y="2596299"/>
            <a:ext cx="270764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06625" algn="l"/>
              </a:tabLst>
            </a:pPr>
            <a:r>
              <a:rPr dirty="0" sz="1600">
                <a:latin typeface="Courier New"/>
                <a:cs typeface="Courier New"/>
              </a:rPr>
              <a:t>0.29</a:t>
            </a:r>
            <a:r>
              <a:rPr dirty="0" sz="1600" spc="-2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]</a:t>
            </a:r>
            <a:r>
              <a:rPr dirty="0" sz="1600" spc="-25">
                <a:latin typeface="Courier New"/>
                <a:cs typeface="Courier New"/>
              </a:rPr>
              <a:t> </a:t>
            </a:r>
            <a:r>
              <a:rPr dirty="0" sz="1600" spc="-10">
                <a:latin typeface="Courier New"/>
                <a:cs typeface="Courier New"/>
              </a:rPr>
              <a:t>Distance:</a:t>
            </a:r>
            <a:r>
              <a:rPr dirty="0" sz="1600">
                <a:latin typeface="Courier New"/>
                <a:cs typeface="Courier New"/>
              </a:rPr>
              <a:t>	</a:t>
            </a:r>
            <a:r>
              <a:rPr dirty="0" sz="1600" spc="-20">
                <a:latin typeface="Courier New"/>
                <a:cs typeface="Courier New"/>
              </a:rPr>
              <a:t>0.27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58127" y="2255177"/>
            <a:ext cx="5146040" cy="90170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  <a:tabLst>
                <a:tab pos="2450465" algn="l"/>
                <a:tab pos="3425825" algn="l"/>
                <a:tab pos="4157345" algn="l"/>
              </a:tabLst>
            </a:pPr>
            <a:r>
              <a:rPr dirty="0" sz="1600">
                <a:latin typeface="Courier New"/>
                <a:cs typeface="Courier New"/>
              </a:rPr>
              <a:t>Input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vector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#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 spc="-25">
                <a:latin typeface="Courier New"/>
                <a:cs typeface="Courier New"/>
              </a:rPr>
              <a:t>4:</a:t>
            </a:r>
            <a:r>
              <a:rPr dirty="0" sz="1600">
                <a:latin typeface="Courier New"/>
                <a:cs typeface="Courier New"/>
              </a:rPr>
              <a:t>	[</a:t>
            </a:r>
            <a:r>
              <a:rPr dirty="0" sz="1600" spc="-10">
                <a:latin typeface="Courier New"/>
                <a:cs typeface="Courier New"/>
              </a:rPr>
              <a:t> </a:t>
            </a:r>
            <a:r>
              <a:rPr dirty="0" sz="1600" spc="-20">
                <a:latin typeface="Courier New"/>
                <a:cs typeface="Courier New"/>
              </a:rPr>
              <a:t>0.50</a:t>
            </a:r>
            <a:r>
              <a:rPr dirty="0" sz="1600">
                <a:latin typeface="Courier New"/>
                <a:cs typeface="Courier New"/>
              </a:rPr>
              <a:t>	</a:t>
            </a:r>
            <a:r>
              <a:rPr dirty="0" sz="1600" spc="-20">
                <a:latin typeface="Courier New"/>
                <a:cs typeface="Courier New"/>
              </a:rPr>
              <a:t>0.50</a:t>
            </a:r>
            <a:r>
              <a:rPr dirty="0" sz="1600">
                <a:latin typeface="Courier New"/>
                <a:cs typeface="Courier New"/>
              </a:rPr>
              <a:t>	0.50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 spc="-50">
                <a:latin typeface="Courier New"/>
                <a:cs typeface="Courier New"/>
              </a:rPr>
              <a:t>]</a:t>
            </a:r>
            <a:endParaRPr sz="1600">
              <a:latin typeface="Courier New"/>
              <a:cs typeface="Courier New"/>
            </a:endParaRPr>
          </a:p>
          <a:p>
            <a:pPr marL="378460" marR="5080">
              <a:lnSpc>
                <a:spcPct val="119800"/>
              </a:lnSpc>
              <a:tabLst>
                <a:tab pos="4645025" algn="l"/>
              </a:tabLst>
            </a:pPr>
            <a:r>
              <a:rPr dirty="0" sz="1600">
                <a:latin typeface="Courier New"/>
                <a:cs typeface="Courier New"/>
              </a:rPr>
              <a:t>Winning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weight</a:t>
            </a:r>
            <a:r>
              <a:rPr dirty="0" sz="1600" spc="-3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vector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#</a:t>
            </a:r>
            <a:r>
              <a:rPr dirty="0" sz="1600" spc="-3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2:</a:t>
            </a:r>
            <a:r>
              <a:rPr dirty="0" sz="1600" spc="-3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[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 spc="-20">
                <a:latin typeface="Courier New"/>
                <a:cs typeface="Courier New"/>
              </a:rPr>
              <a:t>0.59</a:t>
            </a:r>
            <a:r>
              <a:rPr dirty="0" sz="1600">
                <a:latin typeface="Courier New"/>
                <a:cs typeface="Courier New"/>
              </a:rPr>
              <a:t>	</a:t>
            </a:r>
            <a:r>
              <a:rPr dirty="0" sz="1600" spc="-20">
                <a:latin typeface="Courier New"/>
                <a:cs typeface="Courier New"/>
              </a:rPr>
              <a:t>0.36 </a:t>
            </a:r>
            <a:r>
              <a:rPr dirty="0" sz="1600">
                <a:latin typeface="Courier New"/>
                <a:cs typeface="Courier New"/>
              </a:rPr>
              <a:t>Updated</a:t>
            </a:r>
            <a:r>
              <a:rPr dirty="0" sz="1600" spc="-6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weight</a:t>
            </a:r>
            <a:r>
              <a:rPr dirty="0" sz="1600" spc="-65">
                <a:latin typeface="Courier New"/>
                <a:cs typeface="Courier New"/>
              </a:rPr>
              <a:t> </a:t>
            </a:r>
            <a:r>
              <a:rPr dirty="0" sz="1600" spc="-10">
                <a:latin typeface="Courier New"/>
                <a:cs typeface="Courier New"/>
              </a:rPr>
              <a:t>vector: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23887" y="3180499"/>
            <a:ext cx="734060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87425" algn="l"/>
                <a:tab pos="1718945" algn="l"/>
                <a:tab pos="3425825" algn="l"/>
                <a:tab pos="4157345" algn="l"/>
                <a:tab pos="5864225" algn="l"/>
                <a:tab pos="6595745" algn="l"/>
              </a:tabLst>
            </a:pPr>
            <a:r>
              <a:rPr dirty="0" sz="1600">
                <a:latin typeface="Courier New"/>
                <a:cs typeface="Courier New"/>
              </a:rPr>
              <a:t>[</a:t>
            </a:r>
            <a:r>
              <a:rPr dirty="0" sz="1600" spc="-10">
                <a:latin typeface="Courier New"/>
                <a:cs typeface="Courier New"/>
              </a:rPr>
              <a:t> </a:t>
            </a:r>
            <a:r>
              <a:rPr dirty="0" sz="1600" spc="-20">
                <a:latin typeface="Courier New"/>
                <a:cs typeface="Courier New"/>
              </a:rPr>
              <a:t>0.07</a:t>
            </a:r>
            <a:r>
              <a:rPr dirty="0" sz="1600">
                <a:latin typeface="Courier New"/>
                <a:cs typeface="Courier New"/>
              </a:rPr>
              <a:t>	</a:t>
            </a:r>
            <a:r>
              <a:rPr dirty="0" sz="1600" spc="-20">
                <a:latin typeface="Courier New"/>
                <a:cs typeface="Courier New"/>
              </a:rPr>
              <a:t>0.87</a:t>
            </a:r>
            <a:r>
              <a:rPr dirty="0" sz="1600">
                <a:latin typeface="Courier New"/>
                <a:cs typeface="Courier New"/>
              </a:rPr>
              <a:t>	0.85</a:t>
            </a:r>
            <a:r>
              <a:rPr dirty="0" sz="1600" spc="-3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]</a:t>
            </a:r>
            <a:r>
              <a:rPr dirty="0" sz="1600" b="1">
                <a:latin typeface="Courier New"/>
                <a:cs typeface="Courier New"/>
              </a:rPr>
              <a:t>[</a:t>
            </a:r>
            <a:r>
              <a:rPr dirty="0" sz="1600" spc="-30" b="1">
                <a:latin typeface="Courier New"/>
                <a:cs typeface="Courier New"/>
              </a:rPr>
              <a:t> </a:t>
            </a:r>
            <a:r>
              <a:rPr dirty="0" sz="1600" spc="-20" b="1">
                <a:latin typeface="Courier New"/>
                <a:cs typeface="Courier New"/>
              </a:rPr>
              <a:t>0.55</a:t>
            </a:r>
            <a:r>
              <a:rPr dirty="0" sz="1600" b="1">
                <a:latin typeface="Courier New"/>
                <a:cs typeface="Courier New"/>
              </a:rPr>
              <a:t>	</a:t>
            </a:r>
            <a:r>
              <a:rPr dirty="0" sz="1600" spc="-20" b="1">
                <a:latin typeface="Courier New"/>
                <a:cs typeface="Courier New"/>
              </a:rPr>
              <a:t>0.43</a:t>
            </a:r>
            <a:r>
              <a:rPr dirty="0" sz="1600" b="1">
                <a:latin typeface="Courier New"/>
                <a:cs typeface="Courier New"/>
              </a:rPr>
              <a:t>	0.39</a:t>
            </a:r>
            <a:r>
              <a:rPr dirty="0" sz="1600" spc="-30" b="1">
                <a:latin typeface="Courier New"/>
                <a:cs typeface="Courier New"/>
              </a:rPr>
              <a:t> </a:t>
            </a:r>
            <a:r>
              <a:rPr dirty="0" sz="1600" b="1">
                <a:latin typeface="Courier New"/>
                <a:cs typeface="Courier New"/>
              </a:rPr>
              <a:t>]</a:t>
            </a:r>
            <a:r>
              <a:rPr dirty="0" sz="1600">
                <a:latin typeface="Courier New"/>
                <a:cs typeface="Courier New"/>
              </a:rPr>
              <a:t>[</a:t>
            </a:r>
            <a:r>
              <a:rPr dirty="0" sz="1600" spc="-30">
                <a:latin typeface="Courier New"/>
                <a:cs typeface="Courier New"/>
              </a:rPr>
              <a:t> </a:t>
            </a:r>
            <a:r>
              <a:rPr dirty="0" sz="1600" spc="-20">
                <a:latin typeface="Courier New"/>
                <a:cs typeface="Courier New"/>
              </a:rPr>
              <a:t>0.87</a:t>
            </a:r>
            <a:r>
              <a:rPr dirty="0" sz="1600">
                <a:latin typeface="Courier New"/>
                <a:cs typeface="Courier New"/>
              </a:rPr>
              <a:t>	</a:t>
            </a:r>
            <a:r>
              <a:rPr dirty="0" sz="1600" spc="-20">
                <a:latin typeface="Courier New"/>
                <a:cs typeface="Courier New"/>
              </a:rPr>
              <a:t>0.90</a:t>
            </a:r>
            <a:r>
              <a:rPr dirty="0" sz="1600">
                <a:latin typeface="Courier New"/>
                <a:cs typeface="Courier New"/>
              </a:rPr>
              <a:t>	0.69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 spc="-50">
                <a:latin typeface="Courier New"/>
                <a:cs typeface="Courier New"/>
              </a:rPr>
              <a:t>]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622607" y="4056798"/>
            <a:ext cx="270764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06625" algn="l"/>
              </a:tabLst>
            </a:pPr>
            <a:r>
              <a:rPr dirty="0" sz="1600">
                <a:latin typeface="Courier New"/>
                <a:cs typeface="Courier New"/>
              </a:rPr>
              <a:t>0.39</a:t>
            </a:r>
            <a:r>
              <a:rPr dirty="0" sz="1600" spc="-2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]</a:t>
            </a:r>
            <a:r>
              <a:rPr dirty="0" sz="1600" spc="-25">
                <a:latin typeface="Courier New"/>
                <a:cs typeface="Courier New"/>
              </a:rPr>
              <a:t> </a:t>
            </a:r>
            <a:r>
              <a:rPr dirty="0" sz="1600" spc="-10">
                <a:latin typeface="Courier New"/>
                <a:cs typeface="Courier New"/>
              </a:rPr>
              <a:t>Distance:</a:t>
            </a:r>
            <a:r>
              <a:rPr dirty="0" sz="1600">
                <a:latin typeface="Courier New"/>
                <a:cs typeface="Courier New"/>
              </a:rPr>
              <a:t>	</a:t>
            </a:r>
            <a:r>
              <a:rPr dirty="0" sz="1600" spc="-20">
                <a:latin typeface="Courier New"/>
                <a:cs typeface="Courier New"/>
              </a:rPr>
              <a:t>0.25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58127" y="3715677"/>
            <a:ext cx="5146040" cy="90170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  <a:tabLst>
                <a:tab pos="2450465" algn="l"/>
                <a:tab pos="3425825" algn="l"/>
                <a:tab pos="4157345" algn="l"/>
              </a:tabLst>
            </a:pPr>
            <a:r>
              <a:rPr dirty="0" sz="1600">
                <a:latin typeface="Courier New"/>
                <a:cs typeface="Courier New"/>
              </a:rPr>
              <a:t>Input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vector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#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 spc="-25">
                <a:latin typeface="Courier New"/>
                <a:cs typeface="Courier New"/>
              </a:rPr>
              <a:t>5:</a:t>
            </a:r>
            <a:r>
              <a:rPr dirty="0" sz="1600">
                <a:latin typeface="Courier New"/>
                <a:cs typeface="Courier New"/>
              </a:rPr>
              <a:t>	[</a:t>
            </a:r>
            <a:r>
              <a:rPr dirty="0" sz="1600" spc="-10">
                <a:latin typeface="Courier New"/>
                <a:cs typeface="Courier New"/>
              </a:rPr>
              <a:t> </a:t>
            </a:r>
            <a:r>
              <a:rPr dirty="0" sz="1600" spc="-20">
                <a:latin typeface="Courier New"/>
                <a:cs typeface="Courier New"/>
              </a:rPr>
              <a:t>0.40</a:t>
            </a:r>
            <a:r>
              <a:rPr dirty="0" sz="1600">
                <a:latin typeface="Courier New"/>
                <a:cs typeface="Courier New"/>
              </a:rPr>
              <a:t>	</a:t>
            </a:r>
            <a:r>
              <a:rPr dirty="0" sz="1600" spc="-20">
                <a:latin typeface="Courier New"/>
                <a:cs typeface="Courier New"/>
              </a:rPr>
              <a:t>0.60</a:t>
            </a:r>
            <a:r>
              <a:rPr dirty="0" sz="1600">
                <a:latin typeface="Courier New"/>
                <a:cs typeface="Courier New"/>
              </a:rPr>
              <a:t>	0.50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 spc="-50">
                <a:latin typeface="Courier New"/>
                <a:cs typeface="Courier New"/>
              </a:rPr>
              <a:t>]</a:t>
            </a:r>
            <a:endParaRPr sz="1600">
              <a:latin typeface="Courier New"/>
              <a:cs typeface="Courier New"/>
            </a:endParaRPr>
          </a:p>
          <a:p>
            <a:pPr marL="378460" marR="5080">
              <a:lnSpc>
                <a:spcPct val="119800"/>
              </a:lnSpc>
              <a:tabLst>
                <a:tab pos="4645025" algn="l"/>
              </a:tabLst>
            </a:pPr>
            <a:r>
              <a:rPr dirty="0" sz="1600">
                <a:latin typeface="Courier New"/>
                <a:cs typeface="Courier New"/>
              </a:rPr>
              <a:t>Winning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weight</a:t>
            </a:r>
            <a:r>
              <a:rPr dirty="0" sz="1600" spc="-3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vector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#</a:t>
            </a:r>
            <a:r>
              <a:rPr dirty="0" sz="1600" spc="-3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2:</a:t>
            </a:r>
            <a:r>
              <a:rPr dirty="0" sz="1600" spc="-3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[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 spc="-20">
                <a:latin typeface="Courier New"/>
                <a:cs typeface="Courier New"/>
              </a:rPr>
              <a:t>0.55</a:t>
            </a:r>
            <a:r>
              <a:rPr dirty="0" sz="1600">
                <a:latin typeface="Courier New"/>
                <a:cs typeface="Courier New"/>
              </a:rPr>
              <a:t>	</a:t>
            </a:r>
            <a:r>
              <a:rPr dirty="0" sz="1600" spc="-20">
                <a:latin typeface="Courier New"/>
                <a:cs typeface="Courier New"/>
              </a:rPr>
              <a:t>0.43 </a:t>
            </a:r>
            <a:r>
              <a:rPr dirty="0" sz="1600">
                <a:latin typeface="Courier New"/>
                <a:cs typeface="Courier New"/>
              </a:rPr>
              <a:t>Updated</a:t>
            </a:r>
            <a:r>
              <a:rPr dirty="0" sz="1600" spc="-6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weight</a:t>
            </a:r>
            <a:r>
              <a:rPr dirty="0" sz="1600" spc="-65">
                <a:latin typeface="Courier New"/>
                <a:cs typeface="Courier New"/>
              </a:rPr>
              <a:t> </a:t>
            </a:r>
            <a:r>
              <a:rPr dirty="0" sz="1600" spc="-10">
                <a:latin typeface="Courier New"/>
                <a:cs typeface="Courier New"/>
              </a:rPr>
              <a:t>vector: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23887" y="4640998"/>
            <a:ext cx="734060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87425" algn="l"/>
                <a:tab pos="1718945" algn="l"/>
                <a:tab pos="3425825" algn="l"/>
                <a:tab pos="4157345" algn="l"/>
                <a:tab pos="5864225" algn="l"/>
                <a:tab pos="6595745" algn="l"/>
              </a:tabLst>
            </a:pPr>
            <a:r>
              <a:rPr dirty="0" sz="1600">
                <a:latin typeface="Courier New"/>
                <a:cs typeface="Courier New"/>
              </a:rPr>
              <a:t>[</a:t>
            </a:r>
            <a:r>
              <a:rPr dirty="0" sz="1600" spc="-10">
                <a:latin typeface="Courier New"/>
                <a:cs typeface="Courier New"/>
              </a:rPr>
              <a:t> </a:t>
            </a:r>
            <a:r>
              <a:rPr dirty="0" sz="1600" spc="-20">
                <a:latin typeface="Courier New"/>
                <a:cs typeface="Courier New"/>
              </a:rPr>
              <a:t>0.07</a:t>
            </a:r>
            <a:r>
              <a:rPr dirty="0" sz="1600">
                <a:latin typeface="Courier New"/>
                <a:cs typeface="Courier New"/>
              </a:rPr>
              <a:t>	</a:t>
            </a:r>
            <a:r>
              <a:rPr dirty="0" sz="1600" spc="-20">
                <a:latin typeface="Courier New"/>
                <a:cs typeface="Courier New"/>
              </a:rPr>
              <a:t>0.87</a:t>
            </a:r>
            <a:r>
              <a:rPr dirty="0" sz="1600">
                <a:latin typeface="Courier New"/>
                <a:cs typeface="Courier New"/>
              </a:rPr>
              <a:t>	0.85</a:t>
            </a:r>
            <a:r>
              <a:rPr dirty="0" sz="1600" spc="-3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]</a:t>
            </a:r>
            <a:r>
              <a:rPr dirty="0" sz="1600" b="1">
                <a:latin typeface="Courier New"/>
                <a:cs typeface="Courier New"/>
              </a:rPr>
              <a:t>[</a:t>
            </a:r>
            <a:r>
              <a:rPr dirty="0" sz="1600" spc="-30" b="1">
                <a:latin typeface="Courier New"/>
                <a:cs typeface="Courier New"/>
              </a:rPr>
              <a:t> </a:t>
            </a:r>
            <a:r>
              <a:rPr dirty="0" sz="1600" spc="-20" b="1">
                <a:latin typeface="Courier New"/>
                <a:cs typeface="Courier New"/>
              </a:rPr>
              <a:t>0.47</a:t>
            </a:r>
            <a:r>
              <a:rPr dirty="0" sz="1600" b="1">
                <a:latin typeface="Courier New"/>
                <a:cs typeface="Courier New"/>
              </a:rPr>
              <a:t>	</a:t>
            </a:r>
            <a:r>
              <a:rPr dirty="0" sz="1600" spc="-20" b="1">
                <a:latin typeface="Courier New"/>
                <a:cs typeface="Courier New"/>
              </a:rPr>
              <a:t>0.51</a:t>
            </a:r>
            <a:r>
              <a:rPr dirty="0" sz="1600" b="1">
                <a:latin typeface="Courier New"/>
                <a:cs typeface="Courier New"/>
              </a:rPr>
              <a:t>	0.45</a:t>
            </a:r>
            <a:r>
              <a:rPr dirty="0" sz="1600" spc="-30" b="1">
                <a:latin typeface="Courier New"/>
                <a:cs typeface="Courier New"/>
              </a:rPr>
              <a:t> </a:t>
            </a:r>
            <a:r>
              <a:rPr dirty="0" sz="1600" b="1">
                <a:latin typeface="Courier New"/>
                <a:cs typeface="Courier New"/>
              </a:rPr>
              <a:t>]</a:t>
            </a:r>
            <a:r>
              <a:rPr dirty="0" sz="1600">
                <a:latin typeface="Courier New"/>
                <a:cs typeface="Courier New"/>
              </a:rPr>
              <a:t>[</a:t>
            </a:r>
            <a:r>
              <a:rPr dirty="0" sz="1600" spc="-30">
                <a:latin typeface="Courier New"/>
                <a:cs typeface="Courier New"/>
              </a:rPr>
              <a:t> </a:t>
            </a:r>
            <a:r>
              <a:rPr dirty="0" sz="1600" spc="-20">
                <a:latin typeface="Courier New"/>
                <a:cs typeface="Courier New"/>
              </a:rPr>
              <a:t>0.87</a:t>
            </a:r>
            <a:r>
              <a:rPr dirty="0" sz="1600">
                <a:latin typeface="Courier New"/>
                <a:cs typeface="Courier New"/>
              </a:rPr>
              <a:t>	</a:t>
            </a:r>
            <a:r>
              <a:rPr dirty="0" sz="1600" spc="-20">
                <a:latin typeface="Courier New"/>
                <a:cs typeface="Courier New"/>
              </a:rPr>
              <a:t>0.90</a:t>
            </a:r>
            <a:r>
              <a:rPr dirty="0" sz="1600">
                <a:latin typeface="Courier New"/>
                <a:cs typeface="Courier New"/>
              </a:rPr>
              <a:t>	0.69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 spc="-50">
                <a:latin typeface="Courier New"/>
                <a:cs typeface="Courier New"/>
              </a:rPr>
              <a:t>]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622607" y="5517299"/>
            <a:ext cx="270764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06625" algn="l"/>
              </a:tabLst>
            </a:pPr>
            <a:r>
              <a:rPr dirty="0" sz="1600">
                <a:latin typeface="Courier New"/>
                <a:cs typeface="Courier New"/>
              </a:rPr>
              <a:t>0.45</a:t>
            </a:r>
            <a:r>
              <a:rPr dirty="0" sz="1600" spc="-2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]</a:t>
            </a:r>
            <a:r>
              <a:rPr dirty="0" sz="1600" spc="-25">
                <a:latin typeface="Courier New"/>
                <a:cs typeface="Courier New"/>
              </a:rPr>
              <a:t> </a:t>
            </a:r>
            <a:r>
              <a:rPr dirty="0" sz="1600" spc="-10">
                <a:latin typeface="Courier New"/>
                <a:cs typeface="Courier New"/>
              </a:rPr>
              <a:t>Distance:</a:t>
            </a:r>
            <a:r>
              <a:rPr dirty="0" sz="1600">
                <a:latin typeface="Courier New"/>
                <a:cs typeface="Courier New"/>
              </a:rPr>
              <a:t>	</a:t>
            </a:r>
            <a:r>
              <a:rPr dirty="0" sz="1600" spc="-20">
                <a:latin typeface="Courier New"/>
                <a:cs typeface="Courier New"/>
              </a:rPr>
              <a:t>0.83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58127" y="5176177"/>
            <a:ext cx="5146040" cy="90170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  <a:tabLst>
                <a:tab pos="2450465" algn="l"/>
                <a:tab pos="3425825" algn="l"/>
                <a:tab pos="4157345" algn="l"/>
              </a:tabLst>
            </a:pPr>
            <a:r>
              <a:rPr dirty="0" sz="1600">
                <a:latin typeface="Courier New"/>
                <a:cs typeface="Courier New"/>
              </a:rPr>
              <a:t>Input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vector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#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 spc="-25">
                <a:latin typeface="Courier New"/>
                <a:cs typeface="Courier New"/>
              </a:rPr>
              <a:t>6:</a:t>
            </a:r>
            <a:r>
              <a:rPr dirty="0" sz="1600">
                <a:latin typeface="Courier New"/>
                <a:cs typeface="Courier New"/>
              </a:rPr>
              <a:t>	[</a:t>
            </a:r>
            <a:r>
              <a:rPr dirty="0" sz="1600" spc="-10">
                <a:latin typeface="Courier New"/>
                <a:cs typeface="Courier New"/>
              </a:rPr>
              <a:t> </a:t>
            </a:r>
            <a:r>
              <a:rPr dirty="0" sz="1600" spc="-20">
                <a:latin typeface="Courier New"/>
                <a:cs typeface="Courier New"/>
              </a:rPr>
              <a:t>0.00</a:t>
            </a:r>
            <a:r>
              <a:rPr dirty="0" sz="1600">
                <a:latin typeface="Courier New"/>
                <a:cs typeface="Courier New"/>
              </a:rPr>
              <a:t>	</a:t>
            </a:r>
            <a:r>
              <a:rPr dirty="0" sz="1600" spc="-20">
                <a:latin typeface="Courier New"/>
                <a:cs typeface="Courier New"/>
              </a:rPr>
              <a:t>0.00</a:t>
            </a:r>
            <a:r>
              <a:rPr dirty="0" sz="1600">
                <a:latin typeface="Courier New"/>
                <a:cs typeface="Courier New"/>
              </a:rPr>
              <a:t>	0.00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 spc="-50">
                <a:latin typeface="Courier New"/>
                <a:cs typeface="Courier New"/>
              </a:rPr>
              <a:t>]</a:t>
            </a:r>
            <a:endParaRPr sz="1600">
              <a:latin typeface="Courier New"/>
              <a:cs typeface="Courier New"/>
            </a:endParaRPr>
          </a:p>
          <a:p>
            <a:pPr marL="378460" marR="5080">
              <a:lnSpc>
                <a:spcPct val="119800"/>
              </a:lnSpc>
              <a:tabLst>
                <a:tab pos="4645025" algn="l"/>
              </a:tabLst>
            </a:pPr>
            <a:r>
              <a:rPr dirty="0" sz="1600">
                <a:latin typeface="Courier New"/>
                <a:cs typeface="Courier New"/>
              </a:rPr>
              <a:t>Winning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weight</a:t>
            </a:r>
            <a:r>
              <a:rPr dirty="0" sz="1600" spc="-3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vector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#</a:t>
            </a:r>
            <a:r>
              <a:rPr dirty="0" sz="1600" spc="-3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2:</a:t>
            </a:r>
            <a:r>
              <a:rPr dirty="0" sz="1600" spc="-3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[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 spc="-20">
                <a:latin typeface="Courier New"/>
                <a:cs typeface="Courier New"/>
              </a:rPr>
              <a:t>0.47</a:t>
            </a:r>
            <a:r>
              <a:rPr dirty="0" sz="1600">
                <a:latin typeface="Courier New"/>
                <a:cs typeface="Courier New"/>
              </a:rPr>
              <a:t>	</a:t>
            </a:r>
            <a:r>
              <a:rPr dirty="0" sz="1600" spc="-20">
                <a:latin typeface="Courier New"/>
                <a:cs typeface="Courier New"/>
              </a:rPr>
              <a:t>0.51 </a:t>
            </a:r>
            <a:r>
              <a:rPr dirty="0" sz="1600">
                <a:latin typeface="Courier New"/>
                <a:cs typeface="Courier New"/>
              </a:rPr>
              <a:t>Updated</a:t>
            </a:r>
            <a:r>
              <a:rPr dirty="0" sz="1600" spc="-6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weight</a:t>
            </a:r>
            <a:r>
              <a:rPr dirty="0" sz="1600" spc="-65">
                <a:latin typeface="Courier New"/>
                <a:cs typeface="Courier New"/>
              </a:rPr>
              <a:t> </a:t>
            </a:r>
            <a:r>
              <a:rPr dirty="0" sz="1600" spc="-10">
                <a:latin typeface="Courier New"/>
                <a:cs typeface="Courier New"/>
              </a:rPr>
              <a:t>vector: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58127" y="6052477"/>
            <a:ext cx="7706359" cy="60960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378460">
              <a:lnSpc>
                <a:spcPct val="100000"/>
              </a:lnSpc>
              <a:spcBef>
                <a:spcPts val="480"/>
              </a:spcBef>
              <a:tabLst>
                <a:tab pos="1353185" algn="l"/>
                <a:tab pos="2084705" algn="l"/>
                <a:tab pos="3791585" algn="l"/>
                <a:tab pos="4523105" algn="l"/>
                <a:tab pos="6229985" algn="l"/>
                <a:tab pos="6961505" algn="l"/>
              </a:tabLst>
            </a:pPr>
            <a:r>
              <a:rPr dirty="0" sz="1600">
                <a:latin typeface="Courier New"/>
                <a:cs typeface="Courier New"/>
              </a:rPr>
              <a:t>[</a:t>
            </a:r>
            <a:r>
              <a:rPr dirty="0" sz="1600" spc="-10">
                <a:latin typeface="Courier New"/>
                <a:cs typeface="Courier New"/>
              </a:rPr>
              <a:t> </a:t>
            </a:r>
            <a:r>
              <a:rPr dirty="0" sz="1600" spc="-20">
                <a:latin typeface="Courier New"/>
                <a:cs typeface="Courier New"/>
              </a:rPr>
              <a:t>0.07</a:t>
            </a:r>
            <a:r>
              <a:rPr dirty="0" sz="1600">
                <a:latin typeface="Courier New"/>
                <a:cs typeface="Courier New"/>
              </a:rPr>
              <a:t>	</a:t>
            </a:r>
            <a:r>
              <a:rPr dirty="0" sz="1600" spc="-20">
                <a:latin typeface="Courier New"/>
                <a:cs typeface="Courier New"/>
              </a:rPr>
              <a:t>0.87</a:t>
            </a:r>
            <a:r>
              <a:rPr dirty="0" sz="1600">
                <a:latin typeface="Courier New"/>
                <a:cs typeface="Courier New"/>
              </a:rPr>
              <a:t>	0.85</a:t>
            </a:r>
            <a:r>
              <a:rPr dirty="0" sz="1600" spc="-3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]</a:t>
            </a:r>
            <a:r>
              <a:rPr dirty="0" sz="1600" b="1">
                <a:latin typeface="Courier New"/>
                <a:cs typeface="Courier New"/>
              </a:rPr>
              <a:t>[</a:t>
            </a:r>
            <a:r>
              <a:rPr dirty="0" sz="1600" spc="-30" b="1">
                <a:latin typeface="Courier New"/>
                <a:cs typeface="Courier New"/>
              </a:rPr>
              <a:t> </a:t>
            </a:r>
            <a:r>
              <a:rPr dirty="0" sz="1600" spc="-20" b="1">
                <a:latin typeface="Courier New"/>
                <a:cs typeface="Courier New"/>
              </a:rPr>
              <a:t>0.24</a:t>
            </a:r>
            <a:r>
              <a:rPr dirty="0" sz="1600" b="1">
                <a:latin typeface="Courier New"/>
                <a:cs typeface="Courier New"/>
              </a:rPr>
              <a:t>	</a:t>
            </a:r>
            <a:r>
              <a:rPr dirty="0" sz="1600" spc="-20" b="1">
                <a:latin typeface="Courier New"/>
                <a:cs typeface="Courier New"/>
              </a:rPr>
              <a:t>0.26</a:t>
            </a:r>
            <a:r>
              <a:rPr dirty="0" sz="1600" b="1">
                <a:latin typeface="Courier New"/>
                <a:cs typeface="Courier New"/>
              </a:rPr>
              <a:t>	0.22</a:t>
            </a:r>
            <a:r>
              <a:rPr dirty="0" sz="1600" spc="-30" b="1">
                <a:latin typeface="Courier New"/>
                <a:cs typeface="Courier New"/>
              </a:rPr>
              <a:t> </a:t>
            </a:r>
            <a:r>
              <a:rPr dirty="0" sz="1600" b="1">
                <a:latin typeface="Courier New"/>
                <a:cs typeface="Courier New"/>
              </a:rPr>
              <a:t>]</a:t>
            </a:r>
            <a:r>
              <a:rPr dirty="0" sz="1600">
                <a:latin typeface="Courier New"/>
                <a:cs typeface="Courier New"/>
              </a:rPr>
              <a:t>[</a:t>
            </a:r>
            <a:r>
              <a:rPr dirty="0" sz="1600" spc="-30">
                <a:latin typeface="Courier New"/>
                <a:cs typeface="Courier New"/>
              </a:rPr>
              <a:t> </a:t>
            </a:r>
            <a:r>
              <a:rPr dirty="0" sz="1600" spc="-20">
                <a:latin typeface="Courier New"/>
                <a:cs typeface="Courier New"/>
              </a:rPr>
              <a:t>0.87</a:t>
            </a:r>
            <a:r>
              <a:rPr dirty="0" sz="1600">
                <a:latin typeface="Courier New"/>
                <a:cs typeface="Courier New"/>
              </a:rPr>
              <a:t>	</a:t>
            </a:r>
            <a:r>
              <a:rPr dirty="0" sz="1600" spc="-20">
                <a:latin typeface="Courier New"/>
                <a:cs typeface="Courier New"/>
              </a:rPr>
              <a:t>0.90</a:t>
            </a:r>
            <a:r>
              <a:rPr dirty="0" sz="1600">
                <a:latin typeface="Courier New"/>
                <a:cs typeface="Courier New"/>
              </a:rPr>
              <a:t>	0.69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 spc="-50">
                <a:latin typeface="Courier New"/>
                <a:cs typeface="Courier New"/>
              </a:rPr>
              <a:t>]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u="sng" sz="160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Finish</a:t>
            </a:r>
            <a:r>
              <a:rPr dirty="0" u="sng" sz="1600" spc="-45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dirty="0" u="sng" sz="160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of</a:t>
            </a:r>
            <a:r>
              <a:rPr dirty="0" u="sng" sz="1600" spc="-4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dirty="0" u="sng" sz="160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Epoch</a:t>
            </a:r>
            <a:r>
              <a:rPr dirty="0" u="sng" sz="1600" spc="-45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dirty="0" u="sng" sz="1600" spc="-5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1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424112" y="-28574"/>
            <a:ext cx="3570604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>
                <a:solidFill>
                  <a:srgbClr val="800000"/>
                </a:solidFill>
                <a:latin typeface="Tahoma"/>
                <a:cs typeface="Tahoma"/>
              </a:rPr>
              <a:t>SCL</a:t>
            </a:r>
            <a:r>
              <a:rPr dirty="0" sz="4000" spc="-70" b="1">
                <a:solidFill>
                  <a:srgbClr val="800000"/>
                </a:solidFill>
                <a:latin typeface="Tahoma"/>
                <a:cs typeface="Tahoma"/>
              </a:rPr>
              <a:t> </a:t>
            </a:r>
            <a:r>
              <a:rPr dirty="0" sz="4000" spc="-10" b="1">
                <a:solidFill>
                  <a:srgbClr val="800000"/>
                </a:solidFill>
                <a:latin typeface="Tahoma"/>
                <a:cs typeface="Tahoma"/>
              </a:rPr>
              <a:t>Examples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6366090" y="-37109"/>
            <a:ext cx="1860550" cy="429259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50" spc="-215" b="0">
                <a:solidFill>
                  <a:srgbClr val="000000"/>
                </a:solidFill>
                <a:latin typeface="Courier New"/>
                <a:cs typeface="Courier New"/>
              </a:rPr>
              <a:t></a:t>
            </a:r>
            <a:r>
              <a:rPr dirty="0" sz="1650" spc="-215" b="0" i="1">
                <a:solidFill>
                  <a:srgbClr val="000000"/>
                </a:solidFill>
                <a:latin typeface="Courier New"/>
                <a:cs typeface="Courier New"/>
              </a:rPr>
              <a:t>w</a:t>
            </a:r>
            <a:r>
              <a:rPr dirty="0" baseline="-23391" sz="1425" spc="-322" b="0" i="1">
                <a:solidFill>
                  <a:srgbClr val="000000"/>
                </a:solidFill>
                <a:latin typeface="Courier New"/>
                <a:cs typeface="Courier New"/>
              </a:rPr>
              <a:t>j</a:t>
            </a:r>
            <a:r>
              <a:rPr dirty="0" baseline="-23391" sz="1425" spc="-322" b="0">
                <a:solidFill>
                  <a:srgbClr val="000000"/>
                </a:solidFill>
                <a:latin typeface="Courier New"/>
                <a:cs typeface="Courier New"/>
              </a:rPr>
              <a:t>*</a:t>
            </a:r>
            <a:r>
              <a:rPr dirty="0" baseline="-23391" sz="1425" spc="-322" b="0" i="1">
                <a:solidFill>
                  <a:srgbClr val="000000"/>
                </a:solidFill>
                <a:latin typeface="Courier New"/>
                <a:cs typeface="Courier New"/>
              </a:rPr>
              <a:t>i</a:t>
            </a:r>
            <a:r>
              <a:rPr dirty="0" baseline="-23391" sz="1425" spc="67" b="0" i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sz="1650" spc="-75" b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dirty="0" sz="1650" spc="-795" b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sz="1750" spc="-140" b="0" i="1">
                <a:solidFill>
                  <a:srgbClr val="000000"/>
                </a:solidFill>
                <a:latin typeface="Courier New"/>
                <a:cs typeface="Courier New"/>
              </a:rPr>
              <a:t>η</a:t>
            </a:r>
            <a:r>
              <a:rPr dirty="0" sz="1650" spc="-140" b="0" i="1">
                <a:solidFill>
                  <a:srgbClr val="000000"/>
                </a:solidFill>
                <a:latin typeface="Courier New"/>
                <a:cs typeface="Courier New"/>
              </a:rPr>
              <a:t>y</a:t>
            </a:r>
            <a:r>
              <a:rPr dirty="0" sz="1650" spc="-765" b="0" i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baseline="-23391" sz="1425" spc="-457" b="0" i="1">
                <a:solidFill>
                  <a:srgbClr val="000000"/>
                </a:solidFill>
                <a:latin typeface="Courier New"/>
                <a:cs typeface="Courier New"/>
              </a:rPr>
              <a:t>j</a:t>
            </a:r>
            <a:r>
              <a:rPr dirty="0" baseline="-23391" sz="1425" spc="-472" b="0" i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baseline="1048" sz="3975" spc="-817" b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dirty="0" sz="1650" spc="-545" b="0" i="1">
                <a:solidFill>
                  <a:srgbClr val="000000"/>
                </a:solidFill>
                <a:latin typeface="Courier New"/>
                <a:cs typeface="Courier New"/>
              </a:rPr>
              <a:t>x</a:t>
            </a:r>
            <a:r>
              <a:rPr dirty="0" baseline="-23391" sz="1425" spc="-817" b="0" i="1">
                <a:solidFill>
                  <a:srgbClr val="000000"/>
                </a:solidFill>
                <a:latin typeface="Courier New"/>
                <a:cs typeface="Courier New"/>
              </a:rPr>
              <a:t>i</a:t>
            </a:r>
            <a:r>
              <a:rPr dirty="0" baseline="-23391" sz="1425" spc="-89" b="0" i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sz="1650" spc="-75" b="0">
                <a:solidFill>
                  <a:srgbClr val="000000"/>
                </a:solidFill>
                <a:latin typeface="Courier New"/>
                <a:cs typeface="Courier New"/>
              </a:rPr>
              <a:t>–</a:t>
            </a:r>
            <a:r>
              <a:rPr dirty="0" sz="1650" spc="-655" b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sz="1650" spc="-110" b="0" i="1">
                <a:solidFill>
                  <a:srgbClr val="000000"/>
                </a:solidFill>
                <a:latin typeface="Courier New"/>
                <a:cs typeface="Courier New"/>
              </a:rPr>
              <a:t>w</a:t>
            </a:r>
            <a:r>
              <a:rPr dirty="0" baseline="-23391" sz="1425" spc="-165" b="0" i="1">
                <a:solidFill>
                  <a:srgbClr val="000000"/>
                </a:solidFill>
                <a:latin typeface="Courier New"/>
                <a:cs typeface="Courier New"/>
              </a:rPr>
              <a:t>j</a:t>
            </a:r>
            <a:r>
              <a:rPr dirty="0" baseline="-23391" sz="1425" spc="-165" b="0">
                <a:solidFill>
                  <a:srgbClr val="000000"/>
                </a:solidFill>
                <a:latin typeface="Courier New"/>
                <a:cs typeface="Courier New"/>
              </a:rPr>
              <a:t>*</a:t>
            </a:r>
            <a:r>
              <a:rPr dirty="0" baseline="-23391" sz="1425" spc="-165" b="0" i="1">
                <a:solidFill>
                  <a:srgbClr val="000000"/>
                </a:solidFill>
                <a:latin typeface="Courier New"/>
                <a:cs typeface="Courier New"/>
              </a:rPr>
              <a:t>i</a:t>
            </a:r>
            <a:r>
              <a:rPr dirty="0" baseline="-23391" sz="1425" spc="-427" b="0" i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baseline="1048" sz="3975" spc="-1627" b="0">
                <a:solidFill>
                  <a:srgbClr val="000000"/>
                </a:solidFill>
                <a:latin typeface="Courier New"/>
                <a:cs typeface="Courier New"/>
              </a:rPr>
              <a:t>)</a:t>
            </a:r>
            <a:endParaRPr baseline="1048" sz="3975">
              <a:latin typeface="Courier New"/>
              <a:cs typeface="Courier New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366090" y="831494"/>
            <a:ext cx="182245" cy="2832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dirty="0" sz="1650" spc="-1265">
                <a:latin typeface="Courier New"/>
                <a:cs typeface="Courier New"/>
              </a:rPr>
              <a:t></a:t>
            </a:r>
            <a:r>
              <a:rPr dirty="0" baseline="-16835" sz="2475" spc="-1897">
                <a:latin typeface="Courier New"/>
                <a:cs typeface="Courier New"/>
              </a:rPr>
              <a:t></a:t>
            </a:r>
            <a:endParaRPr baseline="-16835" sz="2475">
              <a:latin typeface="Courier New"/>
              <a:cs typeface="Courier New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817167" y="741397"/>
            <a:ext cx="624840" cy="662940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82550">
              <a:lnSpc>
                <a:spcPct val="100000"/>
              </a:lnSpc>
              <a:spcBef>
                <a:spcPts val="695"/>
              </a:spcBef>
            </a:pPr>
            <a:r>
              <a:rPr dirty="0" sz="1650" spc="-525" i="1">
                <a:latin typeface="Courier New"/>
                <a:cs typeface="Courier New"/>
              </a:rPr>
              <a:t>j</a:t>
            </a:r>
            <a:r>
              <a:rPr dirty="0" sz="1650" spc="-530" i="1">
                <a:latin typeface="Courier New"/>
                <a:cs typeface="Courier New"/>
              </a:rPr>
              <a:t> </a:t>
            </a:r>
            <a:r>
              <a:rPr dirty="0" sz="1650" spc="-75">
                <a:latin typeface="Courier New"/>
                <a:cs typeface="Courier New"/>
              </a:rPr>
              <a:t>s</a:t>
            </a:r>
            <a:r>
              <a:rPr dirty="0" sz="1650" spc="-240">
                <a:latin typeface="Courier New"/>
                <a:cs typeface="Courier New"/>
              </a:rPr>
              <a:t> </a:t>
            </a:r>
            <a:r>
              <a:rPr dirty="0" sz="1650" spc="-525" i="1">
                <a:latin typeface="Courier New"/>
                <a:cs typeface="Courier New"/>
              </a:rPr>
              <a:t>j</a:t>
            </a:r>
            <a:r>
              <a:rPr dirty="0" sz="1650" spc="-745" i="1">
                <a:latin typeface="Courier New"/>
                <a:cs typeface="Courier New"/>
              </a:rPr>
              <a:t> </a:t>
            </a:r>
            <a:r>
              <a:rPr dirty="0" sz="1650" spc="-65">
                <a:latin typeface="Courier New"/>
                <a:cs typeface="Courier New"/>
              </a:rPr>
              <a:t>*</a:t>
            </a:r>
            <a:endParaRPr sz="1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600" spc="-20">
                <a:latin typeface="Courier New"/>
                <a:cs typeface="Courier New"/>
              </a:rPr>
              <a:t>0.86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756527" y="811822"/>
            <a:ext cx="737235" cy="2832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604520" algn="l"/>
              </a:tabLst>
            </a:pPr>
            <a:r>
              <a:rPr dirty="0" sz="1650" spc="-75">
                <a:latin typeface="Courier New"/>
                <a:cs typeface="Courier New"/>
              </a:rPr>
              <a:t>=</a:t>
            </a:r>
            <a:r>
              <a:rPr dirty="0" sz="1650" spc="-615">
                <a:latin typeface="Courier New"/>
                <a:cs typeface="Courier New"/>
              </a:rPr>
              <a:t> </a:t>
            </a:r>
            <a:r>
              <a:rPr dirty="0" sz="1650" spc="-50">
                <a:latin typeface="Courier New"/>
                <a:cs typeface="Courier New"/>
              </a:rPr>
              <a:t>0</a:t>
            </a:r>
            <a:r>
              <a:rPr dirty="0" sz="1650">
                <a:latin typeface="Courier New"/>
                <a:cs typeface="Courier New"/>
              </a:rPr>
              <a:t>	</a:t>
            </a:r>
            <a:r>
              <a:rPr dirty="0" sz="1650" spc="-550" i="1">
                <a:latin typeface="Courier New"/>
                <a:cs typeface="Courier New"/>
              </a:rPr>
              <a:t>if</a:t>
            </a:r>
            <a:endParaRPr sz="1650">
              <a:latin typeface="Courier New"/>
              <a:cs typeface="Courier New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366090" y="683704"/>
            <a:ext cx="299720" cy="2832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dirty="0" sz="1650" spc="-825">
                <a:latin typeface="Courier New"/>
                <a:cs typeface="Courier New"/>
              </a:rPr>
              <a:t></a:t>
            </a:r>
            <a:r>
              <a:rPr dirty="0" sz="1650" spc="-819">
                <a:latin typeface="Courier New"/>
                <a:cs typeface="Courier New"/>
              </a:rPr>
              <a:t> </a:t>
            </a:r>
            <a:r>
              <a:rPr dirty="0" baseline="-33670" sz="2475" spc="-75" i="1">
                <a:latin typeface="Courier New"/>
                <a:cs typeface="Courier New"/>
              </a:rPr>
              <a:t>y</a:t>
            </a:r>
            <a:endParaRPr baseline="-33670" sz="2475">
              <a:latin typeface="Courier New"/>
              <a:cs typeface="Courier New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6643471" y="955179"/>
            <a:ext cx="6032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355" i="1">
                <a:latin typeface="Courier New"/>
                <a:cs typeface="Courier New"/>
              </a:rPr>
              <a:t>j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6366090" y="457263"/>
            <a:ext cx="749300" cy="2832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dirty="0" baseline="-3367" sz="2475" spc="-1860">
                <a:latin typeface="Courier New"/>
                <a:cs typeface="Courier New"/>
              </a:rPr>
              <a:t></a:t>
            </a:r>
            <a:r>
              <a:rPr dirty="0" baseline="-16835" sz="2475" spc="-1860">
                <a:latin typeface="Courier New"/>
                <a:cs typeface="Courier New"/>
              </a:rPr>
              <a:t></a:t>
            </a:r>
            <a:r>
              <a:rPr dirty="0" baseline="-16835" sz="2475" spc="-1230">
                <a:latin typeface="Courier New"/>
                <a:cs typeface="Courier New"/>
              </a:rPr>
              <a:t> </a:t>
            </a:r>
            <a:r>
              <a:rPr dirty="0" sz="1650" spc="-254" i="1">
                <a:latin typeface="Courier New"/>
                <a:cs typeface="Courier New"/>
              </a:rPr>
              <a:t>y</a:t>
            </a:r>
            <a:r>
              <a:rPr dirty="0" sz="1650" spc="-760" i="1">
                <a:latin typeface="Courier New"/>
                <a:cs typeface="Courier New"/>
              </a:rPr>
              <a:t> </a:t>
            </a:r>
            <a:r>
              <a:rPr dirty="0" baseline="-23391" sz="1425" spc="-277" i="1">
                <a:latin typeface="Courier New"/>
                <a:cs typeface="Courier New"/>
              </a:rPr>
              <a:t>j</a:t>
            </a:r>
            <a:r>
              <a:rPr dirty="0" baseline="-23391" sz="1425" spc="-277">
                <a:latin typeface="Courier New"/>
                <a:cs typeface="Courier New"/>
              </a:rPr>
              <a:t>*</a:t>
            </a:r>
            <a:r>
              <a:rPr dirty="0" baseline="-23391" sz="1425" spc="-52">
                <a:latin typeface="Courier New"/>
                <a:cs typeface="Courier New"/>
              </a:rPr>
              <a:t> </a:t>
            </a:r>
            <a:r>
              <a:rPr dirty="0" sz="1650" spc="-75">
                <a:latin typeface="Courier New"/>
                <a:cs typeface="Courier New"/>
              </a:rPr>
              <a:t>=</a:t>
            </a:r>
            <a:r>
              <a:rPr dirty="0" sz="1650" spc="-770">
                <a:latin typeface="Courier New"/>
                <a:cs typeface="Courier New"/>
              </a:rPr>
              <a:t> </a:t>
            </a:r>
            <a:r>
              <a:rPr dirty="0" sz="1650" spc="-50">
                <a:latin typeface="Courier New"/>
                <a:cs typeface="Courier New"/>
              </a:rPr>
              <a:t>1</a:t>
            </a:r>
            <a:endParaRPr sz="1650">
              <a:latin typeface="Courier New"/>
              <a:cs typeface="Courier New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8388350" y="6508750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42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23850" y="908723"/>
            <a:ext cx="8077200" cy="5688330"/>
          </a:xfrm>
          <a:custGeom>
            <a:avLst/>
            <a:gdLst/>
            <a:ahLst/>
            <a:cxnLst/>
            <a:rect l="l" t="t" r="r" b="b"/>
            <a:pathLst>
              <a:path w="8077200" h="5688330">
                <a:moveTo>
                  <a:pt x="8077200" y="0"/>
                </a:moveTo>
                <a:lnTo>
                  <a:pt x="0" y="0"/>
                </a:lnTo>
                <a:lnTo>
                  <a:pt x="0" y="5688165"/>
                </a:lnTo>
                <a:lnTo>
                  <a:pt x="8077200" y="5688165"/>
                </a:lnTo>
                <a:lnTo>
                  <a:pt x="80772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402590" y="915708"/>
            <a:ext cx="282956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ourier New"/>
                <a:cs typeface="Courier New"/>
              </a:rPr>
              <a:t>Clusters</a:t>
            </a:r>
            <a:r>
              <a:rPr dirty="0" sz="1600" spc="-6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after</a:t>
            </a:r>
            <a:r>
              <a:rPr dirty="0" sz="1600" spc="-6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epoch</a:t>
            </a:r>
            <a:r>
              <a:rPr dirty="0" sz="1600" spc="-55">
                <a:latin typeface="Courier New"/>
                <a:cs typeface="Courier New"/>
              </a:rPr>
              <a:t> </a:t>
            </a:r>
            <a:r>
              <a:rPr dirty="0" sz="1600" spc="-25">
                <a:latin typeface="Courier New"/>
                <a:cs typeface="Courier New"/>
              </a:rPr>
              <a:t>1: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415290" y="1183678"/>
            <a:ext cx="2804160" cy="0"/>
          </a:xfrm>
          <a:custGeom>
            <a:avLst/>
            <a:gdLst/>
            <a:ahLst/>
            <a:cxnLst/>
            <a:rect l="l" t="t" r="r" b="b"/>
            <a:pathLst>
              <a:path w="2804160" h="0">
                <a:moveTo>
                  <a:pt x="0" y="0"/>
                </a:moveTo>
                <a:lnTo>
                  <a:pt x="2804160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24509" y="1158786"/>
            <a:ext cx="3804920" cy="60960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  <a:tabLst>
                <a:tab pos="3303904" algn="l"/>
              </a:tabLst>
            </a:pPr>
            <a:r>
              <a:rPr dirty="0" sz="1600">
                <a:latin typeface="Courier New"/>
                <a:cs typeface="Courier New"/>
              </a:rPr>
              <a:t>Weight</a:t>
            </a:r>
            <a:r>
              <a:rPr dirty="0" sz="1600" spc="-3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vector</a:t>
            </a:r>
            <a:r>
              <a:rPr dirty="0" sz="1600" spc="-3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#</a:t>
            </a:r>
            <a:r>
              <a:rPr dirty="0" sz="1600" spc="-3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1:</a:t>
            </a:r>
            <a:r>
              <a:rPr dirty="0" sz="1600" spc="-3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[</a:t>
            </a:r>
            <a:r>
              <a:rPr dirty="0" sz="1600" spc="-30">
                <a:latin typeface="Courier New"/>
                <a:cs typeface="Courier New"/>
              </a:rPr>
              <a:t> </a:t>
            </a:r>
            <a:r>
              <a:rPr dirty="0" sz="1600" spc="-20">
                <a:latin typeface="Courier New"/>
                <a:cs typeface="Courier New"/>
              </a:rPr>
              <a:t>0.07</a:t>
            </a:r>
            <a:r>
              <a:rPr dirty="0" sz="1600">
                <a:latin typeface="Courier New"/>
                <a:cs typeface="Courier New"/>
              </a:rPr>
              <a:t>	</a:t>
            </a:r>
            <a:r>
              <a:rPr dirty="0" sz="1600" spc="-20">
                <a:latin typeface="Courier New"/>
                <a:cs typeface="Courier New"/>
              </a:rPr>
              <a:t>0.87</a:t>
            </a:r>
            <a:endParaRPr sz="1600">
              <a:latin typeface="Courier New"/>
              <a:cs typeface="Courier New"/>
            </a:endParaRPr>
          </a:p>
          <a:p>
            <a:pPr marL="377825">
              <a:lnSpc>
                <a:spcPct val="100000"/>
              </a:lnSpc>
              <a:spcBef>
                <a:spcPts val="380"/>
              </a:spcBef>
              <a:tabLst>
                <a:tab pos="2816225" algn="l"/>
              </a:tabLst>
            </a:pPr>
            <a:r>
              <a:rPr dirty="0" sz="1600">
                <a:latin typeface="Courier New"/>
                <a:cs typeface="Courier New"/>
              </a:rPr>
              <a:t>Input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vector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#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 spc="-25">
                <a:latin typeface="Courier New"/>
                <a:cs typeface="Courier New"/>
              </a:rPr>
              <a:t>1:</a:t>
            </a:r>
            <a:r>
              <a:rPr dirty="0" sz="1600">
                <a:latin typeface="Courier New"/>
                <a:cs typeface="Courier New"/>
              </a:rPr>
              <a:t>	[</a:t>
            </a:r>
            <a:r>
              <a:rPr dirty="0" sz="1600" spc="-10">
                <a:latin typeface="Courier New"/>
                <a:cs typeface="Courier New"/>
              </a:rPr>
              <a:t> </a:t>
            </a:r>
            <a:r>
              <a:rPr dirty="0" sz="1600" spc="-20">
                <a:latin typeface="Courier New"/>
                <a:cs typeface="Courier New"/>
              </a:rPr>
              <a:t>0.00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44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524509" y="1792008"/>
            <a:ext cx="380492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303904" algn="l"/>
              </a:tabLst>
            </a:pPr>
            <a:r>
              <a:rPr dirty="0" sz="1600">
                <a:latin typeface="Courier New"/>
                <a:cs typeface="Courier New"/>
              </a:rPr>
              <a:t>Weight</a:t>
            </a:r>
            <a:r>
              <a:rPr dirty="0" sz="1600" spc="-3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vector</a:t>
            </a:r>
            <a:r>
              <a:rPr dirty="0" sz="1600" spc="-3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#</a:t>
            </a:r>
            <a:r>
              <a:rPr dirty="0" sz="1600" spc="-3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2:</a:t>
            </a:r>
            <a:r>
              <a:rPr dirty="0" sz="1600" spc="-3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[</a:t>
            </a:r>
            <a:r>
              <a:rPr dirty="0" sz="1600" spc="-30">
                <a:latin typeface="Courier New"/>
                <a:cs typeface="Courier New"/>
              </a:rPr>
              <a:t> </a:t>
            </a:r>
            <a:r>
              <a:rPr dirty="0" sz="1600" spc="-20">
                <a:latin typeface="Courier New"/>
                <a:cs typeface="Courier New"/>
              </a:rPr>
              <a:t>0.24</a:t>
            </a:r>
            <a:r>
              <a:rPr dirty="0" sz="1600">
                <a:latin typeface="Courier New"/>
                <a:cs typeface="Courier New"/>
              </a:rPr>
              <a:t>	</a:t>
            </a:r>
            <a:r>
              <a:rPr dirty="0" sz="1600" spc="-20">
                <a:latin typeface="Courier New"/>
                <a:cs typeface="Courier New"/>
              </a:rPr>
              <a:t>0.26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304029" y="1158786"/>
            <a:ext cx="1488440" cy="90170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256540">
              <a:lnSpc>
                <a:spcPct val="100000"/>
              </a:lnSpc>
              <a:spcBef>
                <a:spcPts val="480"/>
              </a:spcBef>
            </a:pPr>
            <a:r>
              <a:rPr dirty="0" sz="1600">
                <a:latin typeface="Courier New"/>
                <a:cs typeface="Courier New"/>
              </a:rPr>
              <a:t>0.85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 spc="-50">
                <a:latin typeface="Courier New"/>
                <a:cs typeface="Courier New"/>
              </a:rPr>
              <a:t>]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  <a:tabLst>
                <a:tab pos="743585" algn="l"/>
              </a:tabLst>
            </a:pPr>
            <a:r>
              <a:rPr dirty="0" sz="1600" spc="-20">
                <a:latin typeface="Courier New"/>
                <a:cs typeface="Courier New"/>
              </a:rPr>
              <a:t>1.00</a:t>
            </a:r>
            <a:r>
              <a:rPr dirty="0" sz="1600">
                <a:latin typeface="Courier New"/>
                <a:cs typeface="Courier New"/>
              </a:rPr>
              <a:t>	1.00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 spc="-50">
                <a:latin typeface="Courier New"/>
                <a:cs typeface="Courier New"/>
              </a:rPr>
              <a:t>]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380"/>
              </a:spcBef>
            </a:pPr>
            <a:r>
              <a:rPr dirty="0" sz="1600">
                <a:latin typeface="Courier New"/>
                <a:cs typeface="Courier New"/>
              </a:rPr>
              <a:t>0.22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 spc="-50">
                <a:latin typeface="Courier New"/>
                <a:cs typeface="Courier New"/>
              </a:rPr>
              <a:t>]</a:t>
            </a:r>
            <a:endParaRPr sz="1600">
              <a:latin typeface="Courier New"/>
              <a:cs typeface="Courier New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871219" y="2130733"/>
          <a:ext cx="5016500" cy="1104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2310"/>
                <a:gridCol w="853440"/>
                <a:gridCol w="243839"/>
                <a:gridCol w="487680"/>
                <a:gridCol w="365760"/>
                <a:gridCol w="670559"/>
                <a:gridCol w="731520"/>
                <a:gridCol w="670560"/>
                <a:gridCol w="214629"/>
              </a:tblGrid>
              <a:tr h="260350">
                <a:tc>
                  <a:txBody>
                    <a:bodyPr/>
                    <a:lstStyle/>
                    <a:p>
                      <a:pPr algn="ctr" marR="21590">
                        <a:lnSpc>
                          <a:spcPts val="1650"/>
                        </a:lnSpc>
                      </a:pPr>
                      <a:r>
                        <a:rPr dirty="0" sz="1600" spc="-10">
                          <a:latin typeface="Courier New"/>
                          <a:cs typeface="Courier New"/>
                        </a:rPr>
                        <a:t>Input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</a:pPr>
                      <a:r>
                        <a:rPr dirty="0" sz="1600" spc="-10">
                          <a:latin typeface="Courier New"/>
                          <a:cs typeface="Courier New"/>
                        </a:rPr>
                        <a:t>vector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#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650"/>
                        </a:lnSpc>
                      </a:pPr>
                      <a:r>
                        <a:rPr dirty="0" sz="1600" spc="-25">
                          <a:latin typeface="Courier New"/>
                          <a:cs typeface="Courier New"/>
                        </a:rPr>
                        <a:t>3: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340">
                        <a:lnSpc>
                          <a:spcPts val="1650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[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3340">
                        <a:lnSpc>
                          <a:spcPts val="1650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0.20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0.20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0325">
                        <a:lnSpc>
                          <a:spcPts val="1650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0.20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9209">
                        <a:lnSpc>
                          <a:spcPts val="1650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]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92100">
                <a:tc>
                  <a:txBody>
                    <a:bodyPr/>
                    <a:lstStyle/>
                    <a:p>
                      <a:pPr algn="ctr" marR="21590">
                        <a:lnSpc>
                          <a:spcPts val="1895"/>
                        </a:lnSpc>
                      </a:pPr>
                      <a:r>
                        <a:rPr dirty="0" sz="1600" spc="-10">
                          <a:latin typeface="Courier New"/>
                          <a:cs typeface="Courier New"/>
                        </a:rPr>
                        <a:t>Input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dirty="0" sz="1600" spc="-10">
                          <a:latin typeface="Courier New"/>
                          <a:cs typeface="Courier New"/>
                        </a:rPr>
                        <a:t>vector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#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895"/>
                        </a:lnSpc>
                      </a:pPr>
                      <a:r>
                        <a:rPr dirty="0" sz="1600" spc="-25">
                          <a:latin typeface="Courier New"/>
                          <a:cs typeface="Courier New"/>
                        </a:rPr>
                        <a:t>4: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340">
                        <a:lnSpc>
                          <a:spcPts val="1895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[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3340"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0.50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0.50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0325"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0.50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9209">
                        <a:lnSpc>
                          <a:spcPts val="1895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]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92100">
                <a:tc>
                  <a:txBody>
                    <a:bodyPr/>
                    <a:lstStyle/>
                    <a:p>
                      <a:pPr algn="ctr" marR="21590">
                        <a:lnSpc>
                          <a:spcPts val="1895"/>
                        </a:lnSpc>
                      </a:pPr>
                      <a:r>
                        <a:rPr dirty="0" sz="1600" spc="-10">
                          <a:latin typeface="Courier New"/>
                          <a:cs typeface="Courier New"/>
                        </a:rPr>
                        <a:t>Input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dirty="0" sz="1600" spc="-10">
                          <a:latin typeface="Courier New"/>
                          <a:cs typeface="Courier New"/>
                        </a:rPr>
                        <a:t>vector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#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895"/>
                        </a:lnSpc>
                      </a:pPr>
                      <a:r>
                        <a:rPr dirty="0" sz="1600" spc="-25">
                          <a:latin typeface="Courier New"/>
                          <a:cs typeface="Courier New"/>
                        </a:rPr>
                        <a:t>5: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340">
                        <a:lnSpc>
                          <a:spcPts val="1895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[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3340"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0.40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0.60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0325"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0.50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9209">
                        <a:lnSpc>
                          <a:spcPts val="1895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]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60350">
                <a:tc>
                  <a:txBody>
                    <a:bodyPr/>
                    <a:lstStyle/>
                    <a:p>
                      <a:pPr algn="ctr" marR="21590">
                        <a:lnSpc>
                          <a:spcPts val="1895"/>
                        </a:lnSpc>
                      </a:pPr>
                      <a:r>
                        <a:rPr dirty="0" sz="1600" spc="-10">
                          <a:latin typeface="Courier New"/>
                          <a:cs typeface="Courier New"/>
                        </a:rPr>
                        <a:t>Input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dirty="0" sz="1600" spc="-10">
                          <a:latin typeface="Courier New"/>
                          <a:cs typeface="Courier New"/>
                        </a:rPr>
                        <a:t>vector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#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895"/>
                        </a:lnSpc>
                      </a:pPr>
                      <a:r>
                        <a:rPr dirty="0" sz="1600" spc="-25">
                          <a:latin typeface="Courier New"/>
                          <a:cs typeface="Courier New"/>
                        </a:rPr>
                        <a:t>6: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340">
                        <a:lnSpc>
                          <a:spcPts val="1895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[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3340"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0.00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0.00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0325"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0.00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9209">
                        <a:lnSpc>
                          <a:spcPts val="1895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]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9" name="object 9" descr=""/>
          <p:cNvSpPr txBox="1"/>
          <p:nvPr/>
        </p:nvSpPr>
        <p:spPr>
          <a:xfrm>
            <a:off x="4304029" y="3203486"/>
            <a:ext cx="1488440" cy="60960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256540">
              <a:lnSpc>
                <a:spcPct val="100000"/>
              </a:lnSpc>
              <a:spcBef>
                <a:spcPts val="480"/>
              </a:spcBef>
            </a:pPr>
            <a:r>
              <a:rPr dirty="0" sz="1600">
                <a:latin typeface="Courier New"/>
                <a:cs typeface="Courier New"/>
              </a:rPr>
              <a:t>0.69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 spc="-50">
                <a:latin typeface="Courier New"/>
                <a:cs typeface="Courier New"/>
              </a:rPr>
              <a:t>]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  <a:tabLst>
                <a:tab pos="743585" algn="l"/>
              </a:tabLst>
            </a:pPr>
            <a:r>
              <a:rPr dirty="0" sz="1600" spc="-20">
                <a:latin typeface="Courier New"/>
                <a:cs typeface="Courier New"/>
              </a:rPr>
              <a:t>1.00</a:t>
            </a:r>
            <a:r>
              <a:rPr dirty="0" sz="1600">
                <a:latin typeface="Courier New"/>
                <a:cs typeface="Courier New"/>
              </a:rPr>
              <a:t>	0.50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 spc="-50">
                <a:latin typeface="Courier New"/>
                <a:cs typeface="Courier New"/>
              </a:rPr>
              <a:t>]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02590" y="3203486"/>
            <a:ext cx="3926840" cy="119380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algn="ctr" marL="121285">
              <a:lnSpc>
                <a:spcPct val="100000"/>
              </a:lnSpc>
              <a:spcBef>
                <a:spcPts val="480"/>
              </a:spcBef>
              <a:tabLst>
                <a:tab pos="3413125" algn="l"/>
              </a:tabLst>
            </a:pPr>
            <a:r>
              <a:rPr dirty="0" sz="1600">
                <a:latin typeface="Courier New"/>
                <a:cs typeface="Courier New"/>
              </a:rPr>
              <a:t>Weight</a:t>
            </a:r>
            <a:r>
              <a:rPr dirty="0" sz="1600" spc="-3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vector</a:t>
            </a:r>
            <a:r>
              <a:rPr dirty="0" sz="1600" spc="-3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#</a:t>
            </a:r>
            <a:r>
              <a:rPr dirty="0" sz="1600" spc="-3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3:</a:t>
            </a:r>
            <a:r>
              <a:rPr dirty="0" sz="1600" spc="-3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[</a:t>
            </a:r>
            <a:r>
              <a:rPr dirty="0" sz="1600" spc="-30">
                <a:latin typeface="Courier New"/>
                <a:cs typeface="Courier New"/>
              </a:rPr>
              <a:t> </a:t>
            </a:r>
            <a:r>
              <a:rPr dirty="0" sz="1600" spc="-20">
                <a:latin typeface="Courier New"/>
                <a:cs typeface="Courier New"/>
              </a:rPr>
              <a:t>0.87</a:t>
            </a:r>
            <a:r>
              <a:rPr dirty="0" sz="1600">
                <a:latin typeface="Courier New"/>
                <a:cs typeface="Courier New"/>
              </a:rPr>
              <a:t>	</a:t>
            </a:r>
            <a:r>
              <a:rPr dirty="0" sz="1600" spc="-20">
                <a:latin typeface="Courier New"/>
                <a:cs typeface="Courier New"/>
              </a:rPr>
              <a:t>0.90</a:t>
            </a:r>
            <a:endParaRPr sz="1600">
              <a:latin typeface="Courier New"/>
              <a:cs typeface="Courier New"/>
            </a:endParaRPr>
          </a:p>
          <a:p>
            <a:pPr algn="ctr" marL="243840">
              <a:lnSpc>
                <a:spcPct val="100000"/>
              </a:lnSpc>
              <a:spcBef>
                <a:spcPts val="380"/>
              </a:spcBef>
              <a:tabLst>
                <a:tab pos="2681605" algn="l"/>
              </a:tabLst>
            </a:pPr>
            <a:r>
              <a:rPr dirty="0" sz="1600">
                <a:latin typeface="Courier New"/>
                <a:cs typeface="Courier New"/>
              </a:rPr>
              <a:t>Input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vector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#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 spc="-25">
                <a:latin typeface="Courier New"/>
                <a:cs typeface="Courier New"/>
              </a:rPr>
              <a:t>2:</a:t>
            </a:r>
            <a:r>
              <a:rPr dirty="0" sz="1600">
                <a:latin typeface="Courier New"/>
                <a:cs typeface="Courier New"/>
              </a:rPr>
              <a:t>	[</a:t>
            </a:r>
            <a:r>
              <a:rPr dirty="0" sz="1600" spc="-10">
                <a:latin typeface="Courier New"/>
                <a:cs typeface="Courier New"/>
              </a:rPr>
              <a:t> </a:t>
            </a:r>
            <a:r>
              <a:rPr dirty="0" sz="1600" spc="-20">
                <a:latin typeface="Courier New"/>
                <a:cs typeface="Courier New"/>
              </a:rPr>
              <a:t>1.00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65"/>
              </a:spcBef>
            </a:pP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u="sng" sz="160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Weight</a:t>
            </a:r>
            <a:r>
              <a:rPr dirty="0" u="sng" sz="1600" spc="-6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dirty="0" u="sng" sz="160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Vectors</a:t>
            </a:r>
            <a:r>
              <a:rPr dirty="0" u="sng" sz="1600" spc="-55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dirty="0" u="sng" sz="160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after</a:t>
            </a:r>
            <a:r>
              <a:rPr dirty="0" u="sng" sz="1600" spc="-55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dirty="0" u="sng" sz="160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epoch</a:t>
            </a:r>
            <a:r>
              <a:rPr dirty="0" u="sng" sz="1600" spc="-55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dirty="0" u="sng" sz="1600" spc="-25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2:</a:t>
            </a:r>
            <a:endParaRPr sz="1600">
              <a:latin typeface="Courier New"/>
              <a:cs typeface="Courier New"/>
            </a:endParaRPr>
          </a:p>
        </p:txBody>
      </p:sp>
      <p:graphicFrame>
        <p:nvGraphicFramePr>
          <p:cNvPr id="11" name="object 11" descr=""/>
          <p:cNvGraphicFramePr>
            <a:graphicFrameLocks noGrp="1"/>
          </p:cNvGraphicFramePr>
          <p:nvPr/>
        </p:nvGraphicFramePr>
        <p:xfrm>
          <a:off x="627380" y="4467533"/>
          <a:ext cx="2578100" cy="812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4629"/>
                <a:gridCol w="670559"/>
                <a:gridCol w="731519"/>
                <a:gridCol w="670559"/>
                <a:gridCol w="214630"/>
              </a:tblGrid>
              <a:tr h="260350">
                <a:tc>
                  <a:txBody>
                    <a:bodyPr/>
                    <a:lstStyle/>
                    <a:p>
                      <a:pPr algn="ctr" marR="21590">
                        <a:lnSpc>
                          <a:spcPts val="1650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[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650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0.03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0.94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340">
                        <a:lnSpc>
                          <a:spcPts val="1650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0.93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9209">
                        <a:lnSpc>
                          <a:spcPts val="1650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]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92100">
                <a:tc>
                  <a:txBody>
                    <a:bodyPr/>
                    <a:lstStyle/>
                    <a:p>
                      <a:pPr algn="ctr" marR="21590">
                        <a:lnSpc>
                          <a:spcPts val="1895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[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0.19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0.24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340"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0.21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9209">
                        <a:lnSpc>
                          <a:spcPts val="1895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]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60350">
                <a:tc>
                  <a:txBody>
                    <a:bodyPr/>
                    <a:lstStyle/>
                    <a:p>
                      <a:pPr algn="ctr" marR="21590">
                        <a:lnSpc>
                          <a:spcPts val="1895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[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0.93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0.95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340"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0.59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9209">
                        <a:lnSpc>
                          <a:spcPts val="1895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]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2" name="object 12" descr=""/>
          <p:cNvSpPr txBox="1"/>
          <p:nvPr/>
        </p:nvSpPr>
        <p:spPr>
          <a:xfrm>
            <a:off x="402590" y="5532666"/>
            <a:ext cx="2829560" cy="624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22900"/>
              </a:lnSpc>
              <a:spcBef>
                <a:spcPts val="100"/>
              </a:spcBef>
            </a:pPr>
            <a:r>
              <a:rPr dirty="0" u="sng" sz="160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Clusters</a:t>
            </a:r>
            <a:r>
              <a:rPr dirty="0" u="sng" sz="1600" spc="-6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dirty="0" u="sng" sz="160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after</a:t>
            </a:r>
            <a:r>
              <a:rPr dirty="0" u="sng" sz="1600" spc="-6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dirty="0" u="sng" sz="160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epoch</a:t>
            </a:r>
            <a:r>
              <a:rPr dirty="0" u="sng" sz="1600" spc="-55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dirty="0" u="sng" sz="1600" spc="-25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2:</a:t>
            </a:r>
            <a:r>
              <a:rPr dirty="0" sz="1600" spc="-25">
                <a:latin typeface="Courier New"/>
                <a:cs typeface="Courier New"/>
              </a:rPr>
              <a:t> </a:t>
            </a:r>
            <a:r>
              <a:rPr dirty="0" sz="1600" spc="-10">
                <a:latin typeface="Courier New"/>
                <a:cs typeface="Courier New"/>
              </a:rPr>
              <a:t>unchanged.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424112" y="-28574"/>
            <a:ext cx="3570604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800000"/>
                </a:solidFill>
              </a:rPr>
              <a:t>SCL</a:t>
            </a:r>
            <a:r>
              <a:rPr dirty="0" sz="4000" spc="-70">
                <a:solidFill>
                  <a:srgbClr val="800000"/>
                </a:solidFill>
              </a:rPr>
              <a:t> </a:t>
            </a:r>
            <a:r>
              <a:rPr dirty="0" sz="4000" spc="-10">
                <a:solidFill>
                  <a:srgbClr val="800000"/>
                </a:solidFill>
              </a:rPr>
              <a:t>Examples</a:t>
            </a:r>
            <a:endParaRPr sz="40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02272" y="2067826"/>
            <a:ext cx="87884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160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6</a:t>
            </a:r>
            <a:r>
              <a:rPr dirty="0" u="sng" sz="1600" spc="-1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Cases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44</a:t>
            </a:fld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726122" y="2414172"/>
          <a:ext cx="4124960" cy="812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24380"/>
                <a:gridCol w="956309"/>
                <a:gridCol w="1068069"/>
              </a:tblGrid>
              <a:tr h="260350">
                <a:tc>
                  <a:txBody>
                    <a:bodyPr/>
                    <a:lstStyle/>
                    <a:p>
                      <a:pPr marL="31750">
                        <a:lnSpc>
                          <a:spcPts val="1650"/>
                        </a:lnSpc>
                      </a:pPr>
                      <a:r>
                        <a:rPr dirty="0" sz="1600">
                          <a:latin typeface="Courier New"/>
                          <a:cs typeface="Courier New"/>
                        </a:rPr>
                        <a:t>(0.9</a:t>
                      </a:r>
                      <a:r>
                        <a:rPr dirty="0" sz="1600" spc="-3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>
                          <a:latin typeface="Courier New"/>
                          <a:cs typeface="Courier New"/>
                        </a:rPr>
                        <a:t>0.9</a:t>
                      </a:r>
                      <a:r>
                        <a:rPr dirty="0" sz="1600" spc="-3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20">
                          <a:latin typeface="Courier New"/>
                          <a:cs typeface="Courier New"/>
                        </a:rPr>
                        <a:t>0.9)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340">
                        <a:lnSpc>
                          <a:spcPts val="1650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(0.8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650"/>
                        </a:lnSpc>
                      </a:pPr>
                      <a:r>
                        <a:rPr dirty="0" sz="1600">
                          <a:latin typeface="Courier New"/>
                          <a:cs typeface="Courier New"/>
                        </a:rPr>
                        <a:t>0.9</a:t>
                      </a:r>
                      <a:r>
                        <a:rPr dirty="0" sz="1600" spc="-3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20">
                          <a:latin typeface="Courier New"/>
                          <a:cs typeface="Courier New"/>
                        </a:rPr>
                        <a:t>0.8)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92100">
                <a:tc>
                  <a:txBody>
                    <a:bodyPr/>
                    <a:lstStyle/>
                    <a:p>
                      <a:pPr marL="31750">
                        <a:lnSpc>
                          <a:spcPts val="1895"/>
                        </a:lnSpc>
                      </a:pPr>
                      <a:r>
                        <a:rPr dirty="0" sz="1600">
                          <a:latin typeface="Courier New"/>
                          <a:cs typeface="Courier New"/>
                        </a:rPr>
                        <a:t>(1</a:t>
                      </a:r>
                      <a:r>
                        <a:rPr dirty="0" sz="1600" spc="-2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>
                          <a:latin typeface="Courier New"/>
                          <a:cs typeface="Courier New"/>
                        </a:rPr>
                        <a:t>0.9</a:t>
                      </a:r>
                      <a:r>
                        <a:rPr dirty="0" sz="1600" spc="-2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20">
                          <a:latin typeface="Courier New"/>
                          <a:cs typeface="Courier New"/>
                        </a:rPr>
                        <a:t>0.8)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340">
                        <a:lnSpc>
                          <a:spcPts val="1895"/>
                        </a:lnSpc>
                      </a:pPr>
                      <a:r>
                        <a:rPr dirty="0" sz="1600">
                          <a:latin typeface="Courier New"/>
                          <a:cs typeface="Courier New"/>
                        </a:rPr>
                        <a:t>(1</a:t>
                      </a:r>
                      <a:r>
                        <a:rPr dirty="0" sz="1600" spc="-2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50">
                          <a:latin typeface="Courier New"/>
                          <a:cs typeface="Courier New"/>
                        </a:rPr>
                        <a:t>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895"/>
                        </a:lnSpc>
                      </a:pPr>
                      <a:r>
                        <a:rPr dirty="0" sz="1600" spc="-25">
                          <a:latin typeface="Courier New"/>
                          <a:cs typeface="Courier New"/>
                        </a:rPr>
                        <a:t>1)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60350">
                <a:tc>
                  <a:txBody>
                    <a:bodyPr/>
                    <a:lstStyle/>
                    <a:p>
                      <a:pPr marL="31750">
                        <a:lnSpc>
                          <a:spcPts val="1895"/>
                        </a:lnSpc>
                      </a:pPr>
                      <a:r>
                        <a:rPr dirty="0" sz="1600">
                          <a:latin typeface="Courier New"/>
                          <a:cs typeface="Courier New"/>
                        </a:rPr>
                        <a:t>(0.9</a:t>
                      </a:r>
                      <a:r>
                        <a:rPr dirty="0" sz="1600" spc="-2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600" spc="-2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20">
                          <a:latin typeface="Courier New"/>
                          <a:cs typeface="Courier New"/>
                        </a:rPr>
                        <a:t>1.1)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340"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(1.1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895"/>
                        </a:lnSpc>
                      </a:pPr>
                      <a:r>
                        <a:rPr dirty="0" sz="1600"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6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20">
                          <a:latin typeface="Courier New"/>
                          <a:cs typeface="Courier New"/>
                        </a:rPr>
                        <a:t>0.7)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402272" y="3471684"/>
            <a:ext cx="6830059" cy="1209040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u="sng" sz="160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other</a:t>
            </a:r>
            <a:r>
              <a:rPr dirty="0" u="sng" sz="1600" spc="-5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dirty="0" u="sng" sz="1600" spc="-1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parameters:</a:t>
            </a:r>
            <a:endParaRPr sz="1600">
              <a:latin typeface="Courier New"/>
              <a:cs typeface="Courier New"/>
            </a:endParaRPr>
          </a:p>
          <a:p>
            <a:pPr marL="355600" marR="5080">
              <a:lnSpc>
                <a:spcPct val="119800"/>
              </a:lnSpc>
              <a:spcBef>
                <a:spcPts val="60"/>
              </a:spcBef>
            </a:pPr>
            <a:r>
              <a:rPr dirty="0" sz="1600">
                <a:latin typeface="Courier New"/>
                <a:cs typeface="Courier New"/>
              </a:rPr>
              <a:t>Three</a:t>
            </a:r>
            <a:r>
              <a:rPr dirty="0" sz="1600" spc="-6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Initial</a:t>
            </a:r>
            <a:r>
              <a:rPr dirty="0" sz="1600" spc="-6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Weight</a:t>
            </a:r>
            <a:r>
              <a:rPr dirty="0" sz="1600" spc="-5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Vectors</a:t>
            </a:r>
            <a:r>
              <a:rPr dirty="0" sz="1600" spc="-6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Generated</a:t>
            </a:r>
            <a:r>
              <a:rPr dirty="0" sz="1600" spc="-5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from</a:t>
            </a:r>
            <a:r>
              <a:rPr dirty="0" sz="1600" spc="-6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Set:</a:t>
            </a:r>
            <a:r>
              <a:rPr dirty="0" sz="1600" spc="-55">
                <a:latin typeface="Courier New"/>
                <a:cs typeface="Courier New"/>
              </a:rPr>
              <a:t> </a:t>
            </a:r>
            <a:r>
              <a:rPr dirty="0" sz="1600" spc="-20">
                <a:latin typeface="Courier New"/>
                <a:cs typeface="Courier New"/>
              </a:rPr>
              <a:t>{0.8 </a:t>
            </a:r>
            <a:r>
              <a:rPr dirty="0" sz="1600">
                <a:latin typeface="Courier New"/>
                <a:cs typeface="Courier New"/>
              </a:rPr>
              <a:t>Learning</a:t>
            </a:r>
            <a:r>
              <a:rPr dirty="0" sz="1600" spc="-6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rate:</a:t>
            </a:r>
            <a:r>
              <a:rPr dirty="0" sz="1600" spc="-65">
                <a:latin typeface="Courier New"/>
                <a:cs typeface="Courier New"/>
              </a:rPr>
              <a:t> </a:t>
            </a:r>
            <a:r>
              <a:rPr dirty="0" sz="1600" spc="-25">
                <a:latin typeface="Courier New"/>
                <a:cs typeface="Courier New"/>
              </a:rPr>
              <a:t>0.5</a:t>
            </a:r>
            <a:endParaRPr sz="160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  <a:spcBef>
                <a:spcPts val="380"/>
              </a:spcBef>
            </a:pPr>
            <a:r>
              <a:rPr dirty="0" sz="1600">
                <a:latin typeface="Courier New"/>
                <a:cs typeface="Courier New"/>
              </a:rPr>
              <a:t>#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Epochs: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 spc="-25">
                <a:latin typeface="Courier New"/>
                <a:cs typeface="Courier New"/>
              </a:rPr>
              <a:t>10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450772" y="3828046"/>
            <a:ext cx="112268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21665" algn="l"/>
              </a:tabLst>
            </a:pPr>
            <a:r>
              <a:rPr dirty="0" sz="1600" spc="-25">
                <a:latin typeface="Courier New"/>
                <a:cs typeface="Courier New"/>
              </a:rPr>
              <a:t>1.0</a:t>
            </a:r>
            <a:r>
              <a:rPr dirty="0" sz="1600">
                <a:latin typeface="Courier New"/>
                <a:cs typeface="Courier New"/>
              </a:rPr>
              <a:t>	</a:t>
            </a:r>
            <a:r>
              <a:rPr dirty="0" sz="1600" spc="-20">
                <a:latin typeface="Courier New"/>
                <a:cs typeface="Courier New"/>
              </a:rPr>
              <a:t>1.2}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02272" y="5024386"/>
            <a:ext cx="7889875" cy="15614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0416"/>
              <a:buFont typeface="Tahoma"/>
              <a:buChar char="■"/>
              <a:tabLst>
                <a:tab pos="355600" algn="l"/>
              </a:tabLst>
            </a:pPr>
            <a:r>
              <a:rPr dirty="0" sz="2400">
                <a:latin typeface="Courier New"/>
                <a:cs typeface="Courier New"/>
              </a:rPr>
              <a:t>Run</a:t>
            </a:r>
            <a:r>
              <a:rPr dirty="0" sz="2400" spc="-750">
                <a:latin typeface="Courier New"/>
                <a:cs typeface="Courier New"/>
              </a:rPr>
              <a:t> </a:t>
            </a:r>
            <a:r>
              <a:rPr dirty="0" sz="2400">
                <a:latin typeface="Courier New"/>
                <a:cs typeface="Courier New"/>
              </a:rPr>
              <a:t>same</a:t>
            </a:r>
            <a:r>
              <a:rPr dirty="0" sz="2400" spc="-745">
                <a:latin typeface="Courier New"/>
                <a:cs typeface="Courier New"/>
              </a:rPr>
              <a:t> </a:t>
            </a:r>
            <a:r>
              <a:rPr dirty="0" sz="2400" spc="-185">
                <a:latin typeface="Courier New"/>
                <a:cs typeface="Courier New"/>
              </a:rPr>
              <a:t>case</a:t>
            </a:r>
            <a:r>
              <a:rPr dirty="0" sz="2400" spc="-745">
                <a:latin typeface="Courier New"/>
                <a:cs typeface="Courier New"/>
              </a:rPr>
              <a:t> </a:t>
            </a:r>
            <a:r>
              <a:rPr dirty="0" sz="2400" spc="-425">
                <a:latin typeface="Courier New"/>
                <a:cs typeface="Courier New"/>
              </a:rPr>
              <a:t>twice,</a:t>
            </a:r>
            <a:r>
              <a:rPr dirty="0" sz="2400" spc="-750">
                <a:latin typeface="Courier New"/>
                <a:cs typeface="Courier New"/>
              </a:rPr>
              <a:t> </a:t>
            </a:r>
            <a:r>
              <a:rPr dirty="0" sz="2400" spc="-340">
                <a:latin typeface="Courier New"/>
                <a:cs typeface="Courier New"/>
              </a:rPr>
              <a:t>but</a:t>
            </a:r>
            <a:r>
              <a:rPr dirty="0" sz="2400" spc="-750">
                <a:latin typeface="Courier New"/>
                <a:cs typeface="Courier New"/>
              </a:rPr>
              <a:t> </a:t>
            </a:r>
            <a:r>
              <a:rPr dirty="0" sz="2400" spc="-380">
                <a:latin typeface="Courier New"/>
                <a:cs typeface="Courier New"/>
              </a:rPr>
              <a:t>with</a:t>
            </a:r>
            <a:r>
              <a:rPr dirty="0" sz="2400" spc="-745">
                <a:latin typeface="Courier New"/>
                <a:cs typeface="Courier New"/>
              </a:rPr>
              <a:t> </a:t>
            </a:r>
            <a:r>
              <a:rPr dirty="0" sz="2400" spc="-484">
                <a:latin typeface="Courier New"/>
                <a:cs typeface="Courier New"/>
              </a:rPr>
              <a:t>different</a:t>
            </a:r>
            <a:r>
              <a:rPr dirty="0" sz="2400" spc="-750">
                <a:latin typeface="Courier New"/>
                <a:cs typeface="Courier New"/>
              </a:rPr>
              <a:t> </a:t>
            </a:r>
            <a:r>
              <a:rPr dirty="0" sz="2400" spc="-665">
                <a:latin typeface="Courier New"/>
                <a:cs typeface="Courier New"/>
              </a:rPr>
              <a:t>initial</a:t>
            </a:r>
            <a:r>
              <a:rPr dirty="0" sz="2400" spc="-750">
                <a:latin typeface="Courier New"/>
                <a:cs typeface="Courier New"/>
              </a:rPr>
              <a:t> </a:t>
            </a:r>
            <a:r>
              <a:rPr dirty="0" sz="2400" spc="-275">
                <a:latin typeface="Courier New"/>
                <a:cs typeface="Courier New"/>
              </a:rPr>
              <a:t>randomly- </a:t>
            </a:r>
            <a:r>
              <a:rPr dirty="0" sz="2400" spc="-254">
                <a:latin typeface="Courier New"/>
                <a:cs typeface="Courier New"/>
              </a:rPr>
              <a:t>generated</a:t>
            </a:r>
            <a:r>
              <a:rPr dirty="0" sz="2400" spc="-745">
                <a:latin typeface="Courier New"/>
                <a:cs typeface="Courier New"/>
              </a:rPr>
              <a:t> </a:t>
            </a:r>
            <a:r>
              <a:rPr dirty="0" sz="2400" spc="-290">
                <a:latin typeface="Courier New"/>
                <a:cs typeface="Courier New"/>
              </a:rPr>
              <a:t>weight</a:t>
            </a:r>
            <a:r>
              <a:rPr dirty="0" sz="2400" spc="-750">
                <a:latin typeface="Courier New"/>
                <a:cs typeface="Courier New"/>
              </a:rPr>
              <a:t> </a:t>
            </a:r>
            <a:r>
              <a:rPr dirty="0" sz="2400" spc="-409">
                <a:latin typeface="Courier New"/>
                <a:cs typeface="Courier New"/>
              </a:rPr>
              <a:t>vectors.</a:t>
            </a:r>
            <a:endParaRPr sz="2400">
              <a:latin typeface="Courier New"/>
              <a:cs typeface="Courier New"/>
            </a:endParaRPr>
          </a:p>
          <a:p>
            <a:pPr marL="355600" marR="530225" indent="-342900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Tahoma"/>
              <a:buChar char="■"/>
              <a:tabLst>
                <a:tab pos="355600" algn="l"/>
              </a:tabLst>
            </a:pPr>
            <a:r>
              <a:rPr dirty="0" sz="2400" spc="-80">
                <a:latin typeface="Courier New"/>
                <a:cs typeface="Courier New"/>
              </a:rPr>
              <a:t>The</a:t>
            </a:r>
            <a:r>
              <a:rPr dirty="0" sz="2400" spc="-755">
                <a:latin typeface="Courier New"/>
                <a:cs typeface="Courier New"/>
              </a:rPr>
              <a:t> </a:t>
            </a:r>
            <a:r>
              <a:rPr dirty="0" sz="2400" spc="-415">
                <a:latin typeface="Courier New"/>
                <a:cs typeface="Courier New"/>
              </a:rPr>
              <a:t>clusters</a:t>
            </a:r>
            <a:r>
              <a:rPr dirty="0" sz="2400" spc="-765">
                <a:latin typeface="Courier New"/>
                <a:cs typeface="Courier New"/>
              </a:rPr>
              <a:t> </a:t>
            </a:r>
            <a:r>
              <a:rPr dirty="0" sz="2400" spc="-210">
                <a:latin typeface="Courier New"/>
                <a:cs typeface="Courier New"/>
              </a:rPr>
              <a:t>formed</a:t>
            </a:r>
            <a:r>
              <a:rPr dirty="0" sz="2400" spc="-755">
                <a:latin typeface="Courier New"/>
                <a:cs typeface="Courier New"/>
              </a:rPr>
              <a:t> </a:t>
            </a:r>
            <a:r>
              <a:rPr dirty="0" sz="2400" spc="-295">
                <a:latin typeface="Courier New"/>
                <a:cs typeface="Courier New"/>
              </a:rPr>
              <a:t>are</a:t>
            </a:r>
            <a:r>
              <a:rPr dirty="0" sz="2400" spc="-755">
                <a:latin typeface="Courier New"/>
                <a:cs typeface="Courier New"/>
              </a:rPr>
              <a:t> </a:t>
            </a:r>
            <a:r>
              <a:rPr dirty="0" sz="2400" spc="-405">
                <a:latin typeface="Courier New"/>
                <a:cs typeface="Courier New"/>
              </a:rPr>
              <a:t>highly</a:t>
            </a:r>
            <a:r>
              <a:rPr dirty="0" sz="2400" spc="-760">
                <a:latin typeface="Courier New"/>
                <a:cs typeface="Courier New"/>
              </a:rPr>
              <a:t> </a:t>
            </a:r>
            <a:r>
              <a:rPr dirty="0" sz="2400" spc="-409">
                <a:latin typeface="Courier New"/>
                <a:cs typeface="Courier New"/>
              </a:rPr>
              <a:t>sensitive</a:t>
            </a:r>
            <a:r>
              <a:rPr dirty="0" sz="2400" spc="-755">
                <a:latin typeface="Courier New"/>
                <a:cs typeface="Courier New"/>
              </a:rPr>
              <a:t> </a:t>
            </a:r>
            <a:r>
              <a:rPr dirty="0" sz="2400" spc="-450">
                <a:latin typeface="Courier New"/>
                <a:cs typeface="Courier New"/>
              </a:rPr>
              <a:t>to</a:t>
            </a:r>
            <a:r>
              <a:rPr dirty="0" sz="2400" spc="-755">
                <a:latin typeface="Courier New"/>
                <a:cs typeface="Courier New"/>
              </a:rPr>
              <a:t> </a:t>
            </a:r>
            <a:r>
              <a:rPr dirty="0" sz="2400" spc="-340">
                <a:latin typeface="Courier New"/>
                <a:cs typeface="Courier New"/>
              </a:rPr>
              <a:t>the</a:t>
            </a:r>
            <a:r>
              <a:rPr dirty="0" sz="2400" spc="-755">
                <a:latin typeface="Courier New"/>
                <a:cs typeface="Courier New"/>
              </a:rPr>
              <a:t> </a:t>
            </a:r>
            <a:r>
              <a:rPr dirty="0" sz="2400" spc="-675">
                <a:latin typeface="Courier New"/>
                <a:cs typeface="Courier New"/>
              </a:rPr>
              <a:t>initial </a:t>
            </a:r>
            <a:r>
              <a:rPr dirty="0" sz="2400" spc="-290">
                <a:latin typeface="Courier New"/>
                <a:cs typeface="Courier New"/>
              </a:rPr>
              <a:t>weight</a:t>
            </a:r>
            <a:r>
              <a:rPr dirty="0" sz="2400" spc="-780">
                <a:latin typeface="Courier New"/>
                <a:cs typeface="Courier New"/>
              </a:rPr>
              <a:t> </a:t>
            </a:r>
            <a:r>
              <a:rPr dirty="0" sz="2400" spc="-409">
                <a:latin typeface="Courier New"/>
                <a:cs typeface="Courier New"/>
              </a:rPr>
              <a:t>vectors.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19469" rIns="0" bIns="0" rtlCol="0" vert="horz">
            <a:spAutoFit/>
          </a:bodyPr>
          <a:lstStyle/>
          <a:p>
            <a:pPr marL="1500505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800000"/>
                </a:solidFill>
              </a:rPr>
              <a:t>SCL</a:t>
            </a:r>
            <a:r>
              <a:rPr dirty="0" sz="4000" spc="-70">
                <a:solidFill>
                  <a:srgbClr val="800000"/>
                </a:solidFill>
              </a:rPr>
              <a:t> </a:t>
            </a:r>
            <a:r>
              <a:rPr dirty="0" sz="4000" spc="-10">
                <a:solidFill>
                  <a:srgbClr val="800000"/>
                </a:solidFill>
              </a:rPr>
              <a:t>Examples</a:t>
            </a:r>
            <a:endParaRPr sz="40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63626" y="1700809"/>
            <a:ext cx="7924800" cy="5113020"/>
          </a:xfrm>
          <a:custGeom>
            <a:avLst/>
            <a:gdLst/>
            <a:ahLst/>
            <a:cxnLst/>
            <a:rect l="l" t="t" r="r" b="b"/>
            <a:pathLst>
              <a:path w="7924800" h="5113020">
                <a:moveTo>
                  <a:pt x="7924800" y="0"/>
                </a:moveTo>
                <a:lnTo>
                  <a:pt x="0" y="0"/>
                </a:lnTo>
                <a:lnTo>
                  <a:pt x="0" y="5112563"/>
                </a:lnTo>
                <a:lnTo>
                  <a:pt x="7924800" y="5112563"/>
                </a:lnTo>
                <a:lnTo>
                  <a:pt x="79248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542366" y="1707794"/>
            <a:ext cx="282956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ourier New"/>
                <a:cs typeface="Courier New"/>
              </a:rPr>
              <a:t>Initial</a:t>
            </a:r>
            <a:r>
              <a:rPr dirty="0" sz="1600" spc="-6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Weight</a:t>
            </a:r>
            <a:r>
              <a:rPr dirty="0" sz="1600" spc="-65">
                <a:latin typeface="Courier New"/>
                <a:cs typeface="Courier New"/>
              </a:rPr>
              <a:t> </a:t>
            </a:r>
            <a:r>
              <a:rPr dirty="0" sz="1600" spc="-10">
                <a:latin typeface="Courier New"/>
                <a:cs typeface="Courier New"/>
              </a:rPr>
              <a:t>Vectors: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55066" y="1975764"/>
            <a:ext cx="2804160" cy="0"/>
          </a:xfrm>
          <a:custGeom>
            <a:avLst/>
            <a:gdLst/>
            <a:ahLst/>
            <a:cxnLst/>
            <a:rect l="l" t="t" r="r" b="b"/>
            <a:pathLst>
              <a:path w="2804160" h="0">
                <a:moveTo>
                  <a:pt x="0" y="0"/>
                </a:moveTo>
                <a:lnTo>
                  <a:pt x="2804159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767156" y="2046520"/>
          <a:ext cx="2578100" cy="812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4629"/>
                <a:gridCol w="670559"/>
                <a:gridCol w="731519"/>
                <a:gridCol w="670559"/>
                <a:gridCol w="214630"/>
              </a:tblGrid>
              <a:tr h="260350">
                <a:tc>
                  <a:txBody>
                    <a:bodyPr/>
                    <a:lstStyle/>
                    <a:p>
                      <a:pPr algn="ctr" marR="21590">
                        <a:lnSpc>
                          <a:spcPts val="1650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[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3340">
                        <a:lnSpc>
                          <a:spcPts val="1650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1.20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1.00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0960">
                        <a:lnSpc>
                          <a:spcPts val="1650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1.00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9209">
                        <a:lnSpc>
                          <a:spcPts val="1650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]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92100">
                <a:tc>
                  <a:txBody>
                    <a:bodyPr/>
                    <a:lstStyle/>
                    <a:p>
                      <a:pPr algn="ctr" marR="21590">
                        <a:lnSpc>
                          <a:spcPts val="1895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[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3340"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1.20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1.00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0960"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1.20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9209">
                        <a:lnSpc>
                          <a:spcPts val="1895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]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60350">
                <a:tc>
                  <a:txBody>
                    <a:bodyPr/>
                    <a:lstStyle/>
                    <a:p>
                      <a:pPr algn="ctr" marR="21590">
                        <a:lnSpc>
                          <a:spcPts val="1895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[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3340"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1.00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1.00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0960"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1.00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9209">
                        <a:lnSpc>
                          <a:spcPts val="1895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]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9" name="object 9" descr=""/>
          <p:cNvSpPr txBox="1"/>
          <p:nvPr/>
        </p:nvSpPr>
        <p:spPr>
          <a:xfrm>
            <a:off x="542366" y="6415320"/>
            <a:ext cx="7462520" cy="2552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750"/>
              </a:lnSpc>
            </a:pPr>
            <a:r>
              <a:rPr dirty="0" sz="1600">
                <a:latin typeface="Courier New"/>
                <a:cs typeface="Courier New"/>
              </a:rPr>
              <a:t>**</a:t>
            </a:r>
            <a:r>
              <a:rPr dirty="0" sz="1600" spc="-3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Weight</a:t>
            </a:r>
            <a:r>
              <a:rPr dirty="0" sz="1600" spc="-3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vector</a:t>
            </a:r>
            <a:r>
              <a:rPr dirty="0" sz="1600" spc="-3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#3</a:t>
            </a:r>
            <a:r>
              <a:rPr dirty="0" sz="1600" spc="-3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is</a:t>
            </a:r>
            <a:r>
              <a:rPr dirty="0" sz="1600" spc="-3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the</a:t>
            </a:r>
            <a:r>
              <a:rPr dirty="0" sz="1600" spc="-3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big</a:t>
            </a:r>
            <a:r>
              <a:rPr dirty="0" sz="1600" spc="-3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winner</a:t>
            </a:r>
            <a:r>
              <a:rPr dirty="0" sz="1600" spc="-3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&amp;</a:t>
            </a:r>
            <a:r>
              <a:rPr dirty="0" sz="1600" spc="-3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#2</a:t>
            </a:r>
            <a:r>
              <a:rPr dirty="0" sz="1600" spc="-3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loses</a:t>
            </a:r>
            <a:r>
              <a:rPr dirty="0" sz="1600" spc="-35">
                <a:latin typeface="Courier New"/>
                <a:cs typeface="Courier New"/>
              </a:rPr>
              <a:t> </a:t>
            </a:r>
            <a:r>
              <a:rPr dirty="0" sz="1600" spc="-10">
                <a:latin typeface="Courier New"/>
                <a:cs typeface="Courier New"/>
              </a:rPr>
              <a:t>completely!!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45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542366" y="3119272"/>
            <a:ext cx="4902200" cy="60960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u="sng" sz="160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Clusters</a:t>
            </a:r>
            <a:r>
              <a:rPr dirty="0" u="sng" sz="1600" spc="-5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dirty="0" u="sng" sz="160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after</a:t>
            </a:r>
            <a:r>
              <a:rPr dirty="0" u="sng" sz="1600" spc="-5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dirty="0" u="sng" sz="160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10</a:t>
            </a:r>
            <a:r>
              <a:rPr dirty="0" u="sng" sz="1600" spc="-45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dirty="0" u="sng" sz="1600" spc="-1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epochs:</a:t>
            </a:r>
            <a:endParaRPr sz="1600">
              <a:latin typeface="Courier New"/>
              <a:cs typeface="Courier New"/>
            </a:endParaRPr>
          </a:p>
          <a:p>
            <a:pPr marL="133985">
              <a:lnSpc>
                <a:spcPct val="100000"/>
              </a:lnSpc>
              <a:spcBef>
                <a:spcPts val="380"/>
              </a:spcBef>
              <a:tabLst>
                <a:tab pos="3425825" algn="l"/>
                <a:tab pos="4157345" algn="l"/>
              </a:tabLst>
            </a:pPr>
            <a:r>
              <a:rPr dirty="0" sz="1600">
                <a:latin typeface="Courier New"/>
                <a:cs typeface="Courier New"/>
              </a:rPr>
              <a:t>Weight</a:t>
            </a:r>
            <a:r>
              <a:rPr dirty="0" sz="1600" spc="-3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vector</a:t>
            </a:r>
            <a:r>
              <a:rPr dirty="0" sz="1600" spc="-3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#</a:t>
            </a:r>
            <a:r>
              <a:rPr dirty="0" sz="1600" spc="-3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1:</a:t>
            </a:r>
            <a:r>
              <a:rPr dirty="0" sz="1600" spc="-3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[</a:t>
            </a:r>
            <a:r>
              <a:rPr dirty="0" sz="1600" spc="-30">
                <a:latin typeface="Courier New"/>
                <a:cs typeface="Courier New"/>
              </a:rPr>
              <a:t> </a:t>
            </a:r>
            <a:r>
              <a:rPr dirty="0" sz="1600" spc="-20">
                <a:latin typeface="Courier New"/>
                <a:cs typeface="Courier New"/>
              </a:rPr>
              <a:t>1.07</a:t>
            </a:r>
            <a:r>
              <a:rPr dirty="0" sz="1600">
                <a:latin typeface="Courier New"/>
                <a:cs typeface="Courier New"/>
              </a:rPr>
              <a:t>	</a:t>
            </a:r>
            <a:r>
              <a:rPr dirty="0" sz="1600" spc="-20">
                <a:latin typeface="Courier New"/>
                <a:cs typeface="Courier New"/>
              </a:rPr>
              <a:t>0.97</a:t>
            </a:r>
            <a:r>
              <a:rPr dirty="0" sz="1600">
                <a:latin typeface="Courier New"/>
                <a:cs typeface="Courier New"/>
              </a:rPr>
              <a:t>	0.73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 spc="-50">
                <a:latin typeface="Courier New"/>
                <a:cs typeface="Courier New"/>
              </a:rPr>
              <a:t>]</a:t>
            </a:r>
            <a:endParaRPr sz="1600">
              <a:latin typeface="Courier New"/>
              <a:cs typeface="Courier New"/>
            </a:endParaRPr>
          </a:p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645236" y="3799120"/>
          <a:ext cx="5382260" cy="22720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8070"/>
                <a:gridCol w="853440"/>
                <a:gridCol w="243839"/>
                <a:gridCol w="365760"/>
                <a:gridCol w="548639"/>
                <a:gridCol w="731520"/>
                <a:gridCol w="609600"/>
                <a:gridCol w="670560"/>
                <a:gridCol w="214629"/>
              </a:tblGrid>
              <a:tr h="260350">
                <a:tc gridSpan="2">
                  <a:txBody>
                    <a:bodyPr/>
                    <a:lstStyle/>
                    <a:p>
                      <a:pPr marL="396875">
                        <a:lnSpc>
                          <a:spcPts val="1650"/>
                        </a:lnSpc>
                      </a:pPr>
                      <a:r>
                        <a:rPr dirty="0" sz="1600">
                          <a:latin typeface="Courier New"/>
                          <a:cs typeface="Courier New"/>
                        </a:rPr>
                        <a:t>Input</a:t>
                      </a:r>
                      <a:r>
                        <a:rPr dirty="0" sz="1600" spc="-5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10">
                          <a:latin typeface="Courier New"/>
                          <a:cs typeface="Courier New"/>
                        </a:rPr>
                        <a:t>vector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60960">
                        <a:lnSpc>
                          <a:spcPts val="1650"/>
                        </a:lnSpc>
                      </a:pPr>
                      <a:r>
                        <a:rPr dirty="0" sz="1600">
                          <a:latin typeface="Courier New"/>
                          <a:cs typeface="Courier New"/>
                        </a:rPr>
                        <a:t>#</a:t>
                      </a:r>
                      <a:r>
                        <a:rPr dirty="0" sz="16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25">
                          <a:latin typeface="Courier New"/>
                          <a:cs typeface="Courier New"/>
                        </a:rPr>
                        <a:t>3: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04800">
                        <a:lnSpc>
                          <a:spcPts val="1650"/>
                        </a:lnSpc>
                      </a:pPr>
                      <a:r>
                        <a:rPr dirty="0" sz="1600">
                          <a:latin typeface="Courier New"/>
                          <a:cs typeface="Courier New"/>
                        </a:rPr>
                        <a:t>[</a:t>
                      </a:r>
                      <a:r>
                        <a:rPr dirty="0" sz="16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20">
                          <a:latin typeface="Courier New"/>
                          <a:cs typeface="Courier New"/>
                        </a:rPr>
                        <a:t>1.00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0.90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0325">
                        <a:lnSpc>
                          <a:spcPts val="1650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0.80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9209">
                        <a:lnSpc>
                          <a:spcPts val="1650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]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60350">
                <a:tc gridSpan="2">
                  <a:txBody>
                    <a:bodyPr/>
                    <a:lstStyle/>
                    <a:p>
                      <a:pPr marL="396875">
                        <a:lnSpc>
                          <a:spcPts val="1895"/>
                        </a:lnSpc>
                      </a:pPr>
                      <a:r>
                        <a:rPr dirty="0" sz="1600">
                          <a:latin typeface="Courier New"/>
                          <a:cs typeface="Courier New"/>
                        </a:rPr>
                        <a:t>Input</a:t>
                      </a:r>
                      <a:r>
                        <a:rPr dirty="0" sz="1600" spc="-5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10">
                          <a:latin typeface="Courier New"/>
                          <a:cs typeface="Courier New"/>
                        </a:rPr>
                        <a:t>vector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60960">
                        <a:lnSpc>
                          <a:spcPts val="1895"/>
                        </a:lnSpc>
                      </a:pPr>
                      <a:r>
                        <a:rPr dirty="0" sz="1600">
                          <a:latin typeface="Courier New"/>
                          <a:cs typeface="Courier New"/>
                        </a:rPr>
                        <a:t>#</a:t>
                      </a:r>
                      <a:r>
                        <a:rPr dirty="0" sz="16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25">
                          <a:latin typeface="Courier New"/>
                          <a:cs typeface="Courier New"/>
                        </a:rPr>
                        <a:t>6: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04800">
                        <a:lnSpc>
                          <a:spcPts val="1895"/>
                        </a:lnSpc>
                      </a:pPr>
                      <a:r>
                        <a:rPr dirty="0" sz="1600">
                          <a:latin typeface="Courier New"/>
                          <a:cs typeface="Courier New"/>
                        </a:rPr>
                        <a:t>[</a:t>
                      </a:r>
                      <a:r>
                        <a:rPr dirty="0" sz="16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20">
                          <a:latin typeface="Courier New"/>
                          <a:cs typeface="Courier New"/>
                        </a:rPr>
                        <a:t>1.10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1.00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0325"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0.70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9209">
                        <a:lnSpc>
                          <a:spcPts val="1895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]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323215">
                <a:tc gridSpan="2"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600">
                          <a:latin typeface="Courier New"/>
                          <a:cs typeface="Courier New"/>
                        </a:rPr>
                        <a:t>Weight</a:t>
                      </a:r>
                      <a:r>
                        <a:rPr dirty="0" sz="1600" spc="-6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>
                          <a:latin typeface="Courier New"/>
                          <a:cs typeface="Courier New"/>
                        </a:rPr>
                        <a:t>vector</a:t>
                      </a:r>
                      <a:r>
                        <a:rPr dirty="0" sz="1600" spc="-6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50">
                          <a:latin typeface="Courier New"/>
                          <a:cs typeface="Courier New"/>
                        </a:rPr>
                        <a:t>#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2794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600">
                          <a:latin typeface="Courier New"/>
                          <a:cs typeface="Courier New"/>
                        </a:rPr>
                        <a:t>2:</a:t>
                      </a:r>
                      <a:r>
                        <a:rPr dirty="0" sz="1600" spc="-2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50">
                          <a:latin typeface="Courier New"/>
                          <a:cs typeface="Courier New"/>
                        </a:rPr>
                        <a:t>[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2794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1.20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2794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1.00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27940"/>
                </a:tc>
                <a:tc gridSpan="3">
                  <a:txBody>
                    <a:bodyPr/>
                    <a:lstStyle/>
                    <a:p>
                      <a:pPr marL="2438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600">
                          <a:latin typeface="Courier New"/>
                          <a:cs typeface="Courier New"/>
                        </a:rPr>
                        <a:t>1.20</a:t>
                      </a:r>
                      <a:r>
                        <a:rPr dirty="0" sz="1600" spc="-4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50">
                          <a:latin typeface="Courier New"/>
                          <a:cs typeface="Courier New"/>
                        </a:rPr>
                        <a:t>]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2794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60350">
                <a:tc gridSpan="2">
                  <a:txBody>
                    <a:bodyPr/>
                    <a:lstStyle/>
                    <a:p>
                      <a:pPr marL="31750">
                        <a:lnSpc>
                          <a:spcPts val="1895"/>
                        </a:lnSpc>
                      </a:pPr>
                      <a:r>
                        <a:rPr dirty="0" sz="1600">
                          <a:latin typeface="Courier New"/>
                          <a:cs typeface="Courier New"/>
                        </a:rPr>
                        <a:t>Weight</a:t>
                      </a:r>
                      <a:r>
                        <a:rPr dirty="0" sz="1600" spc="-6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>
                          <a:latin typeface="Courier New"/>
                          <a:cs typeface="Courier New"/>
                        </a:rPr>
                        <a:t>vector</a:t>
                      </a:r>
                      <a:r>
                        <a:rPr dirty="0" sz="1600" spc="-6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50">
                          <a:latin typeface="Courier New"/>
                          <a:cs typeface="Courier New"/>
                        </a:rPr>
                        <a:t>#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60960">
                        <a:lnSpc>
                          <a:spcPts val="1895"/>
                        </a:lnSpc>
                      </a:pPr>
                      <a:r>
                        <a:rPr dirty="0" sz="1600">
                          <a:latin typeface="Courier New"/>
                          <a:cs typeface="Courier New"/>
                        </a:rPr>
                        <a:t>3:</a:t>
                      </a:r>
                      <a:r>
                        <a:rPr dirty="0" sz="1600" spc="-2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50">
                          <a:latin typeface="Courier New"/>
                          <a:cs typeface="Courier New"/>
                        </a:rPr>
                        <a:t>[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0.91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0.98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 marL="243840">
                        <a:lnSpc>
                          <a:spcPts val="1895"/>
                        </a:lnSpc>
                      </a:pPr>
                      <a:r>
                        <a:rPr dirty="0" sz="1600">
                          <a:latin typeface="Courier New"/>
                          <a:cs typeface="Courier New"/>
                        </a:rPr>
                        <a:t>1.02</a:t>
                      </a:r>
                      <a:r>
                        <a:rPr dirty="0" sz="1600" spc="-4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50">
                          <a:latin typeface="Courier New"/>
                          <a:cs typeface="Courier New"/>
                        </a:rPr>
                        <a:t>]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23215">
                <a:tc>
                  <a:txBody>
                    <a:bodyPr/>
                    <a:lstStyle/>
                    <a:p>
                      <a:pPr algn="r" marR="533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600" spc="-10">
                          <a:latin typeface="Courier New"/>
                          <a:cs typeface="Courier New"/>
                        </a:rPr>
                        <a:t>Input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2794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600" spc="-10">
                          <a:latin typeface="Courier New"/>
                          <a:cs typeface="Courier New"/>
                        </a:rPr>
                        <a:t>vector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2794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#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2794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600" spc="-25">
                          <a:latin typeface="Courier New"/>
                          <a:cs typeface="Courier New"/>
                        </a:rPr>
                        <a:t>1: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27940"/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[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2794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0.90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2794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0.90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27940"/>
                </a:tc>
                <a:tc>
                  <a:txBody>
                    <a:bodyPr/>
                    <a:lstStyle/>
                    <a:p>
                      <a:pPr algn="ctr" marL="603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0.90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27940"/>
                </a:tc>
                <a:tc>
                  <a:txBody>
                    <a:bodyPr/>
                    <a:lstStyle/>
                    <a:p>
                      <a:pPr algn="ctr" marL="29209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]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27940"/>
                </a:tc>
              </a:tr>
              <a:tr h="292100">
                <a:tc>
                  <a:txBody>
                    <a:bodyPr/>
                    <a:lstStyle/>
                    <a:p>
                      <a:pPr algn="r" marR="53340">
                        <a:lnSpc>
                          <a:spcPts val="1895"/>
                        </a:lnSpc>
                      </a:pPr>
                      <a:r>
                        <a:rPr dirty="0" sz="1600" spc="-10">
                          <a:latin typeface="Courier New"/>
                          <a:cs typeface="Courier New"/>
                        </a:rPr>
                        <a:t>Input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dirty="0" sz="1600" spc="-10">
                          <a:latin typeface="Courier New"/>
                          <a:cs typeface="Courier New"/>
                        </a:rPr>
                        <a:t>vector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#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dirty="0" sz="1600" spc="-25">
                          <a:latin typeface="Courier New"/>
                          <a:cs typeface="Courier New"/>
                        </a:rPr>
                        <a:t>2: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ts val="1895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[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0.80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0.90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0325"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0.80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9209">
                        <a:lnSpc>
                          <a:spcPts val="1895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]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92100">
                <a:tc>
                  <a:txBody>
                    <a:bodyPr/>
                    <a:lstStyle/>
                    <a:p>
                      <a:pPr algn="r" marR="53340">
                        <a:lnSpc>
                          <a:spcPts val="1895"/>
                        </a:lnSpc>
                      </a:pPr>
                      <a:r>
                        <a:rPr dirty="0" sz="1600" spc="-10">
                          <a:latin typeface="Courier New"/>
                          <a:cs typeface="Courier New"/>
                        </a:rPr>
                        <a:t>Input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dirty="0" sz="1600" spc="-10">
                          <a:latin typeface="Courier New"/>
                          <a:cs typeface="Courier New"/>
                        </a:rPr>
                        <a:t>vector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#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dirty="0" sz="1600" spc="-25">
                          <a:latin typeface="Courier New"/>
                          <a:cs typeface="Courier New"/>
                        </a:rPr>
                        <a:t>4: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ts val="1895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[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1.00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1.00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0325"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1.00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9209">
                        <a:lnSpc>
                          <a:spcPts val="1895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]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60350">
                <a:tc>
                  <a:txBody>
                    <a:bodyPr/>
                    <a:lstStyle/>
                    <a:p>
                      <a:pPr algn="r" marR="53340">
                        <a:lnSpc>
                          <a:spcPts val="1895"/>
                        </a:lnSpc>
                      </a:pPr>
                      <a:r>
                        <a:rPr dirty="0" sz="1600" spc="-10">
                          <a:latin typeface="Courier New"/>
                          <a:cs typeface="Courier New"/>
                        </a:rPr>
                        <a:t>Input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dirty="0" sz="1600" spc="-10">
                          <a:latin typeface="Courier New"/>
                          <a:cs typeface="Courier New"/>
                        </a:rPr>
                        <a:t>vector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#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dirty="0" sz="1600" spc="-25">
                          <a:latin typeface="Courier New"/>
                          <a:cs typeface="Courier New"/>
                        </a:rPr>
                        <a:t>5: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ts val="1895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[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0.90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1.00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0325"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1.10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9209">
                        <a:lnSpc>
                          <a:spcPts val="1895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]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19469" rIns="0" bIns="0" rtlCol="0" vert="horz">
            <a:spAutoFit/>
          </a:bodyPr>
          <a:lstStyle/>
          <a:p>
            <a:pPr marL="1500505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800000"/>
                </a:solidFill>
              </a:rPr>
              <a:t>SCL</a:t>
            </a:r>
            <a:r>
              <a:rPr dirty="0" sz="4000" spc="-70">
                <a:solidFill>
                  <a:srgbClr val="800000"/>
                </a:solidFill>
              </a:rPr>
              <a:t> </a:t>
            </a:r>
            <a:r>
              <a:rPr dirty="0" sz="4000" spc="-10">
                <a:solidFill>
                  <a:srgbClr val="800000"/>
                </a:solidFill>
              </a:rPr>
              <a:t>Examples</a:t>
            </a:r>
            <a:endParaRPr sz="40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79387" y="1700809"/>
            <a:ext cx="8077200" cy="5011420"/>
          </a:xfrm>
          <a:custGeom>
            <a:avLst/>
            <a:gdLst/>
            <a:ahLst/>
            <a:cxnLst/>
            <a:rect l="l" t="t" r="r" b="b"/>
            <a:pathLst>
              <a:path w="8077200" h="5011420">
                <a:moveTo>
                  <a:pt x="8077200" y="0"/>
                </a:moveTo>
                <a:lnTo>
                  <a:pt x="0" y="0"/>
                </a:lnTo>
                <a:lnTo>
                  <a:pt x="0" y="5011140"/>
                </a:lnTo>
                <a:lnTo>
                  <a:pt x="8077200" y="5011140"/>
                </a:lnTo>
                <a:lnTo>
                  <a:pt x="80772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258127" y="1707794"/>
            <a:ext cx="282956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ourier New"/>
                <a:cs typeface="Courier New"/>
              </a:rPr>
              <a:t>Initial</a:t>
            </a:r>
            <a:r>
              <a:rPr dirty="0" sz="1600" spc="-6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Weight</a:t>
            </a:r>
            <a:r>
              <a:rPr dirty="0" sz="1600" spc="-65">
                <a:latin typeface="Courier New"/>
                <a:cs typeface="Courier New"/>
              </a:rPr>
              <a:t> </a:t>
            </a:r>
            <a:r>
              <a:rPr dirty="0" sz="1600" spc="-10">
                <a:latin typeface="Courier New"/>
                <a:cs typeface="Courier New"/>
              </a:rPr>
              <a:t>Vectors: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70827" y="1975764"/>
            <a:ext cx="2804160" cy="0"/>
          </a:xfrm>
          <a:custGeom>
            <a:avLst/>
            <a:gdLst/>
            <a:ahLst/>
            <a:cxnLst/>
            <a:rect l="l" t="t" r="r" b="b"/>
            <a:pathLst>
              <a:path w="2804160" h="0">
                <a:moveTo>
                  <a:pt x="0" y="0"/>
                </a:moveTo>
                <a:lnTo>
                  <a:pt x="2804160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482917" y="2046520"/>
          <a:ext cx="7211059" cy="812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4629"/>
                <a:gridCol w="670559"/>
                <a:gridCol w="731519"/>
                <a:gridCol w="670559"/>
                <a:gridCol w="365760"/>
                <a:gridCol w="2560320"/>
                <a:gridCol w="975360"/>
                <a:gridCol w="946149"/>
              </a:tblGrid>
              <a:tr h="260350">
                <a:tc>
                  <a:txBody>
                    <a:bodyPr/>
                    <a:lstStyle/>
                    <a:p>
                      <a:pPr algn="ctr" marR="21590">
                        <a:lnSpc>
                          <a:spcPts val="1650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[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3340">
                        <a:lnSpc>
                          <a:spcPts val="1650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1.00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0.80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0325">
                        <a:lnSpc>
                          <a:spcPts val="1650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1.00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650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]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ts val="1650"/>
                        </a:lnSpc>
                      </a:pPr>
                      <a:r>
                        <a:rPr dirty="0" sz="1600">
                          <a:latin typeface="Courier New"/>
                          <a:cs typeface="Courier New"/>
                        </a:rPr>
                        <a:t>*</a:t>
                      </a:r>
                      <a:r>
                        <a:rPr dirty="0" sz="1600" spc="-4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>
                          <a:latin typeface="Courier New"/>
                          <a:cs typeface="Courier New"/>
                        </a:rPr>
                        <a:t>Better</a:t>
                      </a:r>
                      <a:r>
                        <a:rPr dirty="0" sz="1600" spc="-4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>
                          <a:latin typeface="Courier New"/>
                          <a:cs typeface="Courier New"/>
                        </a:rPr>
                        <a:t>balance</a:t>
                      </a:r>
                      <a:r>
                        <a:rPr dirty="0" sz="1600" spc="-4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25">
                          <a:latin typeface="Courier New"/>
                          <a:cs typeface="Courier New"/>
                        </a:rPr>
                        <a:t>of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650"/>
                        </a:lnSpc>
                      </a:pPr>
                      <a:r>
                        <a:rPr dirty="0" sz="1600" spc="-10">
                          <a:latin typeface="Courier New"/>
                          <a:cs typeface="Courier New"/>
                        </a:rPr>
                        <a:t>initial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650"/>
                        </a:lnSpc>
                      </a:pPr>
                      <a:r>
                        <a:rPr dirty="0" sz="1600" spc="-10">
                          <a:latin typeface="Courier New"/>
                          <a:cs typeface="Courier New"/>
                        </a:rPr>
                        <a:t>weights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92100">
                <a:tc>
                  <a:txBody>
                    <a:bodyPr/>
                    <a:lstStyle/>
                    <a:p>
                      <a:pPr algn="ctr" marR="21590">
                        <a:lnSpc>
                          <a:spcPts val="1895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[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3340"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0.80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1.00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0325"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1.20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895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]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60350">
                <a:tc>
                  <a:txBody>
                    <a:bodyPr/>
                    <a:lstStyle/>
                    <a:p>
                      <a:pPr algn="ctr" marR="21590">
                        <a:lnSpc>
                          <a:spcPts val="1895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[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3340"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1.00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1.00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0325"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0.80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895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]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9" name="object 9" descr=""/>
          <p:cNvSpPr txBox="1"/>
          <p:nvPr/>
        </p:nvSpPr>
        <p:spPr>
          <a:xfrm>
            <a:off x="380047" y="6415320"/>
            <a:ext cx="3561079" cy="2552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750"/>
              </a:lnSpc>
            </a:pPr>
            <a:r>
              <a:rPr dirty="0" sz="1600">
                <a:latin typeface="Courier New"/>
                <a:cs typeface="Courier New"/>
              </a:rPr>
              <a:t>**</a:t>
            </a:r>
            <a:r>
              <a:rPr dirty="0" sz="1600" spc="-3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3</a:t>
            </a:r>
            <a:r>
              <a:rPr dirty="0" sz="1600" spc="-3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clusters</a:t>
            </a:r>
            <a:r>
              <a:rPr dirty="0" sz="1600" spc="-3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of</a:t>
            </a:r>
            <a:r>
              <a:rPr dirty="0" sz="1600" spc="-3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equal</a:t>
            </a:r>
            <a:r>
              <a:rPr dirty="0" sz="1600" spc="-35">
                <a:latin typeface="Courier New"/>
                <a:cs typeface="Courier New"/>
              </a:rPr>
              <a:t> </a:t>
            </a:r>
            <a:r>
              <a:rPr dirty="0" sz="1600" spc="-10">
                <a:latin typeface="Courier New"/>
                <a:cs typeface="Courier New"/>
              </a:rPr>
              <a:t>size!!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46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258127" y="3119272"/>
            <a:ext cx="4902200" cy="60960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u="sng" sz="160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Clusters</a:t>
            </a:r>
            <a:r>
              <a:rPr dirty="0" u="sng" sz="1600" spc="-5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dirty="0" u="sng" sz="160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after</a:t>
            </a:r>
            <a:r>
              <a:rPr dirty="0" u="sng" sz="1600" spc="-5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dirty="0" u="sng" sz="160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10</a:t>
            </a:r>
            <a:r>
              <a:rPr dirty="0" u="sng" sz="1600" spc="-45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dirty="0" u="sng" sz="1600" spc="-1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epochs:</a:t>
            </a:r>
            <a:endParaRPr sz="1600">
              <a:latin typeface="Courier New"/>
              <a:cs typeface="Courier New"/>
            </a:endParaRPr>
          </a:p>
          <a:p>
            <a:pPr marL="134620">
              <a:lnSpc>
                <a:spcPct val="100000"/>
              </a:lnSpc>
              <a:spcBef>
                <a:spcPts val="380"/>
              </a:spcBef>
              <a:tabLst>
                <a:tab pos="3425825" algn="l"/>
                <a:tab pos="4157345" algn="l"/>
              </a:tabLst>
            </a:pPr>
            <a:r>
              <a:rPr dirty="0" sz="1600">
                <a:latin typeface="Courier New"/>
                <a:cs typeface="Courier New"/>
              </a:rPr>
              <a:t>Weight</a:t>
            </a:r>
            <a:r>
              <a:rPr dirty="0" sz="1600" spc="-35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vector</a:t>
            </a:r>
            <a:r>
              <a:rPr dirty="0" sz="1600" spc="-3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#</a:t>
            </a:r>
            <a:r>
              <a:rPr dirty="0" sz="1600" spc="-3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1:</a:t>
            </a:r>
            <a:r>
              <a:rPr dirty="0" sz="1600" spc="-3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[</a:t>
            </a:r>
            <a:r>
              <a:rPr dirty="0" sz="1600" spc="-30">
                <a:latin typeface="Courier New"/>
                <a:cs typeface="Courier New"/>
              </a:rPr>
              <a:t> </a:t>
            </a:r>
            <a:r>
              <a:rPr dirty="0" sz="1600" spc="-20">
                <a:latin typeface="Courier New"/>
                <a:cs typeface="Courier New"/>
              </a:rPr>
              <a:t>0.83</a:t>
            </a:r>
            <a:r>
              <a:rPr dirty="0" sz="1600">
                <a:latin typeface="Courier New"/>
                <a:cs typeface="Courier New"/>
              </a:rPr>
              <a:t>	</a:t>
            </a:r>
            <a:r>
              <a:rPr dirty="0" sz="1600" spc="-20">
                <a:latin typeface="Courier New"/>
                <a:cs typeface="Courier New"/>
              </a:rPr>
              <a:t>0.90</a:t>
            </a:r>
            <a:r>
              <a:rPr dirty="0" sz="1600">
                <a:latin typeface="Courier New"/>
                <a:cs typeface="Courier New"/>
              </a:rPr>
              <a:t>	0.83</a:t>
            </a:r>
            <a:r>
              <a:rPr dirty="0" sz="1600" spc="-40">
                <a:latin typeface="Courier New"/>
                <a:cs typeface="Courier New"/>
              </a:rPr>
              <a:t> </a:t>
            </a:r>
            <a:r>
              <a:rPr dirty="0" sz="1600" spc="-50">
                <a:latin typeface="Courier New"/>
                <a:cs typeface="Courier New"/>
              </a:rPr>
              <a:t>]</a:t>
            </a:r>
            <a:endParaRPr sz="1600">
              <a:latin typeface="Courier New"/>
              <a:cs typeface="Courier New"/>
            </a:endParaRPr>
          </a:p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360997" y="3799120"/>
          <a:ext cx="5382260" cy="2279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1510"/>
                <a:gridCol w="609600"/>
                <a:gridCol w="670560"/>
                <a:gridCol w="609600"/>
                <a:gridCol w="609600"/>
                <a:gridCol w="670560"/>
                <a:gridCol w="214629"/>
              </a:tblGrid>
              <a:tr h="260350">
                <a:tc>
                  <a:txBody>
                    <a:bodyPr/>
                    <a:lstStyle/>
                    <a:p>
                      <a:pPr algn="r" marR="53340">
                        <a:lnSpc>
                          <a:spcPts val="1650"/>
                        </a:lnSpc>
                      </a:pPr>
                      <a:r>
                        <a:rPr dirty="0" sz="1600">
                          <a:latin typeface="Courier New"/>
                          <a:cs typeface="Courier New"/>
                        </a:rPr>
                        <a:t>Input</a:t>
                      </a:r>
                      <a:r>
                        <a:rPr dirty="0" sz="1600" spc="-5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10">
                          <a:latin typeface="Courier New"/>
                          <a:cs typeface="Courier New"/>
                        </a:rPr>
                        <a:t>vector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</a:pPr>
                      <a:r>
                        <a:rPr dirty="0" sz="1600">
                          <a:latin typeface="Courier New"/>
                          <a:cs typeface="Courier New"/>
                        </a:rPr>
                        <a:t>#</a:t>
                      </a:r>
                      <a:r>
                        <a:rPr dirty="0" sz="16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25">
                          <a:latin typeface="Courier New"/>
                          <a:cs typeface="Courier New"/>
                        </a:rPr>
                        <a:t>1: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04800">
                        <a:lnSpc>
                          <a:spcPts val="1650"/>
                        </a:lnSpc>
                      </a:pPr>
                      <a:r>
                        <a:rPr dirty="0" sz="1600">
                          <a:latin typeface="Courier New"/>
                          <a:cs typeface="Courier New"/>
                        </a:rPr>
                        <a:t>[</a:t>
                      </a:r>
                      <a:r>
                        <a:rPr dirty="0" sz="16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20">
                          <a:latin typeface="Courier New"/>
                          <a:cs typeface="Courier New"/>
                        </a:rPr>
                        <a:t>0.90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0.90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340">
                        <a:lnSpc>
                          <a:spcPts val="1650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0.90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9209">
                        <a:lnSpc>
                          <a:spcPts val="1650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]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60350">
                <a:tc>
                  <a:txBody>
                    <a:bodyPr/>
                    <a:lstStyle/>
                    <a:p>
                      <a:pPr algn="r" marR="53340">
                        <a:lnSpc>
                          <a:spcPts val="1895"/>
                        </a:lnSpc>
                      </a:pPr>
                      <a:r>
                        <a:rPr dirty="0" sz="1600">
                          <a:latin typeface="Courier New"/>
                          <a:cs typeface="Courier New"/>
                        </a:rPr>
                        <a:t>Input</a:t>
                      </a:r>
                      <a:r>
                        <a:rPr dirty="0" sz="1600" spc="-5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10">
                          <a:latin typeface="Courier New"/>
                          <a:cs typeface="Courier New"/>
                        </a:rPr>
                        <a:t>vector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dirty="0" sz="1600">
                          <a:latin typeface="Courier New"/>
                          <a:cs typeface="Courier New"/>
                        </a:rPr>
                        <a:t>#</a:t>
                      </a:r>
                      <a:r>
                        <a:rPr dirty="0" sz="16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25">
                          <a:latin typeface="Courier New"/>
                          <a:cs typeface="Courier New"/>
                        </a:rPr>
                        <a:t>2: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04800">
                        <a:lnSpc>
                          <a:spcPts val="1895"/>
                        </a:lnSpc>
                      </a:pPr>
                      <a:r>
                        <a:rPr dirty="0" sz="1600">
                          <a:latin typeface="Courier New"/>
                          <a:cs typeface="Courier New"/>
                        </a:rPr>
                        <a:t>[</a:t>
                      </a:r>
                      <a:r>
                        <a:rPr dirty="0" sz="16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20">
                          <a:latin typeface="Courier New"/>
                          <a:cs typeface="Courier New"/>
                        </a:rPr>
                        <a:t>0.80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0.90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340"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0.80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9209">
                        <a:lnSpc>
                          <a:spcPts val="1895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]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92100">
                <a:tc>
                  <a:txBody>
                    <a:bodyPr/>
                    <a:lstStyle/>
                    <a:p>
                      <a:pPr algn="r" marR="533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600">
                          <a:latin typeface="Courier New"/>
                          <a:cs typeface="Courier New"/>
                        </a:rPr>
                        <a:t>Weight</a:t>
                      </a:r>
                      <a:r>
                        <a:rPr dirty="0" sz="1600" spc="-6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>
                          <a:latin typeface="Courier New"/>
                          <a:cs typeface="Courier New"/>
                        </a:rPr>
                        <a:t>vector</a:t>
                      </a:r>
                      <a:r>
                        <a:rPr dirty="0" sz="1600" spc="-6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50">
                          <a:latin typeface="Courier New"/>
                          <a:cs typeface="Courier New"/>
                        </a:rPr>
                        <a:t>#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2794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600">
                          <a:latin typeface="Courier New"/>
                          <a:cs typeface="Courier New"/>
                        </a:rPr>
                        <a:t>2:</a:t>
                      </a:r>
                      <a:r>
                        <a:rPr dirty="0" sz="1600" spc="-2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50">
                          <a:latin typeface="Courier New"/>
                          <a:cs typeface="Courier New"/>
                        </a:rPr>
                        <a:t>[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27940"/>
                </a:tc>
                <a:tc>
                  <a:txBody>
                    <a:bodyPr/>
                    <a:lstStyle/>
                    <a:p>
                      <a:pPr algn="ctr" marR="533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0.93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2794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1.00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27940"/>
                </a:tc>
                <a:tc gridSpan="3">
                  <a:txBody>
                    <a:bodyPr/>
                    <a:lstStyle/>
                    <a:p>
                      <a:pPr marL="2438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600">
                          <a:latin typeface="Courier New"/>
                          <a:cs typeface="Courier New"/>
                        </a:rPr>
                        <a:t>1.07</a:t>
                      </a:r>
                      <a:r>
                        <a:rPr dirty="0" sz="1600" spc="-4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50">
                          <a:latin typeface="Courier New"/>
                          <a:cs typeface="Courier New"/>
                        </a:rPr>
                        <a:t>]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2794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23215">
                <a:tc>
                  <a:txBody>
                    <a:bodyPr/>
                    <a:lstStyle/>
                    <a:p>
                      <a:pPr algn="r" marR="533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600">
                          <a:latin typeface="Courier New"/>
                          <a:cs typeface="Courier New"/>
                        </a:rPr>
                        <a:t>Input</a:t>
                      </a:r>
                      <a:r>
                        <a:rPr dirty="0" sz="1600" spc="-5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10">
                          <a:latin typeface="Courier New"/>
                          <a:cs typeface="Courier New"/>
                        </a:rPr>
                        <a:t>vector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2794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600">
                          <a:latin typeface="Courier New"/>
                          <a:cs typeface="Courier New"/>
                        </a:rPr>
                        <a:t>#</a:t>
                      </a:r>
                      <a:r>
                        <a:rPr dirty="0" sz="16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25">
                          <a:latin typeface="Courier New"/>
                          <a:cs typeface="Courier New"/>
                        </a:rPr>
                        <a:t>4: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27940"/>
                </a:tc>
                <a:tc gridSpan="2">
                  <a:txBody>
                    <a:bodyPr/>
                    <a:lstStyle/>
                    <a:p>
                      <a:pPr marL="3048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600">
                          <a:latin typeface="Courier New"/>
                          <a:cs typeface="Courier New"/>
                        </a:rPr>
                        <a:t>[</a:t>
                      </a:r>
                      <a:r>
                        <a:rPr dirty="0" sz="16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20">
                          <a:latin typeface="Courier New"/>
                          <a:cs typeface="Courier New"/>
                        </a:rPr>
                        <a:t>1.00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2794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1.00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27940"/>
                </a:tc>
                <a:tc>
                  <a:txBody>
                    <a:bodyPr/>
                    <a:lstStyle/>
                    <a:p>
                      <a:pPr algn="r" marR="533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1.00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27940"/>
                </a:tc>
                <a:tc>
                  <a:txBody>
                    <a:bodyPr/>
                    <a:lstStyle/>
                    <a:p>
                      <a:pPr algn="ctr" marL="29209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]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27940"/>
                </a:tc>
              </a:tr>
              <a:tr h="260350">
                <a:tc>
                  <a:txBody>
                    <a:bodyPr/>
                    <a:lstStyle/>
                    <a:p>
                      <a:pPr algn="r" marR="53340">
                        <a:lnSpc>
                          <a:spcPts val="1895"/>
                        </a:lnSpc>
                      </a:pPr>
                      <a:r>
                        <a:rPr dirty="0" sz="1600">
                          <a:latin typeface="Courier New"/>
                          <a:cs typeface="Courier New"/>
                        </a:rPr>
                        <a:t>Input</a:t>
                      </a:r>
                      <a:r>
                        <a:rPr dirty="0" sz="1600" spc="-5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10">
                          <a:latin typeface="Courier New"/>
                          <a:cs typeface="Courier New"/>
                        </a:rPr>
                        <a:t>vector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dirty="0" sz="1600">
                          <a:latin typeface="Courier New"/>
                          <a:cs typeface="Courier New"/>
                        </a:rPr>
                        <a:t>#</a:t>
                      </a:r>
                      <a:r>
                        <a:rPr dirty="0" sz="16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25">
                          <a:latin typeface="Courier New"/>
                          <a:cs typeface="Courier New"/>
                        </a:rPr>
                        <a:t>5: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04800">
                        <a:lnSpc>
                          <a:spcPts val="1895"/>
                        </a:lnSpc>
                      </a:pPr>
                      <a:r>
                        <a:rPr dirty="0" sz="1600">
                          <a:latin typeface="Courier New"/>
                          <a:cs typeface="Courier New"/>
                        </a:rPr>
                        <a:t>[</a:t>
                      </a:r>
                      <a:r>
                        <a:rPr dirty="0" sz="16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20">
                          <a:latin typeface="Courier New"/>
                          <a:cs typeface="Courier New"/>
                        </a:rPr>
                        <a:t>0.90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1.00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340">
                        <a:lnSpc>
                          <a:spcPts val="1895"/>
                        </a:lnSpc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1.10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9209">
                        <a:lnSpc>
                          <a:spcPts val="1895"/>
                        </a:lnSpc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]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92100">
                <a:tc>
                  <a:txBody>
                    <a:bodyPr/>
                    <a:lstStyle/>
                    <a:p>
                      <a:pPr algn="r" marR="533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600">
                          <a:latin typeface="Courier New"/>
                          <a:cs typeface="Courier New"/>
                        </a:rPr>
                        <a:t>Weight</a:t>
                      </a:r>
                      <a:r>
                        <a:rPr dirty="0" sz="1600" spc="-6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>
                          <a:latin typeface="Courier New"/>
                          <a:cs typeface="Courier New"/>
                        </a:rPr>
                        <a:t>vector</a:t>
                      </a:r>
                      <a:r>
                        <a:rPr dirty="0" sz="1600" spc="-6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50">
                          <a:latin typeface="Courier New"/>
                          <a:cs typeface="Courier New"/>
                        </a:rPr>
                        <a:t>#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2794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600">
                          <a:latin typeface="Courier New"/>
                          <a:cs typeface="Courier New"/>
                        </a:rPr>
                        <a:t>3:</a:t>
                      </a:r>
                      <a:r>
                        <a:rPr dirty="0" sz="1600" spc="-2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50">
                          <a:latin typeface="Courier New"/>
                          <a:cs typeface="Courier New"/>
                        </a:rPr>
                        <a:t>[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27940"/>
                </a:tc>
                <a:tc>
                  <a:txBody>
                    <a:bodyPr/>
                    <a:lstStyle/>
                    <a:p>
                      <a:pPr algn="ctr" marR="533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1.07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2794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0.97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27940"/>
                </a:tc>
                <a:tc gridSpan="3">
                  <a:txBody>
                    <a:bodyPr/>
                    <a:lstStyle/>
                    <a:p>
                      <a:pPr marL="2438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600">
                          <a:latin typeface="Courier New"/>
                          <a:cs typeface="Courier New"/>
                        </a:rPr>
                        <a:t>0.73</a:t>
                      </a:r>
                      <a:r>
                        <a:rPr dirty="0" sz="1600" spc="-4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50">
                          <a:latin typeface="Courier New"/>
                          <a:cs typeface="Courier New"/>
                        </a:rPr>
                        <a:t>]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2794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27025">
                <a:tc>
                  <a:txBody>
                    <a:bodyPr/>
                    <a:lstStyle/>
                    <a:p>
                      <a:pPr algn="r" marR="533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600">
                          <a:latin typeface="Courier New"/>
                          <a:cs typeface="Courier New"/>
                        </a:rPr>
                        <a:t>Input</a:t>
                      </a:r>
                      <a:r>
                        <a:rPr dirty="0" sz="1600" spc="-5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10">
                          <a:latin typeface="Courier New"/>
                          <a:cs typeface="Courier New"/>
                        </a:rPr>
                        <a:t>vector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2794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600">
                          <a:latin typeface="Courier New"/>
                          <a:cs typeface="Courier New"/>
                        </a:rPr>
                        <a:t>#</a:t>
                      </a:r>
                      <a:r>
                        <a:rPr dirty="0" sz="16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25">
                          <a:latin typeface="Courier New"/>
                          <a:cs typeface="Courier New"/>
                        </a:rPr>
                        <a:t>3: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27940"/>
                </a:tc>
                <a:tc gridSpan="2">
                  <a:txBody>
                    <a:bodyPr/>
                    <a:lstStyle/>
                    <a:p>
                      <a:pPr marL="3048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600">
                          <a:latin typeface="Courier New"/>
                          <a:cs typeface="Courier New"/>
                        </a:rPr>
                        <a:t>[</a:t>
                      </a:r>
                      <a:r>
                        <a:rPr dirty="0" sz="16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20">
                          <a:latin typeface="Courier New"/>
                          <a:cs typeface="Courier New"/>
                        </a:rPr>
                        <a:t>1.00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2794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0.90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27940"/>
                </a:tc>
                <a:tc>
                  <a:txBody>
                    <a:bodyPr/>
                    <a:lstStyle/>
                    <a:p>
                      <a:pPr algn="r" marR="533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0.80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27940"/>
                </a:tc>
                <a:tc>
                  <a:txBody>
                    <a:bodyPr/>
                    <a:lstStyle/>
                    <a:p>
                      <a:pPr algn="ctr" marL="29209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]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27940"/>
                </a:tc>
              </a:tr>
              <a:tr h="264160">
                <a:tc>
                  <a:txBody>
                    <a:bodyPr/>
                    <a:lstStyle/>
                    <a:p>
                      <a:pPr algn="r" marR="533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>
                          <a:latin typeface="Courier New"/>
                          <a:cs typeface="Courier New"/>
                        </a:rPr>
                        <a:t>Input</a:t>
                      </a:r>
                      <a:r>
                        <a:rPr dirty="0" sz="1600" spc="-5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10">
                          <a:latin typeface="Courier New"/>
                          <a:cs typeface="Courier New"/>
                        </a:rPr>
                        <a:t>vector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>
                          <a:latin typeface="Courier New"/>
                          <a:cs typeface="Courier New"/>
                        </a:rPr>
                        <a:t>#</a:t>
                      </a:r>
                      <a:r>
                        <a:rPr dirty="0" sz="16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25">
                          <a:latin typeface="Courier New"/>
                          <a:cs typeface="Courier New"/>
                        </a:rPr>
                        <a:t>6: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635"/>
                </a:tc>
                <a:tc gridSpan="2">
                  <a:txBody>
                    <a:bodyPr/>
                    <a:lstStyle/>
                    <a:p>
                      <a:pPr marL="3048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>
                          <a:latin typeface="Courier New"/>
                          <a:cs typeface="Courier New"/>
                        </a:rPr>
                        <a:t>[</a:t>
                      </a:r>
                      <a:r>
                        <a:rPr dirty="0" sz="16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20">
                          <a:latin typeface="Courier New"/>
                          <a:cs typeface="Courier New"/>
                        </a:rPr>
                        <a:t>1.10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635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1.00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 marR="533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20">
                          <a:latin typeface="Courier New"/>
                          <a:cs typeface="Courier New"/>
                        </a:rPr>
                        <a:t>0.70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ctr" marL="29209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50">
                          <a:latin typeface="Courier New"/>
                          <a:cs typeface="Courier New"/>
                        </a:rPr>
                        <a:t>]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635"/>
                </a:tc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19469" rIns="0" bIns="0" rtlCol="0" vert="horz">
            <a:spAutoFit/>
          </a:bodyPr>
          <a:lstStyle/>
          <a:p>
            <a:pPr marL="1500505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800000"/>
                </a:solidFill>
              </a:rPr>
              <a:t>SCL</a:t>
            </a:r>
            <a:r>
              <a:rPr dirty="0" sz="4000" spc="-70">
                <a:solidFill>
                  <a:srgbClr val="800000"/>
                </a:solidFill>
              </a:rPr>
              <a:t> </a:t>
            </a:r>
            <a:r>
              <a:rPr dirty="0" sz="4000" spc="-10">
                <a:solidFill>
                  <a:srgbClr val="800000"/>
                </a:solidFill>
              </a:rPr>
              <a:t>Examples</a:t>
            </a:r>
            <a:endParaRPr sz="40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88340" y="2093963"/>
            <a:ext cx="7479665" cy="13049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3354"/>
              </a:lnSpc>
              <a:spcBef>
                <a:spcPts val="95"/>
              </a:spcBef>
            </a:pPr>
            <a:r>
              <a:rPr dirty="0" sz="2800" b="1">
                <a:solidFill>
                  <a:srgbClr val="3333CC"/>
                </a:solidFill>
                <a:latin typeface="Tahoma"/>
                <a:cs typeface="Tahoma"/>
              </a:rPr>
              <a:t>Lateral</a:t>
            </a:r>
            <a:r>
              <a:rPr dirty="0" sz="2800" spc="-95" b="1">
                <a:solidFill>
                  <a:srgbClr val="3333CC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3333CC"/>
                </a:solidFill>
                <a:latin typeface="Tahoma"/>
                <a:cs typeface="Tahoma"/>
              </a:rPr>
              <a:t>inhibition</a:t>
            </a:r>
            <a:endParaRPr sz="2800">
              <a:latin typeface="Tahoma"/>
              <a:cs typeface="Tahoma"/>
            </a:endParaRPr>
          </a:p>
          <a:p>
            <a:pPr marL="241300" marR="5080">
              <a:lnSpc>
                <a:spcPts val="3370"/>
              </a:lnSpc>
              <a:spcBef>
                <a:spcPts val="80"/>
              </a:spcBef>
            </a:pPr>
            <a:r>
              <a:rPr dirty="0" sz="2800">
                <a:latin typeface="Tahoma"/>
                <a:cs typeface="Tahoma"/>
              </a:rPr>
              <a:t>output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each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node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feeds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to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others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through </a:t>
            </a:r>
            <a:r>
              <a:rPr dirty="0" sz="2800">
                <a:latin typeface="Tahoma"/>
                <a:cs typeface="Tahoma"/>
              </a:rPr>
              <a:t>inhibitory</a:t>
            </a:r>
            <a:r>
              <a:rPr dirty="0" sz="2800" spc="-9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connections</a:t>
            </a:r>
            <a:r>
              <a:rPr dirty="0" sz="2800" spc="-8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(with</a:t>
            </a:r>
            <a:r>
              <a:rPr dirty="0" sz="2800" spc="-9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negative</a:t>
            </a:r>
            <a:r>
              <a:rPr dirty="0" sz="2800" spc="-8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weights)</a:t>
            </a:r>
            <a:endParaRPr sz="2800">
              <a:latin typeface="Tahoma"/>
              <a:cs typeface="Tahom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6876" y="3929291"/>
            <a:ext cx="2400338" cy="51561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097914" y="3582720"/>
            <a:ext cx="2084070" cy="7023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L="55880">
              <a:lnSpc>
                <a:spcPts val="3040"/>
              </a:lnSpc>
              <a:spcBef>
                <a:spcPts val="125"/>
              </a:spcBef>
            </a:pPr>
            <a:r>
              <a:rPr dirty="0" sz="2650" spc="-330" i="1">
                <a:latin typeface="Courier New"/>
                <a:cs typeface="Courier New"/>
              </a:rPr>
              <a:t>w</a:t>
            </a:r>
            <a:r>
              <a:rPr dirty="0" baseline="-21241" sz="2550" spc="-494" i="1">
                <a:latin typeface="Courier New"/>
                <a:cs typeface="Courier New"/>
              </a:rPr>
              <a:t>ij</a:t>
            </a:r>
            <a:r>
              <a:rPr dirty="0" baseline="-21241" sz="2550" spc="-862" i="1">
                <a:latin typeface="Courier New"/>
                <a:cs typeface="Courier New"/>
              </a:rPr>
              <a:t> </a:t>
            </a:r>
            <a:r>
              <a:rPr dirty="0" sz="2650" spc="-940">
                <a:latin typeface="Courier New"/>
                <a:cs typeface="Courier New"/>
              </a:rPr>
              <a:t>,</a:t>
            </a:r>
            <a:r>
              <a:rPr dirty="0" sz="2650" spc="-735">
                <a:latin typeface="Courier New"/>
                <a:cs typeface="Courier New"/>
              </a:rPr>
              <a:t> </a:t>
            </a:r>
            <a:r>
              <a:rPr dirty="0" sz="2650" spc="-190" i="1">
                <a:latin typeface="Courier New"/>
                <a:cs typeface="Courier New"/>
              </a:rPr>
              <a:t>w</a:t>
            </a:r>
            <a:r>
              <a:rPr dirty="0" baseline="-21241" sz="2550" spc="-284" i="1">
                <a:latin typeface="Courier New"/>
                <a:cs typeface="Courier New"/>
              </a:rPr>
              <a:t>ji</a:t>
            </a:r>
            <a:r>
              <a:rPr dirty="0" baseline="-21241" sz="2550" spc="-75" i="1">
                <a:latin typeface="Courier New"/>
                <a:cs typeface="Courier New"/>
              </a:rPr>
              <a:t> </a:t>
            </a:r>
            <a:r>
              <a:rPr dirty="0" sz="2650" spc="-150">
                <a:latin typeface="Courier New"/>
                <a:cs typeface="Courier New"/>
              </a:rPr>
              <a:t>&lt;</a:t>
            </a:r>
            <a:r>
              <a:rPr dirty="0" sz="2650" spc="-930">
                <a:latin typeface="Courier New"/>
                <a:cs typeface="Courier New"/>
              </a:rPr>
              <a:t> </a:t>
            </a:r>
            <a:r>
              <a:rPr dirty="0" sz="2650" spc="-320">
                <a:latin typeface="Courier New"/>
                <a:cs typeface="Courier New"/>
              </a:rPr>
              <a:t>0</a:t>
            </a:r>
            <a:endParaRPr sz="2650">
              <a:latin typeface="Courier New"/>
              <a:cs typeface="Courier New"/>
            </a:endParaRPr>
          </a:p>
          <a:p>
            <a:pPr algn="ctr">
              <a:lnSpc>
                <a:spcPts val="2260"/>
              </a:lnSpc>
              <a:tabLst>
                <a:tab pos="1820545" algn="l"/>
              </a:tabLst>
            </a:pPr>
            <a:r>
              <a:rPr dirty="0" sz="2000" spc="-290" b="1" i="1">
                <a:latin typeface="Courier New"/>
                <a:cs typeface="Courier New"/>
              </a:rPr>
              <a:t>x</a:t>
            </a:r>
            <a:r>
              <a:rPr dirty="0" baseline="-17094" sz="1950" spc="-434" b="1" i="1">
                <a:latin typeface="Courier New"/>
                <a:cs typeface="Courier New"/>
              </a:rPr>
              <a:t>i</a:t>
            </a:r>
            <a:r>
              <a:rPr dirty="0" baseline="-17094" sz="1950" b="1" i="1">
                <a:latin typeface="Courier New"/>
                <a:cs typeface="Courier New"/>
              </a:rPr>
              <a:t>	</a:t>
            </a:r>
            <a:r>
              <a:rPr dirty="0" sz="2000" spc="-290" b="1" i="1">
                <a:latin typeface="Courier New"/>
                <a:cs typeface="Courier New"/>
              </a:rPr>
              <a:t>x</a:t>
            </a:r>
            <a:r>
              <a:rPr dirty="0" baseline="-17094" sz="1950" spc="-434" b="1" i="1">
                <a:latin typeface="Courier New"/>
                <a:cs typeface="Courier New"/>
              </a:rPr>
              <a:t>j</a:t>
            </a:r>
            <a:endParaRPr baseline="-17094" sz="1950">
              <a:latin typeface="Courier New"/>
              <a:cs typeface="Courier New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7628242" y="4145622"/>
            <a:ext cx="1085215" cy="1797050"/>
            <a:chOff x="7628242" y="4145622"/>
            <a:chExt cx="1085215" cy="1797050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28242" y="5770829"/>
              <a:ext cx="162979" cy="17145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94141" y="5770829"/>
              <a:ext cx="162979" cy="171450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8452103" y="4149305"/>
              <a:ext cx="256540" cy="271145"/>
            </a:xfrm>
            <a:custGeom>
              <a:avLst/>
              <a:gdLst/>
              <a:ahLst/>
              <a:cxnLst/>
              <a:rect l="l" t="t" r="r" b="b"/>
              <a:pathLst>
                <a:path w="256540" h="271145">
                  <a:moveTo>
                    <a:pt x="128435" y="0"/>
                  </a:moveTo>
                  <a:lnTo>
                    <a:pt x="87954" y="6912"/>
                  </a:lnTo>
                  <a:lnTo>
                    <a:pt x="52778" y="26184"/>
                  </a:lnTo>
                  <a:lnTo>
                    <a:pt x="24999" y="55618"/>
                  </a:lnTo>
                  <a:lnTo>
                    <a:pt x="6708" y="93016"/>
                  </a:lnTo>
                  <a:lnTo>
                    <a:pt x="0" y="136182"/>
                  </a:lnTo>
                  <a:lnTo>
                    <a:pt x="10277" y="188508"/>
                  </a:lnTo>
                  <a:lnTo>
                    <a:pt x="37833" y="231362"/>
                  </a:lnTo>
                  <a:lnTo>
                    <a:pt x="78581" y="260319"/>
                  </a:lnTo>
                  <a:lnTo>
                    <a:pt x="128435" y="270954"/>
                  </a:lnTo>
                  <a:lnTo>
                    <a:pt x="168906" y="264047"/>
                  </a:lnTo>
                  <a:lnTo>
                    <a:pt x="204058" y="244814"/>
                  </a:lnTo>
                  <a:lnTo>
                    <a:pt x="231779" y="215486"/>
                  </a:lnTo>
                  <a:lnTo>
                    <a:pt x="249960" y="178295"/>
                  </a:lnTo>
                  <a:lnTo>
                    <a:pt x="256489" y="135470"/>
                  </a:lnTo>
                  <a:lnTo>
                    <a:pt x="249960" y="92652"/>
                  </a:lnTo>
                  <a:lnTo>
                    <a:pt x="231779" y="55464"/>
                  </a:lnTo>
                  <a:lnTo>
                    <a:pt x="204058" y="26138"/>
                  </a:lnTo>
                  <a:lnTo>
                    <a:pt x="168906" y="6906"/>
                  </a:lnTo>
                  <a:lnTo>
                    <a:pt x="128435" y="0"/>
                  </a:lnTo>
                  <a:close/>
                </a:path>
              </a:pathLst>
            </a:custGeom>
            <a:solidFill>
              <a:srgbClr val="00E4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8447709" y="4145622"/>
              <a:ext cx="266065" cy="279400"/>
            </a:xfrm>
            <a:custGeom>
              <a:avLst/>
              <a:gdLst/>
              <a:ahLst/>
              <a:cxnLst/>
              <a:rect l="l" t="t" r="r" b="b"/>
              <a:pathLst>
                <a:path w="266065" h="279400">
                  <a:moveTo>
                    <a:pt x="146303" y="0"/>
                  </a:moveTo>
                  <a:lnTo>
                    <a:pt x="119100" y="0"/>
                  </a:lnTo>
                  <a:lnTo>
                    <a:pt x="99453" y="3809"/>
                  </a:lnTo>
                  <a:lnTo>
                    <a:pt x="93141" y="6349"/>
                  </a:lnTo>
                  <a:lnTo>
                    <a:pt x="86956" y="7619"/>
                  </a:lnTo>
                  <a:lnTo>
                    <a:pt x="80924" y="10159"/>
                  </a:lnTo>
                  <a:lnTo>
                    <a:pt x="75031" y="13969"/>
                  </a:lnTo>
                  <a:lnTo>
                    <a:pt x="71906" y="15355"/>
                  </a:lnTo>
                  <a:lnTo>
                    <a:pt x="38887" y="40639"/>
                  </a:lnTo>
                  <a:lnTo>
                    <a:pt x="15938" y="73659"/>
                  </a:lnTo>
                  <a:lnTo>
                    <a:pt x="13017" y="78739"/>
                  </a:lnTo>
                  <a:lnTo>
                    <a:pt x="1511" y="118109"/>
                  </a:lnTo>
                  <a:lnTo>
                    <a:pt x="249" y="132079"/>
                  </a:lnTo>
                  <a:lnTo>
                    <a:pt x="165" y="133349"/>
                  </a:lnTo>
                  <a:lnTo>
                    <a:pt x="0" y="139699"/>
                  </a:lnTo>
                  <a:lnTo>
                    <a:pt x="148" y="146049"/>
                  </a:lnTo>
                  <a:lnTo>
                    <a:pt x="177" y="147319"/>
                  </a:lnTo>
                  <a:lnTo>
                    <a:pt x="8077" y="187959"/>
                  </a:lnTo>
                  <a:lnTo>
                    <a:pt x="19227" y="212089"/>
                  </a:lnTo>
                  <a:lnTo>
                    <a:pt x="22682" y="218439"/>
                  </a:lnTo>
                  <a:lnTo>
                    <a:pt x="48145" y="247649"/>
                  </a:lnTo>
                  <a:lnTo>
                    <a:pt x="53162" y="251459"/>
                  </a:lnTo>
                  <a:lnTo>
                    <a:pt x="58356" y="256539"/>
                  </a:lnTo>
                  <a:lnTo>
                    <a:pt x="63944" y="260349"/>
                  </a:lnTo>
                  <a:lnTo>
                    <a:pt x="69535" y="262999"/>
                  </a:lnTo>
                  <a:lnTo>
                    <a:pt x="69678" y="262999"/>
                  </a:lnTo>
                  <a:lnTo>
                    <a:pt x="75171" y="266796"/>
                  </a:lnTo>
                  <a:lnTo>
                    <a:pt x="75472" y="266796"/>
                  </a:lnTo>
                  <a:lnTo>
                    <a:pt x="81140" y="269239"/>
                  </a:lnTo>
                  <a:lnTo>
                    <a:pt x="93370" y="274319"/>
                  </a:lnTo>
                  <a:lnTo>
                    <a:pt x="119341" y="279399"/>
                  </a:lnTo>
                  <a:lnTo>
                    <a:pt x="146545" y="279399"/>
                  </a:lnTo>
                  <a:lnTo>
                    <a:pt x="159766" y="276859"/>
                  </a:lnTo>
                  <a:lnTo>
                    <a:pt x="165950" y="275589"/>
                  </a:lnTo>
                  <a:lnTo>
                    <a:pt x="166192" y="275589"/>
                  </a:lnTo>
                  <a:lnTo>
                    <a:pt x="172504" y="273049"/>
                  </a:lnTo>
                  <a:lnTo>
                    <a:pt x="178689" y="271779"/>
                  </a:lnTo>
                  <a:lnTo>
                    <a:pt x="181705" y="270509"/>
                  </a:lnTo>
                  <a:lnTo>
                    <a:pt x="126619" y="270509"/>
                  </a:lnTo>
                  <a:lnTo>
                    <a:pt x="120116" y="269239"/>
                  </a:lnTo>
                  <a:lnTo>
                    <a:pt x="114211" y="269239"/>
                  </a:lnTo>
                  <a:lnTo>
                    <a:pt x="107899" y="267969"/>
                  </a:lnTo>
                  <a:lnTo>
                    <a:pt x="108140" y="267969"/>
                  </a:lnTo>
                  <a:lnTo>
                    <a:pt x="102415" y="266796"/>
                  </a:lnTo>
                  <a:lnTo>
                    <a:pt x="96001" y="264113"/>
                  </a:lnTo>
                  <a:lnTo>
                    <a:pt x="96162" y="264113"/>
                  </a:lnTo>
                  <a:lnTo>
                    <a:pt x="90912" y="262999"/>
                  </a:lnTo>
                  <a:lnTo>
                    <a:pt x="84810" y="260349"/>
                  </a:lnTo>
                  <a:lnTo>
                    <a:pt x="85026" y="260349"/>
                  </a:lnTo>
                  <a:lnTo>
                    <a:pt x="79362" y="257809"/>
                  </a:lnTo>
                  <a:lnTo>
                    <a:pt x="79578" y="257809"/>
                  </a:lnTo>
                  <a:lnTo>
                    <a:pt x="74221" y="255347"/>
                  </a:lnTo>
                  <a:lnTo>
                    <a:pt x="74121" y="255174"/>
                  </a:lnTo>
                  <a:lnTo>
                    <a:pt x="68897" y="251459"/>
                  </a:lnTo>
                  <a:lnTo>
                    <a:pt x="69088" y="251459"/>
                  </a:lnTo>
                  <a:lnTo>
                    <a:pt x="65625" y="248919"/>
                  </a:lnTo>
                  <a:lnTo>
                    <a:pt x="64084" y="248919"/>
                  </a:lnTo>
                  <a:lnTo>
                    <a:pt x="59067" y="245109"/>
                  </a:lnTo>
                  <a:lnTo>
                    <a:pt x="59245" y="245109"/>
                  </a:lnTo>
                  <a:lnTo>
                    <a:pt x="54516" y="241386"/>
                  </a:lnTo>
                  <a:lnTo>
                    <a:pt x="54503" y="241211"/>
                  </a:lnTo>
                  <a:lnTo>
                    <a:pt x="49203" y="235418"/>
                  </a:lnTo>
                  <a:lnTo>
                    <a:pt x="46283" y="232946"/>
                  </a:lnTo>
                  <a:lnTo>
                    <a:pt x="45861" y="232485"/>
                  </a:lnTo>
                  <a:lnTo>
                    <a:pt x="40861" y="226484"/>
                  </a:lnTo>
                  <a:lnTo>
                    <a:pt x="38255" y="224050"/>
                  </a:lnTo>
                  <a:lnTo>
                    <a:pt x="37885" y="223589"/>
                  </a:lnTo>
                  <a:lnTo>
                    <a:pt x="34023" y="218439"/>
                  </a:lnTo>
                  <a:lnTo>
                    <a:pt x="34163" y="218439"/>
                  </a:lnTo>
                  <a:lnTo>
                    <a:pt x="30594" y="213359"/>
                  </a:lnTo>
                  <a:lnTo>
                    <a:pt x="28023" y="208279"/>
                  </a:lnTo>
                  <a:lnTo>
                    <a:pt x="27495" y="208279"/>
                  </a:lnTo>
                  <a:lnTo>
                    <a:pt x="24409" y="201929"/>
                  </a:lnTo>
                  <a:lnTo>
                    <a:pt x="21678" y="196849"/>
                  </a:lnTo>
                  <a:lnTo>
                    <a:pt x="19202" y="190499"/>
                  </a:lnTo>
                  <a:lnTo>
                    <a:pt x="17434" y="185419"/>
                  </a:lnTo>
                  <a:lnTo>
                    <a:pt x="17068" y="185419"/>
                  </a:lnTo>
                  <a:lnTo>
                    <a:pt x="9757" y="147319"/>
                  </a:lnTo>
                  <a:lnTo>
                    <a:pt x="9677" y="146049"/>
                  </a:lnTo>
                  <a:lnTo>
                    <a:pt x="13449" y="106679"/>
                  </a:lnTo>
                  <a:lnTo>
                    <a:pt x="17068" y="95249"/>
                  </a:lnTo>
                  <a:lnTo>
                    <a:pt x="19291" y="88899"/>
                  </a:lnTo>
                  <a:lnTo>
                    <a:pt x="21767" y="82549"/>
                  </a:lnTo>
                  <a:lnTo>
                    <a:pt x="24511" y="77469"/>
                  </a:lnTo>
                  <a:lnTo>
                    <a:pt x="27495" y="72389"/>
                  </a:lnTo>
                  <a:lnTo>
                    <a:pt x="30708" y="66039"/>
                  </a:lnTo>
                  <a:lnTo>
                    <a:pt x="31308" y="66039"/>
                  </a:lnTo>
                  <a:lnTo>
                    <a:pt x="34580" y="60216"/>
                  </a:lnTo>
                  <a:lnTo>
                    <a:pt x="37833" y="55879"/>
                  </a:lnTo>
                  <a:lnTo>
                    <a:pt x="38700" y="55879"/>
                  </a:lnTo>
                  <a:lnTo>
                    <a:pt x="41719" y="52069"/>
                  </a:lnTo>
                  <a:lnTo>
                    <a:pt x="41567" y="52069"/>
                  </a:lnTo>
                  <a:lnTo>
                    <a:pt x="45746" y="47064"/>
                  </a:lnTo>
                  <a:lnTo>
                    <a:pt x="45744" y="46914"/>
                  </a:lnTo>
                  <a:lnTo>
                    <a:pt x="50101" y="43179"/>
                  </a:lnTo>
                  <a:lnTo>
                    <a:pt x="49936" y="43179"/>
                  </a:lnTo>
                  <a:lnTo>
                    <a:pt x="53773" y="40034"/>
                  </a:lnTo>
                  <a:lnTo>
                    <a:pt x="59245" y="34289"/>
                  </a:lnTo>
                  <a:lnTo>
                    <a:pt x="60739" y="34289"/>
                  </a:lnTo>
                  <a:lnTo>
                    <a:pt x="64084" y="31749"/>
                  </a:lnTo>
                  <a:lnTo>
                    <a:pt x="63893" y="31749"/>
                  </a:lnTo>
                  <a:lnTo>
                    <a:pt x="69088" y="27939"/>
                  </a:lnTo>
                  <a:lnTo>
                    <a:pt x="68897" y="27939"/>
                  </a:lnTo>
                  <a:lnTo>
                    <a:pt x="74256" y="24129"/>
                  </a:lnTo>
                  <a:lnTo>
                    <a:pt x="75895" y="24129"/>
                  </a:lnTo>
                  <a:lnTo>
                    <a:pt x="79431" y="21690"/>
                  </a:lnTo>
                  <a:lnTo>
                    <a:pt x="79542" y="21509"/>
                  </a:lnTo>
                  <a:lnTo>
                    <a:pt x="85026" y="19049"/>
                  </a:lnTo>
                  <a:lnTo>
                    <a:pt x="84810" y="19049"/>
                  </a:lnTo>
                  <a:lnTo>
                    <a:pt x="90435" y="16593"/>
                  </a:lnTo>
                  <a:lnTo>
                    <a:pt x="89966" y="16593"/>
                  </a:lnTo>
                  <a:lnTo>
                    <a:pt x="95799" y="15355"/>
                  </a:lnTo>
                  <a:lnTo>
                    <a:pt x="96308" y="15158"/>
                  </a:lnTo>
                  <a:lnTo>
                    <a:pt x="102297" y="12652"/>
                  </a:lnTo>
                  <a:lnTo>
                    <a:pt x="108140" y="11429"/>
                  </a:lnTo>
                  <a:lnTo>
                    <a:pt x="107899" y="11429"/>
                  </a:lnTo>
                  <a:lnTo>
                    <a:pt x="114211" y="10159"/>
                  </a:lnTo>
                  <a:lnTo>
                    <a:pt x="120116" y="10159"/>
                  </a:lnTo>
                  <a:lnTo>
                    <a:pt x="126619" y="8889"/>
                  </a:lnTo>
                  <a:lnTo>
                    <a:pt x="181482" y="8889"/>
                  </a:lnTo>
                  <a:lnTo>
                    <a:pt x="178460" y="7619"/>
                  </a:lnTo>
                  <a:lnTo>
                    <a:pt x="172275" y="6349"/>
                  </a:lnTo>
                  <a:lnTo>
                    <a:pt x="165950" y="3809"/>
                  </a:lnTo>
                  <a:lnTo>
                    <a:pt x="146303" y="0"/>
                  </a:lnTo>
                  <a:close/>
                </a:path>
                <a:path w="266065" h="279400">
                  <a:moveTo>
                    <a:pt x="201752" y="247649"/>
                  </a:moveTo>
                  <a:lnTo>
                    <a:pt x="196557" y="251459"/>
                  </a:lnTo>
                  <a:lnTo>
                    <a:pt x="196748" y="251459"/>
                  </a:lnTo>
                  <a:lnTo>
                    <a:pt x="191523" y="255174"/>
                  </a:lnTo>
                  <a:lnTo>
                    <a:pt x="191424" y="255347"/>
                  </a:lnTo>
                  <a:lnTo>
                    <a:pt x="186067" y="257809"/>
                  </a:lnTo>
                  <a:lnTo>
                    <a:pt x="186283" y="257809"/>
                  </a:lnTo>
                  <a:lnTo>
                    <a:pt x="180619" y="260349"/>
                  </a:lnTo>
                  <a:lnTo>
                    <a:pt x="180835" y="260349"/>
                  </a:lnTo>
                  <a:lnTo>
                    <a:pt x="174767" y="262999"/>
                  </a:lnTo>
                  <a:lnTo>
                    <a:pt x="169643" y="264113"/>
                  </a:lnTo>
                  <a:lnTo>
                    <a:pt x="163230" y="266796"/>
                  </a:lnTo>
                  <a:lnTo>
                    <a:pt x="157505" y="267969"/>
                  </a:lnTo>
                  <a:lnTo>
                    <a:pt x="157746" y="267969"/>
                  </a:lnTo>
                  <a:lnTo>
                    <a:pt x="151447" y="269239"/>
                  </a:lnTo>
                  <a:lnTo>
                    <a:pt x="145529" y="269239"/>
                  </a:lnTo>
                  <a:lnTo>
                    <a:pt x="139026" y="270509"/>
                  </a:lnTo>
                  <a:lnTo>
                    <a:pt x="181705" y="270509"/>
                  </a:lnTo>
                  <a:lnTo>
                    <a:pt x="190389" y="266796"/>
                  </a:lnTo>
                  <a:lnTo>
                    <a:pt x="194310" y="264241"/>
                  </a:lnTo>
                  <a:lnTo>
                    <a:pt x="196177" y="262999"/>
                  </a:lnTo>
                  <a:lnTo>
                    <a:pt x="201904" y="259079"/>
                  </a:lnTo>
                  <a:lnTo>
                    <a:pt x="207098" y="256539"/>
                  </a:lnTo>
                  <a:lnTo>
                    <a:pt x="212305" y="252729"/>
                  </a:lnTo>
                  <a:lnTo>
                    <a:pt x="216201" y="248919"/>
                  </a:lnTo>
                  <a:lnTo>
                    <a:pt x="201561" y="248919"/>
                  </a:lnTo>
                  <a:lnTo>
                    <a:pt x="201752" y="247649"/>
                  </a:lnTo>
                  <a:close/>
                </a:path>
                <a:path w="266065" h="279400">
                  <a:moveTo>
                    <a:pt x="74121" y="255174"/>
                  </a:moveTo>
                  <a:lnTo>
                    <a:pt x="74221" y="255347"/>
                  </a:lnTo>
                  <a:lnTo>
                    <a:pt x="74628" y="255534"/>
                  </a:lnTo>
                  <a:lnTo>
                    <a:pt x="74121" y="255174"/>
                  </a:lnTo>
                  <a:close/>
                </a:path>
                <a:path w="266065" h="279400">
                  <a:moveTo>
                    <a:pt x="191523" y="255174"/>
                  </a:moveTo>
                  <a:lnTo>
                    <a:pt x="191016" y="255534"/>
                  </a:lnTo>
                  <a:lnTo>
                    <a:pt x="191424" y="255347"/>
                  </a:lnTo>
                  <a:lnTo>
                    <a:pt x="191523" y="255174"/>
                  </a:lnTo>
                  <a:close/>
                </a:path>
                <a:path w="266065" h="279400">
                  <a:moveTo>
                    <a:pt x="63893" y="247649"/>
                  </a:moveTo>
                  <a:lnTo>
                    <a:pt x="64084" y="248919"/>
                  </a:lnTo>
                  <a:lnTo>
                    <a:pt x="65625" y="248919"/>
                  </a:lnTo>
                  <a:lnTo>
                    <a:pt x="63893" y="247649"/>
                  </a:lnTo>
                  <a:close/>
                </a:path>
                <a:path w="266065" h="279400">
                  <a:moveTo>
                    <a:pt x="242963" y="218439"/>
                  </a:moveTo>
                  <a:lnTo>
                    <a:pt x="231622" y="218439"/>
                  </a:lnTo>
                  <a:lnTo>
                    <a:pt x="227414" y="224050"/>
                  </a:lnTo>
                  <a:lnTo>
                    <a:pt x="224595" y="226711"/>
                  </a:lnTo>
                  <a:lnTo>
                    <a:pt x="219899" y="232335"/>
                  </a:lnTo>
                  <a:lnTo>
                    <a:pt x="219901" y="232485"/>
                  </a:lnTo>
                  <a:lnTo>
                    <a:pt x="219388" y="232946"/>
                  </a:lnTo>
                  <a:lnTo>
                    <a:pt x="216248" y="235630"/>
                  </a:lnTo>
                  <a:lnTo>
                    <a:pt x="211142" y="241211"/>
                  </a:lnTo>
                  <a:lnTo>
                    <a:pt x="211129" y="241386"/>
                  </a:lnTo>
                  <a:lnTo>
                    <a:pt x="206400" y="245109"/>
                  </a:lnTo>
                  <a:lnTo>
                    <a:pt x="206578" y="245109"/>
                  </a:lnTo>
                  <a:lnTo>
                    <a:pt x="201561" y="248919"/>
                  </a:lnTo>
                  <a:lnTo>
                    <a:pt x="216201" y="248919"/>
                  </a:lnTo>
                  <a:lnTo>
                    <a:pt x="217500" y="247649"/>
                  </a:lnTo>
                  <a:lnTo>
                    <a:pt x="222148" y="243839"/>
                  </a:lnTo>
                  <a:lnTo>
                    <a:pt x="226758" y="238759"/>
                  </a:lnTo>
                  <a:lnTo>
                    <a:pt x="231305" y="233679"/>
                  </a:lnTo>
                  <a:lnTo>
                    <a:pt x="236277" y="227404"/>
                  </a:lnTo>
                  <a:lnTo>
                    <a:pt x="239339" y="223589"/>
                  </a:lnTo>
                  <a:lnTo>
                    <a:pt x="242963" y="218439"/>
                  </a:lnTo>
                  <a:close/>
                </a:path>
                <a:path w="266065" h="279400">
                  <a:moveTo>
                    <a:pt x="54491" y="241211"/>
                  </a:moveTo>
                  <a:lnTo>
                    <a:pt x="54516" y="241386"/>
                  </a:lnTo>
                  <a:lnTo>
                    <a:pt x="55042" y="241800"/>
                  </a:lnTo>
                  <a:lnTo>
                    <a:pt x="54491" y="241211"/>
                  </a:lnTo>
                  <a:close/>
                </a:path>
                <a:path w="266065" h="279400">
                  <a:moveTo>
                    <a:pt x="211142" y="241211"/>
                  </a:moveTo>
                  <a:lnTo>
                    <a:pt x="210603" y="241800"/>
                  </a:lnTo>
                  <a:lnTo>
                    <a:pt x="211129" y="241386"/>
                  </a:lnTo>
                  <a:lnTo>
                    <a:pt x="211142" y="241211"/>
                  </a:lnTo>
                  <a:close/>
                </a:path>
                <a:path w="266065" h="279400">
                  <a:moveTo>
                    <a:pt x="49413" y="235630"/>
                  </a:moveTo>
                  <a:lnTo>
                    <a:pt x="50011" y="236302"/>
                  </a:lnTo>
                  <a:lnTo>
                    <a:pt x="50006" y="236138"/>
                  </a:lnTo>
                  <a:lnTo>
                    <a:pt x="49413" y="235630"/>
                  </a:lnTo>
                  <a:close/>
                </a:path>
                <a:path w="266065" h="279400">
                  <a:moveTo>
                    <a:pt x="216231" y="235630"/>
                  </a:moveTo>
                  <a:lnTo>
                    <a:pt x="215639" y="236138"/>
                  </a:lnTo>
                  <a:lnTo>
                    <a:pt x="215634" y="236302"/>
                  </a:lnTo>
                  <a:lnTo>
                    <a:pt x="216231" y="235630"/>
                  </a:lnTo>
                  <a:close/>
                </a:path>
                <a:path w="266065" h="279400">
                  <a:moveTo>
                    <a:pt x="45746" y="232335"/>
                  </a:moveTo>
                  <a:lnTo>
                    <a:pt x="45744" y="232485"/>
                  </a:lnTo>
                  <a:lnTo>
                    <a:pt x="46282" y="232946"/>
                  </a:lnTo>
                  <a:lnTo>
                    <a:pt x="45736" y="232335"/>
                  </a:lnTo>
                  <a:close/>
                </a:path>
                <a:path w="266065" h="279400">
                  <a:moveTo>
                    <a:pt x="219899" y="232335"/>
                  </a:moveTo>
                  <a:lnTo>
                    <a:pt x="219389" y="232946"/>
                  </a:lnTo>
                  <a:lnTo>
                    <a:pt x="219901" y="232485"/>
                  </a:lnTo>
                  <a:lnTo>
                    <a:pt x="219899" y="232335"/>
                  </a:lnTo>
                  <a:close/>
                </a:path>
                <a:path w="266065" h="279400">
                  <a:moveTo>
                    <a:pt x="41065" y="226711"/>
                  </a:moveTo>
                  <a:lnTo>
                    <a:pt x="41503" y="227253"/>
                  </a:lnTo>
                  <a:lnTo>
                    <a:pt x="41629" y="227404"/>
                  </a:lnTo>
                  <a:lnTo>
                    <a:pt x="41639" y="227253"/>
                  </a:lnTo>
                  <a:lnTo>
                    <a:pt x="41065" y="226711"/>
                  </a:lnTo>
                  <a:close/>
                </a:path>
                <a:path w="266065" h="279400">
                  <a:moveTo>
                    <a:pt x="238264" y="207009"/>
                  </a:moveTo>
                  <a:lnTo>
                    <a:pt x="234937" y="213359"/>
                  </a:lnTo>
                  <a:lnTo>
                    <a:pt x="230125" y="220435"/>
                  </a:lnTo>
                  <a:lnTo>
                    <a:pt x="231622" y="218439"/>
                  </a:lnTo>
                  <a:lnTo>
                    <a:pt x="242963" y="218439"/>
                  </a:lnTo>
                  <a:lnTo>
                    <a:pt x="246532" y="212089"/>
                  </a:lnTo>
                  <a:lnTo>
                    <a:pt x="248913" y="208279"/>
                  </a:lnTo>
                  <a:lnTo>
                    <a:pt x="238163" y="208279"/>
                  </a:lnTo>
                  <a:lnTo>
                    <a:pt x="238264" y="207009"/>
                  </a:lnTo>
                  <a:close/>
                </a:path>
                <a:path w="266065" h="279400">
                  <a:moveTo>
                    <a:pt x="27381" y="207009"/>
                  </a:moveTo>
                  <a:lnTo>
                    <a:pt x="27495" y="208279"/>
                  </a:lnTo>
                  <a:lnTo>
                    <a:pt x="28023" y="208279"/>
                  </a:lnTo>
                  <a:lnTo>
                    <a:pt x="27381" y="207009"/>
                  </a:lnTo>
                  <a:close/>
                </a:path>
                <a:path w="266065" h="279400">
                  <a:moveTo>
                    <a:pt x="248653" y="184149"/>
                  </a:moveTo>
                  <a:lnTo>
                    <a:pt x="246354" y="190499"/>
                  </a:lnTo>
                  <a:lnTo>
                    <a:pt x="243878" y="196849"/>
                  </a:lnTo>
                  <a:lnTo>
                    <a:pt x="241134" y="201929"/>
                  </a:lnTo>
                  <a:lnTo>
                    <a:pt x="238163" y="208279"/>
                  </a:lnTo>
                  <a:lnTo>
                    <a:pt x="248913" y="208279"/>
                  </a:lnTo>
                  <a:lnTo>
                    <a:pt x="249707" y="207009"/>
                  </a:lnTo>
                  <a:lnTo>
                    <a:pt x="252628" y="200659"/>
                  </a:lnTo>
                  <a:lnTo>
                    <a:pt x="255282" y="194309"/>
                  </a:lnTo>
                  <a:lnTo>
                    <a:pt x="257644" y="187959"/>
                  </a:lnTo>
                  <a:lnTo>
                    <a:pt x="258478" y="185419"/>
                  </a:lnTo>
                  <a:lnTo>
                    <a:pt x="248577" y="185419"/>
                  </a:lnTo>
                  <a:lnTo>
                    <a:pt x="248653" y="184149"/>
                  </a:lnTo>
                  <a:close/>
                </a:path>
                <a:path w="266065" h="279400">
                  <a:moveTo>
                    <a:pt x="16992" y="184149"/>
                  </a:moveTo>
                  <a:lnTo>
                    <a:pt x="17068" y="185419"/>
                  </a:lnTo>
                  <a:lnTo>
                    <a:pt x="17434" y="185419"/>
                  </a:lnTo>
                  <a:lnTo>
                    <a:pt x="16992" y="184149"/>
                  </a:lnTo>
                  <a:close/>
                </a:path>
                <a:path w="266065" h="279400">
                  <a:moveTo>
                    <a:pt x="245752" y="66039"/>
                  </a:moveTo>
                  <a:lnTo>
                    <a:pt x="234937" y="66039"/>
                  </a:lnTo>
                  <a:lnTo>
                    <a:pt x="238264" y="72389"/>
                  </a:lnTo>
                  <a:lnTo>
                    <a:pt x="241236" y="77469"/>
                  </a:lnTo>
                  <a:lnTo>
                    <a:pt x="243967" y="82549"/>
                  </a:lnTo>
                  <a:lnTo>
                    <a:pt x="246443" y="88899"/>
                  </a:lnTo>
                  <a:lnTo>
                    <a:pt x="248653" y="95249"/>
                  </a:lnTo>
                  <a:lnTo>
                    <a:pt x="250583" y="100329"/>
                  </a:lnTo>
                  <a:lnTo>
                    <a:pt x="256120" y="139699"/>
                  </a:lnTo>
                  <a:lnTo>
                    <a:pt x="255955" y="146049"/>
                  </a:lnTo>
                  <a:lnTo>
                    <a:pt x="248577" y="185419"/>
                  </a:lnTo>
                  <a:lnTo>
                    <a:pt x="258478" y="185419"/>
                  </a:lnTo>
                  <a:lnTo>
                    <a:pt x="265480" y="147319"/>
                  </a:lnTo>
                  <a:lnTo>
                    <a:pt x="265645" y="139699"/>
                  </a:lnTo>
                  <a:lnTo>
                    <a:pt x="265497" y="133349"/>
                  </a:lnTo>
                  <a:lnTo>
                    <a:pt x="265468" y="132079"/>
                  </a:lnTo>
                  <a:lnTo>
                    <a:pt x="265051" y="126996"/>
                  </a:lnTo>
                  <a:lnTo>
                    <a:pt x="264948" y="125742"/>
                  </a:lnTo>
                  <a:lnTo>
                    <a:pt x="255193" y="85089"/>
                  </a:lnTo>
                  <a:lnTo>
                    <a:pt x="246418" y="67309"/>
                  </a:lnTo>
                  <a:lnTo>
                    <a:pt x="245752" y="66039"/>
                  </a:lnTo>
                  <a:close/>
                </a:path>
                <a:path w="266065" h="279400">
                  <a:moveTo>
                    <a:pt x="31308" y="66039"/>
                  </a:moveTo>
                  <a:lnTo>
                    <a:pt x="30708" y="66039"/>
                  </a:lnTo>
                  <a:lnTo>
                    <a:pt x="30594" y="67309"/>
                  </a:lnTo>
                  <a:lnTo>
                    <a:pt x="31308" y="66039"/>
                  </a:lnTo>
                  <a:close/>
                </a:path>
                <a:path w="266065" h="279400">
                  <a:moveTo>
                    <a:pt x="231065" y="60216"/>
                  </a:moveTo>
                  <a:lnTo>
                    <a:pt x="235064" y="67309"/>
                  </a:lnTo>
                  <a:lnTo>
                    <a:pt x="234937" y="66039"/>
                  </a:lnTo>
                  <a:lnTo>
                    <a:pt x="245752" y="66039"/>
                  </a:lnTo>
                  <a:lnTo>
                    <a:pt x="243121" y="61019"/>
                  </a:lnTo>
                  <a:lnTo>
                    <a:pt x="231667" y="61019"/>
                  </a:lnTo>
                  <a:lnTo>
                    <a:pt x="231065" y="60216"/>
                  </a:lnTo>
                  <a:close/>
                </a:path>
                <a:path w="266065" h="279400">
                  <a:moveTo>
                    <a:pt x="239274" y="55879"/>
                  </a:moveTo>
                  <a:lnTo>
                    <a:pt x="227812" y="55879"/>
                  </a:lnTo>
                  <a:lnTo>
                    <a:pt x="231667" y="61019"/>
                  </a:lnTo>
                  <a:lnTo>
                    <a:pt x="243135" y="61019"/>
                  </a:lnTo>
                  <a:lnTo>
                    <a:pt x="239274" y="55879"/>
                  </a:lnTo>
                  <a:close/>
                </a:path>
                <a:path w="266065" h="279400">
                  <a:moveTo>
                    <a:pt x="38700" y="55879"/>
                  </a:moveTo>
                  <a:lnTo>
                    <a:pt x="37833" y="55879"/>
                  </a:lnTo>
                  <a:lnTo>
                    <a:pt x="37693" y="57149"/>
                  </a:lnTo>
                  <a:lnTo>
                    <a:pt x="38700" y="55879"/>
                  </a:lnTo>
                  <a:close/>
                </a:path>
                <a:path w="266065" h="279400">
                  <a:moveTo>
                    <a:pt x="220709" y="34289"/>
                  </a:moveTo>
                  <a:lnTo>
                    <a:pt x="206400" y="34289"/>
                  </a:lnTo>
                  <a:lnTo>
                    <a:pt x="211872" y="40034"/>
                  </a:lnTo>
                  <a:lnTo>
                    <a:pt x="215709" y="43179"/>
                  </a:lnTo>
                  <a:lnTo>
                    <a:pt x="215544" y="43179"/>
                  </a:lnTo>
                  <a:lnTo>
                    <a:pt x="219901" y="46914"/>
                  </a:lnTo>
                  <a:lnTo>
                    <a:pt x="219899" y="47064"/>
                  </a:lnTo>
                  <a:lnTo>
                    <a:pt x="224078" y="52069"/>
                  </a:lnTo>
                  <a:lnTo>
                    <a:pt x="223926" y="52069"/>
                  </a:lnTo>
                  <a:lnTo>
                    <a:pt x="227952" y="57149"/>
                  </a:lnTo>
                  <a:lnTo>
                    <a:pt x="227812" y="55879"/>
                  </a:lnTo>
                  <a:lnTo>
                    <a:pt x="239274" y="55879"/>
                  </a:lnTo>
                  <a:lnTo>
                    <a:pt x="235458" y="50799"/>
                  </a:lnTo>
                  <a:lnTo>
                    <a:pt x="231305" y="45719"/>
                  </a:lnTo>
                  <a:lnTo>
                    <a:pt x="226910" y="40639"/>
                  </a:lnTo>
                  <a:lnTo>
                    <a:pt x="222313" y="35559"/>
                  </a:lnTo>
                  <a:lnTo>
                    <a:pt x="220709" y="34289"/>
                  </a:lnTo>
                  <a:close/>
                </a:path>
                <a:path w="266065" h="279400">
                  <a:moveTo>
                    <a:pt x="46192" y="46530"/>
                  </a:moveTo>
                  <a:lnTo>
                    <a:pt x="45744" y="46914"/>
                  </a:lnTo>
                  <a:lnTo>
                    <a:pt x="45746" y="47064"/>
                  </a:lnTo>
                  <a:lnTo>
                    <a:pt x="46192" y="46530"/>
                  </a:lnTo>
                  <a:close/>
                </a:path>
                <a:path w="266065" h="279400">
                  <a:moveTo>
                    <a:pt x="219453" y="46530"/>
                  </a:moveTo>
                  <a:lnTo>
                    <a:pt x="219774" y="46914"/>
                  </a:lnTo>
                  <a:lnTo>
                    <a:pt x="219899" y="47064"/>
                  </a:lnTo>
                  <a:lnTo>
                    <a:pt x="219901" y="46914"/>
                  </a:lnTo>
                  <a:lnTo>
                    <a:pt x="219453" y="46530"/>
                  </a:lnTo>
                  <a:close/>
                </a:path>
                <a:path w="266065" h="279400">
                  <a:moveTo>
                    <a:pt x="54491" y="39281"/>
                  </a:moveTo>
                  <a:lnTo>
                    <a:pt x="53773" y="40034"/>
                  </a:lnTo>
                  <a:lnTo>
                    <a:pt x="54478" y="39457"/>
                  </a:lnTo>
                  <a:lnTo>
                    <a:pt x="54491" y="39281"/>
                  </a:lnTo>
                  <a:close/>
                </a:path>
                <a:path w="266065" h="279400">
                  <a:moveTo>
                    <a:pt x="211154" y="39281"/>
                  </a:moveTo>
                  <a:lnTo>
                    <a:pt x="211167" y="39457"/>
                  </a:lnTo>
                  <a:lnTo>
                    <a:pt x="211872" y="40034"/>
                  </a:lnTo>
                  <a:lnTo>
                    <a:pt x="211154" y="39281"/>
                  </a:lnTo>
                  <a:close/>
                </a:path>
                <a:path w="266065" h="279400">
                  <a:moveTo>
                    <a:pt x="60739" y="34289"/>
                  </a:moveTo>
                  <a:lnTo>
                    <a:pt x="59245" y="34289"/>
                  </a:lnTo>
                  <a:lnTo>
                    <a:pt x="59067" y="35559"/>
                  </a:lnTo>
                  <a:lnTo>
                    <a:pt x="60739" y="34289"/>
                  </a:lnTo>
                  <a:close/>
                </a:path>
                <a:path w="266065" h="279400">
                  <a:moveTo>
                    <a:pt x="207289" y="24129"/>
                  </a:moveTo>
                  <a:lnTo>
                    <a:pt x="191389" y="24129"/>
                  </a:lnTo>
                  <a:lnTo>
                    <a:pt x="196748" y="27939"/>
                  </a:lnTo>
                  <a:lnTo>
                    <a:pt x="196557" y="27939"/>
                  </a:lnTo>
                  <a:lnTo>
                    <a:pt x="201752" y="31749"/>
                  </a:lnTo>
                  <a:lnTo>
                    <a:pt x="201561" y="31749"/>
                  </a:lnTo>
                  <a:lnTo>
                    <a:pt x="206578" y="35559"/>
                  </a:lnTo>
                  <a:lnTo>
                    <a:pt x="206400" y="34289"/>
                  </a:lnTo>
                  <a:lnTo>
                    <a:pt x="220709" y="34289"/>
                  </a:lnTo>
                  <a:lnTo>
                    <a:pt x="217500" y="31749"/>
                  </a:lnTo>
                  <a:lnTo>
                    <a:pt x="212305" y="27939"/>
                  </a:lnTo>
                  <a:lnTo>
                    <a:pt x="207289" y="24129"/>
                  </a:lnTo>
                  <a:close/>
                </a:path>
                <a:path w="266065" h="279400">
                  <a:moveTo>
                    <a:pt x="75895" y="24129"/>
                  </a:moveTo>
                  <a:lnTo>
                    <a:pt x="74256" y="24129"/>
                  </a:lnTo>
                  <a:lnTo>
                    <a:pt x="74053" y="25399"/>
                  </a:lnTo>
                  <a:lnTo>
                    <a:pt x="75895" y="24129"/>
                  </a:lnTo>
                  <a:close/>
                </a:path>
                <a:path w="266065" h="279400">
                  <a:moveTo>
                    <a:pt x="196459" y="16593"/>
                  </a:moveTo>
                  <a:lnTo>
                    <a:pt x="175210" y="16593"/>
                  </a:lnTo>
                  <a:lnTo>
                    <a:pt x="180835" y="19049"/>
                  </a:lnTo>
                  <a:lnTo>
                    <a:pt x="180619" y="19049"/>
                  </a:lnTo>
                  <a:lnTo>
                    <a:pt x="186103" y="21509"/>
                  </a:lnTo>
                  <a:lnTo>
                    <a:pt x="186214" y="21690"/>
                  </a:lnTo>
                  <a:lnTo>
                    <a:pt x="191592" y="25399"/>
                  </a:lnTo>
                  <a:lnTo>
                    <a:pt x="191389" y="24129"/>
                  </a:lnTo>
                  <a:lnTo>
                    <a:pt x="207289" y="24129"/>
                  </a:lnTo>
                  <a:lnTo>
                    <a:pt x="201701" y="20319"/>
                  </a:lnTo>
                  <a:lnTo>
                    <a:pt x="196459" y="16593"/>
                  </a:lnTo>
                  <a:close/>
                </a:path>
                <a:path w="266065" h="279400">
                  <a:moveTo>
                    <a:pt x="79979" y="21313"/>
                  </a:moveTo>
                  <a:lnTo>
                    <a:pt x="79542" y="21509"/>
                  </a:lnTo>
                  <a:lnTo>
                    <a:pt x="79431" y="21690"/>
                  </a:lnTo>
                  <a:lnTo>
                    <a:pt x="79979" y="21313"/>
                  </a:lnTo>
                  <a:close/>
                </a:path>
                <a:path w="266065" h="279400">
                  <a:moveTo>
                    <a:pt x="185666" y="21313"/>
                  </a:moveTo>
                  <a:lnTo>
                    <a:pt x="186214" y="21690"/>
                  </a:lnTo>
                  <a:lnTo>
                    <a:pt x="186103" y="21509"/>
                  </a:lnTo>
                  <a:lnTo>
                    <a:pt x="185666" y="21313"/>
                  </a:lnTo>
                  <a:close/>
                </a:path>
                <a:path w="266065" h="279400">
                  <a:moveTo>
                    <a:pt x="181482" y="8889"/>
                  </a:moveTo>
                  <a:lnTo>
                    <a:pt x="139026" y="8889"/>
                  </a:lnTo>
                  <a:lnTo>
                    <a:pt x="145529" y="10159"/>
                  </a:lnTo>
                  <a:lnTo>
                    <a:pt x="151447" y="10159"/>
                  </a:lnTo>
                  <a:lnTo>
                    <a:pt x="157746" y="11429"/>
                  </a:lnTo>
                  <a:lnTo>
                    <a:pt x="157505" y="11429"/>
                  </a:lnTo>
                  <a:lnTo>
                    <a:pt x="163352" y="12652"/>
                  </a:lnTo>
                  <a:lnTo>
                    <a:pt x="169809" y="15355"/>
                  </a:lnTo>
                  <a:lnTo>
                    <a:pt x="175645" y="16593"/>
                  </a:lnTo>
                  <a:lnTo>
                    <a:pt x="196315" y="16593"/>
                  </a:lnTo>
                  <a:lnTo>
                    <a:pt x="190398" y="13969"/>
                  </a:lnTo>
                  <a:lnTo>
                    <a:pt x="184505" y="10159"/>
                  </a:lnTo>
                  <a:lnTo>
                    <a:pt x="181482" y="8889"/>
                  </a:lnTo>
                  <a:close/>
                </a:path>
                <a:path w="266065" h="279400">
                  <a:moveTo>
                    <a:pt x="96308" y="15158"/>
                  </a:moveTo>
                  <a:lnTo>
                    <a:pt x="95841" y="15355"/>
                  </a:lnTo>
                  <a:lnTo>
                    <a:pt x="96023" y="15355"/>
                  </a:lnTo>
                  <a:lnTo>
                    <a:pt x="96308" y="15158"/>
                  </a:lnTo>
                  <a:close/>
                </a:path>
                <a:path w="266065" h="279400">
                  <a:moveTo>
                    <a:pt x="169338" y="15158"/>
                  </a:moveTo>
                  <a:lnTo>
                    <a:pt x="169621" y="15355"/>
                  </a:lnTo>
                  <a:lnTo>
                    <a:pt x="169809" y="15355"/>
                  </a:lnTo>
                  <a:lnTo>
                    <a:pt x="169338" y="151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8504339" y="412357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ourier New"/>
                <a:cs typeface="Courier New"/>
              </a:rPr>
              <a:t>3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246255" y="4145622"/>
            <a:ext cx="1930400" cy="1796656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6967639" y="412357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ourier New"/>
                <a:cs typeface="Courier New"/>
              </a:rPr>
              <a:t>2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302872" y="412357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ourier New"/>
                <a:cs typeface="Courier New"/>
              </a:rPr>
              <a:t>1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5092585" y="3513454"/>
            <a:ext cx="3774440" cy="2266315"/>
            <a:chOff x="5092585" y="3513454"/>
            <a:chExt cx="3774440" cy="2266315"/>
          </a:xfrm>
        </p:grpSpPr>
        <p:sp>
          <p:nvSpPr>
            <p:cNvPr id="15" name="object 15" descr=""/>
            <p:cNvSpPr/>
            <p:nvPr/>
          </p:nvSpPr>
          <p:spPr>
            <a:xfrm>
              <a:off x="5092585" y="3982199"/>
              <a:ext cx="3774440" cy="1797685"/>
            </a:xfrm>
            <a:custGeom>
              <a:avLst/>
              <a:gdLst/>
              <a:ahLst/>
              <a:cxnLst/>
              <a:rect l="l" t="t" r="r" b="b"/>
              <a:pathLst>
                <a:path w="3774440" h="1797685">
                  <a:moveTo>
                    <a:pt x="64008" y="25501"/>
                  </a:moveTo>
                  <a:lnTo>
                    <a:pt x="63855" y="25501"/>
                  </a:lnTo>
                  <a:lnTo>
                    <a:pt x="63436" y="25869"/>
                  </a:lnTo>
                  <a:lnTo>
                    <a:pt x="64008" y="25501"/>
                  </a:lnTo>
                  <a:close/>
                </a:path>
                <a:path w="3774440" h="1797685">
                  <a:moveTo>
                    <a:pt x="136537" y="31115"/>
                  </a:moveTo>
                  <a:lnTo>
                    <a:pt x="135953" y="30403"/>
                  </a:lnTo>
                  <a:lnTo>
                    <a:pt x="135966" y="30568"/>
                  </a:lnTo>
                  <a:lnTo>
                    <a:pt x="136537" y="31115"/>
                  </a:lnTo>
                  <a:close/>
                </a:path>
                <a:path w="3774440" h="1797685">
                  <a:moveTo>
                    <a:pt x="225082" y="127000"/>
                  </a:moveTo>
                  <a:lnTo>
                    <a:pt x="191262" y="130975"/>
                  </a:lnTo>
                  <a:lnTo>
                    <a:pt x="190296" y="124460"/>
                  </a:lnTo>
                  <a:lnTo>
                    <a:pt x="190119" y="123190"/>
                  </a:lnTo>
                  <a:lnTo>
                    <a:pt x="187858" y="114300"/>
                  </a:lnTo>
                  <a:lnTo>
                    <a:pt x="186080" y="107950"/>
                  </a:lnTo>
                  <a:lnTo>
                    <a:pt x="185369" y="105410"/>
                  </a:lnTo>
                  <a:lnTo>
                    <a:pt x="182689" y="97790"/>
                  </a:lnTo>
                  <a:lnTo>
                    <a:pt x="166776" y="59690"/>
                  </a:lnTo>
                  <a:lnTo>
                    <a:pt x="163144" y="52070"/>
                  </a:lnTo>
                  <a:lnTo>
                    <a:pt x="159385" y="45720"/>
                  </a:lnTo>
                  <a:lnTo>
                    <a:pt x="158597" y="44450"/>
                  </a:lnTo>
                  <a:lnTo>
                    <a:pt x="155524" y="39433"/>
                  </a:lnTo>
                  <a:lnTo>
                    <a:pt x="151536" y="34366"/>
                  </a:lnTo>
                  <a:lnTo>
                    <a:pt x="144094" y="25501"/>
                  </a:lnTo>
                  <a:lnTo>
                    <a:pt x="142951" y="24130"/>
                  </a:lnTo>
                  <a:lnTo>
                    <a:pt x="140855" y="21704"/>
                  </a:lnTo>
                  <a:lnTo>
                    <a:pt x="138582" y="19050"/>
                  </a:lnTo>
                  <a:lnTo>
                    <a:pt x="134353" y="15240"/>
                  </a:lnTo>
                  <a:lnTo>
                    <a:pt x="129806" y="11430"/>
                  </a:lnTo>
                  <a:lnTo>
                    <a:pt x="128143" y="10160"/>
                  </a:lnTo>
                  <a:lnTo>
                    <a:pt x="124815" y="7620"/>
                  </a:lnTo>
                  <a:lnTo>
                    <a:pt x="120421" y="5080"/>
                  </a:lnTo>
                  <a:lnTo>
                    <a:pt x="120015" y="5080"/>
                  </a:lnTo>
                  <a:lnTo>
                    <a:pt x="115595" y="3810"/>
                  </a:lnTo>
                  <a:lnTo>
                    <a:pt x="115112" y="3810"/>
                  </a:lnTo>
                  <a:lnTo>
                    <a:pt x="110667" y="1270"/>
                  </a:lnTo>
                  <a:lnTo>
                    <a:pt x="105206" y="1270"/>
                  </a:lnTo>
                  <a:lnTo>
                    <a:pt x="102971" y="0"/>
                  </a:lnTo>
                  <a:lnTo>
                    <a:pt x="95567" y="0"/>
                  </a:lnTo>
                  <a:lnTo>
                    <a:pt x="95123" y="1270"/>
                  </a:lnTo>
                  <a:lnTo>
                    <a:pt x="90233" y="1270"/>
                  </a:lnTo>
                  <a:lnTo>
                    <a:pt x="85788" y="2540"/>
                  </a:lnTo>
                  <a:lnTo>
                    <a:pt x="80975" y="3810"/>
                  </a:lnTo>
                  <a:lnTo>
                    <a:pt x="80632" y="3810"/>
                  </a:lnTo>
                  <a:lnTo>
                    <a:pt x="75920" y="6350"/>
                  </a:lnTo>
                  <a:lnTo>
                    <a:pt x="37795" y="39433"/>
                  </a:lnTo>
                  <a:lnTo>
                    <a:pt x="34175" y="43180"/>
                  </a:lnTo>
                  <a:lnTo>
                    <a:pt x="30645" y="49530"/>
                  </a:lnTo>
                  <a:lnTo>
                    <a:pt x="27266" y="54610"/>
                  </a:lnTo>
                  <a:lnTo>
                    <a:pt x="24041" y="59690"/>
                  </a:lnTo>
                  <a:lnTo>
                    <a:pt x="8432" y="97790"/>
                  </a:lnTo>
                  <a:lnTo>
                    <a:pt x="6527" y="105410"/>
                  </a:lnTo>
                  <a:lnTo>
                    <a:pt x="4851" y="111760"/>
                  </a:lnTo>
                  <a:lnTo>
                    <a:pt x="76" y="149860"/>
                  </a:lnTo>
                  <a:lnTo>
                    <a:pt x="0" y="153670"/>
                  </a:lnTo>
                  <a:lnTo>
                    <a:pt x="241" y="161290"/>
                  </a:lnTo>
                  <a:lnTo>
                    <a:pt x="7835" y="196850"/>
                  </a:lnTo>
                  <a:lnTo>
                    <a:pt x="10553" y="204470"/>
                  </a:lnTo>
                  <a:lnTo>
                    <a:pt x="13627" y="210820"/>
                  </a:lnTo>
                  <a:lnTo>
                    <a:pt x="17043" y="217170"/>
                  </a:lnTo>
                  <a:lnTo>
                    <a:pt x="20789" y="223520"/>
                  </a:lnTo>
                  <a:lnTo>
                    <a:pt x="24853" y="231140"/>
                  </a:lnTo>
                  <a:lnTo>
                    <a:pt x="29222" y="236220"/>
                  </a:lnTo>
                  <a:lnTo>
                    <a:pt x="33870" y="242570"/>
                  </a:lnTo>
                  <a:lnTo>
                    <a:pt x="38925" y="248920"/>
                  </a:lnTo>
                  <a:lnTo>
                    <a:pt x="66992" y="275590"/>
                  </a:lnTo>
                  <a:lnTo>
                    <a:pt x="79781" y="283273"/>
                  </a:lnTo>
                  <a:lnTo>
                    <a:pt x="86309" y="288290"/>
                  </a:lnTo>
                  <a:lnTo>
                    <a:pt x="93052" y="290830"/>
                  </a:lnTo>
                  <a:lnTo>
                    <a:pt x="97802" y="293471"/>
                  </a:lnTo>
                  <a:lnTo>
                    <a:pt x="100139" y="294728"/>
                  </a:lnTo>
                  <a:lnTo>
                    <a:pt x="128574" y="304800"/>
                  </a:lnTo>
                  <a:lnTo>
                    <a:pt x="135940" y="306070"/>
                  </a:lnTo>
                  <a:lnTo>
                    <a:pt x="136194" y="306070"/>
                  </a:lnTo>
                  <a:lnTo>
                    <a:pt x="143357" y="307340"/>
                  </a:lnTo>
                  <a:lnTo>
                    <a:pt x="158292" y="307340"/>
                  </a:lnTo>
                  <a:lnTo>
                    <a:pt x="158521" y="299720"/>
                  </a:lnTo>
                  <a:lnTo>
                    <a:pt x="158572" y="298450"/>
                  </a:lnTo>
                  <a:lnTo>
                    <a:pt x="151650" y="298450"/>
                  </a:lnTo>
                  <a:lnTo>
                    <a:pt x="144462" y="297180"/>
                  </a:lnTo>
                  <a:lnTo>
                    <a:pt x="137833" y="297180"/>
                  </a:lnTo>
                  <a:lnTo>
                    <a:pt x="130924" y="294728"/>
                  </a:lnTo>
                  <a:lnTo>
                    <a:pt x="131381" y="294728"/>
                  </a:lnTo>
                  <a:lnTo>
                    <a:pt x="124383" y="293471"/>
                  </a:lnTo>
                  <a:lnTo>
                    <a:pt x="117144" y="290830"/>
                  </a:lnTo>
                  <a:lnTo>
                    <a:pt x="117373" y="290830"/>
                  </a:lnTo>
                  <a:lnTo>
                    <a:pt x="110464" y="288290"/>
                  </a:lnTo>
                  <a:lnTo>
                    <a:pt x="110667" y="288290"/>
                  </a:lnTo>
                  <a:lnTo>
                    <a:pt x="103860" y="285750"/>
                  </a:lnTo>
                  <a:lnTo>
                    <a:pt x="104063" y="285750"/>
                  </a:lnTo>
                  <a:lnTo>
                    <a:pt x="97917" y="283425"/>
                  </a:lnTo>
                  <a:lnTo>
                    <a:pt x="97663" y="283273"/>
                  </a:lnTo>
                  <a:lnTo>
                    <a:pt x="90995" y="279400"/>
                  </a:lnTo>
                  <a:lnTo>
                    <a:pt x="91186" y="279400"/>
                  </a:lnTo>
                  <a:lnTo>
                    <a:pt x="84759" y="275590"/>
                  </a:lnTo>
                  <a:lnTo>
                    <a:pt x="84924" y="275590"/>
                  </a:lnTo>
                  <a:lnTo>
                    <a:pt x="78651" y="271780"/>
                  </a:lnTo>
                  <a:lnTo>
                    <a:pt x="78828" y="271780"/>
                  </a:lnTo>
                  <a:lnTo>
                    <a:pt x="73317" y="268351"/>
                  </a:lnTo>
                  <a:lnTo>
                    <a:pt x="72783" y="267893"/>
                  </a:lnTo>
                  <a:lnTo>
                    <a:pt x="66954" y="262890"/>
                  </a:lnTo>
                  <a:lnTo>
                    <a:pt x="67119" y="262890"/>
                  </a:lnTo>
                  <a:lnTo>
                    <a:pt x="61391" y="257810"/>
                  </a:lnTo>
                  <a:lnTo>
                    <a:pt x="61544" y="257810"/>
                  </a:lnTo>
                  <a:lnTo>
                    <a:pt x="56032" y="252730"/>
                  </a:lnTo>
                  <a:lnTo>
                    <a:pt x="56172" y="252730"/>
                  </a:lnTo>
                  <a:lnTo>
                    <a:pt x="52806" y="249516"/>
                  </a:lnTo>
                  <a:lnTo>
                    <a:pt x="52235" y="248920"/>
                  </a:lnTo>
                  <a:lnTo>
                    <a:pt x="51943" y="248653"/>
                  </a:lnTo>
                  <a:lnTo>
                    <a:pt x="50939" y="247586"/>
                  </a:lnTo>
                  <a:lnTo>
                    <a:pt x="46101" y="242570"/>
                  </a:lnTo>
                  <a:lnTo>
                    <a:pt x="41821" y="238048"/>
                  </a:lnTo>
                  <a:lnTo>
                    <a:pt x="37033" y="231140"/>
                  </a:lnTo>
                  <a:lnTo>
                    <a:pt x="33629" y="226060"/>
                  </a:lnTo>
                  <a:lnTo>
                    <a:pt x="32778" y="224790"/>
                  </a:lnTo>
                  <a:lnTo>
                    <a:pt x="14986" y="187960"/>
                  </a:lnTo>
                  <a:lnTo>
                    <a:pt x="14617" y="186690"/>
                  </a:lnTo>
                  <a:lnTo>
                    <a:pt x="14681" y="187960"/>
                  </a:lnTo>
                  <a:lnTo>
                    <a:pt x="13106" y="181610"/>
                  </a:lnTo>
                  <a:lnTo>
                    <a:pt x="12801" y="180340"/>
                  </a:lnTo>
                  <a:lnTo>
                    <a:pt x="12865" y="181610"/>
                  </a:lnTo>
                  <a:lnTo>
                    <a:pt x="11430" y="173990"/>
                  </a:lnTo>
                  <a:lnTo>
                    <a:pt x="10388" y="167640"/>
                  </a:lnTo>
                  <a:lnTo>
                    <a:pt x="9740" y="161290"/>
                  </a:lnTo>
                  <a:lnTo>
                    <a:pt x="9652" y="147320"/>
                  </a:lnTo>
                  <a:lnTo>
                    <a:pt x="10045" y="140970"/>
                  </a:lnTo>
                  <a:lnTo>
                    <a:pt x="10706" y="133350"/>
                  </a:lnTo>
                  <a:lnTo>
                    <a:pt x="11595" y="127000"/>
                  </a:lnTo>
                  <a:lnTo>
                    <a:pt x="12738" y="120650"/>
                  </a:lnTo>
                  <a:lnTo>
                    <a:pt x="15748" y="106680"/>
                  </a:lnTo>
                  <a:lnTo>
                    <a:pt x="15697" y="107950"/>
                  </a:lnTo>
                  <a:lnTo>
                    <a:pt x="15989" y="106680"/>
                  </a:lnTo>
                  <a:lnTo>
                    <a:pt x="17513" y="100330"/>
                  </a:lnTo>
                  <a:lnTo>
                    <a:pt x="19519" y="93980"/>
                  </a:lnTo>
                  <a:lnTo>
                    <a:pt x="21780" y="87630"/>
                  </a:lnTo>
                  <a:lnTo>
                    <a:pt x="21729" y="88900"/>
                  </a:lnTo>
                  <a:lnTo>
                    <a:pt x="22199" y="87630"/>
                  </a:lnTo>
                  <a:lnTo>
                    <a:pt x="24117" y="82550"/>
                  </a:lnTo>
                  <a:lnTo>
                    <a:pt x="26695" y="76200"/>
                  </a:lnTo>
                  <a:lnTo>
                    <a:pt x="29502" y="69850"/>
                  </a:lnTo>
                  <a:lnTo>
                    <a:pt x="29425" y="71120"/>
                  </a:lnTo>
                  <a:lnTo>
                    <a:pt x="29997" y="69850"/>
                  </a:lnTo>
                  <a:lnTo>
                    <a:pt x="48387" y="41287"/>
                  </a:lnTo>
                  <a:lnTo>
                    <a:pt x="52997" y="35102"/>
                  </a:lnTo>
                  <a:lnTo>
                    <a:pt x="56426" y="31750"/>
                  </a:lnTo>
                  <a:lnTo>
                    <a:pt x="56261" y="31750"/>
                  </a:lnTo>
                  <a:lnTo>
                    <a:pt x="60147" y="28028"/>
                  </a:lnTo>
                  <a:lnTo>
                    <a:pt x="60579" y="27635"/>
                  </a:lnTo>
                  <a:lnTo>
                    <a:pt x="63436" y="25869"/>
                  </a:lnTo>
                  <a:lnTo>
                    <a:pt x="67970" y="21704"/>
                  </a:lnTo>
                  <a:lnTo>
                    <a:pt x="68478" y="21234"/>
                  </a:lnTo>
                  <a:lnTo>
                    <a:pt x="72123" y="19050"/>
                  </a:lnTo>
                  <a:lnTo>
                    <a:pt x="71869" y="19050"/>
                  </a:lnTo>
                  <a:lnTo>
                    <a:pt x="76149" y="16510"/>
                  </a:lnTo>
                  <a:lnTo>
                    <a:pt x="75869" y="16510"/>
                  </a:lnTo>
                  <a:lnTo>
                    <a:pt x="80213" y="13970"/>
                  </a:lnTo>
                  <a:lnTo>
                    <a:pt x="79895" y="15240"/>
                  </a:lnTo>
                  <a:lnTo>
                    <a:pt x="82092" y="13970"/>
                  </a:lnTo>
                  <a:lnTo>
                    <a:pt x="84289" y="12700"/>
                  </a:lnTo>
                  <a:lnTo>
                    <a:pt x="83934" y="12700"/>
                  </a:lnTo>
                  <a:lnTo>
                    <a:pt x="88353" y="11430"/>
                  </a:lnTo>
                  <a:lnTo>
                    <a:pt x="87972" y="11430"/>
                  </a:lnTo>
                  <a:lnTo>
                    <a:pt x="92417" y="10160"/>
                  </a:lnTo>
                  <a:lnTo>
                    <a:pt x="103835" y="10160"/>
                  </a:lnTo>
                  <a:lnTo>
                    <a:pt x="108305" y="11430"/>
                  </a:lnTo>
                  <a:lnTo>
                    <a:pt x="107759" y="11430"/>
                  </a:lnTo>
                  <a:lnTo>
                    <a:pt x="112217" y="12700"/>
                  </a:lnTo>
                  <a:lnTo>
                    <a:pt x="111734" y="12700"/>
                  </a:lnTo>
                  <a:lnTo>
                    <a:pt x="116154" y="13970"/>
                  </a:lnTo>
                  <a:lnTo>
                    <a:pt x="115747" y="13970"/>
                  </a:lnTo>
                  <a:lnTo>
                    <a:pt x="120129" y="16510"/>
                  </a:lnTo>
                  <a:lnTo>
                    <a:pt x="119786" y="16510"/>
                  </a:lnTo>
                  <a:lnTo>
                    <a:pt x="124129" y="19050"/>
                  </a:lnTo>
                  <a:lnTo>
                    <a:pt x="123825" y="19050"/>
                  </a:lnTo>
                  <a:lnTo>
                    <a:pt x="128117" y="22860"/>
                  </a:lnTo>
                  <a:lnTo>
                    <a:pt x="127889" y="21704"/>
                  </a:lnTo>
                  <a:lnTo>
                    <a:pt x="131267" y="24676"/>
                  </a:lnTo>
                  <a:lnTo>
                    <a:pt x="134988" y="29210"/>
                  </a:lnTo>
                  <a:lnTo>
                    <a:pt x="135978" y="30403"/>
                  </a:lnTo>
                  <a:lnTo>
                    <a:pt x="136537" y="31115"/>
                  </a:lnTo>
                  <a:lnTo>
                    <a:pt x="139420" y="33820"/>
                  </a:lnTo>
                  <a:lnTo>
                    <a:pt x="143217" y="38633"/>
                  </a:lnTo>
                  <a:lnTo>
                    <a:pt x="147574" y="45720"/>
                  </a:lnTo>
                  <a:lnTo>
                    <a:pt x="147459" y="44450"/>
                  </a:lnTo>
                  <a:lnTo>
                    <a:pt x="154749" y="57150"/>
                  </a:lnTo>
                  <a:lnTo>
                    <a:pt x="170840" y="92710"/>
                  </a:lnTo>
                  <a:lnTo>
                    <a:pt x="176250" y="109220"/>
                  </a:lnTo>
                  <a:lnTo>
                    <a:pt x="176225" y="107950"/>
                  </a:lnTo>
                  <a:lnTo>
                    <a:pt x="178638" y="116840"/>
                  </a:lnTo>
                  <a:lnTo>
                    <a:pt x="180898" y="125730"/>
                  </a:lnTo>
                  <a:lnTo>
                    <a:pt x="180797" y="124460"/>
                  </a:lnTo>
                  <a:lnTo>
                    <a:pt x="181889" y="132080"/>
                  </a:lnTo>
                  <a:lnTo>
                    <a:pt x="149364" y="135890"/>
                  </a:lnTo>
                  <a:lnTo>
                    <a:pt x="195783" y="207010"/>
                  </a:lnTo>
                  <a:lnTo>
                    <a:pt x="216242" y="151130"/>
                  </a:lnTo>
                  <a:lnTo>
                    <a:pt x="225082" y="127000"/>
                  </a:lnTo>
                  <a:close/>
                </a:path>
                <a:path w="3774440" h="1797685">
                  <a:moveTo>
                    <a:pt x="3514229" y="519099"/>
                  </a:moveTo>
                  <a:lnTo>
                    <a:pt x="3506038" y="493852"/>
                  </a:lnTo>
                  <a:lnTo>
                    <a:pt x="3487953" y="438061"/>
                  </a:lnTo>
                  <a:lnTo>
                    <a:pt x="3471062" y="437692"/>
                  </a:lnTo>
                  <a:lnTo>
                    <a:pt x="3471062" y="517817"/>
                  </a:lnTo>
                  <a:lnTo>
                    <a:pt x="3279762" y="1782737"/>
                  </a:lnTo>
                  <a:lnTo>
                    <a:pt x="3261766" y="1764436"/>
                  </a:lnTo>
                  <a:lnTo>
                    <a:pt x="3261766" y="1778025"/>
                  </a:lnTo>
                  <a:lnTo>
                    <a:pt x="2774073" y="1557528"/>
                  </a:lnTo>
                  <a:lnTo>
                    <a:pt x="2881185" y="1390878"/>
                  </a:lnTo>
                  <a:lnTo>
                    <a:pt x="3261766" y="1778025"/>
                  </a:lnTo>
                  <a:lnTo>
                    <a:pt x="3261766" y="1764436"/>
                  </a:lnTo>
                  <a:lnTo>
                    <a:pt x="2886468" y="1382649"/>
                  </a:lnTo>
                  <a:lnTo>
                    <a:pt x="3447948" y="509092"/>
                  </a:lnTo>
                  <a:lnTo>
                    <a:pt x="3448405" y="509155"/>
                  </a:lnTo>
                  <a:lnTo>
                    <a:pt x="3454704" y="516509"/>
                  </a:lnTo>
                  <a:lnTo>
                    <a:pt x="3457244" y="510501"/>
                  </a:lnTo>
                  <a:lnTo>
                    <a:pt x="3460407" y="510971"/>
                  </a:lnTo>
                  <a:lnTo>
                    <a:pt x="3471062" y="517817"/>
                  </a:lnTo>
                  <a:lnTo>
                    <a:pt x="3471062" y="437692"/>
                  </a:lnTo>
                  <a:lnTo>
                    <a:pt x="3439261" y="436981"/>
                  </a:lnTo>
                  <a:lnTo>
                    <a:pt x="3439261" y="505002"/>
                  </a:lnTo>
                  <a:lnTo>
                    <a:pt x="2879623" y="1375689"/>
                  </a:lnTo>
                  <a:lnTo>
                    <a:pt x="2874340" y="1370317"/>
                  </a:lnTo>
                  <a:lnTo>
                    <a:pt x="2874340" y="1383906"/>
                  </a:lnTo>
                  <a:lnTo>
                    <a:pt x="2765285" y="1553565"/>
                  </a:lnTo>
                  <a:lnTo>
                    <a:pt x="2760078" y="1551216"/>
                  </a:lnTo>
                  <a:lnTo>
                    <a:pt x="2760078" y="1561668"/>
                  </a:lnTo>
                  <a:lnTo>
                    <a:pt x="2617686" y="1783207"/>
                  </a:lnTo>
                  <a:lnTo>
                    <a:pt x="2605925" y="1759280"/>
                  </a:lnTo>
                  <a:lnTo>
                    <a:pt x="2605925" y="1780857"/>
                  </a:lnTo>
                  <a:lnTo>
                    <a:pt x="2198814" y="1544205"/>
                  </a:lnTo>
                  <a:lnTo>
                    <a:pt x="2379840" y="1389748"/>
                  </a:lnTo>
                  <a:lnTo>
                    <a:pt x="2423350" y="1409433"/>
                  </a:lnTo>
                  <a:lnTo>
                    <a:pt x="2605925" y="1780857"/>
                  </a:lnTo>
                  <a:lnTo>
                    <a:pt x="2605925" y="1759280"/>
                  </a:lnTo>
                  <a:lnTo>
                    <a:pt x="2437003" y="1415592"/>
                  </a:lnTo>
                  <a:lnTo>
                    <a:pt x="2760078" y="1561668"/>
                  </a:lnTo>
                  <a:lnTo>
                    <a:pt x="2760078" y="1551216"/>
                  </a:lnTo>
                  <a:lnTo>
                    <a:pt x="2430386" y="1402143"/>
                  </a:lnTo>
                  <a:lnTo>
                    <a:pt x="2416746" y="1374381"/>
                  </a:lnTo>
                  <a:lnTo>
                    <a:pt x="2416746" y="1395971"/>
                  </a:lnTo>
                  <a:lnTo>
                    <a:pt x="2387854" y="1382915"/>
                  </a:lnTo>
                  <a:lnTo>
                    <a:pt x="2403691" y="1369402"/>
                  </a:lnTo>
                  <a:lnTo>
                    <a:pt x="2416746" y="1395971"/>
                  </a:lnTo>
                  <a:lnTo>
                    <a:pt x="2416746" y="1374381"/>
                  </a:lnTo>
                  <a:lnTo>
                    <a:pt x="2411171" y="1363027"/>
                  </a:lnTo>
                  <a:lnTo>
                    <a:pt x="2651912" y="1157630"/>
                  </a:lnTo>
                  <a:lnTo>
                    <a:pt x="2874340" y="1383906"/>
                  </a:lnTo>
                  <a:lnTo>
                    <a:pt x="2874340" y="1370317"/>
                  </a:lnTo>
                  <a:lnTo>
                    <a:pt x="2659176" y="1151432"/>
                  </a:lnTo>
                  <a:lnTo>
                    <a:pt x="3429978" y="493788"/>
                  </a:lnTo>
                  <a:lnTo>
                    <a:pt x="3435312" y="505053"/>
                  </a:lnTo>
                  <a:lnTo>
                    <a:pt x="3437572" y="502183"/>
                  </a:lnTo>
                  <a:lnTo>
                    <a:pt x="3439261" y="505002"/>
                  </a:lnTo>
                  <a:lnTo>
                    <a:pt x="3439261" y="436981"/>
                  </a:lnTo>
                  <a:lnTo>
                    <a:pt x="3423221" y="436626"/>
                  </a:lnTo>
                  <a:lnTo>
                    <a:pt x="3423221" y="487045"/>
                  </a:lnTo>
                  <a:lnTo>
                    <a:pt x="2652496" y="1144638"/>
                  </a:lnTo>
                  <a:lnTo>
                    <a:pt x="2645232" y="1137259"/>
                  </a:lnTo>
                  <a:lnTo>
                    <a:pt x="2645232" y="1150835"/>
                  </a:lnTo>
                  <a:lnTo>
                    <a:pt x="2406840" y="1354226"/>
                  </a:lnTo>
                  <a:lnTo>
                    <a:pt x="2399360" y="1339011"/>
                  </a:lnTo>
                  <a:lnTo>
                    <a:pt x="2399360" y="1360601"/>
                  </a:lnTo>
                  <a:lnTo>
                    <a:pt x="2378278" y="1378585"/>
                  </a:lnTo>
                  <a:lnTo>
                    <a:pt x="2370264" y="1374965"/>
                  </a:lnTo>
                  <a:lnTo>
                    <a:pt x="2370264" y="1385430"/>
                  </a:lnTo>
                  <a:lnTo>
                    <a:pt x="2190102" y="1539138"/>
                  </a:lnTo>
                  <a:lnTo>
                    <a:pt x="2182418" y="1534680"/>
                  </a:lnTo>
                  <a:lnTo>
                    <a:pt x="2182418" y="1545691"/>
                  </a:lnTo>
                  <a:lnTo>
                    <a:pt x="1905190" y="1782216"/>
                  </a:lnTo>
                  <a:lnTo>
                    <a:pt x="1919897" y="1393075"/>
                  </a:lnTo>
                  <a:lnTo>
                    <a:pt x="2182418" y="1545691"/>
                  </a:lnTo>
                  <a:lnTo>
                    <a:pt x="2182418" y="1534680"/>
                  </a:lnTo>
                  <a:lnTo>
                    <a:pt x="1923389" y="1384096"/>
                  </a:lnTo>
                  <a:lnTo>
                    <a:pt x="2113965" y="1269542"/>
                  </a:lnTo>
                  <a:lnTo>
                    <a:pt x="2370264" y="1385430"/>
                  </a:lnTo>
                  <a:lnTo>
                    <a:pt x="2370264" y="1374965"/>
                  </a:lnTo>
                  <a:lnTo>
                    <a:pt x="2123897" y="1263573"/>
                  </a:lnTo>
                  <a:lnTo>
                    <a:pt x="2299716" y="1157884"/>
                  </a:lnTo>
                  <a:lnTo>
                    <a:pt x="2399360" y="1360601"/>
                  </a:lnTo>
                  <a:lnTo>
                    <a:pt x="2399360" y="1339011"/>
                  </a:lnTo>
                  <a:lnTo>
                    <a:pt x="2307907" y="1152956"/>
                  </a:lnTo>
                  <a:lnTo>
                    <a:pt x="2521242" y="1024712"/>
                  </a:lnTo>
                  <a:lnTo>
                    <a:pt x="2645232" y="1150835"/>
                  </a:lnTo>
                  <a:lnTo>
                    <a:pt x="2645232" y="1137259"/>
                  </a:lnTo>
                  <a:lnTo>
                    <a:pt x="2529649" y="1019670"/>
                  </a:lnTo>
                  <a:lnTo>
                    <a:pt x="3419589" y="484708"/>
                  </a:lnTo>
                  <a:lnTo>
                    <a:pt x="3423221" y="487045"/>
                  </a:lnTo>
                  <a:lnTo>
                    <a:pt x="3423221" y="436626"/>
                  </a:lnTo>
                  <a:lnTo>
                    <a:pt x="3402774" y="436156"/>
                  </a:lnTo>
                  <a:lnTo>
                    <a:pt x="3406648" y="444385"/>
                  </a:lnTo>
                  <a:lnTo>
                    <a:pt x="3403015" y="444665"/>
                  </a:lnTo>
                  <a:lnTo>
                    <a:pt x="3410547" y="457225"/>
                  </a:lnTo>
                  <a:lnTo>
                    <a:pt x="3405251" y="458533"/>
                  </a:lnTo>
                  <a:lnTo>
                    <a:pt x="3413341" y="468033"/>
                  </a:lnTo>
                  <a:lnTo>
                    <a:pt x="3403904" y="472490"/>
                  </a:lnTo>
                  <a:lnTo>
                    <a:pt x="3403904" y="483031"/>
                  </a:lnTo>
                  <a:lnTo>
                    <a:pt x="2522791" y="1012685"/>
                  </a:lnTo>
                  <a:lnTo>
                    <a:pt x="2514384" y="1004138"/>
                  </a:lnTo>
                  <a:lnTo>
                    <a:pt x="2514384" y="1017739"/>
                  </a:lnTo>
                  <a:lnTo>
                    <a:pt x="2303703" y="1144384"/>
                  </a:lnTo>
                  <a:lnTo>
                    <a:pt x="2295512" y="1127721"/>
                  </a:lnTo>
                  <a:lnTo>
                    <a:pt x="2295512" y="1149311"/>
                  </a:lnTo>
                  <a:lnTo>
                    <a:pt x="2113356" y="1258811"/>
                  </a:lnTo>
                  <a:lnTo>
                    <a:pt x="2103424" y="1254328"/>
                  </a:lnTo>
                  <a:lnTo>
                    <a:pt x="2103424" y="1264780"/>
                  </a:lnTo>
                  <a:lnTo>
                    <a:pt x="1920595" y="1374673"/>
                  </a:lnTo>
                  <a:lnTo>
                    <a:pt x="1927745" y="1185354"/>
                  </a:lnTo>
                  <a:lnTo>
                    <a:pt x="2103424" y="1264780"/>
                  </a:lnTo>
                  <a:lnTo>
                    <a:pt x="2103424" y="1254328"/>
                  </a:lnTo>
                  <a:lnTo>
                    <a:pt x="1933524" y="1177505"/>
                  </a:lnTo>
                  <a:lnTo>
                    <a:pt x="2238552" y="1033437"/>
                  </a:lnTo>
                  <a:lnTo>
                    <a:pt x="2295512" y="1149311"/>
                  </a:lnTo>
                  <a:lnTo>
                    <a:pt x="2295512" y="1127721"/>
                  </a:lnTo>
                  <a:lnTo>
                    <a:pt x="2247163" y="1029373"/>
                  </a:lnTo>
                  <a:lnTo>
                    <a:pt x="2437473" y="939495"/>
                  </a:lnTo>
                  <a:lnTo>
                    <a:pt x="2514384" y="1017739"/>
                  </a:lnTo>
                  <a:lnTo>
                    <a:pt x="2514384" y="1004138"/>
                  </a:lnTo>
                  <a:lnTo>
                    <a:pt x="2446591" y="935177"/>
                  </a:lnTo>
                  <a:lnTo>
                    <a:pt x="3403904" y="483031"/>
                  </a:lnTo>
                  <a:lnTo>
                    <a:pt x="3403904" y="472490"/>
                  </a:lnTo>
                  <a:lnTo>
                    <a:pt x="2439517" y="927976"/>
                  </a:lnTo>
                  <a:lnTo>
                    <a:pt x="2430386" y="918692"/>
                  </a:lnTo>
                  <a:lnTo>
                    <a:pt x="2430386" y="932294"/>
                  </a:lnTo>
                  <a:lnTo>
                    <a:pt x="2242959" y="1020813"/>
                  </a:lnTo>
                  <a:lnTo>
                    <a:pt x="2234349" y="1003300"/>
                  </a:lnTo>
                  <a:lnTo>
                    <a:pt x="2234349" y="1024877"/>
                  </a:lnTo>
                  <a:lnTo>
                    <a:pt x="1928355" y="1169403"/>
                  </a:lnTo>
                  <a:lnTo>
                    <a:pt x="1952815" y="522198"/>
                  </a:lnTo>
                  <a:lnTo>
                    <a:pt x="1967585" y="514946"/>
                  </a:lnTo>
                  <a:lnTo>
                    <a:pt x="1976247" y="515277"/>
                  </a:lnTo>
                  <a:lnTo>
                    <a:pt x="1977491" y="519112"/>
                  </a:lnTo>
                  <a:lnTo>
                    <a:pt x="1981212" y="515454"/>
                  </a:lnTo>
                  <a:lnTo>
                    <a:pt x="1984006" y="515556"/>
                  </a:lnTo>
                  <a:lnTo>
                    <a:pt x="2234349" y="1024877"/>
                  </a:lnTo>
                  <a:lnTo>
                    <a:pt x="2234349" y="1003300"/>
                  </a:lnTo>
                  <a:lnTo>
                    <a:pt x="1990217" y="506603"/>
                  </a:lnTo>
                  <a:lnTo>
                    <a:pt x="1995881" y="501040"/>
                  </a:lnTo>
                  <a:lnTo>
                    <a:pt x="2003018" y="497535"/>
                  </a:lnTo>
                  <a:lnTo>
                    <a:pt x="2430386" y="932294"/>
                  </a:lnTo>
                  <a:lnTo>
                    <a:pt x="2430386" y="918692"/>
                  </a:lnTo>
                  <a:lnTo>
                    <a:pt x="2012022" y="493102"/>
                  </a:lnTo>
                  <a:lnTo>
                    <a:pt x="2019058" y="489648"/>
                  </a:lnTo>
                  <a:lnTo>
                    <a:pt x="2015896" y="487248"/>
                  </a:lnTo>
                  <a:lnTo>
                    <a:pt x="2012518" y="484682"/>
                  </a:lnTo>
                  <a:lnTo>
                    <a:pt x="2021878" y="475475"/>
                  </a:lnTo>
                  <a:lnTo>
                    <a:pt x="2031834" y="465696"/>
                  </a:lnTo>
                  <a:lnTo>
                    <a:pt x="1951253" y="438061"/>
                  </a:lnTo>
                  <a:lnTo>
                    <a:pt x="1943366" y="443699"/>
                  </a:lnTo>
                  <a:lnTo>
                    <a:pt x="1943366" y="520128"/>
                  </a:lnTo>
                  <a:lnTo>
                    <a:pt x="1918766" y="1170838"/>
                  </a:lnTo>
                  <a:lnTo>
                    <a:pt x="1918246" y="1170609"/>
                  </a:lnTo>
                  <a:lnTo>
                    <a:pt x="1918246" y="1184719"/>
                  </a:lnTo>
                  <a:lnTo>
                    <a:pt x="1910969" y="1376883"/>
                  </a:lnTo>
                  <a:lnTo>
                    <a:pt x="1910410" y="1376565"/>
                  </a:lnTo>
                  <a:lnTo>
                    <a:pt x="1910410" y="1391907"/>
                  </a:lnTo>
                  <a:lnTo>
                    <a:pt x="1895614" y="1782978"/>
                  </a:lnTo>
                  <a:lnTo>
                    <a:pt x="1630349" y="1560245"/>
                  </a:lnTo>
                  <a:lnTo>
                    <a:pt x="1910410" y="1391907"/>
                  </a:lnTo>
                  <a:lnTo>
                    <a:pt x="1910410" y="1376565"/>
                  </a:lnTo>
                  <a:lnTo>
                    <a:pt x="1904695" y="1373238"/>
                  </a:lnTo>
                  <a:lnTo>
                    <a:pt x="1904695" y="1384236"/>
                  </a:lnTo>
                  <a:lnTo>
                    <a:pt x="1622653" y="1553768"/>
                  </a:lnTo>
                  <a:lnTo>
                    <a:pt x="1614017" y="1546529"/>
                  </a:lnTo>
                  <a:lnTo>
                    <a:pt x="1614017" y="1558963"/>
                  </a:lnTo>
                  <a:lnTo>
                    <a:pt x="1246314" y="1779993"/>
                  </a:lnTo>
                  <a:lnTo>
                    <a:pt x="1440446" y="1413217"/>
                  </a:lnTo>
                  <a:lnTo>
                    <a:pt x="1614017" y="1558963"/>
                  </a:lnTo>
                  <a:lnTo>
                    <a:pt x="1614017" y="1546529"/>
                  </a:lnTo>
                  <a:lnTo>
                    <a:pt x="1447761" y="1406931"/>
                  </a:lnTo>
                  <a:lnTo>
                    <a:pt x="1721396" y="1277696"/>
                  </a:lnTo>
                  <a:lnTo>
                    <a:pt x="1904695" y="1384236"/>
                  </a:lnTo>
                  <a:lnTo>
                    <a:pt x="1904695" y="1373238"/>
                  </a:lnTo>
                  <a:lnTo>
                    <a:pt x="1731848" y="1272755"/>
                  </a:lnTo>
                  <a:lnTo>
                    <a:pt x="1918246" y="1184719"/>
                  </a:lnTo>
                  <a:lnTo>
                    <a:pt x="1918246" y="1170609"/>
                  </a:lnTo>
                  <a:lnTo>
                    <a:pt x="1910803" y="1167244"/>
                  </a:lnTo>
                  <a:lnTo>
                    <a:pt x="1910803" y="1177696"/>
                  </a:lnTo>
                  <a:lnTo>
                    <a:pt x="1721853" y="1266939"/>
                  </a:lnTo>
                  <a:lnTo>
                    <a:pt x="1711388" y="1260868"/>
                  </a:lnTo>
                  <a:lnTo>
                    <a:pt x="1711388" y="1271879"/>
                  </a:lnTo>
                  <a:lnTo>
                    <a:pt x="1449908" y="1395374"/>
                  </a:lnTo>
                  <a:lnTo>
                    <a:pt x="1561426" y="1184706"/>
                  </a:lnTo>
                  <a:lnTo>
                    <a:pt x="1711388" y="1271879"/>
                  </a:lnTo>
                  <a:lnTo>
                    <a:pt x="1711388" y="1260868"/>
                  </a:lnTo>
                  <a:lnTo>
                    <a:pt x="1565884" y="1176274"/>
                  </a:lnTo>
                  <a:lnTo>
                    <a:pt x="1631886" y="1051585"/>
                  </a:lnTo>
                  <a:lnTo>
                    <a:pt x="1910803" y="1177696"/>
                  </a:lnTo>
                  <a:lnTo>
                    <a:pt x="1910803" y="1167244"/>
                  </a:lnTo>
                  <a:lnTo>
                    <a:pt x="1636344" y="1043152"/>
                  </a:lnTo>
                  <a:lnTo>
                    <a:pt x="1916963" y="513029"/>
                  </a:lnTo>
                  <a:lnTo>
                    <a:pt x="1930958" y="513562"/>
                  </a:lnTo>
                  <a:lnTo>
                    <a:pt x="1943366" y="520128"/>
                  </a:lnTo>
                  <a:lnTo>
                    <a:pt x="1943366" y="443699"/>
                  </a:lnTo>
                  <a:lnTo>
                    <a:pt x="1881924" y="487591"/>
                  </a:lnTo>
                  <a:lnTo>
                    <a:pt x="1911388" y="503199"/>
                  </a:lnTo>
                  <a:lnTo>
                    <a:pt x="1627644" y="1039215"/>
                  </a:lnTo>
                  <a:lnTo>
                    <a:pt x="1623174" y="1037196"/>
                  </a:lnTo>
                  <a:lnTo>
                    <a:pt x="1623174" y="1047661"/>
                  </a:lnTo>
                  <a:lnTo>
                    <a:pt x="1557629" y="1171486"/>
                  </a:lnTo>
                  <a:lnTo>
                    <a:pt x="1553171" y="1168895"/>
                  </a:lnTo>
                  <a:lnTo>
                    <a:pt x="1553171" y="1179906"/>
                  </a:lnTo>
                  <a:lnTo>
                    <a:pt x="1437538" y="1398346"/>
                  </a:lnTo>
                  <a:lnTo>
                    <a:pt x="1430248" y="1392237"/>
                  </a:lnTo>
                  <a:lnTo>
                    <a:pt x="1430248" y="1404658"/>
                  </a:lnTo>
                  <a:lnTo>
                    <a:pt x="1428102" y="1405674"/>
                  </a:lnTo>
                  <a:lnTo>
                    <a:pt x="1428102" y="1416215"/>
                  </a:lnTo>
                  <a:lnTo>
                    <a:pt x="1233538" y="1783753"/>
                  </a:lnTo>
                  <a:lnTo>
                    <a:pt x="1088605" y="1576552"/>
                  </a:lnTo>
                  <a:lnTo>
                    <a:pt x="1428102" y="1416215"/>
                  </a:lnTo>
                  <a:lnTo>
                    <a:pt x="1428102" y="1405674"/>
                  </a:lnTo>
                  <a:lnTo>
                    <a:pt x="1083068" y="1568627"/>
                  </a:lnTo>
                  <a:lnTo>
                    <a:pt x="337248" y="502361"/>
                  </a:lnTo>
                  <a:lnTo>
                    <a:pt x="337870" y="501281"/>
                  </a:lnTo>
                  <a:lnTo>
                    <a:pt x="340233" y="504177"/>
                  </a:lnTo>
                  <a:lnTo>
                    <a:pt x="345046" y="493509"/>
                  </a:lnTo>
                  <a:lnTo>
                    <a:pt x="1430248" y="1404658"/>
                  </a:lnTo>
                  <a:lnTo>
                    <a:pt x="1430248" y="1392237"/>
                  </a:lnTo>
                  <a:lnTo>
                    <a:pt x="350926" y="485978"/>
                  </a:lnTo>
                  <a:lnTo>
                    <a:pt x="354774" y="483285"/>
                  </a:lnTo>
                  <a:lnTo>
                    <a:pt x="1553171" y="1179906"/>
                  </a:lnTo>
                  <a:lnTo>
                    <a:pt x="1553171" y="1168895"/>
                  </a:lnTo>
                  <a:lnTo>
                    <a:pt x="369570" y="480885"/>
                  </a:lnTo>
                  <a:lnTo>
                    <a:pt x="1623174" y="1047661"/>
                  </a:lnTo>
                  <a:lnTo>
                    <a:pt x="1623174" y="1037196"/>
                  </a:lnTo>
                  <a:lnTo>
                    <a:pt x="361772" y="466890"/>
                  </a:lnTo>
                  <a:lnTo>
                    <a:pt x="369341" y="457885"/>
                  </a:lnTo>
                  <a:lnTo>
                    <a:pt x="363855" y="456577"/>
                  </a:lnTo>
                  <a:lnTo>
                    <a:pt x="371513" y="443420"/>
                  </a:lnTo>
                  <a:lnTo>
                    <a:pt x="367792" y="443191"/>
                  </a:lnTo>
                  <a:lnTo>
                    <a:pt x="371614" y="434733"/>
                  </a:lnTo>
                  <a:lnTo>
                    <a:pt x="286486" y="438061"/>
                  </a:lnTo>
                  <a:lnTo>
                    <a:pt x="298945" y="522338"/>
                  </a:lnTo>
                  <a:lnTo>
                    <a:pt x="317385" y="509435"/>
                  </a:lnTo>
                  <a:lnTo>
                    <a:pt x="320344" y="516242"/>
                  </a:lnTo>
                  <a:lnTo>
                    <a:pt x="328523" y="506501"/>
                  </a:lnTo>
                  <a:lnTo>
                    <a:pt x="1074343" y="1572755"/>
                  </a:lnTo>
                  <a:lnTo>
                    <a:pt x="617410" y="1788566"/>
                  </a:lnTo>
                  <a:lnTo>
                    <a:pt x="621474" y="1797177"/>
                  </a:lnTo>
                  <a:lnTo>
                    <a:pt x="1079881" y="1580680"/>
                  </a:lnTo>
                  <a:lnTo>
                    <a:pt x="1230223" y="1795602"/>
                  </a:lnTo>
                  <a:lnTo>
                    <a:pt x="1234122" y="1792871"/>
                  </a:lnTo>
                  <a:lnTo>
                    <a:pt x="1236573" y="1796948"/>
                  </a:lnTo>
                  <a:lnTo>
                    <a:pt x="1621726" y="1565427"/>
                  </a:lnTo>
                  <a:lnTo>
                    <a:pt x="1896960" y="1796516"/>
                  </a:lnTo>
                  <a:lnTo>
                    <a:pt x="1900021" y="1792871"/>
                  </a:lnTo>
                  <a:lnTo>
                    <a:pt x="1903120" y="1796491"/>
                  </a:lnTo>
                  <a:lnTo>
                    <a:pt x="2191143" y="1550758"/>
                  </a:lnTo>
                  <a:lnTo>
                    <a:pt x="2614752" y="1796986"/>
                  </a:lnTo>
                  <a:lnTo>
                    <a:pt x="2617139" y="1792871"/>
                  </a:lnTo>
                  <a:lnTo>
                    <a:pt x="2621153" y="1795449"/>
                  </a:lnTo>
                  <a:lnTo>
                    <a:pt x="2768866" y="1565630"/>
                  </a:lnTo>
                  <a:lnTo>
                    <a:pt x="3281095" y="1797215"/>
                  </a:lnTo>
                  <a:lnTo>
                    <a:pt x="3283051" y="1792897"/>
                  </a:lnTo>
                  <a:lnTo>
                    <a:pt x="3287763" y="1793582"/>
                  </a:lnTo>
                  <a:lnTo>
                    <a:pt x="3481260" y="514121"/>
                  </a:lnTo>
                  <a:lnTo>
                    <a:pt x="3514229" y="519099"/>
                  </a:lnTo>
                  <a:close/>
                </a:path>
                <a:path w="3774440" h="1797685">
                  <a:moveTo>
                    <a:pt x="3774440" y="153720"/>
                  </a:moveTo>
                  <a:lnTo>
                    <a:pt x="3774351" y="149910"/>
                  </a:lnTo>
                  <a:lnTo>
                    <a:pt x="3774300" y="147370"/>
                  </a:lnTo>
                  <a:lnTo>
                    <a:pt x="3774021" y="142290"/>
                  </a:lnTo>
                  <a:lnTo>
                    <a:pt x="3773944" y="141020"/>
                  </a:lnTo>
                  <a:lnTo>
                    <a:pt x="3773881" y="139750"/>
                  </a:lnTo>
                  <a:lnTo>
                    <a:pt x="3773195" y="133400"/>
                  </a:lnTo>
                  <a:lnTo>
                    <a:pt x="3772255" y="125780"/>
                  </a:lnTo>
                  <a:lnTo>
                    <a:pt x="3771049" y="118160"/>
                  </a:lnTo>
                  <a:lnTo>
                    <a:pt x="3769614" y="111810"/>
                  </a:lnTo>
                  <a:lnTo>
                    <a:pt x="3767950" y="105460"/>
                  </a:lnTo>
                  <a:lnTo>
                    <a:pt x="3766058" y="97840"/>
                  </a:lnTo>
                  <a:lnTo>
                    <a:pt x="3763949" y="91490"/>
                  </a:lnTo>
                  <a:lnTo>
                    <a:pt x="3762552" y="87680"/>
                  </a:lnTo>
                  <a:lnTo>
                    <a:pt x="3761625" y="85140"/>
                  </a:lnTo>
                  <a:lnTo>
                    <a:pt x="3759123" y="78790"/>
                  </a:lnTo>
                  <a:lnTo>
                    <a:pt x="3756418" y="72440"/>
                  </a:lnTo>
                  <a:lnTo>
                    <a:pt x="3755263" y="69900"/>
                  </a:lnTo>
                  <a:lnTo>
                    <a:pt x="3753535" y="66090"/>
                  </a:lnTo>
                  <a:lnTo>
                    <a:pt x="3750475" y="61010"/>
                  </a:lnTo>
                  <a:lnTo>
                    <a:pt x="3747262" y="54660"/>
                  </a:lnTo>
                  <a:lnTo>
                    <a:pt x="3743883" y="49580"/>
                  </a:lnTo>
                  <a:lnTo>
                    <a:pt x="3716312" y="17830"/>
                  </a:lnTo>
                  <a:lnTo>
                    <a:pt x="3707434" y="11480"/>
                  </a:lnTo>
                  <a:lnTo>
                    <a:pt x="3705910" y="10210"/>
                  </a:lnTo>
                  <a:lnTo>
                    <a:pt x="3702862" y="7670"/>
                  </a:lnTo>
                  <a:lnTo>
                    <a:pt x="3698519" y="6400"/>
                  </a:lnTo>
                  <a:lnTo>
                    <a:pt x="3693807" y="3860"/>
                  </a:lnTo>
                  <a:lnTo>
                    <a:pt x="3693464" y="3860"/>
                  </a:lnTo>
                  <a:lnTo>
                    <a:pt x="3689032" y="2590"/>
                  </a:lnTo>
                  <a:lnTo>
                    <a:pt x="3688651" y="2590"/>
                  </a:lnTo>
                  <a:lnTo>
                    <a:pt x="3684206" y="1320"/>
                  </a:lnTo>
                  <a:lnTo>
                    <a:pt x="3683787" y="1320"/>
                  </a:lnTo>
                  <a:lnTo>
                    <a:pt x="3679317" y="50"/>
                  </a:lnTo>
                  <a:lnTo>
                    <a:pt x="3671468" y="50"/>
                  </a:lnTo>
                  <a:lnTo>
                    <a:pt x="3669220" y="1320"/>
                  </a:lnTo>
                  <a:lnTo>
                    <a:pt x="3663772" y="1320"/>
                  </a:lnTo>
                  <a:lnTo>
                    <a:pt x="3659327" y="2590"/>
                  </a:lnTo>
                  <a:lnTo>
                    <a:pt x="3658844" y="3860"/>
                  </a:lnTo>
                  <a:lnTo>
                    <a:pt x="3654425" y="5130"/>
                  </a:lnTo>
                  <a:lnTo>
                    <a:pt x="3654006" y="5130"/>
                  </a:lnTo>
                  <a:lnTo>
                    <a:pt x="3649624" y="7670"/>
                  </a:lnTo>
                  <a:lnTo>
                    <a:pt x="3644925" y="11480"/>
                  </a:lnTo>
                  <a:lnTo>
                    <a:pt x="3644633" y="11480"/>
                  </a:lnTo>
                  <a:lnTo>
                    <a:pt x="3615144" y="45770"/>
                  </a:lnTo>
                  <a:lnTo>
                    <a:pt x="3607727" y="59740"/>
                  </a:lnTo>
                  <a:lnTo>
                    <a:pt x="3604234" y="66090"/>
                  </a:lnTo>
                  <a:lnTo>
                    <a:pt x="3600881" y="73710"/>
                  </a:lnTo>
                  <a:lnTo>
                    <a:pt x="3597681" y="81330"/>
                  </a:lnTo>
                  <a:lnTo>
                    <a:pt x="3594646" y="88950"/>
                  </a:lnTo>
                  <a:lnTo>
                    <a:pt x="3591788" y="97840"/>
                  </a:lnTo>
                  <a:lnTo>
                    <a:pt x="3589109" y="105460"/>
                  </a:lnTo>
                  <a:lnTo>
                    <a:pt x="3578695" y="149910"/>
                  </a:lnTo>
                  <a:lnTo>
                    <a:pt x="3574529" y="186740"/>
                  </a:lnTo>
                  <a:lnTo>
                    <a:pt x="3574440" y="188023"/>
                  </a:lnTo>
                  <a:lnTo>
                    <a:pt x="3574186" y="194360"/>
                  </a:lnTo>
                  <a:lnTo>
                    <a:pt x="3574084" y="196900"/>
                  </a:lnTo>
                  <a:lnTo>
                    <a:pt x="3573983" y="200710"/>
                  </a:lnTo>
                  <a:lnTo>
                    <a:pt x="3573894" y="207060"/>
                  </a:lnTo>
                  <a:lnTo>
                    <a:pt x="3583419" y="207060"/>
                  </a:lnTo>
                  <a:lnTo>
                    <a:pt x="3583546" y="198170"/>
                  </a:lnTo>
                  <a:lnTo>
                    <a:pt x="3583838" y="190881"/>
                  </a:lnTo>
                  <a:lnTo>
                    <a:pt x="3583902" y="189280"/>
                  </a:lnTo>
                  <a:lnTo>
                    <a:pt x="3584029" y="188023"/>
                  </a:lnTo>
                  <a:lnTo>
                    <a:pt x="3584537" y="180390"/>
                  </a:lnTo>
                  <a:lnTo>
                    <a:pt x="3584625" y="179120"/>
                  </a:lnTo>
                  <a:lnTo>
                    <a:pt x="3585527" y="170230"/>
                  </a:lnTo>
                  <a:lnTo>
                    <a:pt x="3586683" y="161340"/>
                  </a:lnTo>
                  <a:lnTo>
                    <a:pt x="3588080" y="151180"/>
                  </a:lnTo>
                  <a:lnTo>
                    <a:pt x="3588067" y="152450"/>
                  </a:lnTo>
                  <a:lnTo>
                    <a:pt x="3588258" y="151180"/>
                  </a:lnTo>
                  <a:lnTo>
                    <a:pt x="3589693" y="142290"/>
                  </a:lnTo>
                  <a:lnTo>
                    <a:pt x="3591522" y="133400"/>
                  </a:lnTo>
                  <a:lnTo>
                    <a:pt x="3593566" y="125780"/>
                  </a:lnTo>
                  <a:lnTo>
                    <a:pt x="3595763" y="116890"/>
                  </a:lnTo>
                  <a:lnTo>
                    <a:pt x="3609556" y="77520"/>
                  </a:lnTo>
                  <a:lnTo>
                    <a:pt x="3626980" y="44500"/>
                  </a:lnTo>
                  <a:lnTo>
                    <a:pt x="3626866" y="45770"/>
                  </a:lnTo>
                  <a:lnTo>
                    <a:pt x="3627615" y="44500"/>
                  </a:lnTo>
                  <a:lnTo>
                    <a:pt x="3630638" y="39420"/>
                  </a:lnTo>
                  <a:lnTo>
                    <a:pt x="3634562" y="34417"/>
                  </a:lnTo>
                  <a:lnTo>
                    <a:pt x="3635019" y="33832"/>
                  </a:lnTo>
                  <a:lnTo>
                    <a:pt x="3637686" y="31381"/>
                  </a:lnTo>
                  <a:lnTo>
                    <a:pt x="3637813" y="31229"/>
                  </a:lnTo>
                  <a:lnTo>
                    <a:pt x="3638461" y="30619"/>
                  </a:lnTo>
                  <a:lnTo>
                    <a:pt x="3638448" y="30454"/>
                  </a:lnTo>
                  <a:lnTo>
                    <a:pt x="3642436" y="25552"/>
                  </a:lnTo>
                  <a:lnTo>
                    <a:pt x="3643033" y="24828"/>
                  </a:lnTo>
                  <a:lnTo>
                    <a:pt x="3646436" y="21755"/>
                  </a:lnTo>
                  <a:lnTo>
                    <a:pt x="3646309" y="22910"/>
                  </a:lnTo>
                  <a:lnTo>
                    <a:pt x="3647605" y="21755"/>
                  </a:lnTo>
                  <a:lnTo>
                    <a:pt x="3650602" y="19100"/>
                  </a:lnTo>
                  <a:lnTo>
                    <a:pt x="3650310" y="19100"/>
                  </a:lnTo>
                  <a:lnTo>
                    <a:pt x="3654653" y="16560"/>
                  </a:lnTo>
                  <a:lnTo>
                    <a:pt x="3654298" y="16560"/>
                  </a:lnTo>
                  <a:lnTo>
                    <a:pt x="3658692" y="14020"/>
                  </a:lnTo>
                  <a:lnTo>
                    <a:pt x="3658273" y="14020"/>
                  </a:lnTo>
                  <a:lnTo>
                    <a:pt x="3662705" y="11480"/>
                  </a:lnTo>
                  <a:lnTo>
                    <a:pt x="3662222" y="12750"/>
                  </a:lnTo>
                  <a:lnTo>
                    <a:pt x="3666667" y="11480"/>
                  </a:lnTo>
                  <a:lnTo>
                    <a:pt x="3666134" y="11480"/>
                  </a:lnTo>
                  <a:lnTo>
                    <a:pt x="3670592" y="10210"/>
                  </a:lnTo>
                  <a:lnTo>
                    <a:pt x="3682022" y="10210"/>
                  </a:lnTo>
                  <a:lnTo>
                    <a:pt x="3686467" y="11480"/>
                  </a:lnTo>
                  <a:lnTo>
                    <a:pt x="3686086" y="11480"/>
                  </a:lnTo>
                  <a:lnTo>
                    <a:pt x="3690505" y="12750"/>
                  </a:lnTo>
                  <a:lnTo>
                    <a:pt x="3690150" y="12750"/>
                  </a:lnTo>
                  <a:lnTo>
                    <a:pt x="3694544" y="15290"/>
                  </a:lnTo>
                  <a:lnTo>
                    <a:pt x="3694226" y="14020"/>
                  </a:lnTo>
                  <a:lnTo>
                    <a:pt x="3698570" y="16560"/>
                  </a:lnTo>
                  <a:lnTo>
                    <a:pt x="3698278" y="16560"/>
                  </a:lnTo>
                  <a:lnTo>
                    <a:pt x="3702570" y="19100"/>
                  </a:lnTo>
                  <a:lnTo>
                    <a:pt x="3702316" y="19100"/>
                  </a:lnTo>
                  <a:lnTo>
                    <a:pt x="3705872" y="21247"/>
                  </a:lnTo>
                  <a:lnTo>
                    <a:pt x="3710584" y="25552"/>
                  </a:lnTo>
                  <a:lnTo>
                    <a:pt x="3710381" y="24828"/>
                  </a:lnTo>
                  <a:lnTo>
                    <a:pt x="3710279" y="24180"/>
                  </a:lnTo>
                  <a:lnTo>
                    <a:pt x="3714369" y="27990"/>
                  </a:lnTo>
                  <a:lnTo>
                    <a:pt x="3714178" y="27990"/>
                  </a:lnTo>
                  <a:lnTo>
                    <a:pt x="3718179" y="31800"/>
                  </a:lnTo>
                  <a:lnTo>
                    <a:pt x="3718014" y="31800"/>
                  </a:lnTo>
                  <a:lnTo>
                    <a:pt x="3721836" y="35547"/>
                  </a:lnTo>
                  <a:lnTo>
                    <a:pt x="3721811" y="35687"/>
                  </a:lnTo>
                  <a:lnTo>
                    <a:pt x="3725557" y="40690"/>
                  </a:lnTo>
                  <a:lnTo>
                    <a:pt x="3725430" y="39420"/>
                  </a:lnTo>
                  <a:lnTo>
                    <a:pt x="3732441" y="49580"/>
                  </a:lnTo>
                  <a:lnTo>
                    <a:pt x="3735768" y="54660"/>
                  </a:lnTo>
                  <a:lnTo>
                    <a:pt x="3738969" y="59740"/>
                  </a:lnTo>
                  <a:lnTo>
                    <a:pt x="3742029" y="64820"/>
                  </a:lnTo>
                  <a:lnTo>
                    <a:pt x="3745001" y="71170"/>
                  </a:lnTo>
                  <a:lnTo>
                    <a:pt x="3744938" y="69900"/>
                  </a:lnTo>
                  <a:lnTo>
                    <a:pt x="3747681" y="76250"/>
                  </a:lnTo>
                  <a:lnTo>
                    <a:pt x="3750259" y="82600"/>
                  </a:lnTo>
                  <a:lnTo>
                    <a:pt x="3752710" y="88950"/>
                  </a:lnTo>
                  <a:lnTo>
                    <a:pt x="3752659" y="87680"/>
                  </a:lnTo>
                  <a:lnTo>
                    <a:pt x="3754869" y="94030"/>
                  </a:lnTo>
                  <a:lnTo>
                    <a:pt x="3756888" y="100380"/>
                  </a:lnTo>
                  <a:lnTo>
                    <a:pt x="3758692" y="106730"/>
                  </a:lnTo>
                  <a:lnTo>
                    <a:pt x="3760292" y="114350"/>
                  </a:lnTo>
                  <a:lnTo>
                    <a:pt x="3761663" y="120700"/>
                  </a:lnTo>
                  <a:lnTo>
                    <a:pt x="3762806" y="127050"/>
                  </a:lnTo>
                  <a:lnTo>
                    <a:pt x="3763721" y="133400"/>
                  </a:lnTo>
                  <a:lnTo>
                    <a:pt x="3764254" y="139750"/>
                  </a:lnTo>
                  <a:lnTo>
                    <a:pt x="3764369" y="141020"/>
                  </a:lnTo>
                  <a:lnTo>
                    <a:pt x="3764775" y="147370"/>
                  </a:lnTo>
                  <a:lnTo>
                    <a:pt x="3764826" y="149910"/>
                  </a:lnTo>
                  <a:lnTo>
                    <a:pt x="3764915" y="153720"/>
                  </a:lnTo>
                  <a:lnTo>
                    <a:pt x="3764737" y="160070"/>
                  </a:lnTo>
                  <a:lnTo>
                    <a:pt x="3764711" y="161340"/>
                  </a:lnTo>
                  <a:lnTo>
                    <a:pt x="3764089" y="167690"/>
                  </a:lnTo>
                  <a:lnTo>
                    <a:pt x="3763060" y="174040"/>
                  </a:lnTo>
                  <a:lnTo>
                    <a:pt x="3761638" y="180390"/>
                  </a:lnTo>
                  <a:lnTo>
                    <a:pt x="3759733" y="188023"/>
                  </a:lnTo>
                  <a:lnTo>
                    <a:pt x="3759822" y="186740"/>
                  </a:lnTo>
                  <a:lnTo>
                    <a:pt x="3757650" y="194360"/>
                  </a:lnTo>
                  <a:lnTo>
                    <a:pt x="3741648" y="224840"/>
                  </a:lnTo>
                  <a:lnTo>
                    <a:pt x="3737533" y="231190"/>
                  </a:lnTo>
                  <a:lnTo>
                    <a:pt x="3733127" y="237540"/>
                  </a:lnTo>
                  <a:lnTo>
                    <a:pt x="3728466" y="242620"/>
                  </a:lnTo>
                  <a:lnTo>
                    <a:pt x="3723551" y="247700"/>
                  </a:lnTo>
                  <a:lnTo>
                    <a:pt x="3718268" y="252780"/>
                  </a:lnTo>
                  <a:lnTo>
                    <a:pt x="3718407" y="252780"/>
                  </a:lnTo>
                  <a:lnTo>
                    <a:pt x="3712895" y="257860"/>
                  </a:lnTo>
                  <a:lnTo>
                    <a:pt x="3713048" y="257860"/>
                  </a:lnTo>
                  <a:lnTo>
                    <a:pt x="3707320" y="262940"/>
                  </a:lnTo>
                  <a:lnTo>
                    <a:pt x="3707473" y="262940"/>
                  </a:lnTo>
                  <a:lnTo>
                    <a:pt x="3701643" y="267944"/>
                  </a:lnTo>
                  <a:lnTo>
                    <a:pt x="3701123" y="268389"/>
                  </a:lnTo>
                  <a:lnTo>
                    <a:pt x="3695611" y="271830"/>
                  </a:lnTo>
                  <a:lnTo>
                    <a:pt x="3695776" y="271830"/>
                  </a:lnTo>
                  <a:lnTo>
                    <a:pt x="3689502" y="275640"/>
                  </a:lnTo>
                  <a:lnTo>
                    <a:pt x="3690594" y="275640"/>
                  </a:lnTo>
                  <a:lnTo>
                    <a:pt x="3687635" y="276529"/>
                  </a:lnTo>
                  <a:lnTo>
                    <a:pt x="3678301" y="245160"/>
                  </a:lnTo>
                  <a:lnTo>
                    <a:pt x="3616007" y="303580"/>
                  </a:lnTo>
                  <a:lnTo>
                    <a:pt x="3699878" y="317550"/>
                  </a:lnTo>
                  <a:lnTo>
                    <a:pt x="3692296" y="292150"/>
                  </a:lnTo>
                  <a:lnTo>
                    <a:pt x="3690378" y="285699"/>
                  </a:lnTo>
                  <a:lnTo>
                    <a:pt x="3693642" y="284530"/>
                  </a:lnTo>
                  <a:lnTo>
                    <a:pt x="3694734" y="283260"/>
                  </a:lnTo>
                  <a:lnTo>
                    <a:pt x="3707282" y="275640"/>
                  </a:lnTo>
                  <a:lnTo>
                    <a:pt x="3719385" y="265480"/>
                  </a:lnTo>
                  <a:lnTo>
                    <a:pt x="3725037" y="260400"/>
                  </a:lnTo>
                  <a:lnTo>
                    <a:pt x="3730333" y="254050"/>
                  </a:lnTo>
                  <a:lnTo>
                    <a:pt x="3735514" y="248970"/>
                  </a:lnTo>
                  <a:lnTo>
                    <a:pt x="3740442" y="242620"/>
                  </a:lnTo>
                  <a:lnTo>
                    <a:pt x="3745090" y="237540"/>
                  </a:lnTo>
                  <a:lnTo>
                    <a:pt x="3749459" y="231190"/>
                  </a:lnTo>
                  <a:lnTo>
                    <a:pt x="3753535" y="224840"/>
                  </a:lnTo>
                  <a:lnTo>
                    <a:pt x="3757396" y="217220"/>
                  </a:lnTo>
                  <a:lnTo>
                    <a:pt x="3760711" y="210870"/>
                  </a:lnTo>
                  <a:lnTo>
                    <a:pt x="3763797" y="204520"/>
                  </a:lnTo>
                  <a:lnTo>
                    <a:pt x="3766515" y="196900"/>
                  </a:lnTo>
                  <a:lnTo>
                    <a:pt x="3768737" y="190881"/>
                  </a:lnTo>
                  <a:lnTo>
                    <a:pt x="3768864" y="190550"/>
                  </a:lnTo>
                  <a:lnTo>
                    <a:pt x="3769512" y="188023"/>
                  </a:lnTo>
                  <a:lnTo>
                    <a:pt x="3770820" y="182930"/>
                  </a:lnTo>
                  <a:lnTo>
                    <a:pt x="3772370" y="176580"/>
                  </a:lnTo>
                  <a:lnTo>
                    <a:pt x="3773500" y="168960"/>
                  </a:lnTo>
                  <a:lnTo>
                    <a:pt x="3774198" y="161340"/>
                  </a:lnTo>
                  <a:lnTo>
                    <a:pt x="3774440" y="1537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73776" y="3513454"/>
              <a:ext cx="3229051" cy="677062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5469255" y="4367237"/>
              <a:ext cx="3025140" cy="80010"/>
            </a:xfrm>
            <a:custGeom>
              <a:avLst/>
              <a:gdLst/>
              <a:ahLst/>
              <a:cxnLst/>
              <a:rect l="l" t="t" r="r" b="b"/>
              <a:pathLst>
                <a:path w="3025140" h="80010">
                  <a:moveTo>
                    <a:pt x="1478876" y="13233"/>
                  </a:moveTo>
                  <a:lnTo>
                    <a:pt x="1478648" y="13233"/>
                  </a:lnTo>
                  <a:lnTo>
                    <a:pt x="1478559" y="13677"/>
                  </a:lnTo>
                  <a:lnTo>
                    <a:pt x="1478876" y="13233"/>
                  </a:lnTo>
                  <a:close/>
                </a:path>
                <a:path w="3025140" h="80010">
                  <a:moveTo>
                    <a:pt x="1481264" y="13677"/>
                  </a:moveTo>
                  <a:lnTo>
                    <a:pt x="1478889" y="13233"/>
                  </a:lnTo>
                  <a:lnTo>
                    <a:pt x="1478775" y="13677"/>
                  </a:lnTo>
                  <a:lnTo>
                    <a:pt x="1481264" y="13677"/>
                  </a:lnTo>
                  <a:close/>
                </a:path>
                <a:path w="3025140" h="80010">
                  <a:moveTo>
                    <a:pt x="1488020" y="14960"/>
                  </a:moveTo>
                  <a:lnTo>
                    <a:pt x="1486204" y="14617"/>
                  </a:lnTo>
                  <a:lnTo>
                    <a:pt x="1478381" y="14617"/>
                  </a:lnTo>
                  <a:lnTo>
                    <a:pt x="1478483" y="14084"/>
                  </a:lnTo>
                  <a:lnTo>
                    <a:pt x="1478559" y="13677"/>
                  </a:lnTo>
                  <a:lnTo>
                    <a:pt x="1478305" y="14185"/>
                  </a:lnTo>
                  <a:lnTo>
                    <a:pt x="1477899" y="14617"/>
                  </a:lnTo>
                  <a:lnTo>
                    <a:pt x="1477581" y="14960"/>
                  </a:lnTo>
                  <a:lnTo>
                    <a:pt x="1477352" y="15201"/>
                  </a:lnTo>
                  <a:lnTo>
                    <a:pt x="1477213" y="15201"/>
                  </a:lnTo>
                  <a:lnTo>
                    <a:pt x="1476578" y="15697"/>
                  </a:lnTo>
                  <a:lnTo>
                    <a:pt x="1432966" y="29108"/>
                  </a:lnTo>
                  <a:lnTo>
                    <a:pt x="1385379" y="36995"/>
                  </a:lnTo>
                  <a:lnTo>
                    <a:pt x="1345920" y="42024"/>
                  </a:lnTo>
                  <a:lnTo>
                    <a:pt x="1276680" y="49060"/>
                  </a:lnTo>
                  <a:lnTo>
                    <a:pt x="1224610" y="53340"/>
                  </a:lnTo>
                  <a:lnTo>
                    <a:pt x="1139024" y="59029"/>
                  </a:lnTo>
                  <a:lnTo>
                    <a:pt x="1043609" y="63842"/>
                  </a:lnTo>
                  <a:lnTo>
                    <a:pt x="1043279" y="63842"/>
                  </a:lnTo>
                  <a:lnTo>
                    <a:pt x="1011313" y="65138"/>
                  </a:lnTo>
                  <a:lnTo>
                    <a:pt x="945654" y="67322"/>
                  </a:lnTo>
                  <a:lnTo>
                    <a:pt x="878763" y="68935"/>
                  </a:lnTo>
                  <a:lnTo>
                    <a:pt x="810056" y="69938"/>
                  </a:lnTo>
                  <a:lnTo>
                    <a:pt x="771461" y="70231"/>
                  </a:lnTo>
                  <a:lnTo>
                    <a:pt x="712139" y="70231"/>
                  </a:lnTo>
                  <a:lnTo>
                    <a:pt x="569379" y="68199"/>
                  </a:lnTo>
                  <a:lnTo>
                    <a:pt x="437235" y="63842"/>
                  </a:lnTo>
                  <a:lnTo>
                    <a:pt x="344322" y="59245"/>
                  </a:lnTo>
                  <a:lnTo>
                    <a:pt x="258737" y="53657"/>
                  </a:lnTo>
                  <a:lnTo>
                    <a:pt x="182359" y="47231"/>
                  </a:lnTo>
                  <a:lnTo>
                    <a:pt x="137452" y="42557"/>
                  </a:lnTo>
                  <a:lnTo>
                    <a:pt x="98005" y="37630"/>
                  </a:lnTo>
                  <a:lnTo>
                    <a:pt x="81292" y="35191"/>
                  </a:lnTo>
                  <a:lnTo>
                    <a:pt x="81013" y="35191"/>
                  </a:lnTo>
                  <a:lnTo>
                    <a:pt x="74218" y="33312"/>
                  </a:lnTo>
                  <a:lnTo>
                    <a:pt x="75793" y="28422"/>
                  </a:lnTo>
                  <a:lnTo>
                    <a:pt x="75869" y="28168"/>
                  </a:lnTo>
                  <a:lnTo>
                    <a:pt x="84213" y="2349"/>
                  </a:lnTo>
                  <a:lnTo>
                    <a:pt x="0" y="15201"/>
                  </a:lnTo>
                  <a:lnTo>
                    <a:pt x="60807" y="74866"/>
                  </a:lnTo>
                  <a:lnTo>
                    <a:pt x="71234" y="42557"/>
                  </a:lnTo>
                  <a:lnTo>
                    <a:pt x="71285" y="42392"/>
                  </a:lnTo>
                  <a:lnTo>
                    <a:pt x="78879" y="44488"/>
                  </a:lnTo>
                  <a:lnTo>
                    <a:pt x="79057" y="44488"/>
                  </a:lnTo>
                  <a:lnTo>
                    <a:pt x="96697" y="47066"/>
                  </a:lnTo>
                  <a:lnTo>
                    <a:pt x="115824" y="49568"/>
                  </a:lnTo>
                  <a:lnTo>
                    <a:pt x="181444" y="56705"/>
                  </a:lnTo>
                  <a:lnTo>
                    <a:pt x="231394" y="61087"/>
                  </a:lnTo>
                  <a:lnTo>
                    <a:pt x="314286" y="66992"/>
                  </a:lnTo>
                  <a:lnTo>
                    <a:pt x="436829" y="73367"/>
                  </a:lnTo>
                  <a:lnTo>
                    <a:pt x="569150" y="77724"/>
                  </a:lnTo>
                  <a:lnTo>
                    <a:pt x="706894" y="79717"/>
                  </a:lnTo>
                  <a:lnTo>
                    <a:pt x="776452" y="79717"/>
                  </a:lnTo>
                  <a:lnTo>
                    <a:pt x="844715" y="79032"/>
                  </a:lnTo>
                  <a:lnTo>
                    <a:pt x="912469" y="77724"/>
                  </a:lnTo>
                  <a:lnTo>
                    <a:pt x="978865" y="75819"/>
                  </a:lnTo>
                  <a:lnTo>
                    <a:pt x="1043419" y="73367"/>
                  </a:lnTo>
                  <a:lnTo>
                    <a:pt x="1043736" y="73367"/>
                  </a:lnTo>
                  <a:lnTo>
                    <a:pt x="1109294" y="70231"/>
                  </a:lnTo>
                  <a:lnTo>
                    <a:pt x="1197673" y="64833"/>
                  </a:lnTo>
                  <a:lnTo>
                    <a:pt x="1277531" y="58547"/>
                  </a:lnTo>
                  <a:lnTo>
                    <a:pt x="1325118" y="53911"/>
                  </a:lnTo>
                  <a:lnTo>
                    <a:pt x="1367040" y="49060"/>
                  </a:lnTo>
                  <a:lnTo>
                    <a:pt x="1420482" y="41135"/>
                  </a:lnTo>
                  <a:lnTo>
                    <a:pt x="1458760" y="32867"/>
                  </a:lnTo>
                  <a:lnTo>
                    <a:pt x="1487805" y="16014"/>
                  </a:lnTo>
                  <a:lnTo>
                    <a:pt x="1487868" y="15697"/>
                  </a:lnTo>
                  <a:lnTo>
                    <a:pt x="1487970" y="15201"/>
                  </a:lnTo>
                  <a:lnTo>
                    <a:pt x="1488020" y="14960"/>
                  </a:lnTo>
                  <a:close/>
                </a:path>
                <a:path w="3025140" h="80010">
                  <a:moveTo>
                    <a:pt x="3015081" y="13957"/>
                  </a:moveTo>
                  <a:lnTo>
                    <a:pt x="3014954" y="14135"/>
                  </a:lnTo>
                  <a:lnTo>
                    <a:pt x="3015081" y="13957"/>
                  </a:lnTo>
                  <a:close/>
                </a:path>
                <a:path w="3025140" h="80010">
                  <a:moveTo>
                    <a:pt x="3024708" y="14998"/>
                  </a:moveTo>
                  <a:lnTo>
                    <a:pt x="3022015" y="14465"/>
                  </a:lnTo>
                  <a:lnTo>
                    <a:pt x="3019450" y="13957"/>
                  </a:lnTo>
                  <a:lnTo>
                    <a:pt x="3015805" y="13233"/>
                  </a:lnTo>
                  <a:lnTo>
                    <a:pt x="3015653" y="13233"/>
                  </a:lnTo>
                  <a:lnTo>
                    <a:pt x="3015691" y="12890"/>
                  </a:lnTo>
                  <a:lnTo>
                    <a:pt x="3015488" y="13233"/>
                  </a:lnTo>
                  <a:lnTo>
                    <a:pt x="3015335" y="13233"/>
                  </a:lnTo>
                  <a:lnTo>
                    <a:pt x="3015297" y="13538"/>
                  </a:lnTo>
                  <a:lnTo>
                    <a:pt x="3015056" y="13957"/>
                  </a:lnTo>
                  <a:lnTo>
                    <a:pt x="3015297" y="13665"/>
                  </a:lnTo>
                  <a:lnTo>
                    <a:pt x="3015450" y="13500"/>
                  </a:lnTo>
                  <a:lnTo>
                    <a:pt x="3015272" y="13957"/>
                  </a:lnTo>
                  <a:lnTo>
                    <a:pt x="3015157" y="14135"/>
                  </a:lnTo>
                  <a:lnTo>
                    <a:pt x="3015107" y="14401"/>
                  </a:lnTo>
                  <a:lnTo>
                    <a:pt x="3015107" y="14135"/>
                  </a:lnTo>
                  <a:lnTo>
                    <a:pt x="3014954" y="14135"/>
                  </a:lnTo>
                  <a:lnTo>
                    <a:pt x="3014751" y="14135"/>
                  </a:lnTo>
                  <a:lnTo>
                    <a:pt x="3013595" y="14998"/>
                  </a:lnTo>
                  <a:lnTo>
                    <a:pt x="2973755" y="26581"/>
                  </a:lnTo>
                  <a:lnTo>
                    <a:pt x="2930207" y="33451"/>
                  </a:lnTo>
                  <a:lnTo>
                    <a:pt x="2874137" y="39941"/>
                  </a:lnTo>
                  <a:lnTo>
                    <a:pt x="2831198" y="43903"/>
                  </a:lnTo>
                  <a:lnTo>
                    <a:pt x="2783636" y="47625"/>
                  </a:lnTo>
                  <a:lnTo>
                    <a:pt x="2705443" y="52590"/>
                  </a:lnTo>
                  <a:lnTo>
                    <a:pt x="2617622" y="56794"/>
                  </a:lnTo>
                  <a:lnTo>
                    <a:pt x="2558796" y="58915"/>
                  </a:lnTo>
                  <a:lnTo>
                    <a:pt x="2498306" y="60566"/>
                  </a:lnTo>
                  <a:lnTo>
                    <a:pt x="2436571" y="61709"/>
                  </a:lnTo>
                  <a:lnTo>
                    <a:pt x="2372372" y="62306"/>
                  </a:lnTo>
                  <a:lnTo>
                    <a:pt x="2312530" y="62306"/>
                  </a:lnTo>
                  <a:lnTo>
                    <a:pt x="2154186" y="59804"/>
                  </a:lnTo>
                  <a:lnTo>
                    <a:pt x="2037397" y="55651"/>
                  </a:lnTo>
                  <a:lnTo>
                    <a:pt x="1952472" y="51269"/>
                  </a:lnTo>
                  <a:lnTo>
                    <a:pt x="1876894" y="46164"/>
                  </a:lnTo>
                  <a:lnTo>
                    <a:pt x="1831390" y="42367"/>
                  </a:lnTo>
                  <a:lnTo>
                    <a:pt x="1790357" y="38315"/>
                  </a:lnTo>
                  <a:lnTo>
                    <a:pt x="1754873" y="34099"/>
                  </a:lnTo>
                  <a:lnTo>
                    <a:pt x="1754708" y="34099"/>
                  </a:lnTo>
                  <a:lnTo>
                    <a:pt x="1739582" y="30772"/>
                  </a:lnTo>
                  <a:lnTo>
                    <a:pt x="1740801" y="26581"/>
                  </a:lnTo>
                  <a:lnTo>
                    <a:pt x="1748574" y="0"/>
                  </a:lnTo>
                  <a:lnTo>
                    <a:pt x="1664754" y="15201"/>
                  </a:lnTo>
                  <a:lnTo>
                    <a:pt x="1727212" y="73139"/>
                  </a:lnTo>
                  <a:lnTo>
                    <a:pt x="1736902" y="39941"/>
                  </a:lnTo>
                  <a:lnTo>
                    <a:pt x="1753082" y="43484"/>
                  </a:lnTo>
                  <a:lnTo>
                    <a:pt x="1809343" y="49847"/>
                  </a:lnTo>
                  <a:lnTo>
                    <a:pt x="1852815" y="53797"/>
                  </a:lnTo>
                  <a:lnTo>
                    <a:pt x="1900504" y="57442"/>
                  </a:lnTo>
                  <a:lnTo>
                    <a:pt x="1978837" y="62306"/>
                  </a:lnTo>
                  <a:lnTo>
                    <a:pt x="2063877" y="66306"/>
                  </a:lnTo>
                  <a:lnTo>
                    <a:pt x="2184768" y="70091"/>
                  </a:lnTo>
                  <a:lnTo>
                    <a:pt x="2310625" y="71818"/>
                  </a:lnTo>
                  <a:lnTo>
                    <a:pt x="2374188" y="71818"/>
                  </a:lnTo>
                  <a:lnTo>
                    <a:pt x="2436393" y="71234"/>
                  </a:lnTo>
                  <a:lnTo>
                    <a:pt x="2498204" y="70091"/>
                  </a:lnTo>
                  <a:lnTo>
                    <a:pt x="2558821" y="68440"/>
                  </a:lnTo>
                  <a:lnTo>
                    <a:pt x="2588425" y="67437"/>
                  </a:lnTo>
                  <a:lnTo>
                    <a:pt x="2588768" y="67437"/>
                  </a:lnTo>
                  <a:lnTo>
                    <a:pt x="2617990" y="66306"/>
                  </a:lnTo>
                  <a:lnTo>
                    <a:pt x="2618308" y="66306"/>
                  </a:lnTo>
                  <a:lnTo>
                    <a:pt x="2702115" y="62306"/>
                  </a:lnTo>
                  <a:lnTo>
                    <a:pt x="2784322" y="57124"/>
                  </a:lnTo>
                  <a:lnTo>
                    <a:pt x="2832011" y="53390"/>
                  </a:lnTo>
                  <a:lnTo>
                    <a:pt x="2875496" y="49364"/>
                  </a:lnTo>
                  <a:lnTo>
                    <a:pt x="2914294" y="45085"/>
                  </a:lnTo>
                  <a:lnTo>
                    <a:pt x="2962160" y="38315"/>
                  </a:lnTo>
                  <a:lnTo>
                    <a:pt x="3006394" y="28460"/>
                  </a:lnTo>
                  <a:lnTo>
                    <a:pt x="3024657" y="15201"/>
                  </a:lnTo>
                  <a:lnTo>
                    <a:pt x="3024708" y="149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5638952" y="6186512"/>
            <a:ext cx="92710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50">
                <a:latin typeface="Courier New"/>
                <a:cs typeface="Courier New"/>
              </a:rPr>
              <a:t>1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30" name="object 3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51</a:t>
            </a:fld>
          </a:p>
        </p:txBody>
      </p:sp>
      <p:sp>
        <p:nvSpPr>
          <p:cNvPr id="19" name="object 19" descr=""/>
          <p:cNvSpPr txBox="1"/>
          <p:nvPr/>
        </p:nvSpPr>
        <p:spPr>
          <a:xfrm>
            <a:off x="5535193" y="6022367"/>
            <a:ext cx="139065" cy="314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1080" i="1">
                <a:latin typeface="Courier New"/>
                <a:cs typeface="Courier New"/>
              </a:rPr>
              <a:t>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361849" y="6186512"/>
            <a:ext cx="92710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50">
                <a:latin typeface="Courier New"/>
                <a:cs typeface="Courier New"/>
              </a:rPr>
              <a:t>2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6243815" y="6022367"/>
            <a:ext cx="139065" cy="314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1080" i="1">
                <a:latin typeface="Courier New"/>
                <a:cs typeface="Courier New"/>
              </a:rPr>
              <a:t>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7032980" y="6167259"/>
            <a:ext cx="92710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50">
                <a:latin typeface="Courier New"/>
                <a:cs typeface="Courier New"/>
              </a:rPr>
              <a:t>3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6918883" y="6003215"/>
            <a:ext cx="139065" cy="314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1080" i="1">
                <a:latin typeface="Courier New"/>
                <a:cs typeface="Courier New"/>
              </a:rPr>
              <a:t>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7693659" y="6186512"/>
            <a:ext cx="92710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50">
                <a:latin typeface="Courier New"/>
                <a:cs typeface="Courier New"/>
              </a:rPr>
              <a:t>4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7575625" y="6022367"/>
            <a:ext cx="139065" cy="314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1080" i="1">
                <a:latin typeface="Courier New"/>
                <a:cs typeface="Courier New"/>
              </a:rPr>
              <a:t>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8407463" y="6177876"/>
            <a:ext cx="92710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50">
                <a:latin typeface="Courier New"/>
                <a:cs typeface="Courier New"/>
              </a:rPr>
              <a:t>5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8293379" y="6013515"/>
            <a:ext cx="139065" cy="314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1080" i="1">
                <a:latin typeface="Courier New"/>
                <a:cs typeface="Courier New"/>
              </a:rPr>
              <a:t>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581266" y="5146852"/>
            <a:ext cx="435038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specific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competitive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net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that </a:t>
            </a:r>
            <a:r>
              <a:rPr dirty="0" sz="2400">
                <a:latin typeface="Tahoma"/>
                <a:cs typeface="Tahoma"/>
              </a:rPr>
              <a:t>performs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Winner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 spc="-55">
                <a:latin typeface="Tahoma"/>
                <a:cs typeface="Tahoma"/>
              </a:rPr>
              <a:t>Take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All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(WTA) </a:t>
            </a:r>
            <a:r>
              <a:rPr dirty="0" sz="2400">
                <a:latin typeface="Tahoma"/>
                <a:cs typeface="Tahoma"/>
              </a:rPr>
              <a:t>competition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0000FF"/>
                </a:solidFill>
                <a:latin typeface="Tahoma"/>
                <a:cs typeface="Tahoma"/>
              </a:rPr>
              <a:t>Maxnet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4725" rIns="0" bIns="0" rtlCol="0" vert="horz">
            <a:spAutoFit/>
          </a:bodyPr>
          <a:lstStyle/>
          <a:p>
            <a:pPr marL="21717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Maxnet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6132" y="3499293"/>
            <a:ext cx="3937102" cy="3163183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764540" y="2160371"/>
            <a:ext cx="7192009" cy="961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3679"/>
              </a:lnSpc>
              <a:spcBef>
                <a:spcPts val="105"/>
              </a:spcBef>
            </a:pPr>
            <a:r>
              <a:rPr dirty="0" sz="3200" spc="-10" b="1">
                <a:solidFill>
                  <a:srgbClr val="3333CC"/>
                </a:solidFill>
                <a:latin typeface="Arial"/>
                <a:cs typeface="Arial"/>
              </a:rPr>
              <a:t>Maxnet</a:t>
            </a:r>
            <a:endParaRPr sz="3200">
              <a:latin typeface="Arial"/>
              <a:cs typeface="Arial"/>
            </a:endParaRPr>
          </a:p>
          <a:p>
            <a:pPr marL="355600">
              <a:lnSpc>
                <a:spcPts val="3679"/>
              </a:lnSpc>
            </a:pPr>
            <a:r>
              <a:rPr dirty="0" sz="3200" spc="-545">
                <a:solidFill>
                  <a:srgbClr val="006699"/>
                </a:solidFill>
                <a:latin typeface="Courier New"/>
                <a:cs typeface="Courier New"/>
              </a:rPr>
              <a:t>Lateral</a:t>
            </a:r>
            <a:r>
              <a:rPr dirty="0" sz="3200" spc="-1005">
                <a:solidFill>
                  <a:srgbClr val="006699"/>
                </a:solidFill>
                <a:latin typeface="Courier New"/>
                <a:cs typeface="Courier New"/>
              </a:rPr>
              <a:t> </a:t>
            </a:r>
            <a:r>
              <a:rPr dirty="0" sz="3200" spc="-680">
                <a:solidFill>
                  <a:srgbClr val="006699"/>
                </a:solidFill>
                <a:latin typeface="Courier New"/>
                <a:cs typeface="Courier New"/>
              </a:rPr>
              <a:t>inhibition</a:t>
            </a:r>
            <a:r>
              <a:rPr dirty="0" sz="3200" spc="-1000">
                <a:solidFill>
                  <a:srgbClr val="006699"/>
                </a:solidFill>
                <a:latin typeface="Courier New"/>
                <a:cs typeface="Courier New"/>
              </a:rPr>
              <a:t> </a:t>
            </a:r>
            <a:r>
              <a:rPr dirty="0" sz="3200" spc="-215">
                <a:solidFill>
                  <a:srgbClr val="006699"/>
                </a:solidFill>
                <a:latin typeface="Courier New"/>
                <a:cs typeface="Courier New"/>
              </a:rPr>
              <a:t>between</a:t>
            </a:r>
            <a:r>
              <a:rPr dirty="0" sz="3200" spc="-1005">
                <a:solidFill>
                  <a:srgbClr val="006699"/>
                </a:solidFill>
                <a:latin typeface="Courier New"/>
                <a:cs typeface="Courier New"/>
              </a:rPr>
              <a:t> </a:t>
            </a:r>
            <a:r>
              <a:rPr dirty="0" sz="3200" spc="-445">
                <a:solidFill>
                  <a:srgbClr val="006699"/>
                </a:solidFill>
                <a:latin typeface="Courier New"/>
                <a:cs typeface="Courier New"/>
              </a:rPr>
              <a:t>competitors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51</a:t>
            </a:fld>
          </a:p>
        </p:txBody>
      </p:sp>
      <p:sp>
        <p:nvSpPr>
          <p:cNvPr id="4" name="object 4" descr=""/>
          <p:cNvSpPr txBox="1"/>
          <p:nvPr/>
        </p:nvSpPr>
        <p:spPr>
          <a:xfrm>
            <a:off x="1790141" y="5445924"/>
            <a:ext cx="18478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1300">
                <a:latin typeface="Courier New"/>
                <a:cs typeface="Courier New"/>
              </a:rPr>
              <a:t>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891688" y="4050474"/>
            <a:ext cx="18478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1300">
                <a:latin typeface="Courier New"/>
                <a:cs typeface="Courier New"/>
              </a:rPr>
              <a:t>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764741" y="5194185"/>
            <a:ext cx="41402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500" spc="-705">
                <a:latin typeface="Courier New"/>
                <a:cs typeface="Courier New"/>
              </a:rPr>
              <a:t></a:t>
            </a:r>
            <a:r>
              <a:rPr dirty="0" baseline="-30000" sz="3750" spc="-1057">
                <a:latin typeface="Courier New"/>
                <a:cs typeface="Courier New"/>
              </a:rPr>
              <a:t>0</a:t>
            </a:r>
            <a:endParaRPr baseline="-30000" sz="375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866288" y="3971683"/>
            <a:ext cx="208343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30000" sz="3750" spc="-892">
                <a:latin typeface="Courier New"/>
                <a:cs typeface="Courier New"/>
              </a:rPr>
              <a:t></a:t>
            </a:r>
            <a:r>
              <a:rPr dirty="0" sz="2500" spc="-595">
                <a:latin typeface="Courier New"/>
                <a:cs typeface="Courier New"/>
              </a:rPr>
              <a:t>–</a:t>
            </a:r>
            <a:r>
              <a:rPr dirty="0" sz="2500" spc="-825">
                <a:latin typeface="Courier New"/>
                <a:cs typeface="Courier New"/>
              </a:rPr>
              <a:t> </a:t>
            </a:r>
            <a:r>
              <a:rPr dirty="0" sz="2500" spc="-390">
                <a:latin typeface="Courier New"/>
                <a:cs typeface="Courier New"/>
              </a:rPr>
              <a:t>s</a:t>
            </a:r>
            <a:r>
              <a:rPr dirty="0" sz="2500" spc="-105">
                <a:latin typeface="Courier New"/>
                <a:cs typeface="Courier New"/>
              </a:rPr>
              <a:t> </a:t>
            </a:r>
            <a:r>
              <a:rPr dirty="0" sz="2500" spc="-434">
                <a:latin typeface="Courier New"/>
                <a:cs typeface="Courier New"/>
              </a:rPr>
              <a:t>otherwise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34072" y="4351647"/>
            <a:ext cx="2919095" cy="976630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500" spc="-285">
                <a:latin typeface="Courier New"/>
                <a:cs typeface="Courier New"/>
              </a:rPr>
              <a:t>node</a:t>
            </a:r>
            <a:r>
              <a:rPr dirty="0" sz="2500" spc="-330">
                <a:latin typeface="Courier New"/>
                <a:cs typeface="Courier New"/>
              </a:rPr>
              <a:t> </a:t>
            </a:r>
            <a:r>
              <a:rPr dirty="0" sz="2500" spc="-459">
                <a:latin typeface="Courier New"/>
                <a:cs typeface="Courier New"/>
              </a:rPr>
              <a:t>function</a:t>
            </a:r>
            <a:r>
              <a:rPr dirty="0" sz="2500" spc="145">
                <a:latin typeface="Courier New"/>
                <a:cs typeface="Courier New"/>
              </a:rPr>
              <a:t> </a:t>
            </a:r>
            <a:r>
              <a:rPr dirty="0" sz="2500" spc="-860">
                <a:latin typeface="Courier New"/>
                <a:cs typeface="Courier New"/>
              </a:rPr>
              <a:t>:</a:t>
            </a:r>
            <a:endParaRPr sz="2500">
              <a:latin typeface="Courier New"/>
              <a:cs typeface="Courier New"/>
            </a:endParaRPr>
          </a:p>
          <a:p>
            <a:pPr marL="1858645">
              <a:lnSpc>
                <a:spcPct val="100000"/>
              </a:lnSpc>
              <a:spcBef>
                <a:spcPts val="745"/>
              </a:spcBef>
            </a:pPr>
            <a:r>
              <a:rPr dirty="0" sz="2500" spc="-740">
                <a:latin typeface="Courier New"/>
                <a:cs typeface="Courier New"/>
              </a:rPr>
              <a:t>if</a:t>
            </a:r>
            <a:r>
              <a:rPr dirty="0" sz="2500" spc="-180">
                <a:latin typeface="Courier New"/>
                <a:cs typeface="Courier New"/>
              </a:rPr>
              <a:t> </a:t>
            </a:r>
            <a:r>
              <a:rPr dirty="0" sz="2500" spc="-375" i="1">
                <a:latin typeface="Courier New"/>
                <a:cs typeface="Courier New"/>
              </a:rPr>
              <a:t>x</a:t>
            </a:r>
            <a:r>
              <a:rPr dirty="0" sz="2500" spc="-685" i="1">
                <a:latin typeface="Courier New"/>
                <a:cs typeface="Courier New"/>
              </a:rPr>
              <a:t> </a:t>
            </a:r>
            <a:r>
              <a:rPr dirty="0" sz="2500" spc="-120">
                <a:latin typeface="Courier New"/>
                <a:cs typeface="Courier New"/>
              </a:rPr>
              <a:t>&gt;</a:t>
            </a:r>
            <a:r>
              <a:rPr dirty="0" sz="2500" spc="-725">
                <a:latin typeface="Courier New"/>
                <a:cs typeface="Courier New"/>
              </a:rPr>
              <a:t> </a:t>
            </a:r>
            <a:r>
              <a:rPr dirty="0" sz="2500" spc="-145">
                <a:latin typeface="Courier New"/>
                <a:cs typeface="Courier New"/>
              </a:rPr>
              <a:t>0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75830" y="5138940"/>
            <a:ext cx="140779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500" spc="-810" i="1">
                <a:latin typeface="Courier New"/>
                <a:cs typeface="Courier New"/>
              </a:rPr>
              <a:t>f</a:t>
            </a:r>
            <a:r>
              <a:rPr dirty="0" sz="2500" spc="-725" i="1">
                <a:latin typeface="Courier New"/>
                <a:cs typeface="Courier New"/>
              </a:rPr>
              <a:t> </a:t>
            </a:r>
            <a:r>
              <a:rPr dirty="0" sz="2500" spc="-660">
                <a:latin typeface="Courier New"/>
                <a:cs typeface="Courier New"/>
              </a:rPr>
              <a:t>(</a:t>
            </a:r>
            <a:r>
              <a:rPr dirty="0" sz="2500" spc="-1185">
                <a:latin typeface="Courier New"/>
                <a:cs typeface="Courier New"/>
              </a:rPr>
              <a:t> </a:t>
            </a:r>
            <a:r>
              <a:rPr dirty="0" sz="2500" spc="-375" i="1">
                <a:latin typeface="Courier New"/>
                <a:cs typeface="Courier New"/>
              </a:rPr>
              <a:t>x</a:t>
            </a:r>
            <a:r>
              <a:rPr dirty="0" sz="2500" spc="-1285" i="1">
                <a:latin typeface="Courier New"/>
                <a:cs typeface="Courier New"/>
              </a:rPr>
              <a:t> </a:t>
            </a:r>
            <a:r>
              <a:rPr dirty="0" sz="2500" spc="-660">
                <a:latin typeface="Courier New"/>
                <a:cs typeface="Courier New"/>
              </a:rPr>
              <a:t>)</a:t>
            </a:r>
            <a:r>
              <a:rPr dirty="0" sz="2500" spc="-760">
                <a:latin typeface="Courier New"/>
                <a:cs typeface="Courier New"/>
              </a:rPr>
              <a:t> </a:t>
            </a:r>
            <a:r>
              <a:rPr dirty="0" sz="2500" spc="-120">
                <a:latin typeface="Courier New"/>
                <a:cs typeface="Courier New"/>
              </a:rPr>
              <a:t>=</a:t>
            </a:r>
            <a:r>
              <a:rPr dirty="0" sz="2500" spc="-680">
                <a:latin typeface="Courier New"/>
                <a:cs typeface="Courier New"/>
              </a:rPr>
              <a:t> </a:t>
            </a:r>
            <a:r>
              <a:rPr dirty="0" baseline="34444" sz="3750" spc="-1875">
                <a:latin typeface="Courier New"/>
                <a:cs typeface="Courier New"/>
              </a:rPr>
              <a:t></a:t>
            </a:r>
            <a:r>
              <a:rPr dirty="0" baseline="34444" sz="3750" spc="-1777">
                <a:latin typeface="Courier New"/>
                <a:cs typeface="Courier New"/>
              </a:rPr>
              <a:t> </a:t>
            </a:r>
            <a:r>
              <a:rPr dirty="0" baseline="37777" sz="3750" spc="-637" i="1">
                <a:latin typeface="Courier New"/>
                <a:cs typeface="Courier New"/>
              </a:rPr>
              <a:t>x</a:t>
            </a:r>
            <a:endParaRPr baseline="37777" sz="375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572524" y="3526154"/>
            <a:ext cx="221043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207770" algn="l"/>
              </a:tabLst>
            </a:pPr>
            <a:r>
              <a:rPr dirty="0" baseline="-37777" sz="3750" spc="-179">
                <a:latin typeface="Courier New"/>
                <a:cs typeface="Courier New"/>
              </a:rPr>
              <a:t>=</a:t>
            </a:r>
            <a:r>
              <a:rPr dirty="0" baseline="-37777" sz="3750" spc="-1019">
                <a:latin typeface="Courier New"/>
                <a:cs typeface="Courier New"/>
              </a:rPr>
              <a:t> </a:t>
            </a:r>
            <a:r>
              <a:rPr dirty="0" baseline="-3333" sz="3750" spc="-1012">
                <a:latin typeface="Courier New"/>
                <a:cs typeface="Courier New"/>
              </a:rPr>
              <a:t></a:t>
            </a:r>
            <a:r>
              <a:rPr dirty="0" sz="2500" spc="-675">
                <a:latin typeface="Courier New"/>
                <a:cs typeface="Courier New"/>
              </a:rPr>
              <a:t>θ</a:t>
            </a:r>
            <a:r>
              <a:rPr dirty="0" sz="2500">
                <a:latin typeface="Courier New"/>
                <a:cs typeface="Courier New"/>
              </a:rPr>
              <a:t>	</a:t>
            </a:r>
            <a:r>
              <a:rPr dirty="0" sz="2500" spc="-740">
                <a:latin typeface="Courier New"/>
                <a:cs typeface="Courier New"/>
              </a:rPr>
              <a:t>if</a:t>
            </a:r>
            <a:r>
              <a:rPr dirty="0" sz="2500" spc="-400">
                <a:latin typeface="Courier New"/>
                <a:cs typeface="Courier New"/>
              </a:rPr>
              <a:t> </a:t>
            </a:r>
            <a:r>
              <a:rPr dirty="0" sz="2500" spc="-810" i="1">
                <a:latin typeface="Courier New"/>
                <a:cs typeface="Courier New"/>
              </a:rPr>
              <a:t>i</a:t>
            </a:r>
            <a:r>
              <a:rPr dirty="0" sz="2500" spc="-710" i="1">
                <a:latin typeface="Courier New"/>
                <a:cs typeface="Courier New"/>
              </a:rPr>
              <a:t> </a:t>
            </a:r>
            <a:r>
              <a:rPr dirty="0" sz="2500">
                <a:latin typeface="Courier New"/>
                <a:cs typeface="Courier New"/>
              </a:rPr>
              <a:t>=</a:t>
            </a:r>
            <a:r>
              <a:rPr dirty="0" sz="2500" spc="-265">
                <a:latin typeface="Courier New"/>
                <a:cs typeface="Courier New"/>
              </a:rPr>
              <a:t> </a:t>
            </a:r>
            <a:r>
              <a:rPr dirty="0" sz="2500" spc="-860" i="1">
                <a:latin typeface="Courier New"/>
                <a:cs typeface="Courier New"/>
              </a:rPr>
              <a:t>j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574455" y="5367146"/>
            <a:ext cx="126936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434">
                <a:latin typeface="Courier New"/>
                <a:cs typeface="Courier New"/>
              </a:rPr>
              <a:t>otherwise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39228" y="3743490"/>
            <a:ext cx="157734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395">
                <a:latin typeface="Courier New"/>
                <a:cs typeface="Courier New"/>
              </a:rPr>
              <a:t>weights</a:t>
            </a:r>
            <a:r>
              <a:rPr dirty="0" sz="2500" spc="5">
                <a:latin typeface="Courier New"/>
                <a:cs typeface="Courier New"/>
              </a:rPr>
              <a:t> </a:t>
            </a:r>
            <a:r>
              <a:rPr dirty="0" sz="2500" spc="-810">
                <a:latin typeface="Courier New"/>
                <a:cs typeface="Courier New"/>
              </a:rPr>
              <a:t>:</a:t>
            </a:r>
            <a:r>
              <a:rPr dirty="0" sz="2500" spc="-994">
                <a:latin typeface="Courier New"/>
                <a:cs typeface="Courier New"/>
              </a:rPr>
              <a:t> </a:t>
            </a:r>
            <a:r>
              <a:rPr dirty="0" sz="2500" spc="130" i="1">
                <a:latin typeface="Courier New"/>
                <a:cs typeface="Courier New"/>
              </a:rPr>
              <a:t>w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353322" y="3938600"/>
            <a:ext cx="139700" cy="2679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600" spc="-550" i="1">
                <a:latin typeface="Courier New"/>
                <a:cs typeface="Courier New"/>
              </a:rPr>
              <a:t>ji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4725" rIns="0" bIns="0" rtlCol="0" vert="horz">
            <a:spAutoFit/>
          </a:bodyPr>
          <a:lstStyle/>
          <a:p>
            <a:pPr marL="21717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Maxnet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59765" y="3582504"/>
            <a:ext cx="7701280" cy="1783080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765"/>
              </a:spcBef>
            </a:pPr>
            <a:r>
              <a:rPr dirty="0" sz="2800" spc="-10" b="1">
                <a:latin typeface="Tahoma"/>
                <a:cs typeface="Tahoma"/>
              </a:rPr>
              <a:t>Notes:</a:t>
            </a:r>
            <a:endParaRPr sz="2800">
              <a:latin typeface="Tahoma"/>
              <a:cs typeface="Tahoma"/>
            </a:endParaRPr>
          </a:p>
          <a:p>
            <a:pPr marL="596900" marR="43180" indent="-228600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50000"/>
              <a:buChar char="■"/>
              <a:tabLst>
                <a:tab pos="596900" algn="l"/>
              </a:tabLst>
            </a:pPr>
            <a:r>
              <a:rPr dirty="0" sz="2400">
                <a:latin typeface="Tahoma"/>
                <a:cs typeface="Tahoma"/>
              </a:rPr>
              <a:t>Competition: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iterative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process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until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net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stabilizes </a:t>
            </a:r>
            <a:r>
              <a:rPr dirty="0" sz="2400">
                <a:latin typeface="Tahoma"/>
                <a:cs typeface="Tahoma"/>
              </a:rPr>
              <a:t>(at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most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one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node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with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positive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activation)</a:t>
            </a:r>
            <a:endParaRPr sz="2400">
              <a:latin typeface="Tahoma"/>
              <a:cs typeface="Tahoma"/>
            </a:endParaRPr>
          </a:p>
          <a:p>
            <a:pPr marL="724535">
              <a:lnSpc>
                <a:spcPct val="100000"/>
              </a:lnSpc>
              <a:spcBef>
                <a:spcPts val="475"/>
              </a:spcBef>
            </a:pPr>
            <a:r>
              <a:rPr dirty="0" baseline="6775" sz="3075" spc="-307">
                <a:latin typeface="Courier New"/>
                <a:cs typeface="Courier New"/>
              </a:rPr>
              <a:t>0</a:t>
            </a:r>
            <a:r>
              <a:rPr dirty="0" baseline="6775" sz="3075" spc="-907">
                <a:latin typeface="Courier New"/>
                <a:cs typeface="Courier New"/>
              </a:rPr>
              <a:t> </a:t>
            </a:r>
            <a:r>
              <a:rPr dirty="0" baseline="6775" sz="3075" spc="-157">
                <a:latin typeface="Courier New"/>
                <a:cs typeface="Courier New"/>
              </a:rPr>
              <a:t>&lt;</a:t>
            </a:r>
            <a:r>
              <a:rPr dirty="0" baseline="6775" sz="3075" spc="-944">
                <a:latin typeface="Courier New"/>
                <a:cs typeface="Courier New"/>
              </a:rPr>
              <a:t> </a:t>
            </a:r>
            <a:r>
              <a:rPr dirty="0" baseline="6459" sz="3225" spc="-585" b="1" i="1">
                <a:latin typeface="Courier New"/>
                <a:cs typeface="Courier New"/>
              </a:rPr>
              <a:t>s</a:t>
            </a:r>
            <a:r>
              <a:rPr dirty="0" baseline="6459" sz="3225" spc="-525" b="1" i="1">
                <a:latin typeface="Courier New"/>
                <a:cs typeface="Courier New"/>
              </a:rPr>
              <a:t> </a:t>
            </a:r>
            <a:r>
              <a:rPr dirty="0" baseline="6775" sz="3075" spc="-157">
                <a:latin typeface="Courier New"/>
                <a:cs typeface="Courier New"/>
              </a:rPr>
              <a:t>&lt;</a:t>
            </a:r>
            <a:r>
              <a:rPr dirty="0" baseline="6775" sz="3075" spc="-1170">
                <a:latin typeface="Courier New"/>
                <a:cs typeface="Courier New"/>
              </a:rPr>
              <a:t> </a:t>
            </a:r>
            <a:r>
              <a:rPr dirty="0" baseline="6775" sz="3075" spc="-307">
                <a:latin typeface="Courier New"/>
                <a:cs typeface="Courier New"/>
              </a:rPr>
              <a:t>1</a:t>
            </a:r>
            <a:r>
              <a:rPr dirty="0" baseline="6775" sz="3075" spc="-1402">
                <a:latin typeface="Courier New"/>
                <a:cs typeface="Courier New"/>
              </a:rPr>
              <a:t> </a:t>
            </a:r>
            <a:r>
              <a:rPr dirty="0" baseline="6775" sz="3075" spc="-975">
                <a:latin typeface="Courier New"/>
                <a:cs typeface="Courier New"/>
              </a:rPr>
              <a:t>/</a:t>
            </a:r>
            <a:r>
              <a:rPr dirty="0" baseline="6775" sz="3075" spc="-1102">
                <a:latin typeface="Courier New"/>
                <a:cs typeface="Courier New"/>
              </a:rPr>
              <a:t> </a:t>
            </a:r>
            <a:r>
              <a:rPr dirty="0" baseline="6775" sz="3075" spc="562" b="1" i="1">
                <a:latin typeface="Courier New"/>
                <a:cs typeface="Courier New"/>
              </a:rPr>
              <a:t>m</a:t>
            </a:r>
            <a:r>
              <a:rPr dirty="0" baseline="6775" sz="3075" spc="-1380" b="1" i="1">
                <a:latin typeface="Courier New"/>
                <a:cs typeface="Courier New"/>
              </a:rPr>
              <a:t> </a:t>
            </a:r>
            <a:r>
              <a:rPr dirty="0" baseline="6775" sz="3075" spc="-1072">
                <a:latin typeface="Courier New"/>
                <a:cs typeface="Courier New"/>
              </a:rPr>
              <a:t>,</a:t>
            </a:r>
            <a:r>
              <a:rPr dirty="0" baseline="6775" sz="3075" spc="-345">
                <a:latin typeface="Courier New"/>
                <a:cs typeface="Courier New"/>
              </a:rPr>
              <a:t> </a:t>
            </a:r>
            <a:r>
              <a:rPr dirty="0" sz="2400">
                <a:latin typeface="Tahoma"/>
                <a:cs typeface="Tahoma"/>
              </a:rPr>
              <a:t>where</a:t>
            </a:r>
            <a:r>
              <a:rPr dirty="0" sz="2400" spc="-5">
                <a:latin typeface="Tahoma"/>
                <a:cs typeface="Tahoma"/>
              </a:rPr>
              <a:t> </a:t>
            </a:r>
            <a:r>
              <a:rPr dirty="0" sz="2500" spc="-375" b="1" i="1">
                <a:latin typeface="Verdana"/>
                <a:cs typeface="Verdana"/>
              </a:rPr>
              <a:t>m</a:t>
            </a:r>
            <a:r>
              <a:rPr dirty="0" sz="2500" spc="-105" b="1" i="1">
                <a:latin typeface="Verdana"/>
                <a:cs typeface="Verdan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 #</a:t>
            </a:r>
            <a:r>
              <a:rPr dirty="0" sz="2400" spc="-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 </a:t>
            </a:r>
            <a:r>
              <a:rPr dirty="0" sz="2400" spc="-10">
                <a:latin typeface="Tahoma"/>
                <a:cs typeface="Tahoma"/>
              </a:rPr>
              <a:t>competitors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15364" y="5339692"/>
            <a:ext cx="6748145" cy="1266190"/>
          </a:xfrm>
          <a:prstGeom prst="rect">
            <a:avLst/>
          </a:prstGeom>
        </p:spPr>
        <p:txBody>
          <a:bodyPr wrap="square" lIns="0" tIns="70485" rIns="0" bIns="0" rtlCol="0" vert="horz">
            <a:spAutoFit/>
          </a:bodyPr>
          <a:lstStyle/>
          <a:p>
            <a:pPr marL="262255" indent="-249554">
              <a:lnSpc>
                <a:spcPct val="100000"/>
              </a:lnSpc>
              <a:spcBef>
                <a:spcPts val="555"/>
              </a:spcBef>
              <a:buClr>
                <a:srgbClr val="3333CC"/>
              </a:buClr>
              <a:buSzPct val="48000"/>
              <a:buFont typeface="Tahoma"/>
              <a:buChar char="■"/>
              <a:tabLst>
                <a:tab pos="262255" algn="l"/>
              </a:tabLst>
            </a:pPr>
            <a:r>
              <a:rPr dirty="0" baseline="1111" sz="3750" spc="-697" b="1" i="1">
                <a:latin typeface="Courier New"/>
                <a:cs typeface="Courier New"/>
              </a:rPr>
              <a:t>s</a:t>
            </a:r>
            <a:r>
              <a:rPr dirty="0" baseline="1111" sz="3750" spc="375" b="1" i="1">
                <a:latin typeface="Courier New"/>
                <a:cs typeface="Courier New"/>
              </a:rPr>
              <a:t> </a:t>
            </a:r>
            <a:r>
              <a:rPr dirty="0" sz="2400">
                <a:latin typeface="Tahoma"/>
                <a:cs typeface="Tahoma"/>
              </a:rPr>
              <a:t>too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small: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takes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too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long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10">
                <a:latin typeface="Tahoma"/>
                <a:cs typeface="Tahoma"/>
              </a:rPr>
              <a:t> converge</a:t>
            </a:r>
            <a:endParaRPr sz="2400">
              <a:latin typeface="Tahoma"/>
              <a:cs typeface="Tahoma"/>
            </a:endParaRPr>
          </a:p>
          <a:p>
            <a:pPr marL="241300" marR="5080" indent="-228600">
              <a:lnSpc>
                <a:spcPts val="2880"/>
              </a:lnSpc>
              <a:spcBef>
                <a:spcPts val="650"/>
              </a:spcBef>
              <a:buChar char="■"/>
              <a:tabLst>
                <a:tab pos="241300" algn="l"/>
                <a:tab pos="280670" algn="l"/>
              </a:tabLst>
            </a:pPr>
            <a:r>
              <a:rPr dirty="0" sz="1200">
                <a:solidFill>
                  <a:srgbClr val="3333CC"/>
                </a:solidFill>
                <a:latin typeface="Tahoma"/>
                <a:cs typeface="Tahoma"/>
              </a:rPr>
              <a:t>	</a:t>
            </a:r>
            <a:r>
              <a:rPr dirty="0" baseline="2222" sz="3750" spc="-697" b="1" i="1">
                <a:latin typeface="Courier New"/>
                <a:cs typeface="Courier New"/>
              </a:rPr>
              <a:t>s</a:t>
            </a:r>
            <a:r>
              <a:rPr dirty="0" baseline="2222" sz="3750" spc="157" b="1" i="1">
                <a:latin typeface="Courier New"/>
                <a:cs typeface="Courier New"/>
              </a:rPr>
              <a:t> </a:t>
            </a:r>
            <a:r>
              <a:rPr dirty="0" sz="2400">
                <a:latin typeface="Tahoma"/>
                <a:cs typeface="Tahoma"/>
              </a:rPr>
              <a:t>too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big: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may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suppress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entire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network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(no </a:t>
            </a:r>
            <a:r>
              <a:rPr dirty="0" sz="2400" spc="-10">
                <a:latin typeface="Tahoma"/>
                <a:cs typeface="Tahoma"/>
              </a:rPr>
              <a:t>winner)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4144" y="1966559"/>
            <a:ext cx="2254284" cy="1810068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2825559" y="3467836"/>
            <a:ext cx="135890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750" spc="-944">
                <a:latin typeface="Courier New"/>
                <a:cs typeface="Courier New"/>
              </a:rPr>
              <a:t>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16" name="object 1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51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3601808" y="2484081"/>
            <a:ext cx="135890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750" spc="-944">
                <a:latin typeface="Courier New"/>
                <a:cs typeface="Courier New"/>
              </a:rPr>
              <a:t>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365639" y="2114460"/>
            <a:ext cx="1583055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866140" algn="l"/>
              </a:tabLst>
            </a:pPr>
            <a:r>
              <a:rPr dirty="0" baseline="-38095" sz="2625" spc="-150">
                <a:latin typeface="Courier New"/>
                <a:cs typeface="Courier New"/>
              </a:rPr>
              <a:t>=</a:t>
            </a:r>
            <a:r>
              <a:rPr dirty="0" baseline="-38095" sz="2625" spc="-682">
                <a:latin typeface="Courier New"/>
                <a:cs typeface="Courier New"/>
              </a:rPr>
              <a:t> </a:t>
            </a:r>
            <a:r>
              <a:rPr dirty="0" baseline="-3174" sz="2625" spc="-727">
                <a:latin typeface="Courier New"/>
                <a:cs typeface="Courier New"/>
              </a:rPr>
              <a:t></a:t>
            </a:r>
            <a:r>
              <a:rPr dirty="0" sz="1750" spc="-484">
                <a:latin typeface="Courier New"/>
                <a:cs typeface="Courier New"/>
              </a:rPr>
              <a:t>θ</a:t>
            </a:r>
            <a:r>
              <a:rPr dirty="0" sz="1750">
                <a:latin typeface="Courier New"/>
                <a:cs typeface="Courier New"/>
              </a:rPr>
              <a:t>	</a:t>
            </a:r>
            <a:r>
              <a:rPr dirty="0" sz="1750" spc="-520">
                <a:latin typeface="Courier New"/>
                <a:cs typeface="Courier New"/>
              </a:rPr>
              <a:t>if</a:t>
            </a:r>
            <a:r>
              <a:rPr dirty="0" sz="1750" spc="-270">
                <a:latin typeface="Courier New"/>
                <a:cs typeface="Courier New"/>
              </a:rPr>
              <a:t> </a:t>
            </a:r>
            <a:r>
              <a:rPr dirty="0" sz="1750" spc="-570" i="1">
                <a:latin typeface="Courier New"/>
                <a:cs typeface="Courier New"/>
              </a:rPr>
              <a:t>i</a:t>
            </a:r>
            <a:r>
              <a:rPr dirty="0" sz="1750" spc="-484" i="1">
                <a:latin typeface="Courier New"/>
                <a:cs typeface="Courier New"/>
              </a:rPr>
              <a:t> </a:t>
            </a:r>
            <a:r>
              <a:rPr dirty="0" sz="1750">
                <a:latin typeface="Courier New"/>
                <a:cs typeface="Courier New"/>
              </a:rPr>
              <a:t>=</a:t>
            </a:r>
            <a:r>
              <a:rPr dirty="0" sz="1750" spc="-180">
                <a:latin typeface="Courier New"/>
                <a:cs typeface="Courier New"/>
              </a:rPr>
              <a:t> </a:t>
            </a:r>
            <a:r>
              <a:rPr dirty="0" sz="1750" spc="-620" i="1">
                <a:latin typeface="Courier New"/>
                <a:cs typeface="Courier New"/>
              </a:rPr>
              <a:t>j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378263" y="3412299"/>
            <a:ext cx="900430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750" spc="-305">
                <a:latin typeface="Courier New"/>
                <a:cs typeface="Courier New"/>
              </a:rPr>
              <a:t>otherwise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800159" y="3290366"/>
            <a:ext cx="313055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1750" spc="-509">
                <a:latin typeface="Courier New"/>
                <a:cs typeface="Courier New"/>
              </a:rPr>
              <a:t></a:t>
            </a:r>
            <a:r>
              <a:rPr dirty="0" baseline="-30158" sz="2625" spc="-765">
                <a:latin typeface="Courier New"/>
                <a:cs typeface="Courier New"/>
              </a:rPr>
              <a:t>0</a:t>
            </a:r>
            <a:endParaRPr baseline="-30158" sz="2625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576408" y="2428544"/>
            <a:ext cx="1489075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30158" sz="2625" spc="-637">
                <a:latin typeface="Courier New"/>
                <a:cs typeface="Courier New"/>
              </a:rPr>
              <a:t></a:t>
            </a:r>
            <a:r>
              <a:rPr dirty="0" sz="1750" spc="-425">
                <a:latin typeface="Courier New"/>
                <a:cs typeface="Courier New"/>
              </a:rPr>
              <a:t>–</a:t>
            </a:r>
            <a:r>
              <a:rPr dirty="0" sz="1750" spc="-560">
                <a:latin typeface="Courier New"/>
                <a:cs typeface="Courier New"/>
              </a:rPr>
              <a:t> </a:t>
            </a:r>
            <a:r>
              <a:rPr dirty="0" sz="1750" spc="-285">
                <a:latin typeface="Courier New"/>
                <a:cs typeface="Courier New"/>
              </a:rPr>
              <a:t>s</a:t>
            </a:r>
            <a:r>
              <a:rPr dirty="0" sz="1750" spc="-55">
                <a:latin typeface="Courier New"/>
                <a:cs typeface="Courier New"/>
              </a:rPr>
              <a:t> </a:t>
            </a:r>
            <a:r>
              <a:rPr dirty="0" sz="1750" spc="-305">
                <a:latin typeface="Courier New"/>
                <a:cs typeface="Courier New"/>
              </a:rPr>
              <a:t>otherwise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081352" y="2696134"/>
            <a:ext cx="2063114" cy="695960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750" spc="-204">
                <a:latin typeface="Courier New"/>
                <a:cs typeface="Courier New"/>
              </a:rPr>
              <a:t>node</a:t>
            </a:r>
            <a:r>
              <a:rPr dirty="0" sz="1750" spc="-190">
                <a:latin typeface="Courier New"/>
                <a:cs typeface="Courier New"/>
              </a:rPr>
              <a:t> </a:t>
            </a:r>
            <a:r>
              <a:rPr dirty="0" sz="1750" spc="-325">
                <a:latin typeface="Courier New"/>
                <a:cs typeface="Courier New"/>
              </a:rPr>
              <a:t>function</a:t>
            </a:r>
            <a:r>
              <a:rPr dirty="0" sz="1750" spc="140">
                <a:latin typeface="Courier New"/>
                <a:cs typeface="Courier New"/>
              </a:rPr>
              <a:t> </a:t>
            </a:r>
            <a:r>
              <a:rPr dirty="0" sz="1750" spc="-620">
                <a:latin typeface="Courier New"/>
                <a:cs typeface="Courier New"/>
              </a:rPr>
              <a:t>:</a:t>
            </a:r>
            <a:endParaRPr sz="1750">
              <a:latin typeface="Courier New"/>
              <a:cs typeface="Courier New"/>
            </a:endParaRPr>
          </a:p>
          <a:p>
            <a:pPr marL="1313815">
              <a:lnSpc>
                <a:spcPct val="100000"/>
              </a:lnSpc>
              <a:spcBef>
                <a:spcPts val="540"/>
              </a:spcBef>
            </a:pPr>
            <a:r>
              <a:rPr dirty="0" sz="1750" spc="-520">
                <a:latin typeface="Courier New"/>
                <a:cs typeface="Courier New"/>
              </a:rPr>
              <a:t>if</a:t>
            </a:r>
            <a:r>
              <a:rPr dirty="0" sz="1750" spc="-114">
                <a:latin typeface="Courier New"/>
                <a:cs typeface="Courier New"/>
              </a:rPr>
              <a:t> </a:t>
            </a:r>
            <a:r>
              <a:rPr dirty="0" sz="1750" spc="-275" i="1">
                <a:latin typeface="Courier New"/>
                <a:cs typeface="Courier New"/>
              </a:rPr>
              <a:t>x</a:t>
            </a:r>
            <a:r>
              <a:rPr dirty="0" sz="1750" spc="-459" i="1">
                <a:latin typeface="Courier New"/>
                <a:cs typeface="Courier New"/>
              </a:rPr>
              <a:t> </a:t>
            </a:r>
            <a:r>
              <a:rPr dirty="0" sz="1750" spc="-100">
                <a:latin typeface="Courier New"/>
                <a:cs typeface="Courier New"/>
              </a:rPr>
              <a:t>&gt;</a:t>
            </a:r>
            <a:r>
              <a:rPr dirty="0" sz="1750" spc="-495">
                <a:latin typeface="Courier New"/>
                <a:cs typeface="Courier New"/>
              </a:rPr>
              <a:t> </a:t>
            </a:r>
            <a:r>
              <a:rPr dirty="0" sz="1750" spc="-75">
                <a:latin typeface="Courier New"/>
                <a:cs typeface="Courier New"/>
              </a:rPr>
              <a:t>0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103285" y="3251428"/>
            <a:ext cx="1012825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1750" spc="-570" i="1">
                <a:latin typeface="Courier New"/>
                <a:cs typeface="Courier New"/>
              </a:rPr>
              <a:t>f</a:t>
            </a:r>
            <a:r>
              <a:rPr dirty="0" sz="1750" spc="-500" i="1">
                <a:latin typeface="Courier New"/>
                <a:cs typeface="Courier New"/>
              </a:rPr>
              <a:t> </a:t>
            </a:r>
            <a:r>
              <a:rPr dirty="0" sz="1750" spc="-475">
                <a:latin typeface="Courier New"/>
                <a:cs typeface="Courier New"/>
              </a:rPr>
              <a:t>(</a:t>
            </a:r>
            <a:r>
              <a:rPr dirty="0" sz="1750" spc="-815">
                <a:latin typeface="Courier New"/>
                <a:cs typeface="Courier New"/>
              </a:rPr>
              <a:t> </a:t>
            </a:r>
            <a:r>
              <a:rPr dirty="0" sz="1750" spc="-275" i="1">
                <a:latin typeface="Courier New"/>
                <a:cs typeface="Courier New"/>
              </a:rPr>
              <a:t>x</a:t>
            </a:r>
            <a:r>
              <a:rPr dirty="0" sz="1750" spc="-890" i="1">
                <a:latin typeface="Courier New"/>
                <a:cs typeface="Courier New"/>
              </a:rPr>
              <a:t> </a:t>
            </a:r>
            <a:r>
              <a:rPr dirty="0" sz="1750" spc="-475">
                <a:latin typeface="Courier New"/>
                <a:cs typeface="Courier New"/>
              </a:rPr>
              <a:t>)</a:t>
            </a:r>
            <a:r>
              <a:rPr dirty="0" sz="1750" spc="-515">
                <a:latin typeface="Courier New"/>
                <a:cs typeface="Courier New"/>
              </a:rPr>
              <a:t> </a:t>
            </a:r>
            <a:r>
              <a:rPr dirty="0" sz="1750" spc="-100">
                <a:latin typeface="Courier New"/>
                <a:cs typeface="Courier New"/>
              </a:rPr>
              <a:t>=</a:t>
            </a:r>
            <a:r>
              <a:rPr dirty="0" sz="1750" spc="-455">
                <a:latin typeface="Courier New"/>
                <a:cs typeface="Courier New"/>
              </a:rPr>
              <a:t> </a:t>
            </a:r>
            <a:r>
              <a:rPr dirty="0" baseline="34920" sz="2625" spc="-1342">
                <a:latin typeface="Courier New"/>
                <a:cs typeface="Courier New"/>
              </a:rPr>
              <a:t></a:t>
            </a:r>
            <a:r>
              <a:rPr dirty="0" baseline="34920" sz="2625" spc="-1222">
                <a:latin typeface="Courier New"/>
                <a:cs typeface="Courier New"/>
              </a:rPr>
              <a:t> </a:t>
            </a:r>
            <a:r>
              <a:rPr dirty="0" baseline="38095" sz="2625" spc="-487" i="1">
                <a:latin typeface="Courier New"/>
                <a:cs typeface="Courier New"/>
              </a:rPr>
              <a:t>x</a:t>
            </a:r>
            <a:endParaRPr baseline="38095" sz="2625">
              <a:latin typeface="Courier New"/>
              <a:cs typeface="Courier New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084984" y="2267673"/>
            <a:ext cx="1116965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750" spc="-275">
                <a:latin typeface="Courier New"/>
                <a:cs typeface="Courier New"/>
              </a:rPr>
              <a:t>weights</a:t>
            </a:r>
            <a:r>
              <a:rPr dirty="0" sz="1750" spc="25">
                <a:latin typeface="Courier New"/>
                <a:cs typeface="Courier New"/>
              </a:rPr>
              <a:t> </a:t>
            </a:r>
            <a:r>
              <a:rPr dirty="0" sz="1750" spc="-570">
                <a:latin typeface="Courier New"/>
                <a:cs typeface="Courier New"/>
              </a:rPr>
              <a:t>:</a:t>
            </a:r>
            <a:r>
              <a:rPr dirty="0" sz="1750" spc="-685">
                <a:latin typeface="Courier New"/>
                <a:cs typeface="Courier New"/>
              </a:rPr>
              <a:t> </a:t>
            </a:r>
            <a:r>
              <a:rPr dirty="0" sz="1750" spc="65" i="1">
                <a:latin typeface="Courier New"/>
                <a:cs typeface="Courier New"/>
              </a:rPr>
              <a:t>w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222421" y="2405125"/>
            <a:ext cx="105410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 spc="-385" i="1">
                <a:latin typeface="Courier New"/>
                <a:cs typeface="Courier New"/>
              </a:rPr>
              <a:t>ji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4725" rIns="0" bIns="0" rtlCol="0" vert="horz">
            <a:spAutoFit/>
          </a:bodyPr>
          <a:lstStyle/>
          <a:p>
            <a:pPr marL="21717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Maxnet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02272" y="2134755"/>
            <a:ext cx="8066405" cy="416306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355600" marR="554355" indent="-342900">
              <a:lnSpc>
                <a:spcPts val="2590"/>
              </a:lnSpc>
              <a:spcBef>
                <a:spcPts val="425"/>
              </a:spcBef>
              <a:buClr>
                <a:srgbClr val="3333CC"/>
              </a:buClr>
              <a:buSzPct val="60416"/>
              <a:buChar char="■"/>
              <a:tabLst>
                <a:tab pos="355600" algn="l"/>
              </a:tabLst>
            </a:pPr>
            <a:r>
              <a:rPr dirty="0" sz="2400">
                <a:latin typeface="Tahoma"/>
                <a:cs typeface="Tahoma"/>
              </a:rPr>
              <a:t>Among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all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competing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nodes,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only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one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will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win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and</a:t>
            </a:r>
            <a:r>
              <a:rPr dirty="0" sz="2400" spc="-25">
                <a:latin typeface="Tahoma"/>
                <a:cs typeface="Tahoma"/>
              </a:rPr>
              <a:t> all </a:t>
            </a:r>
            <a:r>
              <a:rPr dirty="0" sz="2400">
                <a:latin typeface="Tahoma"/>
                <a:cs typeface="Tahoma"/>
              </a:rPr>
              <a:t>others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will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lose</a:t>
            </a:r>
            <a:endParaRPr sz="2400">
              <a:latin typeface="Tahoma"/>
              <a:cs typeface="Tahoma"/>
            </a:endParaRPr>
          </a:p>
          <a:p>
            <a:pPr lvl="1" marL="755650" marR="5080" indent="-342900">
              <a:lnSpc>
                <a:spcPts val="2160"/>
              </a:lnSpc>
              <a:spcBef>
                <a:spcPts val="465"/>
              </a:spcBef>
              <a:buClr>
                <a:srgbClr val="3333CC"/>
              </a:buClr>
              <a:buSzPct val="60000"/>
              <a:buChar char="■"/>
              <a:tabLst>
                <a:tab pos="755650" algn="l"/>
              </a:tabLst>
            </a:pP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neuron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with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largest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activation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level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among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all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neurons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 spc="-25">
                <a:latin typeface="Tahoma"/>
                <a:cs typeface="Tahoma"/>
              </a:rPr>
              <a:t>in </a:t>
            </a: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output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layer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becomes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winner.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This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neuron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is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 spc="-20">
                <a:latin typeface="Tahoma"/>
                <a:cs typeface="Tahoma"/>
              </a:rPr>
              <a:t>only </a:t>
            </a:r>
            <a:r>
              <a:rPr dirty="0" sz="2000">
                <a:latin typeface="Tahoma"/>
                <a:cs typeface="Tahoma"/>
              </a:rPr>
              <a:t>neuron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that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produces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output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signal.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activity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of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all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other </a:t>
            </a:r>
            <a:r>
              <a:rPr dirty="0" sz="2000">
                <a:latin typeface="Tahoma"/>
                <a:cs typeface="Tahoma"/>
              </a:rPr>
              <a:t>neurons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is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suppressed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in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competition.</a:t>
            </a:r>
            <a:endParaRPr sz="20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815"/>
              </a:spcBef>
              <a:buClr>
                <a:srgbClr val="3333CC"/>
              </a:buClr>
              <a:buFont typeface="Tahoma"/>
              <a:buChar char="■"/>
            </a:pPr>
            <a:endParaRPr sz="2000">
              <a:latin typeface="Tahoma"/>
              <a:cs typeface="Tahoma"/>
            </a:endParaRPr>
          </a:p>
          <a:p>
            <a:pPr marL="354965" marR="583565" indent="-342900">
              <a:lnSpc>
                <a:spcPts val="2590"/>
              </a:lnSpc>
              <a:buClr>
                <a:srgbClr val="3333CC"/>
              </a:buClr>
              <a:buSzPct val="60416"/>
              <a:buChar char="■"/>
              <a:tabLst>
                <a:tab pos="354965" algn="l"/>
              </a:tabLst>
            </a:pPr>
            <a:r>
              <a:rPr dirty="0" sz="2400">
                <a:latin typeface="Tahoma"/>
                <a:cs typeface="Tahoma"/>
              </a:rPr>
              <a:t>We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mainly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deal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with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single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winner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WTA,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500" spc="-240" i="1">
                <a:solidFill>
                  <a:srgbClr val="0000FF"/>
                </a:solidFill>
                <a:latin typeface="Verdana"/>
                <a:cs typeface="Verdana"/>
              </a:rPr>
              <a:t>but</a:t>
            </a:r>
            <a:r>
              <a:rPr dirty="0" sz="2500" spc="-130" i="1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dirty="0" sz="2500" spc="-200" i="1">
                <a:solidFill>
                  <a:srgbClr val="0000FF"/>
                </a:solidFill>
                <a:latin typeface="Verdana"/>
                <a:cs typeface="Verdana"/>
              </a:rPr>
              <a:t>multiple </a:t>
            </a:r>
            <a:r>
              <a:rPr dirty="0" sz="2500" spc="-240" i="1">
                <a:solidFill>
                  <a:srgbClr val="0000FF"/>
                </a:solidFill>
                <a:latin typeface="Verdana"/>
                <a:cs typeface="Verdana"/>
              </a:rPr>
              <a:t>winners</a:t>
            </a:r>
            <a:r>
              <a:rPr dirty="0" sz="2500" spc="-95" i="1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dirty="0" sz="2500" spc="-254" i="1">
                <a:solidFill>
                  <a:srgbClr val="0000FF"/>
                </a:solidFill>
                <a:latin typeface="Verdana"/>
                <a:cs typeface="Verdana"/>
              </a:rPr>
              <a:t>WTA</a:t>
            </a:r>
            <a:r>
              <a:rPr dirty="0" sz="2500" spc="-90" i="1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dirty="0" sz="2500" spc="-240" i="1">
                <a:solidFill>
                  <a:srgbClr val="0000FF"/>
                </a:solidFill>
                <a:latin typeface="Verdana"/>
                <a:cs typeface="Verdana"/>
              </a:rPr>
              <a:t>are</a:t>
            </a:r>
            <a:r>
              <a:rPr dirty="0" sz="2500" spc="-95" i="1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dirty="0" sz="2500" spc="-85" i="1">
                <a:solidFill>
                  <a:srgbClr val="0000FF"/>
                </a:solidFill>
                <a:latin typeface="Verdana"/>
                <a:cs typeface="Verdana"/>
              </a:rPr>
              <a:t>possible</a:t>
            </a:r>
            <a:endParaRPr sz="2500">
              <a:latin typeface="Verdana"/>
              <a:cs typeface="Verdana"/>
            </a:endParaRPr>
          </a:p>
          <a:p>
            <a:pPr lvl="1" marL="755650" marR="217804" indent="-342900">
              <a:lnSpc>
                <a:spcPts val="2160"/>
              </a:lnSpc>
              <a:spcBef>
                <a:spcPts val="465"/>
              </a:spcBef>
              <a:buClr>
                <a:srgbClr val="3333CC"/>
              </a:buClr>
              <a:buSzPct val="60000"/>
              <a:buChar char="■"/>
              <a:tabLst>
                <a:tab pos="755650" algn="l"/>
              </a:tabLst>
            </a:pP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lateral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connections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produce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excitatory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or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inhibitory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effects, </a:t>
            </a:r>
            <a:r>
              <a:rPr dirty="0" sz="2000">
                <a:latin typeface="Tahoma"/>
                <a:cs typeface="Tahoma"/>
              </a:rPr>
              <a:t>depending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on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distance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from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winning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neuron</a:t>
            </a:r>
            <a:endParaRPr sz="2000">
              <a:latin typeface="Tahoma"/>
              <a:cs typeface="Tahoma"/>
            </a:endParaRPr>
          </a:p>
          <a:p>
            <a:pPr lvl="1" marL="755650" marR="77470" indent="-342900">
              <a:lnSpc>
                <a:spcPts val="2160"/>
              </a:lnSpc>
              <a:spcBef>
                <a:spcPts val="480"/>
              </a:spcBef>
              <a:buClr>
                <a:srgbClr val="3333CC"/>
              </a:buClr>
              <a:buSzPct val="60000"/>
              <a:buChar char="■"/>
              <a:tabLst>
                <a:tab pos="755650" algn="l"/>
              </a:tabLst>
            </a:pPr>
            <a:r>
              <a:rPr dirty="0" sz="2000">
                <a:latin typeface="Tahoma"/>
                <a:cs typeface="Tahoma"/>
              </a:rPr>
              <a:t>This</a:t>
            </a:r>
            <a:r>
              <a:rPr dirty="0" sz="2000" spc="-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is achieved</a:t>
            </a:r>
            <a:r>
              <a:rPr dirty="0" sz="2000" spc="-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by</a:t>
            </a:r>
            <a:r>
              <a:rPr dirty="0" sz="2000" spc="-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use</a:t>
            </a:r>
            <a:r>
              <a:rPr dirty="0" sz="2000" spc="-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of</a:t>
            </a:r>
            <a:r>
              <a:rPr dirty="0" sz="2000" spc="-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</a:t>
            </a:r>
            <a:r>
              <a:rPr dirty="0" sz="2000" spc="-10">
                <a:latin typeface="Tahoma"/>
                <a:cs typeface="Tahoma"/>
              </a:rPr>
              <a:t> </a:t>
            </a:r>
            <a:r>
              <a:rPr dirty="0" sz="2100" spc="-200" b="1" i="1">
                <a:solidFill>
                  <a:srgbClr val="FF0000"/>
                </a:solidFill>
                <a:latin typeface="Verdana"/>
                <a:cs typeface="Verdana"/>
              </a:rPr>
              <a:t>Mexican</a:t>
            </a:r>
            <a:r>
              <a:rPr dirty="0" sz="2100" spc="-140" b="1" i="1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 sz="2100" spc="-210" b="1" i="1">
                <a:solidFill>
                  <a:srgbClr val="FF0000"/>
                </a:solidFill>
                <a:latin typeface="Verdana"/>
                <a:cs typeface="Verdana"/>
              </a:rPr>
              <a:t>Hat</a:t>
            </a:r>
            <a:r>
              <a:rPr dirty="0" sz="2100" spc="-140" b="1" i="1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 sz="2100" spc="-170" b="1" i="1">
                <a:solidFill>
                  <a:srgbClr val="FF0000"/>
                </a:solidFill>
                <a:latin typeface="Verdana"/>
                <a:cs typeface="Verdana"/>
              </a:rPr>
              <a:t>function</a:t>
            </a:r>
            <a:r>
              <a:rPr dirty="0" sz="2000" spc="-170">
                <a:latin typeface="Tahoma"/>
                <a:cs typeface="Tahoma"/>
              </a:rPr>
              <a:t>,</a:t>
            </a:r>
            <a:r>
              <a:rPr dirty="0" sz="2000" spc="-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which </a:t>
            </a:r>
            <a:r>
              <a:rPr dirty="0" sz="2000">
                <a:latin typeface="Tahoma"/>
                <a:cs typeface="Tahoma"/>
              </a:rPr>
              <a:t>describes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synaptic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weights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between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neurons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in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output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layer.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4725" rIns="0" bIns="0" rtlCol="0" vert="horz">
            <a:spAutoFit/>
          </a:bodyPr>
          <a:lstStyle/>
          <a:p>
            <a:pPr marL="217170">
              <a:lnSpc>
                <a:spcPct val="100000"/>
              </a:lnSpc>
              <a:spcBef>
                <a:spcPts val="105"/>
              </a:spcBef>
            </a:pPr>
            <a:r>
              <a:rPr dirty="0"/>
              <a:t>Mexican</a:t>
            </a:r>
            <a:r>
              <a:rPr dirty="0" spc="-65"/>
              <a:t> </a:t>
            </a:r>
            <a:r>
              <a:rPr dirty="0"/>
              <a:t>Hat</a:t>
            </a:r>
            <a:r>
              <a:rPr dirty="0" spc="-60"/>
              <a:t> </a:t>
            </a:r>
            <a:r>
              <a:rPr dirty="0" spc="-10"/>
              <a:t>Network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23988" y="341375"/>
            <a:ext cx="1620011" cy="1588008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51</a:t>
            </a:fld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86245" y="2093121"/>
            <a:ext cx="8914765" cy="1666239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05"/>
              </a:spcBef>
              <a:buClr>
                <a:srgbClr val="3333CC"/>
              </a:buClr>
              <a:buSzPct val="59615"/>
              <a:buFont typeface="Tahoma"/>
              <a:buChar char="■"/>
              <a:tabLst>
                <a:tab pos="354965" algn="l"/>
              </a:tabLst>
            </a:pPr>
            <a:r>
              <a:rPr dirty="0" sz="2600" b="1">
                <a:latin typeface="Tahoma"/>
                <a:cs typeface="Tahoma"/>
              </a:rPr>
              <a:t>Architecture</a:t>
            </a:r>
            <a:r>
              <a:rPr dirty="0" sz="2600">
                <a:latin typeface="Tahoma"/>
                <a:cs typeface="Tahoma"/>
              </a:rPr>
              <a:t>:</a:t>
            </a:r>
            <a:r>
              <a:rPr dirty="0" sz="2600" spc="-5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For</a:t>
            </a:r>
            <a:r>
              <a:rPr dirty="0" sz="2600" spc="-5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a</a:t>
            </a:r>
            <a:r>
              <a:rPr dirty="0" sz="2600" spc="-4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given</a:t>
            </a:r>
            <a:r>
              <a:rPr dirty="0" sz="2600" spc="-50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node,</a:t>
            </a:r>
            <a:endParaRPr sz="2600">
              <a:latin typeface="Tahoma"/>
              <a:cs typeface="Tahoma"/>
            </a:endParaRPr>
          </a:p>
          <a:p>
            <a:pPr lvl="1" marL="755015" indent="-285115">
              <a:lnSpc>
                <a:spcPct val="100000"/>
              </a:lnSpc>
              <a:spcBef>
                <a:spcPts val="280"/>
              </a:spcBef>
              <a:buClr>
                <a:srgbClr val="FF0000"/>
              </a:buClr>
              <a:buSzPct val="54166"/>
              <a:buChar char="■"/>
              <a:tabLst>
                <a:tab pos="755015" algn="l"/>
              </a:tabLst>
            </a:pPr>
            <a:r>
              <a:rPr dirty="0" sz="2400">
                <a:latin typeface="Tahoma"/>
                <a:cs typeface="Tahoma"/>
              </a:rPr>
              <a:t>close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neighbors: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FF0000"/>
                </a:solidFill>
                <a:latin typeface="Tahoma"/>
                <a:cs typeface="Tahoma"/>
              </a:rPr>
              <a:t>cooperative</a:t>
            </a:r>
            <a:r>
              <a:rPr dirty="0" sz="2400" spc="5" b="1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(mutually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excitatory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,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&gt;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0)</a:t>
            </a:r>
            <a:endParaRPr sz="2400">
              <a:latin typeface="Tahoma"/>
              <a:cs typeface="Tahoma"/>
            </a:endParaRPr>
          </a:p>
          <a:p>
            <a:pPr lvl="1" marL="755015" indent="-285115">
              <a:lnSpc>
                <a:spcPct val="100000"/>
              </a:lnSpc>
              <a:spcBef>
                <a:spcPts val="285"/>
              </a:spcBef>
              <a:buClr>
                <a:srgbClr val="FF0000"/>
              </a:buClr>
              <a:buSzPct val="54166"/>
              <a:buChar char="■"/>
              <a:tabLst>
                <a:tab pos="755015" algn="l"/>
              </a:tabLst>
            </a:pPr>
            <a:r>
              <a:rPr dirty="0" sz="2400">
                <a:latin typeface="Tahoma"/>
                <a:cs typeface="Tahoma"/>
              </a:rPr>
              <a:t>distant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neighbors: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FF0000"/>
                </a:solidFill>
                <a:latin typeface="Tahoma"/>
                <a:cs typeface="Tahoma"/>
              </a:rPr>
              <a:t>competitive </a:t>
            </a:r>
            <a:r>
              <a:rPr dirty="0" sz="2400">
                <a:latin typeface="Tahoma"/>
                <a:cs typeface="Tahoma"/>
              </a:rPr>
              <a:t>(mutually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inhibitory,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&lt;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0)</a:t>
            </a:r>
            <a:endParaRPr sz="2400">
              <a:latin typeface="Tahoma"/>
              <a:cs typeface="Tahoma"/>
            </a:endParaRPr>
          </a:p>
          <a:p>
            <a:pPr lvl="1" marL="755015" indent="-285115">
              <a:lnSpc>
                <a:spcPct val="100000"/>
              </a:lnSpc>
              <a:spcBef>
                <a:spcPts val="285"/>
              </a:spcBef>
              <a:buClr>
                <a:srgbClr val="FF0000"/>
              </a:buClr>
              <a:buSzPct val="54166"/>
              <a:buChar char="■"/>
              <a:tabLst>
                <a:tab pos="755015" algn="l"/>
              </a:tabLst>
            </a:pPr>
            <a:r>
              <a:rPr dirty="0" sz="2400">
                <a:latin typeface="Tahoma"/>
                <a:cs typeface="Tahoma"/>
              </a:rPr>
              <a:t>too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far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away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neighbors: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irrelevant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(w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=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0)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86245" y="5374800"/>
            <a:ext cx="7556500" cy="1264285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05"/>
              </a:spcBef>
              <a:buClr>
                <a:srgbClr val="3333CC"/>
              </a:buClr>
              <a:buSzPct val="59615"/>
              <a:buChar char="■"/>
              <a:tabLst>
                <a:tab pos="354965" algn="l"/>
              </a:tabLst>
            </a:pPr>
            <a:r>
              <a:rPr dirty="0" sz="2600">
                <a:latin typeface="Tahoma"/>
                <a:cs typeface="Tahoma"/>
              </a:rPr>
              <a:t>Need</a:t>
            </a:r>
            <a:r>
              <a:rPr dirty="0" sz="2600" spc="-4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a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definition</a:t>
            </a:r>
            <a:r>
              <a:rPr dirty="0" sz="2600" spc="-4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of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 b="1">
                <a:solidFill>
                  <a:srgbClr val="0000FF"/>
                </a:solidFill>
                <a:latin typeface="Tahoma"/>
                <a:cs typeface="Tahoma"/>
              </a:rPr>
              <a:t>distance</a:t>
            </a:r>
            <a:r>
              <a:rPr dirty="0" sz="2600" spc="-35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600" spc="-10" b="1">
                <a:solidFill>
                  <a:srgbClr val="0000FF"/>
                </a:solidFill>
                <a:latin typeface="Tahoma"/>
                <a:cs typeface="Tahoma"/>
              </a:rPr>
              <a:t>(neighborhood):</a:t>
            </a:r>
            <a:endParaRPr sz="2600">
              <a:latin typeface="Tahoma"/>
              <a:cs typeface="Tahoma"/>
            </a:endParaRPr>
          </a:p>
          <a:p>
            <a:pPr lvl="1" marL="755015" indent="-285115">
              <a:lnSpc>
                <a:spcPct val="100000"/>
              </a:lnSpc>
              <a:spcBef>
                <a:spcPts val="280"/>
              </a:spcBef>
              <a:buClr>
                <a:srgbClr val="FF0000"/>
              </a:buClr>
              <a:buSzPct val="54166"/>
              <a:buChar char="■"/>
              <a:tabLst>
                <a:tab pos="755015" algn="l"/>
              </a:tabLst>
            </a:pPr>
            <a:r>
              <a:rPr dirty="0" sz="2400">
                <a:latin typeface="Tahoma"/>
                <a:cs typeface="Tahoma"/>
              </a:rPr>
              <a:t>one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dimensional: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ordering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by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index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(1,2,…n)</a:t>
            </a:r>
            <a:endParaRPr sz="2400">
              <a:latin typeface="Tahoma"/>
              <a:cs typeface="Tahoma"/>
            </a:endParaRPr>
          </a:p>
          <a:p>
            <a:pPr lvl="1" marL="755015" indent="-285115">
              <a:lnSpc>
                <a:spcPct val="100000"/>
              </a:lnSpc>
              <a:spcBef>
                <a:spcPts val="285"/>
              </a:spcBef>
              <a:buClr>
                <a:srgbClr val="FF0000"/>
              </a:buClr>
              <a:buSzPct val="54166"/>
              <a:buChar char="■"/>
              <a:tabLst>
                <a:tab pos="755015" algn="l"/>
              </a:tabLst>
            </a:pPr>
            <a:r>
              <a:rPr dirty="0" sz="2400">
                <a:latin typeface="Tahoma"/>
                <a:cs typeface="Tahoma"/>
              </a:rPr>
              <a:t>two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dimensional: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lattice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208" y="4537925"/>
            <a:ext cx="269989" cy="22478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55553" y="4537925"/>
            <a:ext cx="269824" cy="22478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23491" y="4299889"/>
            <a:ext cx="2782912" cy="702233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243721" y="4032923"/>
            <a:ext cx="139382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1139825" algn="l"/>
              </a:tabLst>
            </a:pPr>
            <a:r>
              <a:rPr dirty="0" sz="1400" spc="-25" b="1">
                <a:latin typeface="Arial"/>
                <a:cs typeface="Arial"/>
              </a:rPr>
              <a:t>w</a:t>
            </a:r>
            <a:r>
              <a:rPr dirty="0" baseline="-18518" sz="1350" spc="-37">
                <a:latin typeface="Courier New"/>
                <a:cs typeface="Courier New"/>
              </a:rPr>
              <a:t>2</a:t>
            </a:r>
            <a:r>
              <a:rPr dirty="0" baseline="-18518" sz="1350">
                <a:latin typeface="Courier New"/>
                <a:cs typeface="Courier New"/>
              </a:rPr>
              <a:t>	</a:t>
            </a:r>
            <a:r>
              <a:rPr dirty="0" sz="1400" spc="-25" b="1">
                <a:latin typeface="Arial"/>
                <a:cs typeface="Arial"/>
              </a:rPr>
              <a:t>w</a:t>
            </a:r>
            <a:r>
              <a:rPr dirty="0" baseline="-18518" sz="1350" spc="-37">
                <a:latin typeface="Courier New"/>
                <a:cs typeface="Courier New"/>
              </a:rPr>
              <a:t>2</a:t>
            </a:r>
            <a:endParaRPr baseline="-18518" sz="135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862696" y="4876419"/>
            <a:ext cx="16446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0" b="1">
                <a:latin typeface="Arial"/>
                <a:cs typeface="Arial"/>
              </a:rPr>
              <a:t>w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001126" y="4974844"/>
            <a:ext cx="90170" cy="1644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-50">
                <a:latin typeface="Courier New"/>
                <a:cs typeface="Courier New"/>
              </a:rPr>
              <a:t>3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288106" y="4876419"/>
            <a:ext cx="16446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0" b="1">
                <a:latin typeface="Arial"/>
                <a:cs typeface="Arial"/>
              </a:rPr>
              <a:t>w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426536" y="4974844"/>
            <a:ext cx="90170" cy="1644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-50">
                <a:latin typeface="Courier New"/>
                <a:cs typeface="Courier New"/>
              </a:rPr>
              <a:t>3</a:t>
            </a:r>
            <a:endParaRPr sz="900">
              <a:latin typeface="Courier New"/>
              <a:cs typeface="Courier New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23988" y="341375"/>
            <a:ext cx="1620011" cy="1588008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4725" rIns="0" bIns="0" rtlCol="0" vert="horz">
            <a:spAutoFit/>
          </a:bodyPr>
          <a:lstStyle/>
          <a:p>
            <a:pPr marL="217170">
              <a:lnSpc>
                <a:spcPct val="100000"/>
              </a:lnSpc>
              <a:spcBef>
                <a:spcPts val="105"/>
              </a:spcBef>
            </a:pPr>
            <a:r>
              <a:rPr dirty="0"/>
              <a:t>Mexican</a:t>
            </a:r>
            <a:r>
              <a:rPr dirty="0" spc="-65"/>
              <a:t> </a:t>
            </a:r>
            <a:r>
              <a:rPr dirty="0"/>
              <a:t>Hat</a:t>
            </a:r>
            <a:r>
              <a:rPr dirty="0" spc="-60"/>
              <a:t> </a:t>
            </a:r>
            <a:r>
              <a:rPr dirty="0" spc="-10"/>
              <a:t>Network</a:t>
            </a:r>
          </a:p>
        </p:txBody>
      </p:sp>
      <p:grpSp>
        <p:nvGrpSpPr>
          <p:cNvPr id="14" name="object 14" descr=""/>
          <p:cNvGrpSpPr/>
          <p:nvPr/>
        </p:nvGrpSpPr>
        <p:grpSpPr>
          <a:xfrm>
            <a:off x="5377776" y="3851897"/>
            <a:ext cx="2660650" cy="1417320"/>
            <a:chOff x="5377776" y="3851897"/>
            <a:chExt cx="2660650" cy="1417320"/>
          </a:xfrm>
        </p:grpSpPr>
        <p:sp>
          <p:nvSpPr>
            <p:cNvPr id="15" name="object 15" descr=""/>
            <p:cNvSpPr/>
            <p:nvPr/>
          </p:nvSpPr>
          <p:spPr>
            <a:xfrm>
              <a:off x="6298539" y="4077678"/>
              <a:ext cx="582295" cy="757555"/>
            </a:xfrm>
            <a:custGeom>
              <a:avLst/>
              <a:gdLst/>
              <a:ahLst/>
              <a:cxnLst/>
              <a:rect l="l" t="t" r="r" b="b"/>
              <a:pathLst>
                <a:path w="582295" h="757554">
                  <a:moveTo>
                    <a:pt x="582180" y="757440"/>
                  </a:moveTo>
                  <a:lnTo>
                    <a:pt x="0" y="757440"/>
                  </a:lnTo>
                  <a:lnTo>
                    <a:pt x="109156" y="429704"/>
                  </a:lnTo>
                  <a:lnTo>
                    <a:pt x="225590" y="87401"/>
                  </a:lnTo>
                  <a:lnTo>
                    <a:pt x="240144" y="50977"/>
                  </a:lnTo>
                  <a:lnTo>
                    <a:pt x="269252" y="14566"/>
                  </a:lnTo>
                  <a:lnTo>
                    <a:pt x="298361" y="0"/>
                  </a:lnTo>
                  <a:lnTo>
                    <a:pt x="327469" y="0"/>
                  </a:lnTo>
                  <a:lnTo>
                    <a:pt x="334746" y="7277"/>
                  </a:lnTo>
                  <a:lnTo>
                    <a:pt x="342023" y="29133"/>
                  </a:lnTo>
                  <a:lnTo>
                    <a:pt x="356577" y="36410"/>
                  </a:lnTo>
                  <a:lnTo>
                    <a:pt x="363854" y="65544"/>
                  </a:lnTo>
                  <a:lnTo>
                    <a:pt x="465747" y="386003"/>
                  </a:lnTo>
                  <a:lnTo>
                    <a:pt x="582180" y="75744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298539" y="4077678"/>
              <a:ext cx="582295" cy="757555"/>
            </a:xfrm>
            <a:custGeom>
              <a:avLst/>
              <a:gdLst/>
              <a:ahLst/>
              <a:cxnLst/>
              <a:rect l="l" t="t" r="r" b="b"/>
              <a:pathLst>
                <a:path w="582295" h="757554">
                  <a:moveTo>
                    <a:pt x="0" y="757440"/>
                  </a:moveTo>
                  <a:lnTo>
                    <a:pt x="582180" y="757440"/>
                  </a:lnTo>
                  <a:lnTo>
                    <a:pt x="465747" y="386003"/>
                  </a:lnTo>
                  <a:lnTo>
                    <a:pt x="363854" y="65544"/>
                  </a:lnTo>
                  <a:lnTo>
                    <a:pt x="356577" y="36410"/>
                  </a:lnTo>
                  <a:lnTo>
                    <a:pt x="342023" y="29133"/>
                  </a:lnTo>
                  <a:lnTo>
                    <a:pt x="334746" y="7277"/>
                  </a:lnTo>
                  <a:lnTo>
                    <a:pt x="327469" y="0"/>
                  </a:lnTo>
                  <a:lnTo>
                    <a:pt x="298361" y="0"/>
                  </a:lnTo>
                  <a:lnTo>
                    <a:pt x="269252" y="14566"/>
                  </a:lnTo>
                  <a:lnTo>
                    <a:pt x="254698" y="29133"/>
                  </a:lnTo>
                  <a:lnTo>
                    <a:pt x="240144" y="50977"/>
                  </a:lnTo>
                  <a:lnTo>
                    <a:pt x="225590" y="87401"/>
                  </a:lnTo>
                  <a:lnTo>
                    <a:pt x="109156" y="429704"/>
                  </a:lnTo>
                  <a:lnTo>
                    <a:pt x="0" y="757440"/>
                  </a:lnTo>
                </a:path>
              </a:pathLst>
            </a:custGeom>
            <a:ln w="7277">
              <a:solidFill>
                <a:srgbClr val="CC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531406" y="4070388"/>
              <a:ext cx="131445" cy="58419"/>
            </a:xfrm>
            <a:custGeom>
              <a:avLst/>
              <a:gdLst/>
              <a:ahLst/>
              <a:cxnLst/>
              <a:rect l="l" t="t" r="r" b="b"/>
              <a:pathLst>
                <a:path w="131445" h="58420">
                  <a:moveTo>
                    <a:pt x="65493" y="14566"/>
                  </a:moveTo>
                  <a:lnTo>
                    <a:pt x="29108" y="14566"/>
                  </a:lnTo>
                  <a:lnTo>
                    <a:pt x="14554" y="21856"/>
                  </a:lnTo>
                  <a:lnTo>
                    <a:pt x="7277" y="29133"/>
                  </a:lnTo>
                  <a:lnTo>
                    <a:pt x="0" y="50990"/>
                  </a:lnTo>
                  <a:lnTo>
                    <a:pt x="14554" y="58267"/>
                  </a:lnTo>
                  <a:lnTo>
                    <a:pt x="20374" y="34964"/>
                  </a:lnTo>
                  <a:lnTo>
                    <a:pt x="14554" y="29133"/>
                  </a:lnTo>
                  <a:lnTo>
                    <a:pt x="29108" y="29133"/>
                  </a:lnTo>
                  <a:lnTo>
                    <a:pt x="29108" y="21856"/>
                  </a:lnTo>
                  <a:lnTo>
                    <a:pt x="47285" y="21856"/>
                  </a:lnTo>
                  <a:lnTo>
                    <a:pt x="65493" y="14566"/>
                  </a:lnTo>
                  <a:close/>
                </a:path>
                <a:path w="131445" h="58420">
                  <a:moveTo>
                    <a:pt x="123710" y="36423"/>
                  </a:moveTo>
                  <a:lnTo>
                    <a:pt x="116433" y="36423"/>
                  </a:lnTo>
                  <a:lnTo>
                    <a:pt x="110974" y="41882"/>
                  </a:lnTo>
                  <a:lnTo>
                    <a:pt x="116433" y="58267"/>
                  </a:lnTo>
                  <a:lnTo>
                    <a:pt x="130987" y="58267"/>
                  </a:lnTo>
                  <a:lnTo>
                    <a:pt x="123710" y="36423"/>
                  </a:lnTo>
                  <a:close/>
                </a:path>
                <a:path w="131445" h="58420">
                  <a:moveTo>
                    <a:pt x="65493" y="0"/>
                  </a:moveTo>
                  <a:lnTo>
                    <a:pt x="36385" y="14566"/>
                  </a:lnTo>
                  <a:lnTo>
                    <a:pt x="65493" y="14566"/>
                  </a:lnTo>
                  <a:lnTo>
                    <a:pt x="101879" y="29133"/>
                  </a:lnTo>
                  <a:lnTo>
                    <a:pt x="109156" y="43700"/>
                  </a:lnTo>
                  <a:lnTo>
                    <a:pt x="110974" y="41882"/>
                  </a:lnTo>
                  <a:lnTo>
                    <a:pt x="109156" y="36423"/>
                  </a:lnTo>
                  <a:lnTo>
                    <a:pt x="123710" y="36423"/>
                  </a:lnTo>
                  <a:lnTo>
                    <a:pt x="116433" y="29133"/>
                  </a:lnTo>
                  <a:lnTo>
                    <a:pt x="109156" y="14566"/>
                  </a:lnTo>
                  <a:lnTo>
                    <a:pt x="65493" y="0"/>
                  </a:lnTo>
                  <a:close/>
                </a:path>
                <a:path w="131445" h="58420">
                  <a:moveTo>
                    <a:pt x="116433" y="36423"/>
                  </a:moveTo>
                  <a:lnTo>
                    <a:pt x="109156" y="36423"/>
                  </a:lnTo>
                  <a:lnTo>
                    <a:pt x="110974" y="41882"/>
                  </a:lnTo>
                  <a:lnTo>
                    <a:pt x="116433" y="36423"/>
                  </a:lnTo>
                  <a:close/>
                </a:path>
                <a:path w="131445" h="58420">
                  <a:moveTo>
                    <a:pt x="34305" y="27053"/>
                  </a:moveTo>
                  <a:lnTo>
                    <a:pt x="29108" y="29133"/>
                  </a:lnTo>
                  <a:lnTo>
                    <a:pt x="21831" y="29133"/>
                  </a:lnTo>
                  <a:lnTo>
                    <a:pt x="20374" y="34964"/>
                  </a:lnTo>
                  <a:lnTo>
                    <a:pt x="21831" y="36423"/>
                  </a:lnTo>
                  <a:lnTo>
                    <a:pt x="36385" y="29133"/>
                  </a:lnTo>
                  <a:lnTo>
                    <a:pt x="34305" y="27053"/>
                  </a:lnTo>
                  <a:close/>
                </a:path>
                <a:path w="131445" h="58420">
                  <a:moveTo>
                    <a:pt x="21831" y="29133"/>
                  </a:moveTo>
                  <a:lnTo>
                    <a:pt x="14554" y="29133"/>
                  </a:lnTo>
                  <a:lnTo>
                    <a:pt x="20374" y="34964"/>
                  </a:lnTo>
                  <a:lnTo>
                    <a:pt x="21831" y="29133"/>
                  </a:lnTo>
                  <a:close/>
                </a:path>
                <a:path w="131445" h="58420">
                  <a:moveTo>
                    <a:pt x="29108" y="21856"/>
                  </a:moveTo>
                  <a:lnTo>
                    <a:pt x="29108" y="29133"/>
                  </a:lnTo>
                  <a:lnTo>
                    <a:pt x="34305" y="27053"/>
                  </a:lnTo>
                  <a:lnTo>
                    <a:pt x="29108" y="21856"/>
                  </a:lnTo>
                  <a:close/>
                </a:path>
                <a:path w="131445" h="58420">
                  <a:moveTo>
                    <a:pt x="47285" y="21856"/>
                  </a:moveTo>
                  <a:lnTo>
                    <a:pt x="29108" y="21856"/>
                  </a:lnTo>
                  <a:lnTo>
                    <a:pt x="34305" y="27053"/>
                  </a:lnTo>
                  <a:lnTo>
                    <a:pt x="47285" y="218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887997" y="4835118"/>
              <a:ext cx="509905" cy="160655"/>
            </a:xfrm>
            <a:custGeom>
              <a:avLst/>
              <a:gdLst/>
              <a:ahLst/>
              <a:cxnLst/>
              <a:rect l="l" t="t" r="r" b="b"/>
              <a:pathLst>
                <a:path w="509904" h="160654">
                  <a:moveTo>
                    <a:pt x="123710" y="160235"/>
                  </a:moveTo>
                  <a:lnTo>
                    <a:pt x="80048" y="160235"/>
                  </a:lnTo>
                  <a:lnTo>
                    <a:pt x="58216" y="145668"/>
                  </a:lnTo>
                  <a:lnTo>
                    <a:pt x="29108" y="116535"/>
                  </a:lnTo>
                  <a:lnTo>
                    <a:pt x="21831" y="94678"/>
                  </a:lnTo>
                  <a:lnTo>
                    <a:pt x="7277" y="43700"/>
                  </a:lnTo>
                  <a:lnTo>
                    <a:pt x="0" y="0"/>
                  </a:lnTo>
                  <a:lnTo>
                    <a:pt x="509409" y="0"/>
                  </a:lnTo>
                  <a:lnTo>
                    <a:pt x="349313" y="29133"/>
                  </a:lnTo>
                  <a:lnTo>
                    <a:pt x="291096" y="50990"/>
                  </a:lnTo>
                  <a:lnTo>
                    <a:pt x="240157" y="65557"/>
                  </a:lnTo>
                  <a:lnTo>
                    <a:pt x="196481" y="101968"/>
                  </a:lnTo>
                  <a:lnTo>
                    <a:pt x="174650" y="116535"/>
                  </a:lnTo>
                  <a:lnTo>
                    <a:pt x="145542" y="145668"/>
                  </a:lnTo>
                  <a:lnTo>
                    <a:pt x="123710" y="160235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887997" y="4835118"/>
              <a:ext cx="509905" cy="160655"/>
            </a:xfrm>
            <a:custGeom>
              <a:avLst/>
              <a:gdLst/>
              <a:ahLst/>
              <a:cxnLst/>
              <a:rect l="l" t="t" r="r" b="b"/>
              <a:pathLst>
                <a:path w="509904" h="160654">
                  <a:moveTo>
                    <a:pt x="0" y="0"/>
                  </a:moveTo>
                  <a:lnTo>
                    <a:pt x="509409" y="0"/>
                  </a:lnTo>
                  <a:lnTo>
                    <a:pt x="349313" y="29133"/>
                  </a:lnTo>
                  <a:lnTo>
                    <a:pt x="291096" y="50990"/>
                  </a:lnTo>
                  <a:lnTo>
                    <a:pt x="240157" y="65557"/>
                  </a:lnTo>
                  <a:lnTo>
                    <a:pt x="196481" y="101968"/>
                  </a:lnTo>
                  <a:lnTo>
                    <a:pt x="174650" y="116535"/>
                  </a:lnTo>
                  <a:lnTo>
                    <a:pt x="160096" y="131102"/>
                  </a:lnTo>
                  <a:lnTo>
                    <a:pt x="145542" y="145668"/>
                  </a:lnTo>
                  <a:lnTo>
                    <a:pt x="123710" y="160235"/>
                  </a:lnTo>
                  <a:lnTo>
                    <a:pt x="94602" y="160235"/>
                  </a:lnTo>
                  <a:lnTo>
                    <a:pt x="80048" y="160235"/>
                  </a:lnTo>
                  <a:lnTo>
                    <a:pt x="58216" y="145668"/>
                  </a:lnTo>
                  <a:lnTo>
                    <a:pt x="43662" y="131102"/>
                  </a:lnTo>
                  <a:lnTo>
                    <a:pt x="29108" y="116535"/>
                  </a:lnTo>
                  <a:lnTo>
                    <a:pt x="21831" y="94678"/>
                  </a:lnTo>
                  <a:lnTo>
                    <a:pt x="7277" y="43700"/>
                  </a:lnTo>
                  <a:lnTo>
                    <a:pt x="0" y="0"/>
                  </a:lnTo>
                </a:path>
              </a:pathLst>
            </a:custGeom>
            <a:ln w="7277">
              <a:solidFill>
                <a:srgbClr val="00CC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647840" y="4128655"/>
              <a:ext cx="1143000" cy="874394"/>
            </a:xfrm>
            <a:custGeom>
              <a:avLst/>
              <a:gdLst/>
              <a:ahLst/>
              <a:cxnLst/>
              <a:rect l="l" t="t" r="r" b="b"/>
              <a:pathLst>
                <a:path w="1143000" h="874395">
                  <a:moveTo>
                    <a:pt x="1142542" y="670052"/>
                  </a:moveTo>
                  <a:lnTo>
                    <a:pt x="1004277" y="677329"/>
                  </a:lnTo>
                  <a:lnTo>
                    <a:pt x="880567" y="684618"/>
                  </a:lnTo>
                  <a:lnTo>
                    <a:pt x="771398" y="699185"/>
                  </a:lnTo>
                  <a:lnTo>
                    <a:pt x="669518" y="713752"/>
                  </a:lnTo>
                  <a:lnTo>
                    <a:pt x="589470" y="728319"/>
                  </a:lnTo>
                  <a:lnTo>
                    <a:pt x="516699" y="750163"/>
                  </a:lnTo>
                  <a:lnTo>
                    <a:pt x="465759" y="772020"/>
                  </a:lnTo>
                  <a:lnTo>
                    <a:pt x="444576" y="787908"/>
                  </a:lnTo>
                  <a:lnTo>
                    <a:pt x="443915" y="786574"/>
                  </a:lnTo>
                  <a:lnTo>
                    <a:pt x="436638" y="793864"/>
                  </a:lnTo>
                  <a:lnTo>
                    <a:pt x="392976" y="837565"/>
                  </a:lnTo>
                  <a:lnTo>
                    <a:pt x="363867" y="852131"/>
                  </a:lnTo>
                  <a:lnTo>
                    <a:pt x="334759" y="859409"/>
                  </a:lnTo>
                  <a:lnTo>
                    <a:pt x="298373" y="853351"/>
                  </a:lnTo>
                  <a:lnTo>
                    <a:pt x="298373" y="852131"/>
                  </a:lnTo>
                  <a:lnTo>
                    <a:pt x="282486" y="830948"/>
                  </a:lnTo>
                  <a:lnTo>
                    <a:pt x="283819" y="830275"/>
                  </a:lnTo>
                  <a:lnTo>
                    <a:pt x="14554" y="0"/>
                  </a:lnTo>
                  <a:lnTo>
                    <a:pt x="0" y="7289"/>
                  </a:lnTo>
                  <a:lnTo>
                    <a:pt x="269265" y="837565"/>
                  </a:lnTo>
                  <a:lnTo>
                    <a:pt x="272618" y="835888"/>
                  </a:lnTo>
                  <a:lnTo>
                    <a:pt x="291096" y="866698"/>
                  </a:lnTo>
                  <a:lnTo>
                    <a:pt x="298373" y="866698"/>
                  </a:lnTo>
                  <a:lnTo>
                    <a:pt x="334759" y="873975"/>
                  </a:lnTo>
                  <a:lnTo>
                    <a:pt x="371144" y="866698"/>
                  </a:lnTo>
                  <a:lnTo>
                    <a:pt x="385699" y="859409"/>
                  </a:lnTo>
                  <a:lnTo>
                    <a:pt x="400253" y="852131"/>
                  </a:lnTo>
                  <a:lnTo>
                    <a:pt x="443903" y="808431"/>
                  </a:lnTo>
                  <a:lnTo>
                    <a:pt x="473036" y="786574"/>
                  </a:lnTo>
                  <a:lnTo>
                    <a:pt x="523976" y="764730"/>
                  </a:lnTo>
                  <a:lnTo>
                    <a:pt x="596747" y="742886"/>
                  </a:lnTo>
                  <a:lnTo>
                    <a:pt x="676795" y="728319"/>
                  </a:lnTo>
                  <a:lnTo>
                    <a:pt x="778675" y="713752"/>
                  </a:lnTo>
                  <a:lnTo>
                    <a:pt x="887844" y="699185"/>
                  </a:lnTo>
                  <a:lnTo>
                    <a:pt x="1011555" y="691896"/>
                  </a:lnTo>
                  <a:lnTo>
                    <a:pt x="1142542" y="684618"/>
                  </a:lnTo>
                  <a:lnTo>
                    <a:pt x="1142542" y="6700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5781839" y="4835118"/>
              <a:ext cx="509905" cy="160655"/>
            </a:xfrm>
            <a:custGeom>
              <a:avLst/>
              <a:gdLst/>
              <a:ahLst/>
              <a:cxnLst/>
              <a:rect l="l" t="t" r="r" b="b"/>
              <a:pathLst>
                <a:path w="509904" h="160654">
                  <a:moveTo>
                    <a:pt x="429361" y="160235"/>
                  </a:moveTo>
                  <a:lnTo>
                    <a:pt x="385699" y="160235"/>
                  </a:lnTo>
                  <a:lnTo>
                    <a:pt x="363867" y="145668"/>
                  </a:lnTo>
                  <a:lnTo>
                    <a:pt x="334759" y="116535"/>
                  </a:lnTo>
                  <a:lnTo>
                    <a:pt x="312928" y="101968"/>
                  </a:lnTo>
                  <a:lnTo>
                    <a:pt x="269265" y="65557"/>
                  </a:lnTo>
                  <a:lnTo>
                    <a:pt x="218325" y="50990"/>
                  </a:lnTo>
                  <a:lnTo>
                    <a:pt x="160108" y="29133"/>
                  </a:lnTo>
                  <a:lnTo>
                    <a:pt x="0" y="0"/>
                  </a:lnTo>
                  <a:lnTo>
                    <a:pt x="509422" y="0"/>
                  </a:lnTo>
                  <a:lnTo>
                    <a:pt x="502145" y="43700"/>
                  </a:lnTo>
                  <a:lnTo>
                    <a:pt x="487578" y="94678"/>
                  </a:lnTo>
                  <a:lnTo>
                    <a:pt x="473024" y="116535"/>
                  </a:lnTo>
                  <a:lnTo>
                    <a:pt x="465747" y="131102"/>
                  </a:lnTo>
                  <a:lnTo>
                    <a:pt x="451192" y="145668"/>
                  </a:lnTo>
                  <a:lnTo>
                    <a:pt x="429361" y="160235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5781839" y="4835118"/>
              <a:ext cx="509905" cy="160655"/>
            </a:xfrm>
            <a:custGeom>
              <a:avLst/>
              <a:gdLst/>
              <a:ahLst/>
              <a:cxnLst/>
              <a:rect l="l" t="t" r="r" b="b"/>
              <a:pathLst>
                <a:path w="509904" h="160654">
                  <a:moveTo>
                    <a:pt x="509422" y="0"/>
                  </a:moveTo>
                  <a:lnTo>
                    <a:pt x="0" y="0"/>
                  </a:lnTo>
                  <a:lnTo>
                    <a:pt x="160108" y="29133"/>
                  </a:lnTo>
                  <a:lnTo>
                    <a:pt x="218325" y="50990"/>
                  </a:lnTo>
                  <a:lnTo>
                    <a:pt x="269265" y="65557"/>
                  </a:lnTo>
                  <a:lnTo>
                    <a:pt x="312928" y="101968"/>
                  </a:lnTo>
                  <a:lnTo>
                    <a:pt x="334759" y="116535"/>
                  </a:lnTo>
                  <a:lnTo>
                    <a:pt x="349313" y="131102"/>
                  </a:lnTo>
                  <a:lnTo>
                    <a:pt x="363867" y="145668"/>
                  </a:lnTo>
                  <a:lnTo>
                    <a:pt x="385699" y="160235"/>
                  </a:lnTo>
                  <a:lnTo>
                    <a:pt x="414807" y="160235"/>
                  </a:lnTo>
                  <a:lnTo>
                    <a:pt x="429361" y="160235"/>
                  </a:lnTo>
                  <a:lnTo>
                    <a:pt x="451192" y="145668"/>
                  </a:lnTo>
                  <a:lnTo>
                    <a:pt x="465747" y="131102"/>
                  </a:lnTo>
                  <a:lnTo>
                    <a:pt x="473024" y="116535"/>
                  </a:lnTo>
                  <a:lnTo>
                    <a:pt x="487578" y="94678"/>
                  </a:lnTo>
                  <a:lnTo>
                    <a:pt x="502145" y="43700"/>
                  </a:lnTo>
                  <a:lnTo>
                    <a:pt x="509422" y="0"/>
                  </a:lnTo>
                </a:path>
              </a:pathLst>
            </a:custGeom>
            <a:ln w="7277">
              <a:solidFill>
                <a:srgbClr val="00CC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381587" y="4798707"/>
              <a:ext cx="880744" cy="204470"/>
            </a:xfrm>
            <a:custGeom>
              <a:avLst/>
              <a:gdLst/>
              <a:ahLst/>
              <a:cxnLst/>
              <a:rect l="l" t="t" r="r" b="b"/>
              <a:pathLst>
                <a:path w="880745" h="204470">
                  <a:moveTo>
                    <a:pt x="880554" y="160223"/>
                  </a:moveTo>
                  <a:lnTo>
                    <a:pt x="873277" y="152946"/>
                  </a:lnTo>
                  <a:lnTo>
                    <a:pt x="844169" y="182092"/>
                  </a:lnTo>
                  <a:lnTo>
                    <a:pt x="836891" y="189357"/>
                  </a:lnTo>
                  <a:lnTo>
                    <a:pt x="844156" y="182092"/>
                  </a:lnTo>
                  <a:lnTo>
                    <a:pt x="836891" y="183299"/>
                  </a:lnTo>
                  <a:lnTo>
                    <a:pt x="800506" y="189357"/>
                  </a:lnTo>
                  <a:lnTo>
                    <a:pt x="771398" y="182092"/>
                  </a:lnTo>
                  <a:lnTo>
                    <a:pt x="749566" y="167513"/>
                  </a:lnTo>
                  <a:lnTo>
                    <a:pt x="705904" y="116522"/>
                  </a:lnTo>
                  <a:lnTo>
                    <a:pt x="700697" y="126936"/>
                  </a:lnTo>
                  <a:lnTo>
                    <a:pt x="669518" y="101968"/>
                  </a:lnTo>
                  <a:lnTo>
                    <a:pt x="625856" y="80111"/>
                  </a:lnTo>
                  <a:lnTo>
                    <a:pt x="553085" y="58267"/>
                  </a:lnTo>
                  <a:lnTo>
                    <a:pt x="473024" y="43700"/>
                  </a:lnTo>
                  <a:lnTo>
                    <a:pt x="371144" y="21844"/>
                  </a:lnTo>
                  <a:lnTo>
                    <a:pt x="261988" y="14566"/>
                  </a:lnTo>
                  <a:lnTo>
                    <a:pt x="138277" y="7277"/>
                  </a:lnTo>
                  <a:lnTo>
                    <a:pt x="0" y="0"/>
                  </a:lnTo>
                  <a:lnTo>
                    <a:pt x="0" y="14566"/>
                  </a:lnTo>
                  <a:lnTo>
                    <a:pt x="131000" y="21844"/>
                  </a:lnTo>
                  <a:lnTo>
                    <a:pt x="254711" y="29133"/>
                  </a:lnTo>
                  <a:lnTo>
                    <a:pt x="363867" y="36410"/>
                  </a:lnTo>
                  <a:lnTo>
                    <a:pt x="465747" y="58267"/>
                  </a:lnTo>
                  <a:lnTo>
                    <a:pt x="545807" y="72834"/>
                  </a:lnTo>
                  <a:lnTo>
                    <a:pt x="618578" y="94678"/>
                  </a:lnTo>
                  <a:lnTo>
                    <a:pt x="662241" y="116522"/>
                  </a:lnTo>
                  <a:lnTo>
                    <a:pt x="698627" y="138379"/>
                  </a:lnTo>
                  <a:lnTo>
                    <a:pt x="701979" y="135013"/>
                  </a:lnTo>
                  <a:lnTo>
                    <a:pt x="742289" y="182079"/>
                  </a:lnTo>
                  <a:lnTo>
                    <a:pt x="764120" y="196646"/>
                  </a:lnTo>
                  <a:lnTo>
                    <a:pt x="800506" y="203923"/>
                  </a:lnTo>
                  <a:lnTo>
                    <a:pt x="836891" y="196646"/>
                  </a:lnTo>
                  <a:lnTo>
                    <a:pt x="844169" y="196646"/>
                  </a:lnTo>
                  <a:lnTo>
                    <a:pt x="851446" y="189357"/>
                  </a:lnTo>
                  <a:lnTo>
                    <a:pt x="880554" y="1602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381586" y="4835118"/>
              <a:ext cx="2627630" cy="0"/>
            </a:xfrm>
            <a:custGeom>
              <a:avLst/>
              <a:gdLst/>
              <a:ahLst/>
              <a:cxnLst/>
              <a:rect l="l" t="t" r="r" b="b"/>
              <a:pathLst>
                <a:path w="2627629" h="0">
                  <a:moveTo>
                    <a:pt x="0" y="0"/>
                  </a:moveTo>
                  <a:lnTo>
                    <a:pt x="2627121" y="0"/>
                  </a:lnTo>
                </a:path>
              </a:pathLst>
            </a:custGeom>
            <a:ln w="72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6247587" y="4121378"/>
              <a:ext cx="1790700" cy="845185"/>
            </a:xfrm>
            <a:custGeom>
              <a:avLst/>
              <a:gdLst/>
              <a:ahLst/>
              <a:cxnLst/>
              <a:rect l="l" t="t" r="r" b="b"/>
              <a:pathLst>
                <a:path w="1790700" h="845185">
                  <a:moveTo>
                    <a:pt x="298361" y="7277"/>
                  </a:moveTo>
                  <a:lnTo>
                    <a:pt x="283819" y="0"/>
                  </a:lnTo>
                  <a:lnTo>
                    <a:pt x="0" y="837552"/>
                  </a:lnTo>
                  <a:lnTo>
                    <a:pt x="14554" y="844842"/>
                  </a:lnTo>
                  <a:lnTo>
                    <a:pt x="298361" y="7277"/>
                  </a:lnTo>
                  <a:close/>
                </a:path>
                <a:path w="1790700" h="845185">
                  <a:moveTo>
                    <a:pt x="1790230" y="713740"/>
                  </a:moveTo>
                  <a:lnTo>
                    <a:pt x="1746567" y="691896"/>
                  </a:lnTo>
                  <a:lnTo>
                    <a:pt x="1746567" y="742873"/>
                  </a:lnTo>
                  <a:lnTo>
                    <a:pt x="1790230" y="7137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6596900" y="3881031"/>
              <a:ext cx="0" cy="1384300"/>
            </a:xfrm>
            <a:custGeom>
              <a:avLst/>
              <a:gdLst/>
              <a:ahLst/>
              <a:cxnLst/>
              <a:rect l="l" t="t" r="r" b="b"/>
              <a:pathLst>
                <a:path w="0" h="1384300">
                  <a:moveTo>
                    <a:pt x="0" y="0"/>
                  </a:moveTo>
                  <a:lnTo>
                    <a:pt x="0" y="1383791"/>
                  </a:lnTo>
                </a:path>
              </a:pathLst>
            </a:custGeom>
            <a:ln w="72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6575069" y="3851897"/>
              <a:ext cx="51435" cy="43815"/>
            </a:xfrm>
            <a:custGeom>
              <a:avLst/>
              <a:gdLst/>
              <a:ahLst/>
              <a:cxnLst/>
              <a:rect l="l" t="t" r="r" b="b"/>
              <a:pathLst>
                <a:path w="51434" h="43814">
                  <a:moveTo>
                    <a:pt x="21831" y="0"/>
                  </a:moveTo>
                  <a:lnTo>
                    <a:pt x="0" y="43700"/>
                  </a:lnTo>
                  <a:lnTo>
                    <a:pt x="50939" y="43700"/>
                  </a:lnTo>
                  <a:lnTo>
                    <a:pt x="218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6678815" y="3781031"/>
            <a:ext cx="564515" cy="31115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ct val="106200"/>
              </a:lnSpc>
              <a:spcBef>
                <a:spcPts val="50"/>
              </a:spcBef>
            </a:pPr>
            <a:r>
              <a:rPr dirty="0" sz="900" spc="-125">
                <a:latin typeface="Courier New"/>
                <a:cs typeface="Courier New"/>
              </a:rPr>
              <a:t>Connection </a:t>
            </a:r>
            <a:r>
              <a:rPr dirty="0" sz="900" spc="-55">
                <a:latin typeface="Courier New"/>
                <a:cs typeface="Courier New"/>
              </a:rPr>
              <a:t>strength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5652706" y="4130624"/>
            <a:ext cx="513715" cy="31115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1285" marR="5080" indent="-109220">
              <a:lnSpc>
                <a:spcPct val="106200"/>
              </a:lnSpc>
              <a:spcBef>
                <a:spcPts val="50"/>
              </a:spcBef>
            </a:pPr>
            <a:r>
              <a:rPr dirty="0" sz="900" spc="-165" i="1">
                <a:latin typeface="Courier New"/>
                <a:cs typeface="Courier New"/>
              </a:rPr>
              <a:t>Excitatory </a:t>
            </a:r>
            <a:r>
              <a:rPr dirty="0" sz="900" spc="-55" i="1">
                <a:latin typeface="Courier New"/>
                <a:cs typeface="Courier New"/>
              </a:rPr>
              <a:t>effect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6123876" y="4369003"/>
            <a:ext cx="407670" cy="255270"/>
          </a:xfrm>
          <a:custGeom>
            <a:avLst/>
            <a:gdLst/>
            <a:ahLst/>
            <a:cxnLst/>
            <a:rect l="l" t="t" r="r" b="b"/>
            <a:pathLst>
              <a:path w="407670" h="255270">
                <a:moveTo>
                  <a:pt x="0" y="0"/>
                </a:moveTo>
                <a:lnTo>
                  <a:pt x="407530" y="254901"/>
                </a:lnTo>
              </a:path>
            </a:pathLst>
          </a:custGeom>
          <a:ln w="727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7268273" y="4765580"/>
            <a:ext cx="863600" cy="579120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448945">
              <a:lnSpc>
                <a:spcPct val="100000"/>
              </a:lnSpc>
              <a:spcBef>
                <a:spcPts val="620"/>
              </a:spcBef>
            </a:pPr>
            <a:r>
              <a:rPr dirty="0" sz="900" spc="-145">
                <a:latin typeface="Courier New"/>
                <a:cs typeface="Courier New"/>
              </a:rPr>
              <a:t>Distance</a:t>
            </a:r>
            <a:endParaRPr sz="900">
              <a:latin typeface="Courier New"/>
              <a:cs typeface="Courier New"/>
            </a:endParaRPr>
          </a:p>
          <a:p>
            <a:pPr marL="106680" marR="382905" indent="-94615">
              <a:lnSpc>
                <a:spcPct val="106200"/>
              </a:lnSpc>
              <a:spcBef>
                <a:spcPts val="459"/>
              </a:spcBef>
            </a:pPr>
            <a:r>
              <a:rPr dirty="0" sz="900" spc="-185" i="1">
                <a:latin typeface="Courier New"/>
                <a:cs typeface="Courier New"/>
              </a:rPr>
              <a:t>Inhibitory </a:t>
            </a:r>
            <a:r>
              <a:rPr dirty="0" sz="900" spc="-70" i="1">
                <a:latin typeface="Courier New"/>
                <a:cs typeface="Courier New"/>
              </a:rPr>
              <a:t>effect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5434380" y="5033733"/>
            <a:ext cx="485140" cy="31115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06680" marR="5080" indent="-94615">
              <a:lnSpc>
                <a:spcPct val="106200"/>
              </a:lnSpc>
              <a:spcBef>
                <a:spcPts val="50"/>
              </a:spcBef>
            </a:pPr>
            <a:r>
              <a:rPr dirty="0" sz="900" spc="-185" i="1">
                <a:latin typeface="Courier New"/>
                <a:cs typeface="Courier New"/>
              </a:rPr>
              <a:t>Inhibitory </a:t>
            </a:r>
            <a:r>
              <a:rPr dirty="0" sz="900" spc="-70" i="1">
                <a:latin typeface="Courier New"/>
                <a:cs typeface="Courier New"/>
              </a:rPr>
              <a:t>effect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33" name="object 33" descr=""/>
          <p:cNvSpPr/>
          <p:nvPr/>
        </p:nvSpPr>
        <p:spPr>
          <a:xfrm>
            <a:off x="5956503" y="4070387"/>
            <a:ext cx="1259205" cy="1122045"/>
          </a:xfrm>
          <a:custGeom>
            <a:avLst/>
            <a:gdLst/>
            <a:ahLst/>
            <a:cxnLst/>
            <a:rect l="l" t="t" r="r" b="b"/>
            <a:pathLst>
              <a:path w="1259204" h="1122045">
                <a:moveTo>
                  <a:pt x="211035" y="852131"/>
                </a:moveTo>
                <a:lnTo>
                  <a:pt x="0" y="1121600"/>
                </a:lnTo>
              </a:path>
              <a:path w="1259204" h="1122045">
                <a:moveTo>
                  <a:pt x="1047927" y="844842"/>
                </a:moveTo>
                <a:lnTo>
                  <a:pt x="1258976" y="1114323"/>
                </a:lnTo>
              </a:path>
              <a:path w="1259204" h="1122045">
                <a:moveTo>
                  <a:pt x="611289" y="0"/>
                </a:moveTo>
                <a:lnTo>
                  <a:pt x="669505" y="0"/>
                </a:lnTo>
              </a:path>
            </a:pathLst>
          </a:custGeom>
          <a:ln w="727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 txBox="1"/>
          <p:nvPr/>
        </p:nvSpPr>
        <p:spPr>
          <a:xfrm>
            <a:off x="6496875" y="4829797"/>
            <a:ext cx="83820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-50">
                <a:latin typeface="Courier New"/>
                <a:cs typeface="Courier New"/>
              </a:rPr>
              <a:t>0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36" name="object 3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51</a:t>
            </a:fld>
          </a:p>
        </p:txBody>
      </p:sp>
      <p:sp>
        <p:nvSpPr>
          <p:cNvPr id="35" name="object 35" descr=""/>
          <p:cNvSpPr txBox="1"/>
          <p:nvPr/>
        </p:nvSpPr>
        <p:spPr>
          <a:xfrm>
            <a:off x="6496875" y="3941254"/>
            <a:ext cx="83820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-50">
                <a:latin typeface="Courier New"/>
                <a:cs typeface="Courier New"/>
              </a:rPr>
              <a:t>1</a:t>
            </a:r>
            <a:endParaRPr sz="9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545892" y="1967445"/>
            <a:ext cx="4048760" cy="2157730"/>
            <a:chOff x="2545892" y="1967445"/>
            <a:chExt cx="4048760" cy="2157730"/>
          </a:xfrm>
        </p:grpSpPr>
        <p:sp>
          <p:nvSpPr>
            <p:cNvPr id="3" name="object 3" descr=""/>
            <p:cNvSpPr/>
            <p:nvPr/>
          </p:nvSpPr>
          <p:spPr>
            <a:xfrm>
              <a:off x="3947172" y="2311247"/>
              <a:ext cx="886460" cy="1153795"/>
            </a:xfrm>
            <a:custGeom>
              <a:avLst/>
              <a:gdLst/>
              <a:ahLst/>
              <a:cxnLst/>
              <a:rect l="l" t="t" r="r" b="b"/>
              <a:pathLst>
                <a:path w="886460" h="1153795">
                  <a:moveTo>
                    <a:pt x="886079" y="1153375"/>
                  </a:moveTo>
                  <a:lnTo>
                    <a:pt x="0" y="1153375"/>
                  </a:lnTo>
                  <a:lnTo>
                    <a:pt x="166141" y="654316"/>
                  </a:lnTo>
                  <a:lnTo>
                    <a:pt x="343357" y="133083"/>
                  </a:lnTo>
                  <a:lnTo>
                    <a:pt x="365506" y="77622"/>
                  </a:lnTo>
                  <a:lnTo>
                    <a:pt x="387667" y="44361"/>
                  </a:lnTo>
                  <a:lnTo>
                    <a:pt x="454113" y="0"/>
                  </a:lnTo>
                  <a:lnTo>
                    <a:pt x="498424" y="0"/>
                  </a:lnTo>
                  <a:lnTo>
                    <a:pt x="509498" y="11087"/>
                  </a:lnTo>
                  <a:lnTo>
                    <a:pt x="520573" y="44361"/>
                  </a:lnTo>
                  <a:lnTo>
                    <a:pt x="542721" y="55448"/>
                  </a:lnTo>
                  <a:lnTo>
                    <a:pt x="553796" y="99809"/>
                  </a:lnTo>
                  <a:lnTo>
                    <a:pt x="708863" y="587768"/>
                  </a:lnTo>
                  <a:lnTo>
                    <a:pt x="886079" y="1153375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3947172" y="2311247"/>
              <a:ext cx="886460" cy="1153795"/>
            </a:xfrm>
            <a:custGeom>
              <a:avLst/>
              <a:gdLst/>
              <a:ahLst/>
              <a:cxnLst/>
              <a:rect l="l" t="t" r="r" b="b"/>
              <a:pathLst>
                <a:path w="886460" h="1153795">
                  <a:moveTo>
                    <a:pt x="0" y="1153375"/>
                  </a:moveTo>
                  <a:lnTo>
                    <a:pt x="886079" y="1153375"/>
                  </a:lnTo>
                  <a:lnTo>
                    <a:pt x="708863" y="587768"/>
                  </a:lnTo>
                  <a:lnTo>
                    <a:pt x="553796" y="99809"/>
                  </a:lnTo>
                  <a:lnTo>
                    <a:pt x="542721" y="55448"/>
                  </a:lnTo>
                  <a:lnTo>
                    <a:pt x="520573" y="44361"/>
                  </a:lnTo>
                  <a:lnTo>
                    <a:pt x="509498" y="11087"/>
                  </a:lnTo>
                  <a:lnTo>
                    <a:pt x="498424" y="0"/>
                  </a:lnTo>
                  <a:lnTo>
                    <a:pt x="454113" y="0"/>
                  </a:lnTo>
                  <a:lnTo>
                    <a:pt x="409816" y="22174"/>
                  </a:lnTo>
                  <a:lnTo>
                    <a:pt x="387667" y="44361"/>
                  </a:lnTo>
                  <a:lnTo>
                    <a:pt x="365506" y="77622"/>
                  </a:lnTo>
                  <a:lnTo>
                    <a:pt x="343357" y="133083"/>
                  </a:lnTo>
                  <a:lnTo>
                    <a:pt x="166141" y="654316"/>
                  </a:lnTo>
                  <a:lnTo>
                    <a:pt x="0" y="1153375"/>
                  </a:lnTo>
                </a:path>
              </a:pathLst>
            </a:custGeom>
            <a:ln w="11087">
              <a:solidFill>
                <a:srgbClr val="CC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01604" y="2300160"/>
              <a:ext cx="199364" cy="88709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4844326" y="3464623"/>
              <a:ext cx="775335" cy="244475"/>
            </a:xfrm>
            <a:custGeom>
              <a:avLst/>
              <a:gdLst/>
              <a:ahLst/>
              <a:cxnLst/>
              <a:rect l="l" t="t" r="r" b="b"/>
              <a:pathLst>
                <a:path w="775335" h="244475">
                  <a:moveTo>
                    <a:pt x="188290" y="243979"/>
                  </a:moveTo>
                  <a:lnTo>
                    <a:pt x="121831" y="243979"/>
                  </a:lnTo>
                  <a:lnTo>
                    <a:pt x="88607" y="221792"/>
                  </a:lnTo>
                  <a:lnTo>
                    <a:pt x="44310" y="177444"/>
                  </a:lnTo>
                  <a:lnTo>
                    <a:pt x="33235" y="144170"/>
                  </a:lnTo>
                  <a:lnTo>
                    <a:pt x="11074" y="66535"/>
                  </a:lnTo>
                  <a:lnTo>
                    <a:pt x="0" y="0"/>
                  </a:lnTo>
                  <a:lnTo>
                    <a:pt x="775322" y="0"/>
                  </a:lnTo>
                  <a:lnTo>
                    <a:pt x="531647" y="44361"/>
                  </a:lnTo>
                  <a:lnTo>
                    <a:pt x="443039" y="77622"/>
                  </a:lnTo>
                  <a:lnTo>
                    <a:pt x="365506" y="99809"/>
                  </a:lnTo>
                  <a:lnTo>
                    <a:pt x="299046" y="155257"/>
                  </a:lnTo>
                  <a:lnTo>
                    <a:pt x="265823" y="177444"/>
                  </a:lnTo>
                  <a:lnTo>
                    <a:pt x="221526" y="221792"/>
                  </a:lnTo>
                  <a:lnTo>
                    <a:pt x="188290" y="243979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844326" y="3464623"/>
              <a:ext cx="775335" cy="244475"/>
            </a:xfrm>
            <a:custGeom>
              <a:avLst/>
              <a:gdLst/>
              <a:ahLst/>
              <a:cxnLst/>
              <a:rect l="l" t="t" r="r" b="b"/>
              <a:pathLst>
                <a:path w="775335" h="244475">
                  <a:moveTo>
                    <a:pt x="0" y="0"/>
                  </a:moveTo>
                  <a:lnTo>
                    <a:pt x="775322" y="0"/>
                  </a:lnTo>
                  <a:lnTo>
                    <a:pt x="531647" y="44361"/>
                  </a:lnTo>
                  <a:lnTo>
                    <a:pt x="443039" y="77622"/>
                  </a:lnTo>
                  <a:lnTo>
                    <a:pt x="365506" y="99809"/>
                  </a:lnTo>
                  <a:lnTo>
                    <a:pt x="299046" y="155257"/>
                  </a:lnTo>
                  <a:lnTo>
                    <a:pt x="265823" y="177444"/>
                  </a:lnTo>
                  <a:lnTo>
                    <a:pt x="243674" y="199618"/>
                  </a:lnTo>
                  <a:lnTo>
                    <a:pt x="221526" y="221792"/>
                  </a:lnTo>
                  <a:lnTo>
                    <a:pt x="188290" y="243979"/>
                  </a:lnTo>
                  <a:lnTo>
                    <a:pt x="143992" y="243979"/>
                  </a:lnTo>
                  <a:lnTo>
                    <a:pt x="121831" y="243979"/>
                  </a:lnTo>
                  <a:lnTo>
                    <a:pt x="88607" y="221792"/>
                  </a:lnTo>
                  <a:lnTo>
                    <a:pt x="66459" y="199618"/>
                  </a:lnTo>
                  <a:lnTo>
                    <a:pt x="44310" y="177444"/>
                  </a:lnTo>
                  <a:lnTo>
                    <a:pt x="33235" y="144170"/>
                  </a:lnTo>
                  <a:lnTo>
                    <a:pt x="11074" y="66535"/>
                  </a:lnTo>
                  <a:lnTo>
                    <a:pt x="0" y="0"/>
                  </a:lnTo>
                </a:path>
              </a:pathLst>
            </a:custGeom>
            <a:ln w="11087">
              <a:solidFill>
                <a:srgbClr val="00CC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076926" y="3409175"/>
              <a:ext cx="1141095" cy="277495"/>
            </a:xfrm>
            <a:custGeom>
              <a:avLst/>
              <a:gdLst/>
              <a:ahLst/>
              <a:cxnLst/>
              <a:rect l="l" t="t" r="r" b="b"/>
              <a:pathLst>
                <a:path w="1141095" h="277495">
                  <a:moveTo>
                    <a:pt x="1140815" y="0"/>
                  </a:moveTo>
                  <a:lnTo>
                    <a:pt x="930376" y="11087"/>
                  </a:lnTo>
                  <a:lnTo>
                    <a:pt x="742086" y="22174"/>
                  </a:lnTo>
                  <a:lnTo>
                    <a:pt x="575945" y="44348"/>
                  </a:lnTo>
                  <a:lnTo>
                    <a:pt x="420878" y="66535"/>
                  </a:lnTo>
                  <a:lnTo>
                    <a:pt x="299046" y="88709"/>
                  </a:lnTo>
                  <a:lnTo>
                    <a:pt x="188290" y="121983"/>
                  </a:lnTo>
                  <a:lnTo>
                    <a:pt x="110756" y="155257"/>
                  </a:lnTo>
                  <a:lnTo>
                    <a:pt x="78524" y="179463"/>
                  </a:lnTo>
                  <a:lnTo>
                    <a:pt x="77533" y="177444"/>
                  </a:lnTo>
                  <a:lnTo>
                    <a:pt x="66497" y="188493"/>
                  </a:lnTo>
                  <a:lnTo>
                    <a:pt x="0" y="255066"/>
                  </a:lnTo>
                  <a:lnTo>
                    <a:pt x="11074" y="277241"/>
                  </a:lnTo>
                  <a:lnTo>
                    <a:pt x="77520" y="210705"/>
                  </a:lnTo>
                  <a:lnTo>
                    <a:pt x="121831" y="177444"/>
                  </a:lnTo>
                  <a:lnTo>
                    <a:pt x="199364" y="144170"/>
                  </a:lnTo>
                  <a:lnTo>
                    <a:pt x="310121" y="110896"/>
                  </a:lnTo>
                  <a:lnTo>
                    <a:pt x="431965" y="88709"/>
                  </a:lnTo>
                  <a:lnTo>
                    <a:pt x="587019" y="66535"/>
                  </a:lnTo>
                  <a:lnTo>
                    <a:pt x="753160" y="44348"/>
                  </a:lnTo>
                  <a:lnTo>
                    <a:pt x="941451" y="33261"/>
                  </a:lnTo>
                  <a:lnTo>
                    <a:pt x="1140815" y="22174"/>
                  </a:lnTo>
                  <a:lnTo>
                    <a:pt x="11408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88636" y="3642068"/>
              <a:ext cx="199364" cy="77622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4478820" y="2388870"/>
              <a:ext cx="432434" cy="1275715"/>
            </a:xfrm>
            <a:custGeom>
              <a:avLst/>
              <a:gdLst/>
              <a:ahLst/>
              <a:cxnLst/>
              <a:rect l="l" t="t" r="r" b="b"/>
              <a:pathLst>
                <a:path w="432435" h="1275714">
                  <a:moveTo>
                    <a:pt x="22148" y="0"/>
                  </a:moveTo>
                  <a:lnTo>
                    <a:pt x="0" y="11099"/>
                  </a:lnTo>
                  <a:lnTo>
                    <a:pt x="409816" y="1275372"/>
                  </a:lnTo>
                  <a:lnTo>
                    <a:pt x="431965" y="1264284"/>
                  </a:lnTo>
                  <a:lnTo>
                    <a:pt x="221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160788" y="3464623"/>
              <a:ext cx="775335" cy="244475"/>
            </a:xfrm>
            <a:custGeom>
              <a:avLst/>
              <a:gdLst/>
              <a:ahLst/>
              <a:cxnLst/>
              <a:rect l="l" t="t" r="r" b="b"/>
              <a:pathLst>
                <a:path w="775335" h="244475">
                  <a:moveTo>
                    <a:pt x="653478" y="243979"/>
                  </a:moveTo>
                  <a:lnTo>
                    <a:pt x="587019" y="243979"/>
                  </a:lnTo>
                  <a:lnTo>
                    <a:pt x="553796" y="221792"/>
                  </a:lnTo>
                  <a:lnTo>
                    <a:pt x="509485" y="177444"/>
                  </a:lnTo>
                  <a:lnTo>
                    <a:pt x="476262" y="155257"/>
                  </a:lnTo>
                  <a:lnTo>
                    <a:pt x="409803" y="99809"/>
                  </a:lnTo>
                  <a:lnTo>
                    <a:pt x="332270" y="77622"/>
                  </a:lnTo>
                  <a:lnTo>
                    <a:pt x="243662" y="44361"/>
                  </a:lnTo>
                  <a:lnTo>
                    <a:pt x="0" y="0"/>
                  </a:lnTo>
                  <a:lnTo>
                    <a:pt x="775309" y="0"/>
                  </a:lnTo>
                  <a:lnTo>
                    <a:pt x="764235" y="66535"/>
                  </a:lnTo>
                  <a:lnTo>
                    <a:pt x="742086" y="144170"/>
                  </a:lnTo>
                  <a:lnTo>
                    <a:pt x="719924" y="177444"/>
                  </a:lnTo>
                  <a:lnTo>
                    <a:pt x="708850" y="199618"/>
                  </a:lnTo>
                  <a:lnTo>
                    <a:pt x="686701" y="221792"/>
                  </a:lnTo>
                  <a:lnTo>
                    <a:pt x="653478" y="243979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160788" y="3464623"/>
              <a:ext cx="775335" cy="244475"/>
            </a:xfrm>
            <a:custGeom>
              <a:avLst/>
              <a:gdLst/>
              <a:ahLst/>
              <a:cxnLst/>
              <a:rect l="l" t="t" r="r" b="b"/>
              <a:pathLst>
                <a:path w="775335" h="244475">
                  <a:moveTo>
                    <a:pt x="775309" y="0"/>
                  </a:moveTo>
                  <a:lnTo>
                    <a:pt x="0" y="0"/>
                  </a:lnTo>
                  <a:lnTo>
                    <a:pt x="243662" y="44361"/>
                  </a:lnTo>
                  <a:lnTo>
                    <a:pt x="332270" y="77622"/>
                  </a:lnTo>
                  <a:lnTo>
                    <a:pt x="409803" y="99809"/>
                  </a:lnTo>
                  <a:lnTo>
                    <a:pt x="476262" y="155257"/>
                  </a:lnTo>
                  <a:lnTo>
                    <a:pt x="509485" y="177444"/>
                  </a:lnTo>
                  <a:lnTo>
                    <a:pt x="531634" y="199618"/>
                  </a:lnTo>
                  <a:lnTo>
                    <a:pt x="553796" y="221792"/>
                  </a:lnTo>
                  <a:lnTo>
                    <a:pt x="587019" y="243979"/>
                  </a:lnTo>
                  <a:lnTo>
                    <a:pt x="631317" y="243979"/>
                  </a:lnTo>
                  <a:lnTo>
                    <a:pt x="653478" y="243979"/>
                  </a:lnTo>
                  <a:lnTo>
                    <a:pt x="686701" y="221792"/>
                  </a:lnTo>
                  <a:lnTo>
                    <a:pt x="708850" y="199618"/>
                  </a:lnTo>
                  <a:lnTo>
                    <a:pt x="719924" y="177444"/>
                  </a:lnTo>
                  <a:lnTo>
                    <a:pt x="742086" y="144170"/>
                  </a:lnTo>
                  <a:lnTo>
                    <a:pt x="764235" y="66535"/>
                  </a:lnTo>
                  <a:lnTo>
                    <a:pt x="775309" y="0"/>
                  </a:lnTo>
                </a:path>
              </a:pathLst>
            </a:custGeom>
            <a:ln w="11087">
              <a:solidFill>
                <a:srgbClr val="00CC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551607" y="3409175"/>
              <a:ext cx="1141095" cy="277495"/>
            </a:xfrm>
            <a:custGeom>
              <a:avLst/>
              <a:gdLst/>
              <a:ahLst/>
              <a:cxnLst/>
              <a:rect l="l" t="t" r="r" b="b"/>
              <a:pathLst>
                <a:path w="1141095" h="277495">
                  <a:moveTo>
                    <a:pt x="1140815" y="255066"/>
                  </a:moveTo>
                  <a:lnTo>
                    <a:pt x="1074369" y="177444"/>
                  </a:lnTo>
                  <a:lnTo>
                    <a:pt x="1066457" y="193294"/>
                  </a:lnTo>
                  <a:lnTo>
                    <a:pt x="1018984" y="155257"/>
                  </a:lnTo>
                  <a:lnTo>
                    <a:pt x="952525" y="121983"/>
                  </a:lnTo>
                  <a:lnTo>
                    <a:pt x="841768" y="88709"/>
                  </a:lnTo>
                  <a:lnTo>
                    <a:pt x="719924" y="66535"/>
                  </a:lnTo>
                  <a:lnTo>
                    <a:pt x="564870" y="33261"/>
                  </a:lnTo>
                  <a:lnTo>
                    <a:pt x="398729" y="22174"/>
                  </a:lnTo>
                  <a:lnTo>
                    <a:pt x="210439" y="11087"/>
                  </a:lnTo>
                  <a:lnTo>
                    <a:pt x="0" y="0"/>
                  </a:lnTo>
                  <a:lnTo>
                    <a:pt x="0" y="22174"/>
                  </a:lnTo>
                  <a:lnTo>
                    <a:pt x="199364" y="33261"/>
                  </a:lnTo>
                  <a:lnTo>
                    <a:pt x="387654" y="44348"/>
                  </a:lnTo>
                  <a:lnTo>
                    <a:pt x="553796" y="55448"/>
                  </a:lnTo>
                  <a:lnTo>
                    <a:pt x="708863" y="88709"/>
                  </a:lnTo>
                  <a:lnTo>
                    <a:pt x="830694" y="110896"/>
                  </a:lnTo>
                  <a:lnTo>
                    <a:pt x="941451" y="144170"/>
                  </a:lnTo>
                  <a:lnTo>
                    <a:pt x="1007910" y="177444"/>
                  </a:lnTo>
                  <a:lnTo>
                    <a:pt x="1063294" y="210705"/>
                  </a:lnTo>
                  <a:lnTo>
                    <a:pt x="1068400" y="205600"/>
                  </a:lnTo>
                  <a:lnTo>
                    <a:pt x="1129741" y="277241"/>
                  </a:lnTo>
                  <a:lnTo>
                    <a:pt x="1140815" y="2550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81364" y="3642068"/>
              <a:ext cx="210436" cy="77622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2551607" y="3464623"/>
              <a:ext cx="3998595" cy="0"/>
            </a:xfrm>
            <a:custGeom>
              <a:avLst/>
              <a:gdLst/>
              <a:ahLst/>
              <a:cxnLst/>
              <a:rect l="l" t="t" r="r" b="b"/>
              <a:pathLst>
                <a:path w="3998595" h="0">
                  <a:moveTo>
                    <a:pt x="0" y="0"/>
                  </a:moveTo>
                  <a:lnTo>
                    <a:pt x="3998417" y="0"/>
                  </a:lnTo>
                </a:path>
              </a:pathLst>
            </a:custGeom>
            <a:ln w="11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869639" y="2377782"/>
              <a:ext cx="2724785" cy="1286510"/>
            </a:xfrm>
            <a:custGeom>
              <a:avLst/>
              <a:gdLst/>
              <a:ahLst/>
              <a:cxnLst/>
              <a:rect l="l" t="t" r="r" b="b"/>
              <a:pathLst>
                <a:path w="2724784" h="1286510">
                  <a:moveTo>
                    <a:pt x="454113" y="11087"/>
                  </a:moveTo>
                  <a:lnTo>
                    <a:pt x="431965" y="0"/>
                  </a:lnTo>
                  <a:lnTo>
                    <a:pt x="0" y="1275372"/>
                  </a:lnTo>
                  <a:lnTo>
                    <a:pt x="22161" y="1286459"/>
                  </a:lnTo>
                  <a:lnTo>
                    <a:pt x="454113" y="11087"/>
                  </a:lnTo>
                  <a:close/>
                </a:path>
                <a:path w="2724784" h="1286510">
                  <a:moveTo>
                    <a:pt x="2724696" y="1086840"/>
                  </a:moveTo>
                  <a:lnTo>
                    <a:pt x="2658237" y="1053566"/>
                  </a:lnTo>
                  <a:lnTo>
                    <a:pt x="2658237" y="1131201"/>
                  </a:lnTo>
                  <a:lnTo>
                    <a:pt x="2724696" y="10868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401286" y="2011807"/>
              <a:ext cx="0" cy="2107565"/>
            </a:xfrm>
            <a:custGeom>
              <a:avLst/>
              <a:gdLst/>
              <a:ahLst/>
              <a:cxnLst/>
              <a:rect l="l" t="t" r="r" b="b"/>
              <a:pathLst>
                <a:path w="0" h="2107565">
                  <a:moveTo>
                    <a:pt x="0" y="0"/>
                  </a:moveTo>
                  <a:lnTo>
                    <a:pt x="0" y="2107133"/>
                  </a:lnTo>
                </a:path>
              </a:pathLst>
            </a:custGeom>
            <a:ln w="11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368063" y="1967445"/>
              <a:ext cx="78105" cy="66675"/>
            </a:xfrm>
            <a:custGeom>
              <a:avLst/>
              <a:gdLst/>
              <a:ahLst/>
              <a:cxnLst/>
              <a:rect l="l" t="t" r="r" b="b"/>
              <a:pathLst>
                <a:path w="78104" h="66675">
                  <a:moveTo>
                    <a:pt x="33223" y="0"/>
                  </a:moveTo>
                  <a:lnTo>
                    <a:pt x="0" y="66548"/>
                  </a:lnTo>
                  <a:lnTo>
                    <a:pt x="77533" y="66548"/>
                  </a:lnTo>
                  <a:lnTo>
                    <a:pt x="332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4532579" y="1866074"/>
            <a:ext cx="845185" cy="460375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 marR="5080">
              <a:lnSpc>
                <a:spcPct val="104000"/>
              </a:lnSpc>
              <a:spcBef>
                <a:spcPts val="30"/>
              </a:spcBef>
            </a:pPr>
            <a:r>
              <a:rPr dirty="0" sz="1400" spc="-204">
                <a:latin typeface="Courier New"/>
                <a:cs typeface="Courier New"/>
              </a:rPr>
              <a:t>Connection </a:t>
            </a:r>
            <a:r>
              <a:rPr dirty="0" sz="1400" spc="-290">
                <a:latin typeface="Courier New"/>
                <a:cs typeface="Courier New"/>
              </a:rPr>
              <a:t>strength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2970872" y="2398407"/>
            <a:ext cx="768985" cy="460375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78435" marR="5080" indent="-166370">
              <a:lnSpc>
                <a:spcPct val="104000"/>
              </a:lnSpc>
              <a:spcBef>
                <a:spcPts val="30"/>
              </a:spcBef>
            </a:pPr>
            <a:r>
              <a:rPr dirty="0" sz="1400" spc="-270" i="1">
                <a:latin typeface="Courier New"/>
                <a:cs typeface="Courier New"/>
              </a:rPr>
              <a:t>Excitatory </a:t>
            </a:r>
            <a:r>
              <a:rPr dirty="0" sz="1400" spc="-340" i="1">
                <a:latin typeface="Courier New"/>
                <a:cs typeface="Courier New"/>
              </a:rPr>
              <a:t>effect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3426599" y="2300160"/>
            <a:ext cx="1916430" cy="1708150"/>
          </a:xfrm>
          <a:custGeom>
            <a:avLst/>
            <a:gdLst/>
            <a:ahLst/>
            <a:cxnLst/>
            <a:rect l="l" t="t" r="r" b="b"/>
            <a:pathLst>
              <a:path w="1916429" h="1708150">
                <a:moveTo>
                  <a:pt x="254749" y="454685"/>
                </a:moveTo>
                <a:lnTo>
                  <a:pt x="875004" y="842848"/>
                </a:lnTo>
              </a:path>
              <a:path w="1916429" h="1708150">
                <a:moveTo>
                  <a:pt x="321208" y="1297546"/>
                </a:moveTo>
                <a:lnTo>
                  <a:pt x="0" y="1707870"/>
                </a:lnTo>
              </a:path>
              <a:path w="1916429" h="1708150">
                <a:moveTo>
                  <a:pt x="1594942" y="1286446"/>
                </a:moveTo>
                <a:lnTo>
                  <a:pt x="1916150" y="1696783"/>
                </a:lnTo>
              </a:path>
              <a:path w="1916429" h="1708150">
                <a:moveTo>
                  <a:pt x="930389" y="0"/>
                </a:moveTo>
                <a:lnTo>
                  <a:pt x="1018997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5429732" y="3365418"/>
            <a:ext cx="1300480" cy="868680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676910">
              <a:lnSpc>
                <a:spcPct val="100000"/>
              </a:lnSpc>
              <a:spcBef>
                <a:spcPts val="865"/>
              </a:spcBef>
            </a:pPr>
            <a:r>
              <a:rPr dirty="0" sz="1400" spc="-229">
                <a:latin typeface="Courier New"/>
                <a:cs typeface="Courier New"/>
              </a:rPr>
              <a:t>Distance</a:t>
            </a:r>
            <a:endParaRPr sz="1400">
              <a:latin typeface="Courier New"/>
              <a:cs typeface="Courier New"/>
            </a:endParaRPr>
          </a:p>
          <a:p>
            <a:pPr marL="156210" marR="581025" indent="-144145">
              <a:lnSpc>
                <a:spcPct val="104000"/>
              </a:lnSpc>
              <a:spcBef>
                <a:spcPts val="695"/>
              </a:spcBef>
            </a:pPr>
            <a:r>
              <a:rPr dirty="0" sz="1400" spc="-305" i="1">
                <a:latin typeface="Courier New"/>
                <a:cs typeface="Courier New"/>
              </a:rPr>
              <a:t>Inhibitory </a:t>
            </a:r>
            <a:r>
              <a:rPr dirty="0" sz="1400" spc="-340" i="1">
                <a:latin typeface="Courier New"/>
                <a:cs typeface="Courier New"/>
              </a:rPr>
              <a:t>effect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4255680" y="3463061"/>
            <a:ext cx="11430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95">
                <a:latin typeface="Courier New"/>
                <a:cs typeface="Courier New"/>
              </a:rPr>
              <a:t>0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4255680" y="2110066"/>
            <a:ext cx="11430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95">
                <a:latin typeface="Courier New"/>
                <a:cs typeface="Courier New"/>
              </a:rPr>
              <a:t>1</a:t>
            </a:r>
            <a:endParaRPr sz="1400">
              <a:latin typeface="Courier New"/>
              <a:cs typeface="Courier New"/>
            </a:endParaRPr>
          </a:p>
        </p:txBody>
      </p:sp>
      <p:pic>
        <p:nvPicPr>
          <p:cNvPr id="25" name="object 2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23988" y="341375"/>
            <a:ext cx="1620011" cy="1588008"/>
          </a:xfrm>
          <a:prstGeom prst="rect">
            <a:avLst/>
          </a:prstGeom>
        </p:spPr>
      </p:pic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4725" rIns="0" bIns="0" rtlCol="0" vert="horz">
            <a:spAutoFit/>
          </a:bodyPr>
          <a:lstStyle/>
          <a:p>
            <a:pPr marL="217170">
              <a:lnSpc>
                <a:spcPct val="100000"/>
              </a:lnSpc>
              <a:spcBef>
                <a:spcPts val="105"/>
              </a:spcBef>
            </a:pPr>
            <a:r>
              <a:rPr dirty="0"/>
              <a:t>Mexican</a:t>
            </a:r>
            <a:r>
              <a:rPr dirty="0" spc="-65"/>
              <a:t> </a:t>
            </a:r>
            <a:r>
              <a:rPr dirty="0"/>
              <a:t>Hat</a:t>
            </a:r>
            <a:r>
              <a:rPr dirty="0" spc="-60"/>
              <a:t> </a:t>
            </a:r>
            <a:r>
              <a:rPr dirty="0" spc="-10"/>
              <a:t>Network</a:t>
            </a:r>
          </a:p>
        </p:txBody>
      </p:sp>
      <p:sp>
        <p:nvSpPr>
          <p:cNvPr id="29" name="object 2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51</a:t>
            </a:fld>
          </a:p>
        </p:txBody>
      </p:sp>
      <p:sp>
        <p:nvSpPr>
          <p:cNvPr id="27" name="object 27" descr=""/>
          <p:cNvSpPr txBox="1"/>
          <p:nvPr/>
        </p:nvSpPr>
        <p:spPr>
          <a:xfrm>
            <a:off x="448881" y="3747774"/>
            <a:ext cx="2939415" cy="741680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algn="r" marR="30480">
              <a:lnSpc>
                <a:spcPct val="100000"/>
              </a:lnSpc>
              <a:spcBef>
                <a:spcPts val="300"/>
              </a:spcBef>
            </a:pPr>
            <a:r>
              <a:rPr dirty="0" sz="1400" spc="-305" i="1">
                <a:latin typeface="Courier New"/>
                <a:cs typeface="Courier New"/>
              </a:rPr>
              <a:t>Inhibitory</a:t>
            </a:r>
            <a:endParaRPr sz="1400">
              <a:latin typeface="Courier New"/>
              <a:cs typeface="Courier New"/>
            </a:endParaRPr>
          </a:p>
          <a:p>
            <a:pPr marL="380365" indent="-342265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58928"/>
              <a:buChar char="■"/>
              <a:tabLst>
                <a:tab pos="380365" algn="l"/>
              </a:tabLst>
            </a:pPr>
            <a:r>
              <a:rPr dirty="0" sz="2800">
                <a:latin typeface="Tahoma"/>
                <a:cs typeface="Tahoma"/>
              </a:rPr>
              <a:t>Equilibrium:</a:t>
            </a:r>
            <a:r>
              <a:rPr dirty="0" sz="2800" spc="-204">
                <a:latin typeface="Tahoma"/>
                <a:cs typeface="Tahoma"/>
              </a:rPr>
              <a:t> </a:t>
            </a:r>
            <a:r>
              <a:rPr dirty="0" baseline="69444" sz="2100" spc="-509" i="1">
                <a:latin typeface="Courier New"/>
                <a:cs typeface="Courier New"/>
              </a:rPr>
              <a:t>effect</a:t>
            </a:r>
            <a:endParaRPr baseline="69444" sz="2100">
              <a:latin typeface="Courier New"/>
              <a:cs typeface="Courier New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931481" y="4464164"/>
            <a:ext cx="7459980" cy="214630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SzPct val="54166"/>
              <a:buChar char="■"/>
              <a:tabLst>
                <a:tab pos="297815" algn="l"/>
              </a:tabLst>
            </a:pPr>
            <a:r>
              <a:rPr dirty="0" sz="2400">
                <a:latin typeface="Tahoma"/>
                <a:cs typeface="Tahoma"/>
              </a:rPr>
              <a:t>negative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input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=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positive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input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for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all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nodes</a:t>
            </a:r>
            <a:endParaRPr sz="2400">
              <a:latin typeface="Tahoma"/>
              <a:cs typeface="Tahoma"/>
            </a:endParaRPr>
          </a:p>
          <a:p>
            <a:pPr marL="297815" indent="-285115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54166"/>
              <a:buChar char="■"/>
              <a:tabLst>
                <a:tab pos="297815" algn="l"/>
              </a:tabLst>
            </a:pPr>
            <a:r>
              <a:rPr dirty="0" sz="2400">
                <a:latin typeface="Tahoma"/>
                <a:cs typeface="Tahoma"/>
              </a:rPr>
              <a:t>winner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has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highest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activation</a:t>
            </a:r>
            <a:endParaRPr sz="2400">
              <a:latin typeface="Tahoma"/>
              <a:cs typeface="Tahoma"/>
            </a:endParaRPr>
          </a:p>
          <a:p>
            <a:pPr marL="297815" indent="-285115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54166"/>
              <a:buChar char="■"/>
              <a:tabLst>
                <a:tab pos="297815" algn="l"/>
              </a:tabLst>
            </a:pPr>
            <a:r>
              <a:rPr dirty="0" sz="2400">
                <a:latin typeface="Tahoma"/>
                <a:cs typeface="Tahoma"/>
              </a:rPr>
              <a:t>its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cooperative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neighbors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all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have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positive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activations</a:t>
            </a:r>
            <a:endParaRPr sz="2400">
              <a:latin typeface="Tahoma"/>
              <a:cs typeface="Tahoma"/>
            </a:endParaRPr>
          </a:p>
          <a:p>
            <a:pPr marL="298450" marR="145415" indent="-285750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54166"/>
              <a:buChar char="■"/>
              <a:tabLst>
                <a:tab pos="298450" algn="l"/>
              </a:tabLst>
            </a:pPr>
            <a:r>
              <a:rPr dirty="0" sz="2400">
                <a:latin typeface="Tahoma"/>
                <a:cs typeface="Tahoma"/>
              </a:rPr>
              <a:t>its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competitive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neighbors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all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have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negative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(or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zero) activations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848573" y="2894266"/>
            <a:ext cx="528320" cy="45465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-31746" sz="4200" spc="-209">
                <a:latin typeface="Courier New"/>
                <a:cs typeface="Courier New"/>
              </a:rPr>
              <a:t>=</a:t>
            </a:r>
            <a:r>
              <a:rPr dirty="0" baseline="-31746" sz="4200" spc="-1589">
                <a:latin typeface="Courier New"/>
                <a:cs typeface="Courier New"/>
              </a:rPr>
              <a:t> </a:t>
            </a:r>
            <a:r>
              <a:rPr dirty="0" sz="2800" spc="-1480">
                <a:latin typeface="Courier New"/>
                <a:cs typeface="Courier New"/>
              </a:rPr>
              <a:t>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123554" y="3702380"/>
            <a:ext cx="518795" cy="45465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31746" sz="4200" spc="-1875">
                <a:latin typeface="Courier New"/>
                <a:cs typeface="Courier New"/>
              </a:rPr>
              <a:t></a:t>
            </a:r>
            <a:r>
              <a:rPr dirty="0" sz="2800" spc="-1250">
                <a:latin typeface="Courier New"/>
                <a:cs typeface="Courier New"/>
              </a:rPr>
              <a:t></a:t>
            </a:r>
            <a:r>
              <a:rPr dirty="0" baseline="15873" sz="4200" spc="-1875" i="1">
                <a:latin typeface="Courier New"/>
                <a:cs typeface="Courier New"/>
              </a:rPr>
              <a:t>c</a:t>
            </a:r>
            <a:r>
              <a:rPr dirty="0" baseline="3086" sz="2700" spc="-1875">
                <a:latin typeface="Courier New"/>
                <a:cs typeface="Courier New"/>
              </a:rPr>
              <a:t>3</a:t>
            </a:r>
            <a:endParaRPr baseline="3086" sz="270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878478" y="3025051"/>
            <a:ext cx="4260850" cy="103314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3500" marR="30480" indent="13970">
              <a:lnSpc>
                <a:spcPct val="118000"/>
              </a:lnSpc>
              <a:spcBef>
                <a:spcPts val="95"/>
              </a:spcBef>
            </a:pPr>
            <a:r>
              <a:rPr dirty="0" sz="2800" spc="-630">
                <a:latin typeface="Courier New"/>
                <a:cs typeface="Courier New"/>
              </a:rPr>
              <a:t>distance(</a:t>
            </a:r>
            <a:r>
              <a:rPr dirty="0" sz="2800" spc="-630" i="1">
                <a:latin typeface="Courier New"/>
                <a:cs typeface="Courier New"/>
              </a:rPr>
              <a:t>i</a:t>
            </a:r>
            <a:r>
              <a:rPr dirty="0" sz="2800" spc="-630">
                <a:latin typeface="Courier New"/>
                <a:cs typeface="Courier New"/>
              </a:rPr>
              <a:t>,</a:t>
            </a:r>
            <a:r>
              <a:rPr dirty="0" sz="2800" spc="-855">
                <a:latin typeface="Courier New"/>
                <a:cs typeface="Courier New"/>
              </a:rPr>
              <a:t> </a:t>
            </a:r>
            <a:r>
              <a:rPr dirty="0" sz="2800" spc="-760" i="1">
                <a:latin typeface="Courier New"/>
                <a:cs typeface="Courier New"/>
              </a:rPr>
              <a:t>j</a:t>
            </a:r>
            <a:r>
              <a:rPr dirty="0" sz="2800" spc="-760">
                <a:latin typeface="Courier New"/>
                <a:cs typeface="Courier New"/>
              </a:rPr>
              <a:t>)</a:t>
            </a:r>
            <a:r>
              <a:rPr dirty="0" sz="2800" spc="-1060">
                <a:latin typeface="Courier New"/>
                <a:cs typeface="Courier New"/>
              </a:rPr>
              <a:t> </a:t>
            </a:r>
            <a:r>
              <a:rPr dirty="0" sz="2800" spc="-140">
                <a:latin typeface="Courier New"/>
                <a:cs typeface="Courier New"/>
              </a:rPr>
              <a:t>=</a:t>
            </a:r>
            <a:r>
              <a:rPr dirty="0" sz="2800" spc="-1060">
                <a:latin typeface="Courier New"/>
                <a:cs typeface="Courier New"/>
              </a:rPr>
              <a:t> </a:t>
            </a:r>
            <a:r>
              <a:rPr dirty="0" sz="2800" spc="-440" i="1">
                <a:latin typeface="Courier New"/>
                <a:cs typeface="Courier New"/>
              </a:rPr>
              <a:t>k</a:t>
            </a:r>
            <a:r>
              <a:rPr dirty="0" sz="2800" spc="-695" i="1">
                <a:latin typeface="Courier New"/>
                <a:cs typeface="Courier New"/>
              </a:rPr>
              <a:t> </a:t>
            </a:r>
            <a:r>
              <a:rPr dirty="0" sz="2800" spc="-500">
                <a:latin typeface="Courier New"/>
                <a:cs typeface="Courier New"/>
              </a:rPr>
              <a:t>(0</a:t>
            </a:r>
            <a:r>
              <a:rPr dirty="0" sz="2800" spc="-1140">
                <a:latin typeface="Courier New"/>
                <a:cs typeface="Courier New"/>
              </a:rPr>
              <a:t> </a:t>
            </a:r>
            <a:r>
              <a:rPr dirty="0" sz="2800" spc="-140">
                <a:latin typeface="Courier New"/>
                <a:cs typeface="Courier New"/>
              </a:rPr>
              <a:t>&lt;</a:t>
            </a:r>
            <a:r>
              <a:rPr dirty="0" sz="2800" spc="-1105">
                <a:latin typeface="Courier New"/>
                <a:cs typeface="Courier New"/>
              </a:rPr>
              <a:t> </a:t>
            </a:r>
            <a:r>
              <a:rPr dirty="0" sz="2800" spc="-295" i="1">
                <a:latin typeface="Courier New"/>
                <a:cs typeface="Courier New"/>
              </a:rPr>
              <a:t>c</a:t>
            </a:r>
            <a:r>
              <a:rPr dirty="0" baseline="-21604" sz="2700" spc="-442">
                <a:latin typeface="Courier New"/>
                <a:cs typeface="Courier New"/>
              </a:rPr>
              <a:t>2</a:t>
            </a:r>
            <a:r>
              <a:rPr dirty="0" baseline="-21604" sz="2700" spc="-292">
                <a:latin typeface="Courier New"/>
                <a:cs typeface="Courier New"/>
              </a:rPr>
              <a:t> </a:t>
            </a:r>
            <a:r>
              <a:rPr dirty="0" sz="2800" spc="-140">
                <a:latin typeface="Courier New"/>
                <a:cs typeface="Courier New"/>
              </a:rPr>
              <a:t>&lt;</a:t>
            </a:r>
            <a:r>
              <a:rPr dirty="0" sz="2800" spc="-1100">
                <a:latin typeface="Courier New"/>
                <a:cs typeface="Courier New"/>
              </a:rPr>
              <a:t> </a:t>
            </a:r>
            <a:r>
              <a:rPr dirty="0" sz="2800" spc="-395" i="1">
                <a:latin typeface="Courier New"/>
                <a:cs typeface="Courier New"/>
              </a:rPr>
              <a:t>c</a:t>
            </a:r>
            <a:r>
              <a:rPr dirty="0" baseline="-21604" sz="2700" spc="-592">
                <a:latin typeface="Courier New"/>
                <a:cs typeface="Courier New"/>
              </a:rPr>
              <a:t>1</a:t>
            </a:r>
            <a:r>
              <a:rPr dirty="0" baseline="-21604" sz="2700" spc="-1335">
                <a:latin typeface="Courier New"/>
                <a:cs typeface="Courier New"/>
              </a:rPr>
              <a:t> </a:t>
            </a:r>
            <a:r>
              <a:rPr dirty="0" sz="2800" spc="-805">
                <a:latin typeface="Courier New"/>
                <a:cs typeface="Courier New"/>
              </a:rPr>
              <a:t>) </a:t>
            </a:r>
            <a:r>
              <a:rPr dirty="0" sz="2800" spc="-630">
                <a:latin typeface="Courier New"/>
                <a:cs typeface="Courier New"/>
              </a:rPr>
              <a:t>distance(</a:t>
            </a:r>
            <a:r>
              <a:rPr dirty="0" sz="2800" spc="-630" i="1">
                <a:latin typeface="Courier New"/>
                <a:cs typeface="Courier New"/>
              </a:rPr>
              <a:t>i</a:t>
            </a:r>
            <a:r>
              <a:rPr dirty="0" sz="2800" spc="-630">
                <a:latin typeface="Courier New"/>
                <a:cs typeface="Courier New"/>
              </a:rPr>
              <a:t>,</a:t>
            </a:r>
            <a:r>
              <a:rPr dirty="0" sz="2800" spc="-855">
                <a:latin typeface="Courier New"/>
                <a:cs typeface="Courier New"/>
              </a:rPr>
              <a:t> </a:t>
            </a:r>
            <a:r>
              <a:rPr dirty="0" sz="2800" spc="-760" i="1">
                <a:latin typeface="Courier New"/>
                <a:cs typeface="Courier New"/>
              </a:rPr>
              <a:t>j</a:t>
            </a:r>
            <a:r>
              <a:rPr dirty="0" sz="2800" spc="-760">
                <a:latin typeface="Courier New"/>
                <a:cs typeface="Courier New"/>
              </a:rPr>
              <a:t>)</a:t>
            </a:r>
            <a:r>
              <a:rPr dirty="0" sz="2800" spc="-1060">
                <a:latin typeface="Courier New"/>
                <a:cs typeface="Courier New"/>
              </a:rPr>
              <a:t> </a:t>
            </a:r>
            <a:r>
              <a:rPr dirty="0" sz="2800" spc="-140">
                <a:latin typeface="Courier New"/>
                <a:cs typeface="Courier New"/>
              </a:rPr>
              <a:t>&gt;</a:t>
            </a:r>
            <a:r>
              <a:rPr dirty="0" sz="2800" spc="-1055">
                <a:latin typeface="Courier New"/>
                <a:cs typeface="Courier New"/>
              </a:rPr>
              <a:t> </a:t>
            </a:r>
            <a:r>
              <a:rPr dirty="0" sz="2800" spc="-440" i="1">
                <a:latin typeface="Courier New"/>
                <a:cs typeface="Courier New"/>
              </a:rPr>
              <a:t>k</a:t>
            </a:r>
            <a:r>
              <a:rPr dirty="0" sz="2800" spc="-695" i="1">
                <a:latin typeface="Courier New"/>
                <a:cs typeface="Courier New"/>
              </a:rPr>
              <a:t> </a:t>
            </a:r>
            <a:r>
              <a:rPr dirty="0" sz="2800" spc="-459">
                <a:latin typeface="Courier New"/>
                <a:cs typeface="Courier New"/>
              </a:rPr>
              <a:t>(</a:t>
            </a:r>
            <a:r>
              <a:rPr dirty="0" sz="2800" spc="-459" i="1">
                <a:latin typeface="Courier New"/>
                <a:cs typeface="Courier New"/>
              </a:rPr>
              <a:t>c</a:t>
            </a:r>
            <a:r>
              <a:rPr dirty="0" baseline="-21604" sz="2700" spc="-690">
                <a:latin typeface="Courier New"/>
                <a:cs typeface="Courier New"/>
              </a:rPr>
              <a:t>3</a:t>
            </a:r>
            <a:r>
              <a:rPr dirty="0" baseline="-21604" sz="2700" spc="-375">
                <a:latin typeface="Courier New"/>
                <a:cs typeface="Courier New"/>
              </a:rPr>
              <a:t> </a:t>
            </a:r>
            <a:r>
              <a:rPr dirty="0" sz="2800" spc="-1260">
                <a:latin typeface="Courier New"/>
                <a:cs typeface="Courier New"/>
              </a:rPr>
              <a:t></a:t>
            </a:r>
            <a:r>
              <a:rPr dirty="0" sz="2800" spc="-1100">
                <a:latin typeface="Courier New"/>
                <a:cs typeface="Courier New"/>
              </a:rPr>
              <a:t> </a:t>
            </a:r>
            <a:r>
              <a:rPr dirty="0" sz="2800" spc="-545">
                <a:latin typeface="Courier New"/>
                <a:cs typeface="Courier New"/>
              </a:rPr>
              <a:t>0)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098154" y="2521369"/>
            <a:ext cx="5380990" cy="15367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700"/>
              </a:spcBef>
              <a:tabLst>
                <a:tab pos="1206500" algn="l"/>
                <a:tab pos="1814830" algn="l"/>
              </a:tabLst>
            </a:pPr>
            <a:r>
              <a:rPr dirty="0" baseline="-3968" sz="4200" spc="-1170">
                <a:latin typeface="Courier New"/>
                <a:cs typeface="Courier New"/>
              </a:rPr>
              <a:t></a:t>
            </a:r>
            <a:r>
              <a:rPr dirty="0" sz="2800" spc="-780" i="1">
                <a:latin typeface="Courier New"/>
                <a:cs typeface="Courier New"/>
              </a:rPr>
              <a:t>c</a:t>
            </a:r>
            <a:r>
              <a:rPr dirty="0" baseline="-21604" sz="2700" spc="-1170">
                <a:latin typeface="Courier New"/>
                <a:cs typeface="Courier New"/>
              </a:rPr>
              <a:t>1</a:t>
            </a:r>
            <a:r>
              <a:rPr dirty="0" baseline="-21604" sz="2700">
                <a:latin typeface="Courier New"/>
                <a:cs typeface="Courier New"/>
              </a:rPr>
              <a:t>	</a:t>
            </a:r>
            <a:r>
              <a:rPr dirty="0" sz="2800" spc="-855">
                <a:latin typeface="Courier New"/>
                <a:cs typeface="Courier New"/>
              </a:rPr>
              <a:t>if</a:t>
            </a:r>
            <a:r>
              <a:rPr dirty="0" sz="2800">
                <a:latin typeface="Courier New"/>
                <a:cs typeface="Courier New"/>
              </a:rPr>
              <a:t>	</a:t>
            </a:r>
            <a:r>
              <a:rPr dirty="0" sz="2800" spc="-630">
                <a:latin typeface="Courier New"/>
                <a:cs typeface="Courier New"/>
              </a:rPr>
              <a:t>distance(</a:t>
            </a:r>
            <a:r>
              <a:rPr dirty="0" sz="2800" spc="-630" i="1">
                <a:latin typeface="Courier New"/>
                <a:cs typeface="Courier New"/>
              </a:rPr>
              <a:t>i</a:t>
            </a:r>
            <a:r>
              <a:rPr dirty="0" sz="2800" spc="-630">
                <a:latin typeface="Courier New"/>
                <a:cs typeface="Courier New"/>
              </a:rPr>
              <a:t>,</a:t>
            </a:r>
            <a:r>
              <a:rPr dirty="0" sz="2800" spc="-850">
                <a:latin typeface="Courier New"/>
                <a:cs typeface="Courier New"/>
              </a:rPr>
              <a:t> </a:t>
            </a:r>
            <a:r>
              <a:rPr dirty="0" sz="2800" spc="-760" i="1">
                <a:latin typeface="Courier New"/>
                <a:cs typeface="Courier New"/>
              </a:rPr>
              <a:t>j</a:t>
            </a:r>
            <a:r>
              <a:rPr dirty="0" sz="2800" spc="-760">
                <a:latin typeface="Courier New"/>
                <a:cs typeface="Courier New"/>
              </a:rPr>
              <a:t>)</a:t>
            </a:r>
            <a:r>
              <a:rPr dirty="0" sz="2800" spc="-1105">
                <a:latin typeface="Courier New"/>
                <a:cs typeface="Courier New"/>
              </a:rPr>
              <a:t> </a:t>
            </a:r>
            <a:r>
              <a:rPr dirty="0" sz="2800" spc="-140">
                <a:latin typeface="Courier New"/>
                <a:cs typeface="Courier New"/>
              </a:rPr>
              <a:t>&lt;</a:t>
            </a:r>
            <a:r>
              <a:rPr dirty="0" sz="2800" spc="-1055">
                <a:latin typeface="Courier New"/>
                <a:cs typeface="Courier New"/>
              </a:rPr>
              <a:t> </a:t>
            </a:r>
            <a:r>
              <a:rPr dirty="0" sz="2800" spc="-440" i="1">
                <a:latin typeface="Courier New"/>
                <a:cs typeface="Courier New"/>
              </a:rPr>
              <a:t>k</a:t>
            </a:r>
            <a:r>
              <a:rPr dirty="0" sz="2800" spc="-690" i="1">
                <a:latin typeface="Courier New"/>
                <a:cs typeface="Courier New"/>
              </a:rPr>
              <a:t> </a:t>
            </a:r>
            <a:r>
              <a:rPr dirty="0" sz="2800" spc="-509">
                <a:latin typeface="Courier New"/>
                <a:cs typeface="Courier New"/>
              </a:rPr>
              <a:t>(</a:t>
            </a:r>
            <a:r>
              <a:rPr dirty="0" sz="2800" spc="-509" i="1">
                <a:latin typeface="Courier New"/>
                <a:cs typeface="Courier New"/>
              </a:rPr>
              <a:t>c</a:t>
            </a:r>
            <a:r>
              <a:rPr dirty="0" baseline="-21604" sz="2700" spc="-765">
                <a:latin typeface="Courier New"/>
                <a:cs typeface="Courier New"/>
              </a:rPr>
              <a:t>1</a:t>
            </a:r>
            <a:r>
              <a:rPr dirty="0" baseline="-21604" sz="2700" spc="-427">
                <a:latin typeface="Courier New"/>
                <a:cs typeface="Courier New"/>
              </a:rPr>
              <a:t> </a:t>
            </a:r>
            <a:r>
              <a:rPr dirty="0" sz="2800" spc="-140">
                <a:latin typeface="Courier New"/>
                <a:cs typeface="Courier New"/>
              </a:rPr>
              <a:t>&gt;</a:t>
            </a:r>
            <a:r>
              <a:rPr dirty="0" sz="2800" spc="-1100">
                <a:latin typeface="Courier New"/>
                <a:cs typeface="Courier New"/>
              </a:rPr>
              <a:t> </a:t>
            </a:r>
            <a:r>
              <a:rPr dirty="0" sz="2800" spc="-545">
                <a:latin typeface="Courier New"/>
                <a:cs typeface="Courier New"/>
              </a:rPr>
              <a:t>0)</a:t>
            </a:r>
            <a:endParaRPr sz="2800">
              <a:latin typeface="Courier New"/>
              <a:cs typeface="Courier New"/>
            </a:endParaRPr>
          </a:p>
          <a:p>
            <a:pPr marL="63500">
              <a:lnSpc>
                <a:spcPct val="100000"/>
              </a:lnSpc>
              <a:spcBef>
                <a:spcPts val="605"/>
              </a:spcBef>
              <a:tabLst>
                <a:tab pos="1249045" algn="l"/>
              </a:tabLst>
            </a:pPr>
            <a:r>
              <a:rPr dirty="0" baseline="-9920" sz="4200" spc="-1064">
                <a:latin typeface="Courier New"/>
                <a:cs typeface="Courier New"/>
              </a:rPr>
              <a:t></a:t>
            </a:r>
            <a:r>
              <a:rPr dirty="0" sz="2800" spc="-710" i="1">
                <a:latin typeface="Courier New"/>
                <a:cs typeface="Courier New"/>
              </a:rPr>
              <a:t>c</a:t>
            </a:r>
            <a:r>
              <a:rPr dirty="0" baseline="-21604" sz="2700" spc="-1064">
                <a:latin typeface="Courier New"/>
                <a:cs typeface="Courier New"/>
              </a:rPr>
              <a:t>2</a:t>
            </a:r>
            <a:r>
              <a:rPr dirty="0" baseline="-21604" sz="2700">
                <a:latin typeface="Courier New"/>
                <a:cs typeface="Courier New"/>
              </a:rPr>
              <a:t>	</a:t>
            </a:r>
            <a:r>
              <a:rPr dirty="0" sz="2800" spc="-855">
                <a:latin typeface="Courier New"/>
                <a:cs typeface="Courier New"/>
              </a:rPr>
              <a:t>if</a:t>
            </a:r>
            <a:endParaRPr sz="2800">
              <a:latin typeface="Courier New"/>
              <a:cs typeface="Courier New"/>
            </a:endParaRPr>
          </a:p>
          <a:p>
            <a:pPr marL="1235075">
              <a:lnSpc>
                <a:spcPct val="100000"/>
              </a:lnSpc>
              <a:spcBef>
                <a:spcPts val="610"/>
              </a:spcBef>
            </a:pPr>
            <a:r>
              <a:rPr dirty="0" sz="2800" spc="-855">
                <a:latin typeface="Courier New"/>
                <a:cs typeface="Courier New"/>
              </a:rPr>
              <a:t>if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50963" y="2065921"/>
            <a:ext cx="1137920" cy="45465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800" spc="-445">
                <a:latin typeface="Courier New"/>
                <a:cs typeface="Courier New"/>
              </a:rPr>
              <a:t>weights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395780" y="3099574"/>
            <a:ext cx="264160" cy="45465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800" spc="150" i="1">
                <a:latin typeface="Courier New"/>
                <a:cs typeface="Courier New"/>
              </a:rPr>
              <a:t>w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618195" y="3318624"/>
            <a:ext cx="151765" cy="2990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00" spc="-610" i="1">
                <a:latin typeface="Courier New"/>
                <a:cs typeface="Courier New"/>
              </a:rPr>
              <a:t>ij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26998" y="4216946"/>
            <a:ext cx="2279015" cy="3886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350" spc="-484">
                <a:latin typeface="Courier New"/>
                <a:cs typeface="Courier New"/>
              </a:rPr>
              <a:t>activation</a:t>
            </a:r>
            <a:r>
              <a:rPr dirty="0" sz="2350" spc="-990">
                <a:latin typeface="Courier New"/>
                <a:cs typeface="Courier New"/>
              </a:rPr>
              <a:t> </a:t>
            </a:r>
            <a:r>
              <a:rPr dirty="0" sz="2350" spc="-440">
                <a:latin typeface="Courier New"/>
                <a:cs typeface="Courier New"/>
              </a:rPr>
              <a:t>function</a:t>
            </a:r>
            <a:endParaRPr sz="235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06297" y="5074894"/>
            <a:ext cx="2054225" cy="154305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344295">
              <a:lnSpc>
                <a:spcPts val="2745"/>
              </a:lnSpc>
              <a:spcBef>
                <a:spcPts val="130"/>
              </a:spcBef>
            </a:pPr>
            <a:r>
              <a:rPr dirty="0" sz="2350" spc="-1225">
                <a:latin typeface="Courier New"/>
                <a:cs typeface="Courier New"/>
              </a:rPr>
              <a:t></a:t>
            </a:r>
            <a:endParaRPr sz="2350">
              <a:latin typeface="Courier New"/>
              <a:cs typeface="Courier New"/>
            </a:endParaRPr>
          </a:p>
          <a:p>
            <a:pPr marL="1344295">
              <a:lnSpc>
                <a:spcPts val="2745"/>
              </a:lnSpc>
            </a:pPr>
            <a:r>
              <a:rPr dirty="0" baseline="9456" sz="3525" spc="-1125">
                <a:latin typeface="Courier New"/>
                <a:cs typeface="Courier New"/>
              </a:rPr>
              <a:t></a:t>
            </a:r>
            <a:r>
              <a:rPr dirty="0" baseline="-15366" sz="3525" spc="-1125">
                <a:latin typeface="Courier New"/>
                <a:cs typeface="Courier New"/>
              </a:rPr>
              <a:t></a:t>
            </a:r>
            <a:r>
              <a:rPr dirty="0" sz="2350" spc="-750">
                <a:latin typeface="Courier New"/>
                <a:cs typeface="Courier New"/>
              </a:rPr>
              <a:t>max</a:t>
            </a:r>
            <a:endParaRPr sz="23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2350">
              <a:latin typeface="Courier New"/>
              <a:cs typeface="Courier New"/>
            </a:endParaRPr>
          </a:p>
          <a:p>
            <a:pPr marL="38100">
              <a:lnSpc>
                <a:spcPct val="100000"/>
              </a:lnSpc>
            </a:pPr>
            <a:r>
              <a:rPr dirty="0" sz="2350" spc="-204">
                <a:latin typeface="Courier New"/>
                <a:cs typeface="Courier New"/>
              </a:rPr>
              <a:t>ramp</a:t>
            </a:r>
            <a:r>
              <a:rPr dirty="0" sz="2350" spc="-950">
                <a:latin typeface="Courier New"/>
                <a:cs typeface="Courier New"/>
              </a:rPr>
              <a:t> </a:t>
            </a:r>
            <a:r>
              <a:rPr dirty="0" sz="2350" spc="-430">
                <a:latin typeface="Courier New"/>
                <a:cs typeface="Courier New"/>
              </a:rPr>
              <a:t>function</a:t>
            </a:r>
            <a:r>
              <a:rPr dirty="0" sz="2350" spc="-994">
                <a:latin typeface="Courier New"/>
                <a:cs typeface="Courier New"/>
              </a:rPr>
              <a:t> </a:t>
            </a:r>
            <a:r>
              <a:rPr dirty="0" sz="2350" spc="-815">
                <a:latin typeface="Courier New"/>
                <a:cs typeface="Courier New"/>
              </a:rPr>
              <a:t>:</a:t>
            </a:r>
            <a:endParaRPr sz="235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238349" y="4604837"/>
            <a:ext cx="2929255" cy="1197610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  <a:tabLst>
                <a:tab pos="891540" algn="l"/>
                <a:tab pos="1450340" algn="l"/>
              </a:tabLst>
            </a:pPr>
            <a:r>
              <a:rPr dirty="0" baseline="-3546" sz="3525" spc="-1117">
                <a:latin typeface="Courier New"/>
                <a:cs typeface="Courier New"/>
              </a:rPr>
              <a:t></a:t>
            </a:r>
            <a:r>
              <a:rPr dirty="0" sz="2350" spc="-745">
                <a:latin typeface="Courier New"/>
                <a:cs typeface="Courier New"/>
              </a:rPr>
              <a:t>0</a:t>
            </a:r>
            <a:r>
              <a:rPr dirty="0" sz="2350">
                <a:latin typeface="Courier New"/>
                <a:cs typeface="Courier New"/>
              </a:rPr>
              <a:t>	</a:t>
            </a:r>
            <a:r>
              <a:rPr dirty="0" sz="2350" spc="-720" b="1" i="1">
                <a:latin typeface="Courier New"/>
                <a:cs typeface="Courier New"/>
              </a:rPr>
              <a:t>if</a:t>
            </a:r>
            <a:r>
              <a:rPr dirty="0" sz="2350" b="1" i="1">
                <a:latin typeface="Courier New"/>
                <a:cs typeface="Courier New"/>
              </a:rPr>
              <a:t>	</a:t>
            </a:r>
            <a:r>
              <a:rPr dirty="0" sz="2350" spc="-235" b="1" i="1">
                <a:latin typeface="Courier New"/>
                <a:cs typeface="Courier New"/>
              </a:rPr>
              <a:t>x</a:t>
            </a:r>
            <a:r>
              <a:rPr dirty="0" sz="2350" spc="-819" b="1" i="1">
                <a:latin typeface="Courier New"/>
                <a:cs typeface="Courier New"/>
              </a:rPr>
              <a:t> </a:t>
            </a:r>
            <a:r>
              <a:rPr dirty="0" sz="2350" spc="-120">
                <a:latin typeface="Courier New"/>
                <a:cs typeface="Courier New"/>
              </a:rPr>
              <a:t>&lt;</a:t>
            </a:r>
            <a:r>
              <a:rPr dirty="0" sz="2350" spc="-894">
                <a:latin typeface="Courier New"/>
                <a:cs typeface="Courier New"/>
              </a:rPr>
              <a:t> </a:t>
            </a:r>
            <a:r>
              <a:rPr dirty="0" sz="2350" spc="-50">
                <a:latin typeface="Courier New"/>
                <a:cs typeface="Courier New"/>
              </a:rPr>
              <a:t>0</a:t>
            </a:r>
            <a:endParaRPr sz="2350">
              <a:latin typeface="Courier New"/>
              <a:cs typeface="Courier New"/>
            </a:endParaRPr>
          </a:p>
          <a:p>
            <a:pPr marL="933450">
              <a:lnSpc>
                <a:spcPct val="100000"/>
              </a:lnSpc>
              <a:spcBef>
                <a:spcPts val="254"/>
              </a:spcBef>
              <a:tabLst>
                <a:tab pos="1464945" algn="l"/>
              </a:tabLst>
            </a:pPr>
            <a:r>
              <a:rPr dirty="0" sz="2350" spc="-720" b="1" i="1">
                <a:latin typeface="Courier New"/>
                <a:cs typeface="Courier New"/>
              </a:rPr>
              <a:t>if</a:t>
            </a:r>
            <a:r>
              <a:rPr dirty="0" sz="2350" b="1" i="1">
                <a:latin typeface="Courier New"/>
                <a:cs typeface="Courier New"/>
              </a:rPr>
              <a:t>	</a:t>
            </a:r>
            <a:r>
              <a:rPr dirty="0" sz="2350" spc="-235">
                <a:latin typeface="Courier New"/>
                <a:cs typeface="Courier New"/>
              </a:rPr>
              <a:t>0</a:t>
            </a:r>
            <a:r>
              <a:rPr dirty="0" sz="2350" spc="-940">
                <a:latin typeface="Courier New"/>
                <a:cs typeface="Courier New"/>
              </a:rPr>
              <a:t> </a:t>
            </a:r>
            <a:r>
              <a:rPr dirty="0" sz="2350" spc="-1060">
                <a:latin typeface="Courier New"/>
                <a:cs typeface="Courier New"/>
              </a:rPr>
              <a:t></a:t>
            </a:r>
            <a:r>
              <a:rPr dirty="0" sz="2350" spc="-675">
                <a:latin typeface="Courier New"/>
                <a:cs typeface="Courier New"/>
              </a:rPr>
              <a:t> </a:t>
            </a:r>
            <a:r>
              <a:rPr dirty="0" sz="2350" spc="-235" b="1" i="1">
                <a:latin typeface="Courier New"/>
                <a:cs typeface="Courier New"/>
              </a:rPr>
              <a:t>x</a:t>
            </a:r>
            <a:r>
              <a:rPr dirty="0" sz="2350" spc="-819" b="1" i="1">
                <a:latin typeface="Courier New"/>
                <a:cs typeface="Courier New"/>
              </a:rPr>
              <a:t> </a:t>
            </a:r>
            <a:r>
              <a:rPr dirty="0" sz="2350" spc="-1060">
                <a:latin typeface="Courier New"/>
                <a:cs typeface="Courier New"/>
              </a:rPr>
              <a:t></a:t>
            </a:r>
            <a:r>
              <a:rPr dirty="0" sz="2350" spc="-865">
                <a:latin typeface="Courier New"/>
                <a:cs typeface="Courier New"/>
              </a:rPr>
              <a:t> </a:t>
            </a:r>
            <a:r>
              <a:rPr dirty="0" sz="2350" spc="-25">
                <a:latin typeface="Courier New"/>
                <a:cs typeface="Courier New"/>
              </a:rPr>
              <a:t>max</a:t>
            </a:r>
            <a:endParaRPr sz="2350">
              <a:latin typeface="Courier New"/>
              <a:cs typeface="Courier New"/>
            </a:endParaRPr>
          </a:p>
          <a:p>
            <a:pPr marL="970915">
              <a:lnSpc>
                <a:spcPct val="100000"/>
              </a:lnSpc>
              <a:spcBef>
                <a:spcPts val="254"/>
              </a:spcBef>
              <a:tabLst>
                <a:tab pos="1530350" algn="l"/>
              </a:tabLst>
            </a:pPr>
            <a:r>
              <a:rPr dirty="0" sz="2350" spc="-720" b="1" i="1">
                <a:latin typeface="Courier New"/>
                <a:cs typeface="Courier New"/>
              </a:rPr>
              <a:t>if</a:t>
            </a:r>
            <a:r>
              <a:rPr dirty="0" sz="2350" b="1" i="1">
                <a:latin typeface="Courier New"/>
                <a:cs typeface="Courier New"/>
              </a:rPr>
              <a:t>	</a:t>
            </a:r>
            <a:r>
              <a:rPr dirty="0" sz="2350" spc="-235" b="1" i="1">
                <a:latin typeface="Courier New"/>
                <a:cs typeface="Courier New"/>
              </a:rPr>
              <a:t>x</a:t>
            </a:r>
            <a:r>
              <a:rPr dirty="0" sz="2350" spc="-785" b="1" i="1">
                <a:latin typeface="Courier New"/>
                <a:cs typeface="Courier New"/>
              </a:rPr>
              <a:t> </a:t>
            </a:r>
            <a:r>
              <a:rPr dirty="0" sz="2350" spc="-120">
                <a:latin typeface="Courier New"/>
                <a:cs typeface="Courier New"/>
              </a:rPr>
              <a:t>&gt;</a:t>
            </a:r>
            <a:r>
              <a:rPr dirty="0" sz="2350" spc="-860">
                <a:latin typeface="Courier New"/>
                <a:cs typeface="Courier New"/>
              </a:rPr>
              <a:t> </a:t>
            </a:r>
            <a:r>
              <a:rPr dirty="0" sz="2350" spc="-25">
                <a:latin typeface="Courier New"/>
                <a:cs typeface="Courier New"/>
              </a:rPr>
              <a:t>max</a:t>
            </a:r>
            <a:endParaRPr sz="2350">
              <a:latin typeface="Courier New"/>
              <a:cs typeface="Courier New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343405" y="5023230"/>
            <a:ext cx="1271270" cy="3886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2350" spc="-625" b="1" i="1">
                <a:latin typeface="Courier New"/>
                <a:cs typeface="Courier New"/>
              </a:rPr>
              <a:t>f</a:t>
            </a:r>
            <a:r>
              <a:rPr dirty="0" sz="2350" spc="-869" b="1" i="1">
                <a:latin typeface="Courier New"/>
                <a:cs typeface="Courier New"/>
              </a:rPr>
              <a:t> </a:t>
            </a:r>
            <a:r>
              <a:rPr dirty="0" sz="2350" spc="-625">
                <a:latin typeface="Courier New"/>
                <a:cs typeface="Courier New"/>
              </a:rPr>
              <a:t>(</a:t>
            </a:r>
            <a:r>
              <a:rPr dirty="0" sz="2350" spc="-1170">
                <a:latin typeface="Courier New"/>
                <a:cs typeface="Courier New"/>
              </a:rPr>
              <a:t> </a:t>
            </a:r>
            <a:r>
              <a:rPr dirty="0" sz="2350" spc="-375" b="1" i="1">
                <a:latin typeface="Courier New"/>
                <a:cs typeface="Courier New"/>
              </a:rPr>
              <a:t>x</a:t>
            </a:r>
            <a:r>
              <a:rPr dirty="0" sz="2350" spc="-375">
                <a:latin typeface="Courier New"/>
                <a:cs typeface="Courier New"/>
              </a:rPr>
              <a:t>)</a:t>
            </a:r>
            <a:r>
              <a:rPr dirty="0" sz="2350" spc="-865">
                <a:latin typeface="Courier New"/>
                <a:cs typeface="Courier New"/>
              </a:rPr>
              <a:t> </a:t>
            </a:r>
            <a:r>
              <a:rPr dirty="0" sz="2350" spc="-120">
                <a:latin typeface="Courier New"/>
                <a:cs typeface="Courier New"/>
              </a:rPr>
              <a:t>=</a:t>
            </a:r>
            <a:r>
              <a:rPr dirty="0" sz="2350" spc="-865">
                <a:latin typeface="Courier New"/>
                <a:cs typeface="Courier New"/>
              </a:rPr>
              <a:t> </a:t>
            </a:r>
            <a:r>
              <a:rPr dirty="0" baseline="31914" sz="3525" spc="-952">
                <a:latin typeface="Courier New"/>
                <a:cs typeface="Courier New"/>
              </a:rPr>
              <a:t></a:t>
            </a:r>
            <a:r>
              <a:rPr dirty="0" sz="2350" spc="-635" b="1" i="1">
                <a:latin typeface="Courier New"/>
                <a:cs typeface="Courier New"/>
              </a:rPr>
              <a:t>x</a:t>
            </a:r>
            <a:endParaRPr sz="2350">
              <a:latin typeface="Courier New"/>
              <a:cs typeface="Courier New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2915818" y="5939752"/>
            <a:ext cx="3019425" cy="808355"/>
          </a:xfrm>
          <a:custGeom>
            <a:avLst/>
            <a:gdLst/>
            <a:ahLst/>
            <a:cxnLst/>
            <a:rect l="l" t="t" r="r" b="b"/>
            <a:pathLst>
              <a:path w="3019425" h="808354">
                <a:moveTo>
                  <a:pt x="1186417" y="788987"/>
                </a:moveTo>
                <a:lnTo>
                  <a:pt x="0" y="788987"/>
                </a:lnTo>
                <a:lnTo>
                  <a:pt x="0" y="808037"/>
                </a:lnTo>
                <a:lnTo>
                  <a:pt x="1191793" y="808037"/>
                </a:lnTo>
                <a:lnTo>
                  <a:pt x="1194219" y="807732"/>
                </a:lnTo>
                <a:lnTo>
                  <a:pt x="1196479" y="806805"/>
                </a:lnTo>
                <a:lnTo>
                  <a:pt x="1198435" y="805345"/>
                </a:lnTo>
                <a:lnTo>
                  <a:pt x="1199946" y="803440"/>
                </a:lnTo>
                <a:lnTo>
                  <a:pt x="1205901" y="793584"/>
                </a:lnTo>
                <a:lnTo>
                  <a:pt x="1183639" y="793584"/>
                </a:lnTo>
                <a:lnTo>
                  <a:pt x="1186417" y="788987"/>
                </a:lnTo>
                <a:close/>
              </a:path>
              <a:path w="3019425" h="808354">
                <a:moveTo>
                  <a:pt x="3019221" y="0"/>
                </a:moveTo>
                <a:lnTo>
                  <a:pt x="1668513" y="0"/>
                </a:lnTo>
                <a:lnTo>
                  <a:pt x="1666100" y="317"/>
                </a:lnTo>
                <a:lnTo>
                  <a:pt x="1663839" y="1231"/>
                </a:lnTo>
                <a:lnTo>
                  <a:pt x="1661883" y="2692"/>
                </a:lnTo>
                <a:lnTo>
                  <a:pt x="1660359" y="4597"/>
                </a:lnTo>
                <a:lnTo>
                  <a:pt x="1183639" y="793584"/>
                </a:lnTo>
                <a:lnTo>
                  <a:pt x="1191793" y="788987"/>
                </a:lnTo>
                <a:lnTo>
                  <a:pt x="1208679" y="788987"/>
                </a:lnTo>
                <a:lnTo>
                  <a:pt x="1673888" y="19049"/>
                </a:lnTo>
                <a:lnTo>
                  <a:pt x="1668513" y="19049"/>
                </a:lnTo>
                <a:lnTo>
                  <a:pt x="1676666" y="14452"/>
                </a:lnTo>
                <a:lnTo>
                  <a:pt x="3019221" y="14452"/>
                </a:lnTo>
                <a:lnTo>
                  <a:pt x="3019221" y="0"/>
                </a:lnTo>
                <a:close/>
              </a:path>
              <a:path w="3019425" h="808354">
                <a:moveTo>
                  <a:pt x="1208679" y="788987"/>
                </a:moveTo>
                <a:lnTo>
                  <a:pt x="1191793" y="788987"/>
                </a:lnTo>
                <a:lnTo>
                  <a:pt x="1183639" y="793584"/>
                </a:lnTo>
                <a:lnTo>
                  <a:pt x="1205901" y="793584"/>
                </a:lnTo>
                <a:lnTo>
                  <a:pt x="1208679" y="788987"/>
                </a:lnTo>
                <a:close/>
              </a:path>
              <a:path w="3019425" h="808354">
                <a:moveTo>
                  <a:pt x="1676666" y="14452"/>
                </a:moveTo>
                <a:lnTo>
                  <a:pt x="1668513" y="19049"/>
                </a:lnTo>
                <a:lnTo>
                  <a:pt x="1673888" y="19049"/>
                </a:lnTo>
                <a:lnTo>
                  <a:pt x="1676666" y="14452"/>
                </a:lnTo>
                <a:close/>
              </a:path>
              <a:path w="3019425" h="808354">
                <a:moveTo>
                  <a:pt x="3019221" y="14452"/>
                </a:moveTo>
                <a:lnTo>
                  <a:pt x="1676666" y="14452"/>
                </a:lnTo>
                <a:lnTo>
                  <a:pt x="1673888" y="19049"/>
                </a:lnTo>
                <a:lnTo>
                  <a:pt x="3019221" y="19049"/>
                </a:lnTo>
                <a:lnTo>
                  <a:pt x="3019221" y="144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15697" rIns="0" bIns="0" rtlCol="0" vert="horz">
            <a:spAutoFit/>
          </a:bodyPr>
          <a:lstStyle/>
          <a:p>
            <a:pPr marL="558800">
              <a:lnSpc>
                <a:spcPct val="100000"/>
              </a:lnSpc>
              <a:spcBef>
                <a:spcPts val="105"/>
              </a:spcBef>
            </a:pPr>
            <a:r>
              <a:rPr dirty="0" spc="-10">
                <a:solidFill>
                  <a:srgbClr val="800000"/>
                </a:solidFill>
              </a:rPr>
              <a:t>Example</a:t>
            </a:r>
          </a:p>
        </p:txBody>
      </p:sp>
      <p:sp>
        <p:nvSpPr>
          <p:cNvPr id="15" name="object 15" descr=""/>
          <p:cNvSpPr txBox="1"/>
          <p:nvPr/>
        </p:nvSpPr>
        <p:spPr>
          <a:xfrm>
            <a:off x="8388350" y="6508663"/>
            <a:ext cx="220345" cy="2413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53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5725" rIns="0" bIns="0" rtlCol="0" vert="horz">
            <a:spAutoFit/>
          </a:bodyPr>
          <a:lstStyle/>
          <a:p>
            <a:pPr marL="267335">
              <a:lnSpc>
                <a:spcPct val="100000"/>
              </a:lnSpc>
              <a:spcBef>
                <a:spcPts val="675"/>
              </a:spcBef>
            </a:pPr>
            <a:r>
              <a:rPr dirty="0" sz="4000">
                <a:solidFill>
                  <a:srgbClr val="800000"/>
                </a:solidFill>
              </a:rPr>
              <a:t>Vector</a:t>
            </a:r>
            <a:r>
              <a:rPr dirty="0" sz="4000" spc="-135">
                <a:solidFill>
                  <a:srgbClr val="800000"/>
                </a:solidFill>
              </a:rPr>
              <a:t> </a:t>
            </a:r>
            <a:r>
              <a:rPr dirty="0" sz="4000" spc="-10">
                <a:solidFill>
                  <a:srgbClr val="800000"/>
                </a:solidFill>
              </a:rPr>
              <a:t>Quantization</a:t>
            </a:r>
            <a:endParaRPr sz="4000"/>
          </a:p>
          <a:p>
            <a:pPr marL="267335">
              <a:lnSpc>
                <a:spcPct val="100000"/>
              </a:lnSpc>
              <a:spcBef>
                <a:spcPts val="400"/>
              </a:spcBef>
            </a:pPr>
            <a:r>
              <a:rPr dirty="0" sz="2800">
                <a:solidFill>
                  <a:srgbClr val="800000"/>
                </a:solidFill>
              </a:rPr>
              <a:t>Application</a:t>
            </a:r>
            <a:r>
              <a:rPr dirty="0" sz="2800" spc="-85">
                <a:solidFill>
                  <a:srgbClr val="800000"/>
                </a:solidFill>
              </a:rPr>
              <a:t> </a:t>
            </a:r>
            <a:r>
              <a:rPr dirty="0" sz="2800">
                <a:solidFill>
                  <a:srgbClr val="800000"/>
                </a:solidFill>
              </a:rPr>
              <a:t>of</a:t>
            </a:r>
            <a:r>
              <a:rPr dirty="0" sz="2800" spc="-80">
                <a:solidFill>
                  <a:srgbClr val="800000"/>
                </a:solidFill>
              </a:rPr>
              <a:t> </a:t>
            </a:r>
            <a:r>
              <a:rPr dirty="0" sz="2800">
                <a:solidFill>
                  <a:srgbClr val="800000"/>
                </a:solidFill>
              </a:rPr>
              <a:t>competitive</a:t>
            </a:r>
            <a:r>
              <a:rPr dirty="0" sz="2800" spc="-75">
                <a:solidFill>
                  <a:srgbClr val="800000"/>
                </a:solidFill>
              </a:rPr>
              <a:t> </a:t>
            </a:r>
            <a:r>
              <a:rPr dirty="0" sz="2800" spc="-10">
                <a:solidFill>
                  <a:srgbClr val="800000"/>
                </a:solidFill>
              </a:rPr>
              <a:t>learning</a:t>
            </a:r>
            <a:endParaRPr sz="2800"/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54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347408" y="2095385"/>
            <a:ext cx="8335009" cy="4393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ts val="3060"/>
              </a:lnSpc>
              <a:spcBef>
                <a:spcPts val="95"/>
              </a:spcBef>
              <a:buClr>
                <a:srgbClr val="3333CC"/>
              </a:buClr>
              <a:buSzPct val="58928"/>
              <a:buFont typeface="Tahoma"/>
              <a:buChar char="■"/>
              <a:tabLst>
                <a:tab pos="354965" algn="l"/>
              </a:tabLst>
            </a:pPr>
            <a:r>
              <a:rPr dirty="0" sz="2800" spc="-20" b="1">
                <a:latin typeface="Tahoma"/>
                <a:cs typeface="Tahoma"/>
              </a:rPr>
              <a:t>Idea</a:t>
            </a:r>
            <a:endParaRPr sz="2800">
              <a:latin typeface="Tahoma"/>
              <a:cs typeface="Tahoma"/>
            </a:endParaRPr>
          </a:p>
          <a:p>
            <a:pPr lvl="1" marL="755650" marR="469900" indent="-285750">
              <a:lnSpc>
                <a:spcPct val="79900"/>
              </a:lnSpc>
              <a:spcBef>
                <a:spcPts val="280"/>
              </a:spcBef>
              <a:buClr>
                <a:srgbClr val="FF0000"/>
              </a:buClr>
              <a:buSzPct val="54166"/>
              <a:buChar char="■"/>
              <a:tabLst>
                <a:tab pos="755650" algn="l"/>
              </a:tabLst>
            </a:pPr>
            <a:r>
              <a:rPr dirty="0" sz="2400">
                <a:latin typeface="Tahoma"/>
                <a:cs typeface="Tahoma"/>
              </a:rPr>
              <a:t>categorize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given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set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input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vectors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into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classes </a:t>
            </a:r>
            <a:r>
              <a:rPr dirty="0" sz="2400">
                <a:latin typeface="Tahoma"/>
                <a:cs typeface="Tahoma"/>
              </a:rPr>
              <a:t>using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competitive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learning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algorithms</a:t>
            </a:r>
            <a:endParaRPr sz="2400">
              <a:latin typeface="Tahoma"/>
              <a:cs typeface="Tahoma"/>
            </a:endParaRPr>
          </a:p>
          <a:p>
            <a:pPr lvl="1" marL="755015" indent="-285115">
              <a:lnSpc>
                <a:spcPts val="2300"/>
              </a:lnSpc>
              <a:buClr>
                <a:srgbClr val="FF0000"/>
              </a:buClr>
              <a:buSzPct val="54166"/>
              <a:buChar char="■"/>
              <a:tabLst>
                <a:tab pos="755015" algn="l"/>
              </a:tabLst>
            </a:pPr>
            <a:r>
              <a:rPr dirty="0" sz="2400">
                <a:latin typeface="Tahoma"/>
                <a:cs typeface="Tahoma"/>
              </a:rPr>
              <a:t>represent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any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vector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just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by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class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into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which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it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falls</a:t>
            </a:r>
            <a:endParaRPr sz="2400">
              <a:latin typeface="Tahoma"/>
              <a:cs typeface="Tahoma"/>
            </a:endParaRPr>
          </a:p>
          <a:p>
            <a:pPr marL="354965" marR="5080" indent="-342900">
              <a:lnSpc>
                <a:spcPct val="79900"/>
              </a:lnSpc>
              <a:spcBef>
                <a:spcPts val="2700"/>
              </a:spcBef>
              <a:buClr>
                <a:srgbClr val="3333CC"/>
              </a:buClr>
              <a:buSzPct val="58928"/>
              <a:buChar char="■"/>
              <a:tabLst>
                <a:tab pos="354965" algn="l"/>
              </a:tabLst>
            </a:pPr>
            <a:r>
              <a:rPr dirty="0" sz="2800">
                <a:latin typeface="Tahoma"/>
                <a:cs typeface="Tahoma"/>
              </a:rPr>
              <a:t>Important</a:t>
            </a:r>
            <a:r>
              <a:rPr dirty="0" sz="2800" spc="-8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application</a:t>
            </a:r>
            <a:r>
              <a:rPr dirty="0" sz="2800" spc="-8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8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competitive</a:t>
            </a:r>
            <a:r>
              <a:rPr dirty="0" sz="2800" spc="-8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learning</a:t>
            </a:r>
            <a:r>
              <a:rPr dirty="0" sz="2800" spc="-8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(esp. </a:t>
            </a:r>
            <a:r>
              <a:rPr dirty="0" sz="2800">
                <a:latin typeface="Tahoma"/>
                <a:cs typeface="Tahoma"/>
              </a:rPr>
              <a:t>in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data</a:t>
            </a:r>
            <a:r>
              <a:rPr dirty="0" sz="2800" spc="-3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 spc="-10">
                <a:solidFill>
                  <a:srgbClr val="0000FF"/>
                </a:solidFill>
                <a:latin typeface="Tahoma"/>
                <a:cs typeface="Tahoma"/>
              </a:rPr>
              <a:t>compression</a:t>
            </a:r>
            <a:r>
              <a:rPr dirty="0" sz="2800" spc="-10">
                <a:latin typeface="Tahoma"/>
                <a:cs typeface="Tahoma"/>
              </a:rPr>
              <a:t>)</a:t>
            </a:r>
            <a:endParaRPr sz="2800">
              <a:latin typeface="Tahoma"/>
              <a:cs typeface="Tahoma"/>
            </a:endParaRPr>
          </a:p>
          <a:p>
            <a:pPr lvl="1" marL="755015" indent="-285115">
              <a:lnSpc>
                <a:spcPts val="1995"/>
              </a:lnSpc>
              <a:buClr>
                <a:srgbClr val="FF0000"/>
              </a:buClr>
              <a:buSzPct val="54166"/>
              <a:buChar char="■"/>
              <a:tabLst>
                <a:tab pos="755015" algn="l"/>
              </a:tabLst>
            </a:pPr>
            <a:r>
              <a:rPr dirty="0" sz="2400">
                <a:latin typeface="Tahoma"/>
                <a:cs typeface="Tahoma"/>
              </a:rPr>
              <a:t>divides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entire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pattern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space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into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number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separate</a:t>
            </a:r>
            <a:endParaRPr sz="2400">
              <a:latin typeface="Tahoma"/>
              <a:cs typeface="Tahoma"/>
            </a:endParaRPr>
          </a:p>
          <a:p>
            <a:pPr marL="755650">
              <a:lnSpc>
                <a:spcPts val="2300"/>
              </a:lnSpc>
            </a:pPr>
            <a:r>
              <a:rPr dirty="0" sz="2400" spc="-10">
                <a:latin typeface="Tahoma"/>
                <a:cs typeface="Tahoma"/>
              </a:rPr>
              <a:t>subspaces</a:t>
            </a:r>
            <a:endParaRPr sz="2400">
              <a:latin typeface="Tahoma"/>
              <a:cs typeface="Tahoma"/>
            </a:endParaRPr>
          </a:p>
          <a:p>
            <a:pPr lvl="1" marL="755015" indent="-285115">
              <a:lnSpc>
                <a:spcPts val="2300"/>
              </a:lnSpc>
              <a:buClr>
                <a:srgbClr val="FF0000"/>
              </a:buClr>
              <a:buSzPct val="54166"/>
              <a:buChar char="■"/>
              <a:tabLst>
                <a:tab pos="755015" algn="l"/>
              </a:tabLst>
            </a:pPr>
            <a:r>
              <a:rPr dirty="0" sz="2400">
                <a:latin typeface="Tahoma"/>
                <a:cs typeface="Tahoma"/>
              </a:rPr>
              <a:t>set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units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represent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set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prototype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vectors:</a:t>
            </a:r>
            <a:endParaRPr sz="2400">
              <a:latin typeface="Tahoma"/>
              <a:cs typeface="Tahoma"/>
            </a:endParaRPr>
          </a:p>
          <a:p>
            <a:pPr marL="755650">
              <a:lnSpc>
                <a:spcPts val="2300"/>
              </a:lnSpc>
            </a:pPr>
            <a:r>
              <a:rPr dirty="0" sz="2400" spc="-10" b="1">
                <a:solidFill>
                  <a:srgbClr val="FF0000"/>
                </a:solidFill>
                <a:latin typeface="Tahoma"/>
                <a:cs typeface="Tahoma"/>
              </a:rPr>
              <a:t>CODEBOOK</a:t>
            </a:r>
            <a:endParaRPr sz="2400">
              <a:latin typeface="Tahoma"/>
              <a:cs typeface="Tahoma"/>
            </a:endParaRPr>
          </a:p>
          <a:p>
            <a:pPr lvl="1" marL="755650" marR="1055370" indent="-285750">
              <a:lnSpc>
                <a:spcPct val="79900"/>
              </a:lnSpc>
              <a:spcBef>
                <a:spcPts val="290"/>
              </a:spcBef>
              <a:buClr>
                <a:srgbClr val="FF0000"/>
              </a:buClr>
              <a:buSzPct val="54166"/>
              <a:buChar char="■"/>
              <a:tabLst>
                <a:tab pos="755650" algn="l"/>
              </a:tabLst>
            </a:pPr>
            <a:r>
              <a:rPr dirty="0" sz="2400">
                <a:latin typeface="Tahoma"/>
                <a:cs typeface="Tahoma"/>
              </a:rPr>
              <a:t>new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pattern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x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assigned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class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based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on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its </a:t>
            </a:r>
            <a:r>
              <a:rPr dirty="0" sz="2400">
                <a:latin typeface="Tahoma"/>
                <a:cs typeface="Tahoma"/>
              </a:rPr>
              <a:t>closeness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prototype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vector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using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Euclidean distances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84823" rIns="0" bIns="0" rtlCol="0" vert="horz">
            <a:spAutoFit/>
          </a:bodyPr>
          <a:lstStyle/>
          <a:p>
            <a:pPr marL="321945">
              <a:lnSpc>
                <a:spcPct val="100000"/>
              </a:lnSpc>
              <a:spcBef>
                <a:spcPts val="105"/>
              </a:spcBef>
            </a:pPr>
            <a:r>
              <a:rPr dirty="0"/>
              <a:t>Vector</a:t>
            </a:r>
            <a:r>
              <a:rPr dirty="0" spc="-100"/>
              <a:t> </a:t>
            </a:r>
            <a:r>
              <a:rPr dirty="0" spc="-10"/>
              <a:t>Quantization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97155" rIns="0" bIns="0" rtlCol="0" vert="horz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765"/>
              </a:spcBef>
              <a:buClr>
                <a:srgbClr val="3333CC"/>
              </a:buClr>
              <a:buSzPct val="58928"/>
              <a:buChar char="■"/>
              <a:tabLst>
                <a:tab pos="380365" algn="l"/>
              </a:tabLst>
            </a:pPr>
            <a:r>
              <a:rPr dirty="0"/>
              <a:t>A </a:t>
            </a:r>
            <a:r>
              <a:rPr dirty="0" spc="-10"/>
              <a:t>codebook</a:t>
            </a:r>
          </a:p>
          <a:p>
            <a:pPr lvl="1" marL="780415" indent="-285115">
              <a:lnSpc>
                <a:spcPts val="2795"/>
              </a:lnSpc>
              <a:spcBef>
                <a:spcPts val="575"/>
              </a:spcBef>
              <a:buClr>
                <a:srgbClr val="FF0000"/>
              </a:buClr>
              <a:buSzPct val="54166"/>
              <a:buChar char="■"/>
              <a:tabLst>
                <a:tab pos="780415" algn="l"/>
              </a:tabLst>
            </a:pP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set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10">
                <a:latin typeface="Tahoma"/>
                <a:cs typeface="Tahoma"/>
              </a:rPr>
              <a:t> centroids/</a:t>
            </a:r>
            <a:r>
              <a:rPr dirty="0" sz="2400" spc="-10" b="1">
                <a:solidFill>
                  <a:srgbClr val="FF0000"/>
                </a:solidFill>
                <a:latin typeface="Tahoma"/>
                <a:cs typeface="Tahoma"/>
              </a:rPr>
              <a:t>codewords/codevector</a:t>
            </a:r>
            <a:r>
              <a:rPr dirty="0" sz="2400" spc="-10">
                <a:latin typeface="Tahoma"/>
                <a:cs typeface="Tahoma"/>
              </a:rPr>
              <a:t>):</a:t>
            </a:r>
            <a:endParaRPr sz="2400">
              <a:latin typeface="Tahoma"/>
              <a:cs typeface="Tahoma"/>
            </a:endParaRPr>
          </a:p>
          <a:p>
            <a:pPr algn="ctr" marR="269240">
              <a:lnSpc>
                <a:spcPts val="4175"/>
              </a:lnSpc>
            </a:pPr>
            <a:r>
              <a:rPr dirty="0" sz="3550" spc="-175">
                <a:latin typeface="Courier New"/>
                <a:cs typeface="Courier New"/>
              </a:rPr>
              <a:t>{</a:t>
            </a:r>
            <a:r>
              <a:rPr dirty="0" sz="3550" spc="-175" i="1">
                <a:latin typeface="Courier New"/>
                <a:cs typeface="Courier New"/>
              </a:rPr>
              <a:t>m</a:t>
            </a:r>
            <a:r>
              <a:rPr dirty="0" baseline="-24390" sz="3075" spc="-262">
                <a:latin typeface="Courier New"/>
                <a:cs typeface="Courier New"/>
              </a:rPr>
              <a:t>1</a:t>
            </a:r>
            <a:r>
              <a:rPr dirty="0" baseline="-24390" sz="3075" spc="-1567">
                <a:latin typeface="Courier New"/>
                <a:cs typeface="Courier New"/>
              </a:rPr>
              <a:t> </a:t>
            </a:r>
            <a:r>
              <a:rPr dirty="0" sz="3550" spc="-1235">
                <a:latin typeface="Courier New"/>
                <a:cs typeface="Courier New"/>
              </a:rPr>
              <a:t>,</a:t>
            </a:r>
            <a:r>
              <a:rPr dirty="0" sz="3550" spc="-1675">
                <a:latin typeface="Courier New"/>
                <a:cs typeface="Courier New"/>
              </a:rPr>
              <a:t> </a:t>
            </a:r>
            <a:r>
              <a:rPr dirty="0" sz="3550" spc="120" i="1">
                <a:latin typeface="Courier New"/>
                <a:cs typeface="Courier New"/>
              </a:rPr>
              <a:t>m</a:t>
            </a:r>
            <a:r>
              <a:rPr dirty="0" baseline="-24390" sz="3075" spc="179">
                <a:latin typeface="Courier New"/>
                <a:cs typeface="Courier New"/>
              </a:rPr>
              <a:t>2</a:t>
            </a:r>
            <a:r>
              <a:rPr dirty="0" baseline="-24390" sz="3075" spc="-1320">
                <a:latin typeface="Courier New"/>
                <a:cs typeface="Courier New"/>
              </a:rPr>
              <a:t> </a:t>
            </a:r>
            <a:r>
              <a:rPr dirty="0" sz="3550" spc="-750">
                <a:latin typeface="Courier New"/>
                <a:cs typeface="Courier New"/>
              </a:rPr>
              <a:t>,</a:t>
            </a:r>
            <a:r>
              <a:rPr dirty="0" sz="3550" spc="-750">
                <a:latin typeface="Arial MT"/>
                <a:cs typeface="Arial MT"/>
              </a:rPr>
              <a:t></a:t>
            </a:r>
            <a:r>
              <a:rPr dirty="0" sz="3550" spc="-750">
                <a:latin typeface="Courier New"/>
                <a:cs typeface="Courier New"/>
              </a:rPr>
              <a:t>,</a:t>
            </a:r>
            <a:r>
              <a:rPr dirty="0" sz="3550" spc="-1675">
                <a:latin typeface="Courier New"/>
                <a:cs typeface="Courier New"/>
              </a:rPr>
              <a:t> </a:t>
            </a:r>
            <a:r>
              <a:rPr dirty="0" sz="3550" spc="320" i="1">
                <a:latin typeface="Courier New"/>
                <a:cs typeface="Courier New"/>
              </a:rPr>
              <a:t>m</a:t>
            </a:r>
            <a:r>
              <a:rPr dirty="0" baseline="-24390" sz="3075" spc="480" i="1">
                <a:latin typeface="Courier New"/>
                <a:cs typeface="Courier New"/>
              </a:rPr>
              <a:t>K</a:t>
            </a:r>
            <a:r>
              <a:rPr dirty="0" baseline="-24390" sz="3075" spc="-1214" i="1">
                <a:latin typeface="Courier New"/>
                <a:cs typeface="Courier New"/>
              </a:rPr>
              <a:t> </a:t>
            </a:r>
            <a:r>
              <a:rPr dirty="0" sz="3550" spc="-475">
                <a:latin typeface="Courier New"/>
                <a:cs typeface="Courier New"/>
              </a:rPr>
              <a:t>}</a:t>
            </a:r>
            <a:endParaRPr sz="3550">
              <a:latin typeface="Courier New"/>
              <a:cs typeface="Courier New"/>
            </a:endParaRPr>
          </a:p>
          <a:p>
            <a:pPr marL="380365" indent="-342265">
              <a:lnSpc>
                <a:spcPct val="100000"/>
              </a:lnSpc>
              <a:spcBef>
                <a:spcPts val="610"/>
              </a:spcBef>
              <a:buClr>
                <a:srgbClr val="3333CC"/>
              </a:buClr>
              <a:buSzPct val="58928"/>
              <a:buChar char="■"/>
              <a:tabLst>
                <a:tab pos="380365" algn="l"/>
              </a:tabLst>
            </a:pPr>
            <a:r>
              <a:rPr dirty="0"/>
              <a:t>A</a:t>
            </a:r>
            <a:r>
              <a:rPr dirty="0" spc="-70"/>
              <a:t> </a:t>
            </a:r>
            <a:r>
              <a:rPr dirty="0"/>
              <a:t>quantization</a:t>
            </a:r>
            <a:r>
              <a:rPr dirty="0" spc="-65"/>
              <a:t> </a:t>
            </a:r>
            <a:r>
              <a:rPr dirty="0" spc="-10"/>
              <a:t>function:</a:t>
            </a:r>
          </a:p>
          <a:p>
            <a:pPr algn="ctr" marR="154305">
              <a:lnSpc>
                <a:spcPct val="100000"/>
              </a:lnSpc>
              <a:spcBef>
                <a:spcPts val="585"/>
              </a:spcBef>
            </a:pPr>
            <a:r>
              <a:rPr dirty="0" sz="3400" spc="-540" i="1">
                <a:latin typeface="Courier New"/>
                <a:cs typeface="Courier New"/>
              </a:rPr>
              <a:t>q</a:t>
            </a:r>
            <a:r>
              <a:rPr dirty="0" sz="3400" spc="-540">
                <a:latin typeface="Courier New"/>
                <a:cs typeface="Courier New"/>
              </a:rPr>
              <a:t>(</a:t>
            </a:r>
            <a:r>
              <a:rPr dirty="0" sz="3400" spc="-540" i="1">
                <a:latin typeface="Courier New"/>
                <a:cs typeface="Courier New"/>
              </a:rPr>
              <a:t>x</a:t>
            </a:r>
            <a:r>
              <a:rPr dirty="0" baseline="-23611" sz="3000" spc="-810" i="1">
                <a:latin typeface="Courier New"/>
                <a:cs typeface="Courier New"/>
              </a:rPr>
              <a:t>i</a:t>
            </a:r>
            <a:r>
              <a:rPr dirty="0" baseline="-23611" sz="3000" spc="-1132" i="1">
                <a:latin typeface="Courier New"/>
                <a:cs typeface="Courier New"/>
              </a:rPr>
              <a:t> </a:t>
            </a:r>
            <a:r>
              <a:rPr dirty="0" sz="3400" spc="-919">
                <a:latin typeface="Courier New"/>
                <a:cs typeface="Courier New"/>
              </a:rPr>
              <a:t>)</a:t>
            </a:r>
            <a:r>
              <a:rPr dirty="0" sz="3400" spc="-1260">
                <a:latin typeface="Courier New"/>
                <a:cs typeface="Courier New"/>
              </a:rPr>
              <a:t> </a:t>
            </a:r>
            <a:r>
              <a:rPr dirty="0" sz="3400" spc="-170">
                <a:latin typeface="Courier New"/>
                <a:cs typeface="Courier New"/>
              </a:rPr>
              <a:t>=</a:t>
            </a:r>
            <a:r>
              <a:rPr dirty="0" sz="3400" spc="-1255">
                <a:latin typeface="Courier New"/>
                <a:cs typeface="Courier New"/>
              </a:rPr>
              <a:t> </a:t>
            </a:r>
            <a:r>
              <a:rPr dirty="0" sz="3400" spc="-25" i="1">
                <a:latin typeface="Courier New"/>
                <a:cs typeface="Courier New"/>
              </a:rPr>
              <a:t>m</a:t>
            </a:r>
            <a:r>
              <a:rPr dirty="0" baseline="-23611" sz="3000" spc="-37" i="1">
                <a:latin typeface="Courier New"/>
                <a:cs typeface="Courier New"/>
              </a:rPr>
              <a:t>k</a:t>
            </a:r>
            <a:endParaRPr baseline="-23611" sz="3000">
              <a:latin typeface="Courier New"/>
              <a:cs typeface="Courier New"/>
            </a:endParaRPr>
          </a:p>
          <a:p>
            <a:pPr algn="ctr" marL="313690">
              <a:lnSpc>
                <a:spcPts val="2800"/>
              </a:lnSpc>
              <a:spcBef>
                <a:spcPts val="1240"/>
              </a:spcBef>
            </a:pPr>
            <a:r>
              <a:rPr dirty="0" sz="2400" spc="-360">
                <a:latin typeface="Courier New"/>
                <a:cs typeface="Courier New"/>
              </a:rPr>
              <a:t>Often,</a:t>
            </a:r>
            <a:r>
              <a:rPr dirty="0" sz="2400" spc="-770">
                <a:latin typeface="Courier New"/>
                <a:cs typeface="Courier New"/>
              </a:rPr>
              <a:t> </a:t>
            </a:r>
            <a:r>
              <a:rPr dirty="0" sz="2400" spc="-340">
                <a:latin typeface="Courier New"/>
                <a:cs typeface="Courier New"/>
              </a:rPr>
              <a:t>the</a:t>
            </a:r>
            <a:r>
              <a:rPr dirty="0" sz="2400" spc="-750">
                <a:latin typeface="Courier New"/>
                <a:cs typeface="Courier New"/>
              </a:rPr>
              <a:t> </a:t>
            </a:r>
            <a:r>
              <a:rPr dirty="0" sz="2400" spc="-350">
                <a:latin typeface="Courier New"/>
                <a:cs typeface="Courier New"/>
              </a:rPr>
              <a:t>nearest-</a:t>
            </a:r>
            <a:r>
              <a:rPr dirty="0" sz="2400" spc="-285">
                <a:latin typeface="Courier New"/>
                <a:cs typeface="Courier New"/>
              </a:rPr>
              <a:t>neighbor</a:t>
            </a:r>
            <a:r>
              <a:rPr dirty="0" sz="2400" spc="-750">
                <a:latin typeface="Courier New"/>
                <a:cs typeface="Courier New"/>
              </a:rPr>
              <a:t> </a:t>
            </a:r>
            <a:r>
              <a:rPr dirty="0" sz="2400" spc="-409">
                <a:latin typeface="Courier New"/>
                <a:cs typeface="Courier New"/>
              </a:rPr>
              <a:t>function</a:t>
            </a:r>
            <a:endParaRPr sz="2400">
              <a:latin typeface="Courier New"/>
              <a:cs typeface="Courier New"/>
            </a:endParaRPr>
          </a:p>
          <a:p>
            <a:pPr marL="380365" indent="-342265">
              <a:lnSpc>
                <a:spcPts val="3400"/>
              </a:lnSpc>
              <a:buClr>
                <a:srgbClr val="3333CC"/>
              </a:buClr>
              <a:buSzPct val="56896"/>
              <a:buFont typeface="Tahoma"/>
              <a:buChar char="■"/>
              <a:tabLst>
                <a:tab pos="380365" algn="l"/>
              </a:tabLst>
            </a:pPr>
            <a:r>
              <a:rPr dirty="0" sz="2900" spc="-200" i="1">
                <a:latin typeface="Verdana"/>
                <a:cs typeface="Verdana"/>
              </a:rPr>
              <a:t>K</a:t>
            </a:r>
            <a:r>
              <a:rPr dirty="0" spc="-200"/>
              <a:t>-</a:t>
            </a:r>
            <a:r>
              <a:rPr dirty="0"/>
              <a:t>means</a:t>
            </a:r>
            <a:r>
              <a:rPr dirty="0" spc="-50"/>
              <a:t> </a:t>
            </a:r>
            <a:r>
              <a:rPr dirty="0"/>
              <a:t>can</a:t>
            </a:r>
            <a:r>
              <a:rPr dirty="0" spc="-50"/>
              <a:t> </a:t>
            </a:r>
            <a:r>
              <a:rPr dirty="0"/>
              <a:t>be</a:t>
            </a:r>
            <a:r>
              <a:rPr dirty="0" spc="-45"/>
              <a:t> </a:t>
            </a:r>
            <a:r>
              <a:rPr dirty="0"/>
              <a:t>used</a:t>
            </a:r>
            <a:r>
              <a:rPr dirty="0" spc="-45"/>
              <a:t> </a:t>
            </a:r>
            <a:r>
              <a:rPr dirty="0"/>
              <a:t>to</a:t>
            </a:r>
            <a:r>
              <a:rPr dirty="0" spc="-45"/>
              <a:t> </a:t>
            </a:r>
            <a:r>
              <a:rPr dirty="0"/>
              <a:t>construct</a:t>
            </a:r>
            <a:r>
              <a:rPr dirty="0" spc="-50"/>
              <a:t> </a:t>
            </a:r>
            <a:r>
              <a:rPr dirty="0"/>
              <a:t>the</a:t>
            </a:r>
            <a:r>
              <a:rPr dirty="0" spc="-45"/>
              <a:t> </a:t>
            </a:r>
            <a:r>
              <a:rPr dirty="0" spc="-10"/>
              <a:t>codebook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479433" y="4603750"/>
            <a:ext cx="842644" cy="336550"/>
          </a:xfrm>
          <a:custGeom>
            <a:avLst/>
            <a:gdLst/>
            <a:ahLst/>
            <a:cxnLst/>
            <a:rect l="l" t="t" r="r" b="b"/>
            <a:pathLst>
              <a:path w="842645" h="336550">
                <a:moveTo>
                  <a:pt x="770353" y="32551"/>
                </a:moveTo>
                <a:lnTo>
                  <a:pt x="0" y="312686"/>
                </a:lnTo>
                <a:lnTo>
                  <a:pt x="8674" y="336550"/>
                </a:lnTo>
                <a:lnTo>
                  <a:pt x="779044" y="56412"/>
                </a:lnTo>
                <a:lnTo>
                  <a:pt x="795153" y="37047"/>
                </a:lnTo>
                <a:lnTo>
                  <a:pt x="770353" y="32551"/>
                </a:lnTo>
                <a:close/>
              </a:path>
              <a:path w="842645" h="336550">
                <a:moveTo>
                  <a:pt x="824237" y="16497"/>
                </a:moveTo>
                <a:lnTo>
                  <a:pt x="814501" y="16497"/>
                </a:lnTo>
                <a:lnTo>
                  <a:pt x="823188" y="40360"/>
                </a:lnTo>
                <a:lnTo>
                  <a:pt x="779044" y="56412"/>
                </a:lnTo>
                <a:lnTo>
                  <a:pt x="752665" y="88125"/>
                </a:lnTo>
                <a:lnTo>
                  <a:pt x="751192" y="90322"/>
                </a:lnTo>
                <a:lnTo>
                  <a:pt x="750201" y="92798"/>
                </a:lnTo>
                <a:lnTo>
                  <a:pt x="749757" y="95415"/>
                </a:lnTo>
                <a:lnTo>
                  <a:pt x="749858" y="98069"/>
                </a:lnTo>
                <a:lnTo>
                  <a:pt x="762927" y="108940"/>
                </a:lnTo>
                <a:lnTo>
                  <a:pt x="765543" y="108559"/>
                </a:lnTo>
                <a:lnTo>
                  <a:pt x="768045" y="107632"/>
                </a:lnTo>
                <a:lnTo>
                  <a:pt x="770280" y="106222"/>
                </a:lnTo>
                <a:lnTo>
                  <a:pt x="772185" y="104368"/>
                </a:lnTo>
                <a:lnTo>
                  <a:pt x="842530" y="19812"/>
                </a:lnTo>
                <a:lnTo>
                  <a:pt x="824237" y="16497"/>
                </a:lnTo>
                <a:close/>
              </a:path>
              <a:path w="842645" h="336550">
                <a:moveTo>
                  <a:pt x="795153" y="37047"/>
                </a:moveTo>
                <a:lnTo>
                  <a:pt x="779044" y="56412"/>
                </a:lnTo>
                <a:lnTo>
                  <a:pt x="821616" y="40932"/>
                </a:lnTo>
                <a:lnTo>
                  <a:pt x="816584" y="40932"/>
                </a:lnTo>
                <a:lnTo>
                  <a:pt x="795153" y="37047"/>
                </a:lnTo>
                <a:close/>
              </a:path>
              <a:path w="842645" h="336550">
                <a:moveTo>
                  <a:pt x="809078" y="20307"/>
                </a:moveTo>
                <a:lnTo>
                  <a:pt x="795153" y="37047"/>
                </a:lnTo>
                <a:lnTo>
                  <a:pt x="816584" y="40932"/>
                </a:lnTo>
                <a:lnTo>
                  <a:pt x="809078" y="20307"/>
                </a:lnTo>
                <a:close/>
              </a:path>
              <a:path w="842645" h="336550">
                <a:moveTo>
                  <a:pt x="815888" y="20307"/>
                </a:moveTo>
                <a:lnTo>
                  <a:pt x="809078" y="20307"/>
                </a:lnTo>
                <a:lnTo>
                  <a:pt x="816584" y="40932"/>
                </a:lnTo>
                <a:lnTo>
                  <a:pt x="821616" y="40932"/>
                </a:lnTo>
                <a:lnTo>
                  <a:pt x="823188" y="40360"/>
                </a:lnTo>
                <a:lnTo>
                  <a:pt x="815888" y="20307"/>
                </a:lnTo>
                <a:close/>
              </a:path>
              <a:path w="842645" h="336550">
                <a:moveTo>
                  <a:pt x="814501" y="16497"/>
                </a:moveTo>
                <a:lnTo>
                  <a:pt x="770353" y="32551"/>
                </a:lnTo>
                <a:lnTo>
                  <a:pt x="795153" y="37047"/>
                </a:lnTo>
                <a:lnTo>
                  <a:pt x="809078" y="20307"/>
                </a:lnTo>
                <a:lnTo>
                  <a:pt x="815888" y="20307"/>
                </a:lnTo>
                <a:lnTo>
                  <a:pt x="814501" y="16497"/>
                </a:lnTo>
                <a:close/>
              </a:path>
              <a:path w="842645" h="336550">
                <a:moveTo>
                  <a:pt x="731659" y="0"/>
                </a:moveTo>
                <a:lnTo>
                  <a:pt x="719378" y="11747"/>
                </a:lnTo>
                <a:lnTo>
                  <a:pt x="719455" y="14401"/>
                </a:lnTo>
                <a:lnTo>
                  <a:pt x="770353" y="32551"/>
                </a:lnTo>
                <a:lnTo>
                  <a:pt x="814501" y="16497"/>
                </a:lnTo>
                <a:lnTo>
                  <a:pt x="824237" y="16497"/>
                </a:lnTo>
                <a:lnTo>
                  <a:pt x="734313" y="203"/>
                </a:lnTo>
                <a:lnTo>
                  <a:pt x="731659" y="0"/>
                </a:lnTo>
                <a:close/>
              </a:path>
            </a:pathLst>
          </a:custGeom>
          <a:solidFill>
            <a:srgbClr val="00E4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54</a:t>
            </a:fld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038847" y="2128088"/>
            <a:ext cx="5454015" cy="3649345"/>
            <a:chOff x="1038847" y="2128088"/>
            <a:chExt cx="5454015" cy="3649345"/>
          </a:xfrm>
        </p:grpSpPr>
        <p:sp>
          <p:nvSpPr>
            <p:cNvPr id="3" name="object 3" descr=""/>
            <p:cNvSpPr/>
            <p:nvPr/>
          </p:nvSpPr>
          <p:spPr>
            <a:xfrm>
              <a:off x="1038847" y="2128088"/>
              <a:ext cx="5454015" cy="3649345"/>
            </a:xfrm>
            <a:custGeom>
              <a:avLst/>
              <a:gdLst/>
              <a:ahLst/>
              <a:cxnLst/>
              <a:rect l="l" t="t" r="r" b="b"/>
              <a:pathLst>
                <a:path w="5454015" h="3649345">
                  <a:moveTo>
                    <a:pt x="5453430" y="0"/>
                  </a:moveTo>
                  <a:lnTo>
                    <a:pt x="0" y="0"/>
                  </a:lnTo>
                  <a:lnTo>
                    <a:pt x="0" y="3649040"/>
                  </a:lnTo>
                  <a:lnTo>
                    <a:pt x="5453430" y="3649040"/>
                  </a:lnTo>
                  <a:lnTo>
                    <a:pt x="5453430" y="3644277"/>
                  </a:lnTo>
                  <a:lnTo>
                    <a:pt x="9525" y="3644277"/>
                  </a:lnTo>
                  <a:lnTo>
                    <a:pt x="4762" y="3639515"/>
                  </a:lnTo>
                  <a:lnTo>
                    <a:pt x="9525" y="3639515"/>
                  </a:lnTo>
                  <a:lnTo>
                    <a:pt x="9525" y="9525"/>
                  </a:lnTo>
                  <a:lnTo>
                    <a:pt x="4762" y="9525"/>
                  </a:lnTo>
                  <a:lnTo>
                    <a:pt x="9525" y="4762"/>
                  </a:lnTo>
                  <a:lnTo>
                    <a:pt x="5453430" y="4762"/>
                  </a:lnTo>
                  <a:lnTo>
                    <a:pt x="5453430" y="0"/>
                  </a:lnTo>
                  <a:close/>
                </a:path>
                <a:path w="5454015" h="3649345">
                  <a:moveTo>
                    <a:pt x="9525" y="3639515"/>
                  </a:moveTo>
                  <a:lnTo>
                    <a:pt x="4762" y="3639515"/>
                  </a:lnTo>
                  <a:lnTo>
                    <a:pt x="9525" y="3644277"/>
                  </a:lnTo>
                  <a:lnTo>
                    <a:pt x="9525" y="3639515"/>
                  </a:lnTo>
                  <a:close/>
                </a:path>
                <a:path w="5454015" h="3649345">
                  <a:moveTo>
                    <a:pt x="5443905" y="3639515"/>
                  </a:moveTo>
                  <a:lnTo>
                    <a:pt x="9525" y="3639515"/>
                  </a:lnTo>
                  <a:lnTo>
                    <a:pt x="9525" y="3644277"/>
                  </a:lnTo>
                  <a:lnTo>
                    <a:pt x="5443905" y="3644277"/>
                  </a:lnTo>
                  <a:lnTo>
                    <a:pt x="5443905" y="3639515"/>
                  </a:lnTo>
                  <a:close/>
                </a:path>
                <a:path w="5454015" h="3649345">
                  <a:moveTo>
                    <a:pt x="5443905" y="4762"/>
                  </a:moveTo>
                  <a:lnTo>
                    <a:pt x="5443905" y="3644277"/>
                  </a:lnTo>
                  <a:lnTo>
                    <a:pt x="5448668" y="3639515"/>
                  </a:lnTo>
                  <a:lnTo>
                    <a:pt x="5453430" y="3639515"/>
                  </a:lnTo>
                  <a:lnTo>
                    <a:pt x="5453430" y="9525"/>
                  </a:lnTo>
                  <a:lnTo>
                    <a:pt x="5448668" y="9525"/>
                  </a:lnTo>
                  <a:lnTo>
                    <a:pt x="5443905" y="4762"/>
                  </a:lnTo>
                  <a:close/>
                </a:path>
                <a:path w="5454015" h="3649345">
                  <a:moveTo>
                    <a:pt x="5453430" y="3639515"/>
                  </a:moveTo>
                  <a:lnTo>
                    <a:pt x="5448668" y="3639515"/>
                  </a:lnTo>
                  <a:lnTo>
                    <a:pt x="5443905" y="3644277"/>
                  </a:lnTo>
                  <a:lnTo>
                    <a:pt x="5453430" y="3644277"/>
                  </a:lnTo>
                  <a:lnTo>
                    <a:pt x="5453430" y="3639515"/>
                  </a:lnTo>
                  <a:close/>
                </a:path>
                <a:path w="5454015" h="3649345">
                  <a:moveTo>
                    <a:pt x="9525" y="4762"/>
                  </a:moveTo>
                  <a:lnTo>
                    <a:pt x="4762" y="9525"/>
                  </a:lnTo>
                  <a:lnTo>
                    <a:pt x="9525" y="9525"/>
                  </a:lnTo>
                  <a:lnTo>
                    <a:pt x="9525" y="4762"/>
                  </a:lnTo>
                  <a:close/>
                </a:path>
                <a:path w="5454015" h="3649345">
                  <a:moveTo>
                    <a:pt x="5443905" y="4762"/>
                  </a:moveTo>
                  <a:lnTo>
                    <a:pt x="9525" y="4762"/>
                  </a:lnTo>
                  <a:lnTo>
                    <a:pt x="9525" y="9525"/>
                  </a:lnTo>
                  <a:lnTo>
                    <a:pt x="5443905" y="9525"/>
                  </a:lnTo>
                  <a:lnTo>
                    <a:pt x="5443905" y="4762"/>
                  </a:lnTo>
                  <a:close/>
                </a:path>
                <a:path w="5454015" h="3649345">
                  <a:moveTo>
                    <a:pt x="5453430" y="4762"/>
                  </a:moveTo>
                  <a:lnTo>
                    <a:pt x="5443905" y="4762"/>
                  </a:lnTo>
                  <a:lnTo>
                    <a:pt x="5448668" y="9525"/>
                  </a:lnTo>
                  <a:lnTo>
                    <a:pt x="5453430" y="9525"/>
                  </a:lnTo>
                  <a:lnTo>
                    <a:pt x="5453430" y="4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3940" y="2162555"/>
              <a:ext cx="5314188" cy="3610356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20045" y="2925559"/>
              <a:ext cx="101320" cy="92456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21783" y="3302228"/>
              <a:ext cx="101320" cy="92456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48439" y="3067418"/>
              <a:ext cx="230936" cy="151155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75439" y="3336467"/>
              <a:ext cx="203936" cy="175488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10631" y="4393361"/>
              <a:ext cx="230936" cy="92202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21783" y="4593920"/>
              <a:ext cx="101320" cy="92202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73702" y="4593920"/>
              <a:ext cx="101320" cy="92202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73702" y="4417822"/>
              <a:ext cx="101320" cy="92202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094782" y="3747642"/>
              <a:ext cx="128320" cy="234061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251399" y="4065346"/>
              <a:ext cx="101320" cy="92456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187456" y="4183011"/>
              <a:ext cx="101320" cy="92202"/>
            </a:xfrm>
            <a:prstGeom prst="rect">
              <a:avLst/>
            </a:prstGeom>
          </p:spPr>
        </p:pic>
      </p:grpSp>
      <p:sp>
        <p:nvSpPr>
          <p:cNvPr id="16" name="object 16" descr=""/>
          <p:cNvSpPr txBox="1"/>
          <p:nvPr/>
        </p:nvSpPr>
        <p:spPr>
          <a:xfrm>
            <a:off x="1677923" y="5373623"/>
            <a:ext cx="1042669" cy="39941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4445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50"/>
              </a:spcBef>
            </a:pPr>
            <a:r>
              <a:rPr dirty="0" sz="2000" spc="-20">
                <a:latin typeface="Tahoma"/>
                <a:cs typeface="Tahoma"/>
              </a:rPr>
              <a:t>Data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3720084" y="5373623"/>
            <a:ext cx="2032000" cy="399415"/>
          </a:xfrm>
          <a:custGeom>
            <a:avLst/>
            <a:gdLst/>
            <a:ahLst/>
            <a:cxnLst/>
            <a:rect l="l" t="t" r="r" b="b"/>
            <a:pathLst>
              <a:path w="2032000" h="399414">
                <a:moveTo>
                  <a:pt x="2031491" y="0"/>
                </a:moveTo>
                <a:lnTo>
                  <a:pt x="0" y="0"/>
                </a:lnTo>
                <a:lnTo>
                  <a:pt x="0" y="399288"/>
                </a:lnTo>
                <a:lnTo>
                  <a:pt x="2031491" y="399288"/>
                </a:lnTo>
                <a:lnTo>
                  <a:pt x="20314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3798417" y="5404967"/>
            <a:ext cx="1853564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Tahoma"/>
                <a:cs typeface="Tahoma"/>
              </a:rPr>
              <a:t>Voronoi</a:t>
            </a:r>
            <a:r>
              <a:rPr dirty="0" sz="2000" spc="-15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diagram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434833" y="5961379"/>
            <a:ext cx="6343015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 spc="175">
                <a:latin typeface="Courier New"/>
                <a:cs typeface="Courier New"/>
              </a:rPr>
              <a:t>A</a:t>
            </a:r>
            <a:r>
              <a:rPr dirty="0" sz="1400" spc="-495">
                <a:latin typeface="Courier New"/>
                <a:cs typeface="Courier New"/>
              </a:rPr>
              <a:t> </a:t>
            </a:r>
            <a:r>
              <a:rPr dirty="0" sz="1400" spc="-210">
                <a:latin typeface="Courier New"/>
                <a:cs typeface="Courier New"/>
              </a:rPr>
              <a:t>Voronoi</a:t>
            </a:r>
            <a:r>
              <a:rPr dirty="0" sz="1400" spc="-495">
                <a:latin typeface="Courier New"/>
                <a:cs typeface="Courier New"/>
              </a:rPr>
              <a:t> </a:t>
            </a:r>
            <a:r>
              <a:rPr dirty="0" sz="1400" spc="-190">
                <a:latin typeface="Courier New"/>
                <a:cs typeface="Courier New"/>
              </a:rPr>
              <a:t>diagram</a:t>
            </a:r>
            <a:r>
              <a:rPr dirty="0" sz="1400" spc="-495">
                <a:latin typeface="Courier New"/>
                <a:cs typeface="Courier New"/>
              </a:rPr>
              <a:t> </a:t>
            </a:r>
            <a:r>
              <a:rPr dirty="0" sz="1400" spc="-380">
                <a:latin typeface="Courier New"/>
                <a:cs typeface="Courier New"/>
              </a:rPr>
              <a:t>is</a:t>
            </a:r>
            <a:r>
              <a:rPr dirty="0" sz="1400" spc="-495">
                <a:latin typeface="Courier New"/>
                <a:cs typeface="Courier New"/>
              </a:rPr>
              <a:t> </a:t>
            </a:r>
            <a:r>
              <a:rPr dirty="0" sz="1400" spc="-220">
                <a:latin typeface="Courier New"/>
                <a:cs typeface="Courier New"/>
              </a:rPr>
              <a:t>a</a:t>
            </a:r>
            <a:r>
              <a:rPr dirty="0" sz="1400" spc="-495">
                <a:latin typeface="Courier New"/>
                <a:cs typeface="Courier New"/>
              </a:rPr>
              <a:t> </a:t>
            </a:r>
            <a:r>
              <a:rPr dirty="0" sz="1400" spc="-305">
                <a:latin typeface="Courier New"/>
                <a:cs typeface="Courier New"/>
              </a:rPr>
              <a:t>partitioning</a:t>
            </a:r>
            <a:r>
              <a:rPr dirty="0" sz="1400" spc="-495">
                <a:latin typeface="Courier New"/>
                <a:cs typeface="Courier New"/>
              </a:rPr>
              <a:t> </a:t>
            </a:r>
            <a:r>
              <a:rPr dirty="0" sz="1400" spc="-265">
                <a:latin typeface="Courier New"/>
                <a:cs typeface="Courier New"/>
              </a:rPr>
              <a:t>of</a:t>
            </a:r>
            <a:r>
              <a:rPr dirty="0" sz="1400" spc="-495">
                <a:latin typeface="Courier New"/>
                <a:cs typeface="Courier New"/>
              </a:rPr>
              <a:t> </a:t>
            </a:r>
            <a:r>
              <a:rPr dirty="0" sz="1400" spc="-220">
                <a:latin typeface="Courier New"/>
                <a:cs typeface="Courier New"/>
              </a:rPr>
              <a:t>a</a:t>
            </a:r>
            <a:r>
              <a:rPr dirty="0" sz="1400" spc="-495">
                <a:latin typeface="Courier New"/>
                <a:cs typeface="Courier New"/>
              </a:rPr>
              <a:t> </a:t>
            </a:r>
            <a:r>
              <a:rPr dirty="0" sz="1400" spc="-240">
                <a:latin typeface="Courier New"/>
                <a:cs typeface="Courier New"/>
              </a:rPr>
              <a:t>plane</a:t>
            </a:r>
            <a:r>
              <a:rPr dirty="0" sz="1400" spc="-495">
                <a:latin typeface="Courier New"/>
                <a:cs typeface="Courier New"/>
              </a:rPr>
              <a:t> </a:t>
            </a:r>
            <a:r>
              <a:rPr dirty="0" sz="1400" spc="-305">
                <a:latin typeface="Courier New"/>
                <a:cs typeface="Courier New"/>
              </a:rPr>
              <a:t>into</a:t>
            </a:r>
            <a:r>
              <a:rPr dirty="0" sz="1400" spc="-495">
                <a:latin typeface="Courier New"/>
                <a:cs typeface="Courier New"/>
              </a:rPr>
              <a:t> </a:t>
            </a:r>
            <a:r>
              <a:rPr dirty="0" sz="1400" spc="-260">
                <a:latin typeface="Courier New"/>
                <a:cs typeface="Courier New"/>
              </a:rPr>
              <a:t>regions</a:t>
            </a:r>
            <a:r>
              <a:rPr dirty="0" sz="1400" spc="-495">
                <a:latin typeface="Courier New"/>
                <a:cs typeface="Courier New"/>
              </a:rPr>
              <a:t> </a:t>
            </a:r>
            <a:r>
              <a:rPr dirty="0" sz="1400" spc="-210">
                <a:latin typeface="Courier New"/>
                <a:cs typeface="Courier New"/>
              </a:rPr>
              <a:t>based</a:t>
            </a:r>
            <a:r>
              <a:rPr dirty="0" sz="1400" spc="-495">
                <a:latin typeface="Courier New"/>
                <a:cs typeface="Courier New"/>
              </a:rPr>
              <a:t> </a:t>
            </a:r>
            <a:r>
              <a:rPr dirty="0" sz="1400" spc="-145">
                <a:latin typeface="Courier New"/>
                <a:cs typeface="Courier New"/>
              </a:rPr>
              <a:t>on</a:t>
            </a:r>
            <a:r>
              <a:rPr dirty="0" sz="1400" spc="-495">
                <a:latin typeface="Courier New"/>
                <a:cs typeface="Courier New"/>
              </a:rPr>
              <a:t> </a:t>
            </a:r>
            <a:r>
              <a:rPr dirty="0" sz="1400" spc="-275">
                <a:latin typeface="Courier New"/>
                <a:cs typeface="Courier New"/>
              </a:rPr>
              <a:t>distance</a:t>
            </a:r>
            <a:r>
              <a:rPr dirty="0" sz="1400" spc="-495">
                <a:latin typeface="Courier New"/>
                <a:cs typeface="Courier New"/>
              </a:rPr>
              <a:t> </a:t>
            </a:r>
            <a:r>
              <a:rPr dirty="0" sz="1400" spc="-300">
                <a:latin typeface="Courier New"/>
                <a:cs typeface="Courier New"/>
              </a:rPr>
              <a:t>to</a:t>
            </a:r>
            <a:r>
              <a:rPr dirty="0" sz="1400" spc="-495">
                <a:latin typeface="Courier New"/>
                <a:cs typeface="Courier New"/>
              </a:rPr>
              <a:t> </a:t>
            </a:r>
            <a:r>
              <a:rPr dirty="0" sz="1400" spc="-275">
                <a:latin typeface="Courier New"/>
                <a:cs typeface="Courier New"/>
              </a:rPr>
              <a:t>points</a:t>
            </a:r>
            <a:r>
              <a:rPr dirty="0" sz="1400" spc="-495">
                <a:latin typeface="Courier New"/>
                <a:cs typeface="Courier New"/>
              </a:rPr>
              <a:t> </a:t>
            </a:r>
            <a:r>
              <a:rPr dirty="0" sz="1400" spc="-300">
                <a:latin typeface="Courier New"/>
                <a:cs typeface="Courier New"/>
              </a:rPr>
              <a:t>in</a:t>
            </a:r>
            <a:r>
              <a:rPr dirty="0" sz="1400" spc="-145">
                <a:latin typeface="Courier New"/>
                <a:cs typeface="Courier New"/>
              </a:rPr>
              <a:t> </a:t>
            </a:r>
            <a:r>
              <a:rPr dirty="0" sz="1400" spc="-220">
                <a:latin typeface="Courier New"/>
                <a:cs typeface="Courier New"/>
              </a:rPr>
              <a:t>a</a:t>
            </a:r>
            <a:r>
              <a:rPr dirty="0" sz="1400" spc="-495">
                <a:latin typeface="Courier New"/>
                <a:cs typeface="Courier New"/>
              </a:rPr>
              <a:t> </a:t>
            </a:r>
            <a:r>
              <a:rPr dirty="0" sz="1400" spc="-305">
                <a:latin typeface="Courier New"/>
                <a:cs typeface="Courier New"/>
              </a:rPr>
              <a:t>specific</a:t>
            </a:r>
            <a:r>
              <a:rPr dirty="0" sz="1400" spc="-495">
                <a:latin typeface="Courier New"/>
                <a:cs typeface="Courier New"/>
              </a:rPr>
              <a:t> </a:t>
            </a:r>
            <a:r>
              <a:rPr dirty="0" sz="1400" spc="-265">
                <a:latin typeface="Courier New"/>
                <a:cs typeface="Courier New"/>
              </a:rPr>
              <a:t>subset</a:t>
            </a:r>
            <a:r>
              <a:rPr dirty="0" sz="1400" spc="-495">
                <a:latin typeface="Courier New"/>
                <a:cs typeface="Courier New"/>
              </a:rPr>
              <a:t> </a:t>
            </a:r>
            <a:r>
              <a:rPr dirty="0" sz="1400" spc="-265">
                <a:latin typeface="Courier New"/>
                <a:cs typeface="Courier New"/>
              </a:rPr>
              <a:t>of</a:t>
            </a:r>
            <a:r>
              <a:rPr dirty="0" sz="1400" spc="-495">
                <a:latin typeface="Courier New"/>
                <a:cs typeface="Courier New"/>
              </a:rPr>
              <a:t> </a:t>
            </a:r>
            <a:r>
              <a:rPr dirty="0" sz="1400" spc="-275">
                <a:latin typeface="Courier New"/>
                <a:cs typeface="Courier New"/>
              </a:rPr>
              <a:t>the</a:t>
            </a:r>
            <a:r>
              <a:rPr dirty="0" sz="1400" spc="-495">
                <a:latin typeface="Courier New"/>
                <a:cs typeface="Courier New"/>
              </a:rPr>
              <a:t> </a:t>
            </a:r>
            <a:r>
              <a:rPr dirty="0" sz="1400" spc="-285">
                <a:latin typeface="Courier New"/>
                <a:cs typeface="Courier New"/>
              </a:rPr>
              <a:t>plane.</a:t>
            </a:r>
            <a:r>
              <a:rPr dirty="0" sz="1400" spc="-495">
                <a:latin typeface="Courier New"/>
                <a:cs typeface="Courier New"/>
              </a:rPr>
              <a:t> </a:t>
            </a:r>
            <a:r>
              <a:rPr dirty="0" sz="1400" spc="-200">
                <a:latin typeface="Courier New"/>
                <a:cs typeface="Courier New"/>
              </a:rPr>
              <a:t>For</a:t>
            </a:r>
            <a:r>
              <a:rPr dirty="0" sz="1400" spc="-495">
                <a:latin typeface="Courier New"/>
                <a:cs typeface="Courier New"/>
              </a:rPr>
              <a:t> </a:t>
            </a:r>
            <a:r>
              <a:rPr dirty="0" sz="1400" spc="-204">
                <a:latin typeface="Courier New"/>
                <a:cs typeface="Courier New"/>
              </a:rPr>
              <a:t>each</a:t>
            </a:r>
            <a:r>
              <a:rPr dirty="0" sz="1400" spc="-495">
                <a:latin typeface="Courier New"/>
                <a:cs typeface="Courier New"/>
              </a:rPr>
              <a:t> </a:t>
            </a:r>
            <a:r>
              <a:rPr dirty="0" sz="1400" spc="-225">
                <a:latin typeface="Courier New"/>
                <a:cs typeface="Courier New"/>
              </a:rPr>
              <a:t>seed</a:t>
            </a:r>
            <a:r>
              <a:rPr dirty="0" sz="1400" spc="-495">
                <a:latin typeface="Courier New"/>
                <a:cs typeface="Courier New"/>
              </a:rPr>
              <a:t> </a:t>
            </a:r>
            <a:r>
              <a:rPr dirty="0" sz="1400" spc="-290">
                <a:latin typeface="Courier New"/>
                <a:cs typeface="Courier New"/>
              </a:rPr>
              <a:t>there</a:t>
            </a:r>
            <a:r>
              <a:rPr dirty="0" sz="1400" spc="-495">
                <a:latin typeface="Courier New"/>
                <a:cs typeface="Courier New"/>
              </a:rPr>
              <a:t> </a:t>
            </a:r>
            <a:r>
              <a:rPr dirty="0" sz="1400" spc="-380">
                <a:latin typeface="Courier New"/>
                <a:cs typeface="Courier New"/>
              </a:rPr>
              <a:t>is</a:t>
            </a:r>
            <a:r>
              <a:rPr dirty="0" sz="1400" spc="-495">
                <a:latin typeface="Courier New"/>
                <a:cs typeface="Courier New"/>
              </a:rPr>
              <a:t> </a:t>
            </a:r>
            <a:r>
              <a:rPr dirty="0" sz="1400" spc="-220">
                <a:latin typeface="Courier New"/>
                <a:cs typeface="Courier New"/>
              </a:rPr>
              <a:t>a</a:t>
            </a:r>
            <a:r>
              <a:rPr dirty="0" sz="1400" spc="-495">
                <a:latin typeface="Courier New"/>
                <a:cs typeface="Courier New"/>
              </a:rPr>
              <a:t> </a:t>
            </a:r>
            <a:r>
              <a:rPr dirty="0" sz="1400" spc="-235">
                <a:latin typeface="Courier New"/>
                <a:cs typeface="Courier New"/>
              </a:rPr>
              <a:t>corresponding</a:t>
            </a:r>
            <a:r>
              <a:rPr dirty="0" sz="1400" spc="-495">
                <a:latin typeface="Courier New"/>
                <a:cs typeface="Courier New"/>
              </a:rPr>
              <a:t> </a:t>
            </a:r>
            <a:r>
              <a:rPr dirty="0" sz="1400" spc="-250">
                <a:latin typeface="Courier New"/>
                <a:cs typeface="Courier New"/>
              </a:rPr>
              <a:t>region</a:t>
            </a:r>
            <a:r>
              <a:rPr dirty="0" sz="1400" spc="-495">
                <a:latin typeface="Courier New"/>
                <a:cs typeface="Courier New"/>
              </a:rPr>
              <a:t> </a:t>
            </a:r>
            <a:r>
              <a:rPr dirty="0" sz="1400" spc="-280">
                <a:latin typeface="Courier New"/>
                <a:cs typeface="Courier New"/>
              </a:rPr>
              <a:t>consisting</a:t>
            </a:r>
            <a:r>
              <a:rPr dirty="0" sz="1400" spc="-495">
                <a:latin typeface="Courier New"/>
                <a:cs typeface="Courier New"/>
              </a:rPr>
              <a:t> </a:t>
            </a:r>
            <a:r>
              <a:rPr dirty="0" sz="1400" spc="-265">
                <a:latin typeface="Courier New"/>
                <a:cs typeface="Courier New"/>
              </a:rPr>
              <a:t>of</a:t>
            </a:r>
            <a:r>
              <a:rPr dirty="0" sz="1400" spc="-380">
                <a:latin typeface="Courier New"/>
                <a:cs typeface="Courier New"/>
              </a:rPr>
              <a:t> all</a:t>
            </a:r>
            <a:r>
              <a:rPr dirty="0" sz="1400" spc="-495">
                <a:latin typeface="Courier New"/>
                <a:cs typeface="Courier New"/>
              </a:rPr>
              <a:t> </a:t>
            </a:r>
            <a:r>
              <a:rPr dirty="0" sz="1400" spc="-275">
                <a:latin typeface="Courier New"/>
                <a:cs typeface="Courier New"/>
              </a:rPr>
              <a:t>points</a:t>
            </a:r>
            <a:r>
              <a:rPr dirty="0" sz="1400" spc="-495">
                <a:latin typeface="Courier New"/>
                <a:cs typeface="Courier New"/>
              </a:rPr>
              <a:t> </a:t>
            </a:r>
            <a:r>
              <a:rPr dirty="0" sz="1400" spc="-290">
                <a:latin typeface="Courier New"/>
                <a:cs typeface="Courier New"/>
              </a:rPr>
              <a:t>closer</a:t>
            </a:r>
            <a:r>
              <a:rPr dirty="0" sz="1400" spc="-495">
                <a:latin typeface="Courier New"/>
                <a:cs typeface="Courier New"/>
              </a:rPr>
              <a:t> </a:t>
            </a:r>
            <a:r>
              <a:rPr dirty="0" sz="1400" spc="-300">
                <a:latin typeface="Courier New"/>
                <a:cs typeface="Courier New"/>
              </a:rPr>
              <a:t>to</a:t>
            </a:r>
            <a:r>
              <a:rPr dirty="0" sz="1400" spc="-495">
                <a:latin typeface="Courier New"/>
                <a:cs typeface="Courier New"/>
              </a:rPr>
              <a:t> </a:t>
            </a:r>
            <a:r>
              <a:rPr dirty="0" sz="1400" spc="-320">
                <a:latin typeface="Courier New"/>
                <a:cs typeface="Courier New"/>
              </a:rPr>
              <a:t>that</a:t>
            </a:r>
            <a:r>
              <a:rPr dirty="0" sz="1400" spc="-495">
                <a:latin typeface="Courier New"/>
                <a:cs typeface="Courier New"/>
              </a:rPr>
              <a:t> </a:t>
            </a:r>
            <a:r>
              <a:rPr dirty="0" sz="1400" spc="-225">
                <a:latin typeface="Courier New"/>
                <a:cs typeface="Courier New"/>
              </a:rPr>
              <a:t>seed</a:t>
            </a:r>
            <a:r>
              <a:rPr dirty="0" sz="1400" spc="-495">
                <a:latin typeface="Courier New"/>
                <a:cs typeface="Courier New"/>
              </a:rPr>
              <a:t> </a:t>
            </a:r>
            <a:r>
              <a:rPr dirty="0" sz="1400" spc="-245">
                <a:latin typeface="Courier New"/>
                <a:cs typeface="Courier New"/>
              </a:rPr>
              <a:t>than</a:t>
            </a:r>
            <a:r>
              <a:rPr dirty="0" sz="1400" spc="-495">
                <a:latin typeface="Courier New"/>
                <a:cs typeface="Courier New"/>
              </a:rPr>
              <a:t> </a:t>
            </a:r>
            <a:r>
              <a:rPr dirty="0" sz="1400" spc="-300">
                <a:latin typeface="Courier New"/>
                <a:cs typeface="Courier New"/>
              </a:rPr>
              <a:t>to</a:t>
            </a:r>
            <a:r>
              <a:rPr dirty="0" sz="1400" spc="-495">
                <a:latin typeface="Courier New"/>
                <a:cs typeface="Courier New"/>
              </a:rPr>
              <a:t> </a:t>
            </a:r>
            <a:r>
              <a:rPr dirty="0" sz="1400" spc="-175">
                <a:latin typeface="Courier New"/>
                <a:cs typeface="Courier New"/>
              </a:rPr>
              <a:t>any</a:t>
            </a:r>
            <a:r>
              <a:rPr dirty="0" sz="1400" spc="-495">
                <a:latin typeface="Courier New"/>
                <a:cs typeface="Courier New"/>
              </a:rPr>
              <a:t> </a:t>
            </a:r>
            <a:r>
              <a:rPr dirty="0" sz="1400" spc="-325">
                <a:latin typeface="Courier New"/>
                <a:cs typeface="Courier New"/>
              </a:rPr>
              <a:t>other.</a:t>
            </a:r>
            <a:r>
              <a:rPr dirty="0" sz="1400" spc="-525">
                <a:latin typeface="Courier New"/>
                <a:cs typeface="Courier New"/>
              </a:rPr>
              <a:t> </a:t>
            </a:r>
            <a:r>
              <a:rPr dirty="0" sz="1400" spc="-175">
                <a:latin typeface="Courier New"/>
                <a:cs typeface="Courier New"/>
              </a:rPr>
              <a:t>These</a:t>
            </a:r>
            <a:r>
              <a:rPr dirty="0" sz="1400" spc="-495">
                <a:latin typeface="Courier New"/>
                <a:cs typeface="Courier New"/>
              </a:rPr>
              <a:t> </a:t>
            </a:r>
            <a:r>
              <a:rPr dirty="0" sz="1400" spc="-260">
                <a:latin typeface="Courier New"/>
                <a:cs typeface="Courier New"/>
              </a:rPr>
              <a:t>regions</a:t>
            </a:r>
            <a:r>
              <a:rPr dirty="0" sz="1400" spc="-495">
                <a:latin typeface="Courier New"/>
                <a:cs typeface="Courier New"/>
              </a:rPr>
              <a:t> </a:t>
            </a:r>
            <a:r>
              <a:rPr dirty="0" sz="1400" spc="-275">
                <a:latin typeface="Courier New"/>
                <a:cs typeface="Courier New"/>
              </a:rPr>
              <a:t>are</a:t>
            </a:r>
            <a:r>
              <a:rPr dirty="0" sz="1400" spc="-495">
                <a:latin typeface="Courier New"/>
                <a:cs typeface="Courier New"/>
              </a:rPr>
              <a:t> </a:t>
            </a:r>
            <a:r>
              <a:rPr dirty="0" sz="1400" spc="-290">
                <a:latin typeface="Courier New"/>
                <a:cs typeface="Courier New"/>
              </a:rPr>
              <a:t>called</a:t>
            </a:r>
            <a:r>
              <a:rPr dirty="0" sz="1400" spc="-495">
                <a:latin typeface="Courier New"/>
                <a:cs typeface="Courier New"/>
              </a:rPr>
              <a:t> </a:t>
            </a:r>
            <a:r>
              <a:rPr dirty="0" sz="1400" spc="-210">
                <a:latin typeface="Courier New"/>
                <a:cs typeface="Courier New"/>
              </a:rPr>
              <a:t>Voronoi</a:t>
            </a:r>
            <a:r>
              <a:rPr dirty="0" sz="1400" spc="-495">
                <a:latin typeface="Courier New"/>
                <a:cs typeface="Courier New"/>
              </a:rPr>
              <a:t> </a:t>
            </a:r>
            <a:r>
              <a:rPr dirty="0" sz="1400" spc="-360">
                <a:latin typeface="Courier New"/>
                <a:cs typeface="Courier New"/>
              </a:rPr>
              <a:t>cells.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84823" rIns="0" bIns="0" rtlCol="0" vert="horz">
            <a:spAutoFit/>
          </a:bodyPr>
          <a:lstStyle/>
          <a:p>
            <a:pPr marL="321945">
              <a:lnSpc>
                <a:spcPct val="100000"/>
              </a:lnSpc>
              <a:spcBef>
                <a:spcPts val="105"/>
              </a:spcBef>
            </a:pPr>
            <a:r>
              <a:rPr dirty="0"/>
              <a:t>Vector</a:t>
            </a:r>
            <a:r>
              <a:rPr dirty="0" spc="-100"/>
              <a:t> </a:t>
            </a:r>
            <a:r>
              <a:rPr dirty="0" spc="-10"/>
              <a:t>Quantization</a:t>
            </a:r>
          </a:p>
        </p:txBody>
      </p:sp>
      <p:sp>
        <p:nvSpPr>
          <p:cNvPr id="21" name="object 21" descr=""/>
          <p:cNvSpPr txBox="1"/>
          <p:nvPr/>
        </p:nvSpPr>
        <p:spPr>
          <a:xfrm>
            <a:off x="6807022" y="1963128"/>
            <a:ext cx="181800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333333"/>
                </a:solidFill>
                <a:latin typeface="Tahoma"/>
                <a:cs typeface="Tahoma"/>
              </a:rPr>
              <a:t>encoding</a:t>
            </a:r>
            <a:r>
              <a:rPr dirty="0" sz="2000" spc="-45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333333"/>
                </a:solidFill>
                <a:latin typeface="Tahoma"/>
                <a:cs typeface="Tahoma"/>
              </a:rPr>
              <a:t>region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6807022" y="5476976"/>
            <a:ext cx="143764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333333"/>
                </a:solidFill>
                <a:latin typeface="Tahoma"/>
                <a:cs typeface="Tahoma"/>
              </a:rPr>
              <a:t>code</a:t>
            </a:r>
            <a:r>
              <a:rPr dirty="0" sz="2000" spc="-2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333333"/>
                </a:solidFill>
                <a:latin typeface="Tahoma"/>
                <a:cs typeface="Tahoma"/>
              </a:rPr>
              <a:t>vectors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7253223" y="3490683"/>
            <a:ext cx="1254125" cy="636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333333"/>
                </a:solidFill>
                <a:latin typeface="Tahoma"/>
                <a:cs typeface="Tahoma"/>
              </a:rPr>
              <a:t>partition</a:t>
            </a:r>
            <a:r>
              <a:rPr dirty="0" sz="2000" spc="-75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2000" spc="-25">
                <a:solidFill>
                  <a:srgbClr val="333333"/>
                </a:solidFill>
                <a:latin typeface="Tahoma"/>
                <a:cs typeface="Tahoma"/>
              </a:rPr>
              <a:t>of </a:t>
            </a:r>
            <a:r>
              <a:rPr dirty="0" sz="2000">
                <a:solidFill>
                  <a:srgbClr val="333333"/>
                </a:solidFill>
                <a:latin typeface="Tahoma"/>
                <a:cs typeface="Tahoma"/>
              </a:rPr>
              <a:t>the</a:t>
            </a:r>
            <a:r>
              <a:rPr dirty="0" sz="2000" spc="-25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333333"/>
                </a:solidFill>
                <a:latin typeface="Tahoma"/>
                <a:cs typeface="Tahoma"/>
              </a:rPr>
              <a:t>space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5713958" y="2142058"/>
            <a:ext cx="1405890" cy="3519804"/>
            <a:chOff x="5713958" y="2142058"/>
            <a:chExt cx="1405890" cy="3519804"/>
          </a:xfrm>
        </p:grpSpPr>
        <p:sp>
          <p:nvSpPr>
            <p:cNvPr id="25" name="object 25" descr=""/>
            <p:cNvSpPr/>
            <p:nvPr/>
          </p:nvSpPr>
          <p:spPr>
            <a:xfrm>
              <a:off x="5713958" y="2142057"/>
              <a:ext cx="1090295" cy="3519804"/>
            </a:xfrm>
            <a:custGeom>
              <a:avLst/>
              <a:gdLst/>
              <a:ahLst/>
              <a:cxnLst/>
              <a:rect l="l" t="t" r="r" b="b"/>
              <a:pathLst>
                <a:path w="1090295" h="3519804">
                  <a:moveTo>
                    <a:pt x="1090295" y="3519208"/>
                  </a:moveTo>
                  <a:lnTo>
                    <a:pt x="1088148" y="3509060"/>
                  </a:lnTo>
                  <a:lnTo>
                    <a:pt x="1067549" y="3411575"/>
                  </a:lnTo>
                  <a:lnTo>
                    <a:pt x="1066736" y="3409048"/>
                  </a:lnTo>
                  <a:lnTo>
                    <a:pt x="1056462" y="3401580"/>
                  </a:lnTo>
                  <a:lnTo>
                    <a:pt x="1053744" y="3401580"/>
                  </a:lnTo>
                  <a:lnTo>
                    <a:pt x="1042416" y="3414191"/>
                  </a:lnTo>
                  <a:lnTo>
                    <a:pt x="1042695" y="3416833"/>
                  </a:lnTo>
                  <a:lnTo>
                    <a:pt x="1051204" y="3457168"/>
                  </a:lnTo>
                  <a:lnTo>
                    <a:pt x="1056347" y="3481463"/>
                  </a:lnTo>
                  <a:lnTo>
                    <a:pt x="1056424" y="3481844"/>
                  </a:lnTo>
                  <a:lnTo>
                    <a:pt x="1051204" y="3457168"/>
                  </a:lnTo>
                  <a:lnTo>
                    <a:pt x="18821" y="2318169"/>
                  </a:lnTo>
                  <a:lnTo>
                    <a:pt x="0" y="2335225"/>
                  </a:lnTo>
                  <a:lnTo>
                    <a:pt x="1032395" y="3474250"/>
                  </a:lnTo>
                  <a:lnTo>
                    <a:pt x="993241" y="3461867"/>
                  </a:lnTo>
                  <a:lnTo>
                    <a:pt x="990536" y="3461296"/>
                  </a:lnTo>
                  <a:lnTo>
                    <a:pt x="987831" y="3461296"/>
                  </a:lnTo>
                  <a:lnTo>
                    <a:pt x="976553" y="3474021"/>
                  </a:lnTo>
                  <a:lnTo>
                    <a:pt x="976845" y="3476663"/>
                  </a:lnTo>
                  <a:lnTo>
                    <a:pt x="985418" y="3486023"/>
                  </a:lnTo>
                  <a:lnTo>
                    <a:pt x="1090295" y="3519208"/>
                  </a:lnTo>
                  <a:close/>
                </a:path>
                <a:path w="1090295" h="3519804">
                  <a:moveTo>
                    <a:pt x="1090295" y="20154"/>
                  </a:moveTo>
                  <a:lnTo>
                    <a:pt x="1071765" y="16738"/>
                  </a:lnTo>
                  <a:lnTo>
                    <a:pt x="982129" y="203"/>
                  </a:lnTo>
                  <a:lnTo>
                    <a:pt x="979474" y="0"/>
                  </a:lnTo>
                  <a:lnTo>
                    <a:pt x="967155" y="11709"/>
                  </a:lnTo>
                  <a:lnTo>
                    <a:pt x="967232" y="14363"/>
                  </a:lnTo>
                  <a:lnTo>
                    <a:pt x="1018057" y="32664"/>
                  </a:lnTo>
                  <a:lnTo>
                    <a:pt x="221894" y="319481"/>
                  </a:lnTo>
                  <a:lnTo>
                    <a:pt x="230492" y="343382"/>
                  </a:lnTo>
                  <a:lnTo>
                    <a:pt x="1026680" y="56565"/>
                  </a:lnTo>
                  <a:lnTo>
                    <a:pt x="1000213" y="88188"/>
                  </a:lnTo>
                  <a:lnTo>
                    <a:pt x="998728" y="90385"/>
                  </a:lnTo>
                  <a:lnTo>
                    <a:pt x="997737" y="92849"/>
                  </a:lnTo>
                  <a:lnTo>
                    <a:pt x="997280" y="95465"/>
                  </a:lnTo>
                  <a:lnTo>
                    <a:pt x="997381" y="98120"/>
                  </a:lnTo>
                  <a:lnTo>
                    <a:pt x="1010412" y="109029"/>
                  </a:lnTo>
                  <a:lnTo>
                    <a:pt x="1013040" y="108661"/>
                  </a:lnTo>
                  <a:lnTo>
                    <a:pt x="1015530" y="107746"/>
                  </a:lnTo>
                  <a:lnTo>
                    <a:pt x="1017778" y="106337"/>
                  </a:lnTo>
                  <a:lnTo>
                    <a:pt x="1019683" y="104482"/>
                  </a:lnTo>
                  <a:lnTo>
                    <a:pt x="1090295" y="20154"/>
                  </a:lnTo>
                  <a:close/>
                </a:path>
              </a:pathLst>
            </a:custGeom>
            <a:solidFill>
              <a:srgbClr val="00E4A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6804660" y="2276856"/>
              <a:ext cx="314960" cy="3168650"/>
            </a:xfrm>
            <a:custGeom>
              <a:avLst/>
              <a:gdLst/>
              <a:ahLst/>
              <a:cxnLst/>
              <a:rect l="l" t="t" r="r" b="b"/>
              <a:pathLst>
                <a:path w="314959" h="3168650">
                  <a:moveTo>
                    <a:pt x="0" y="0"/>
                  </a:moveTo>
                  <a:lnTo>
                    <a:pt x="0" y="3168396"/>
                  </a:lnTo>
                  <a:lnTo>
                    <a:pt x="16033" y="3164705"/>
                  </a:lnTo>
                  <a:lnTo>
                    <a:pt x="46652" y="3136279"/>
                  </a:lnTo>
                  <a:lnTo>
                    <a:pt x="74806" y="3082180"/>
                  </a:lnTo>
                  <a:lnTo>
                    <a:pt x="99854" y="3005270"/>
                  </a:lnTo>
                  <a:lnTo>
                    <a:pt x="111013" y="2959155"/>
                  </a:lnTo>
                  <a:lnTo>
                    <a:pt x="121156" y="2908411"/>
                  </a:lnTo>
                  <a:lnTo>
                    <a:pt x="130203" y="2853396"/>
                  </a:lnTo>
                  <a:lnTo>
                    <a:pt x="138072" y="2794467"/>
                  </a:lnTo>
                  <a:lnTo>
                    <a:pt x="144685" y="2731982"/>
                  </a:lnTo>
                  <a:lnTo>
                    <a:pt x="149962" y="2666299"/>
                  </a:lnTo>
                  <a:lnTo>
                    <a:pt x="153822" y="2597776"/>
                  </a:lnTo>
                  <a:lnTo>
                    <a:pt x="156185" y="2526770"/>
                  </a:lnTo>
                  <a:lnTo>
                    <a:pt x="156972" y="2453640"/>
                  </a:lnTo>
                  <a:lnTo>
                    <a:pt x="156972" y="2243328"/>
                  </a:lnTo>
                  <a:lnTo>
                    <a:pt x="157812" y="2170226"/>
                  </a:lnTo>
                  <a:lnTo>
                    <a:pt x="160222" y="2099246"/>
                  </a:lnTo>
                  <a:lnTo>
                    <a:pt x="164124" y="2030746"/>
                  </a:lnTo>
                  <a:lnTo>
                    <a:pt x="169438" y="1965083"/>
                  </a:lnTo>
                  <a:lnTo>
                    <a:pt x="176086" y="1902615"/>
                  </a:lnTo>
                  <a:lnTo>
                    <a:pt x="183989" y="1843701"/>
                  </a:lnTo>
                  <a:lnTo>
                    <a:pt x="193067" y="1788699"/>
                  </a:lnTo>
                  <a:lnTo>
                    <a:pt x="203242" y="1737966"/>
                  </a:lnTo>
                  <a:lnTo>
                    <a:pt x="214435" y="1691861"/>
                  </a:lnTo>
                  <a:lnTo>
                    <a:pt x="226567" y="1650741"/>
                  </a:lnTo>
                  <a:lnTo>
                    <a:pt x="253332" y="1584892"/>
                  </a:lnTo>
                  <a:lnTo>
                    <a:pt x="282905" y="1543281"/>
                  </a:lnTo>
                  <a:lnTo>
                    <a:pt x="314655" y="1528775"/>
                  </a:lnTo>
                  <a:lnTo>
                    <a:pt x="298547" y="1525089"/>
                  </a:lnTo>
                  <a:lnTo>
                    <a:pt x="267807" y="1496679"/>
                  </a:lnTo>
                  <a:lnTo>
                    <a:pt x="239559" y="1442618"/>
                  </a:lnTo>
                  <a:lnTo>
                    <a:pt x="214435" y="1365782"/>
                  </a:lnTo>
                  <a:lnTo>
                    <a:pt x="203242" y="1319723"/>
                  </a:lnTo>
                  <a:lnTo>
                    <a:pt x="193067" y="1269050"/>
                  </a:lnTo>
                  <a:lnTo>
                    <a:pt x="183989" y="1214121"/>
                  </a:lnTo>
                  <a:lnTo>
                    <a:pt x="176086" y="1155297"/>
                  </a:lnTo>
                  <a:lnTo>
                    <a:pt x="169438" y="1092938"/>
                  </a:lnTo>
                  <a:lnTo>
                    <a:pt x="164124" y="1027403"/>
                  </a:lnTo>
                  <a:lnTo>
                    <a:pt x="160222" y="959052"/>
                  </a:lnTo>
                  <a:lnTo>
                    <a:pt x="157812" y="888244"/>
                  </a:lnTo>
                  <a:lnTo>
                    <a:pt x="156972" y="815340"/>
                  </a:lnTo>
                  <a:lnTo>
                    <a:pt x="156972" y="714756"/>
                  </a:lnTo>
                  <a:lnTo>
                    <a:pt x="156185" y="641623"/>
                  </a:lnTo>
                  <a:lnTo>
                    <a:pt x="153822" y="570615"/>
                  </a:lnTo>
                  <a:lnTo>
                    <a:pt x="149962" y="502090"/>
                  </a:lnTo>
                  <a:lnTo>
                    <a:pt x="144685" y="436406"/>
                  </a:lnTo>
                  <a:lnTo>
                    <a:pt x="138072" y="373920"/>
                  </a:lnTo>
                  <a:lnTo>
                    <a:pt x="130203" y="314990"/>
                  </a:lnTo>
                  <a:lnTo>
                    <a:pt x="121156" y="259974"/>
                  </a:lnTo>
                  <a:lnTo>
                    <a:pt x="111013" y="209230"/>
                  </a:lnTo>
                  <a:lnTo>
                    <a:pt x="99854" y="163116"/>
                  </a:lnTo>
                  <a:lnTo>
                    <a:pt x="87758" y="121989"/>
                  </a:lnTo>
                  <a:lnTo>
                    <a:pt x="61077" y="56129"/>
                  </a:lnTo>
                  <a:lnTo>
                    <a:pt x="31611" y="14511"/>
                  </a:lnTo>
                  <a:lnTo>
                    <a:pt x="16033" y="36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4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6803974" y="2274976"/>
              <a:ext cx="308610" cy="3175000"/>
            </a:xfrm>
            <a:custGeom>
              <a:avLst/>
              <a:gdLst/>
              <a:ahLst/>
              <a:cxnLst/>
              <a:rect l="l" t="t" r="r" b="b"/>
              <a:pathLst>
                <a:path w="308609" h="3175000">
                  <a:moveTo>
                    <a:pt x="14604" y="3162300"/>
                  </a:moveTo>
                  <a:lnTo>
                    <a:pt x="10617" y="3175000"/>
                  </a:lnTo>
                  <a:lnTo>
                    <a:pt x="14185" y="3175000"/>
                  </a:lnTo>
                  <a:lnTo>
                    <a:pt x="14604" y="3162300"/>
                  </a:lnTo>
                  <a:close/>
                </a:path>
                <a:path w="308609" h="3175000">
                  <a:moveTo>
                    <a:pt x="35255" y="3162300"/>
                  </a:moveTo>
                  <a:lnTo>
                    <a:pt x="18148" y="3162300"/>
                  </a:lnTo>
                  <a:lnTo>
                    <a:pt x="14185" y="3175000"/>
                  </a:lnTo>
                  <a:lnTo>
                    <a:pt x="31153" y="3175000"/>
                  </a:lnTo>
                  <a:lnTo>
                    <a:pt x="35255" y="3162300"/>
                  </a:lnTo>
                  <a:close/>
                </a:path>
                <a:path w="308609" h="3175000">
                  <a:moveTo>
                    <a:pt x="47155" y="3149600"/>
                  </a:moveTo>
                  <a:lnTo>
                    <a:pt x="32499" y="3149600"/>
                  </a:lnTo>
                  <a:lnTo>
                    <a:pt x="28676" y="3162300"/>
                  </a:lnTo>
                  <a:lnTo>
                    <a:pt x="43256" y="3162300"/>
                  </a:lnTo>
                  <a:lnTo>
                    <a:pt x="47155" y="3149600"/>
                  </a:lnTo>
                  <a:close/>
                </a:path>
                <a:path w="308609" h="3175000">
                  <a:moveTo>
                    <a:pt x="54787" y="3136900"/>
                  </a:moveTo>
                  <a:lnTo>
                    <a:pt x="43179" y="3136900"/>
                  </a:lnTo>
                  <a:lnTo>
                    <a:pt x="39573" y="3149600"/>
                  </a:lnTo>
                  <a:lnTo>
                    <a:pt x="51003" y="3149600"/>
                  </a:lnTo>
                  <a:lnTo>
                    <a:pt x="54787" y="3136900"/>
                  </a:lnTo>
                  <a:close/>
                </a:path>
                <a:path w="308609" h="3175000">
                  <a:moveTo>
                    <a:pt x="62191" y="3124200"/>
                  </a:moveTo>
                  <a:lnTo>
                    <a:pt x="53848" y="3124200"/>
                  </a:lnTo>
                  <a:lnTo>
                    <a:pt x="50317" y="3136900"/>
                  </a:lnTo>
                  <a:lnTo>
                    <a:pt x="58521" y="3136900"/>
                  </a:lnTo>
                  <a:lnTo>
                    <a:pt x="62191" y="3124200"/>
                  </a:lnTo>
                  <a:close/>
                </a:path>
                <a:path w="308609" h="3175000">
                  <a:moveTo>
                    <a:pt x="79781" y="3086100"/>
                  </a:moveTo>
                  <a:lnTo>
                    <a:pt x="70967" y="3086100"/>
                  </a:lnTo>
                  <a:lnTo>
                    <a:pt x="67640" y="3098800"/>
                  </a:lnTo>
                  <a:lnTo>
                    <a:pt x="64262" y="3098800"/>
                  </a:lnTo>
                  <a:lnTo>
                    <a:pt x="60858" y="3111500"/>
                  </a:lnTo>
                  <a:lnTo>
                    <a:pt x="57403" y="3124200"/>
                  </a:lnTo>
                  <a:lnTo>
                    <a:pt x="65811" y="3124200"/>
                  </a:lnTo>
                  <a:lnTo>
                    <a:pt x="69380" y="3111500"/>
                  </a:lnTo>
                  <a:lnTo>
                    <a:pt x="72898" y="3111500"/>
                  </a:lnTo>
                  <a:lnTo>
                    <a:pt x="76365" y="3098800"/>
                  </a:lnTo>
                  <a:lnTo>
                    <a:pt x="79781" y="3086100"/>
                  </a:lnTo>
                  <a:close/>
                </a:path>
                <a:path w="308609" h="3175000">
                  <a:moveTo>
                    <a:pt x="254762" y="1600200"/>
                  </a:moveTo>
                  <a:lnTo>
                    <a:pt x="242709" y="1600200"/>
                  </a:lnTo>
                  <a:lnTo>
                    <a:pt x="239255" y="1612900"/>
                  </a:lnTo>
                  <a:lnTo>
                    <a:pt x="235839" y="1625600"/>
                  </a:lnTo>
                  <a:lnTo>
                    <a:pt x="232486" y="1625600"/>
                  </a:lnTo>
                  <a:lnTo>
                    <a:pt x="229184" y="1638300"/>
                  </a:lnTo>
                  <a:lnTo>
                    <a:pt x="225932" y="1651000"/>
                  </a:lnTo>
                  <a:lnTo>
                    <a:pt x="222732" y="1663700"/>
                  </a:lnTo>
                  <a:lnTo>
                    <a:pt x="219595" y="1663700"/>
                  </a:lnTo>
                  <a:lnTo>
                    <a:pt x="216509" y="1676400"/>
                  </a:lnTo>
                  <a:lnTo>
                    <a:pt x="210540" y="1701800"/>
                  </a:lnTo>
                  <a:lnTo>
                    <a:pt x="204787" y="1727200"/>
                  </a:lnTo>
                  <a:lnTo>
                    <a:pt x="199301" y="1739900"/>
                  </a:lnTo>
                  <a:lnTo>
                    <a:pt x="194068" y="1765300"/>
                  </a:lnTo>
                  <a:lnTo>
                    <a:pt x="189090" y="1790700"/>
                  </a:lnTo>
                  <a:lnTo>
                    <a:pt x="184403" y="1828800"/>
                  </a:lnTo>
                  <a:lnTo>
                    <a:pt x="179997" y="1854200"/>
                  </a:lnTo>
                  <a:lnTo>
                    <a:pt x="175895" y="1879600"/>
                  </a:lnTo>
                  <a:lnTo>
                    <a:pt x="172097" y="1905000"/>
                  </a:lnTo>
                  <a:lnTo>
                    <a:pt x="168605" y="1943100"/>
                  </a:lnTo>
                  <a:lnTo>
                    <a:pt x="165442" y="1968500"/>
                  </a:lnTo>
                  <a:lnTo>
                    <a:pt x="162623" y="2006600"/>
                  </a:lnTo>
                  <a:lnTo>
                    <a:pt x="160134" y="2032000"/>
                  </a:lnTo>
                  <a:lnTo>
                    <a:pt x="158013" y="2070100"/>
                  </a:lnTo>
                  <a:lnTo>
                    <a:pt x="156248" y="2108200"/>
                  </a:lnTo>
                  <a:lnTo>
                    <a:pt x="154863" y="2146300"/>
                  </a:lnTo>
                  <a:lnTo>
                    <a:pt x="153860" y="2171700"/>
                  </a:lnTo>
                  <a:lnTo>
                    <a:pt x="153250" y="2209800"/>
                  </a:lnTo>
                  <a:lnTo>
                    <a:pt x="153047" y="2247900"/>
                  </a:lnTo>
                  <a:lnTo>
                    <a:pt x="153047" y="2463800"/>
                  </a:lnTo>
                  <a:lnTo>
                    <a:pt x="152844" y="2501900"/>
                  </a:lnTo>
                  <a:lnTo>
                    <a:pt x="152234" y="2540000"/>
                  </a:lnTo>
                  <a:lnTo>
                    <a:pt x="151231" y="2565400"/>
                  </a:lnTo>
                  <a:lnTo>
                    <a:pt x="149847" y="2603500"/>
                  </a:lnTo>
                  <a:lnTo>
                    <a:pt x="148094" y="2641600"/>
                  </a:lnTo>
                  <a:lnTo>
                    <a:pt x="145973" y="2679700"/>
                  </a:lnTo>
                  <a:lnTo>
                    <a:pt x="143510" y="2705100"/>
                  </a:lnTo>
                  <a:lnTo>
                    <a:pt x="140690" y="2743200"/>
                  </a:lnTo>
                  <a:lnTo>
                    <a:pt x="137541" y="2768600"/>
                  </a:lnTo>
                  <a:lnTo>
                    <a:pt x="134073" y="2806700"/>
                  </a:lnTo>
                  <a:lnTo>
                    <a:pt x="130289" y="2832100"/>
                  </a:lnTo>
                  <a:lnTo>
                    <a:pt x="126199" y="2857500"/>
                  </a:lnTo>
                  <a:lnTo>
                    <a:pt x="121818" y="2882900"/>
                  </a:lnTo>
                  <a:lnTo>
                    <a:pt x="117157" y="2921000"/>
                  </a:lnTo>
                  <a:lnTo>
                    <a:pt x="112217" y="2946400"/>
                  </a:lnTo>
                  <a:lnTo>
                    <a:pt x="107022" y="2971800"/>
                  </a:lnTo>
                  <a:lnTo>
                    <a:pt x="101587" y="2984500"/>
                  </a:lnTo>
                  <a:lnTo>
                    <a:pt x="95897" y="3009900"/>
                  </a:lnTo>
                  <a:lnTo>
                    <a:pt x="89966" y="3035300"/>
                  </a:lnTo>
                  <a:lnTo>
                    <a:pt x="86931" y="3048000"/>
                  </a:lnTo>
                  <a:lnTo>
                    <a:pt x="83832" y="3048000"/>
                  </a:lnTo>
                  <a:lnTo>
                    <a:pt x="80695" y="3060700"/>
                  </a:lnTo>
                  <a:lnTo>
                    <a:pt x="77495" y="3073400"/>
                  </a:lnTo>
                  <a:lnTo>
                    <a:pt x="74256" y="3086100"/>
                  </a:lnTo>
                  <a:lnTo>
                    <a:pt x="83134" y="3086100"/>
                  </a:lnTo>
                  <a:lnTo>
                    <a:pt x="86436" y="3073400"/>
                  </a:lnTo>
                  <a:lnTo>
                    <a:pt x="89687" y="3060700"/>
                  </a:lnTo>
                  <a:lnTo>
                    <a:pt x="92875" y="3060700"/>
                  </a:lnTo>
                  <a:lnTo>
                    <a:pt x="96012" y="3048000"/>
                  </a:lnTo>
                  <a:lnTo>
                    <a:pt x="99098" y="3035300"/>
                  </a:lnTo>
                  <a:lnTo>
                    <a:pt x="105079" y="3009900"/>
                  </a:lnTo>
                  <a:lnTo>
                    <a:pt x="110820" y="2997200"/>
                  </a:lnTo>
                  <a:lnTo>
                    <a:pt x="121551" y="2946400"/>
                  </a:lnTo>
                  <a:lnTo>
                    <a:pt x="131216" y="2895600"/>
                  </a:lnTo>
                  <a:lnTo>
                    <a:pt x="135610" y="2857500"/>
                  </a:lnTo>
                  <a:lnTo>
                    <a:pt x="139725" y="2832100"/>
                  </a:lnTo>
                  <a:lnTo>
                    <a:pt x="143522" y="2806700"/>
                  </a:lnTo>
                  <a:lnTo>
                    <a:pt x="147015" y="2768600"/>
                  </a:lnTo>
                  <a:lnTo>
                    <a:pt x="150164" y="2743200"/>
                  </a:lnTo>
                  <a:lnTo>
                    <a:pt x="152996" y="2705100"/>
                  </a:lnTo>
                  <a:lnTo>
                    <a:pt x="155473" y="2679700"/>
                  </a:lnTo>
                  <a:lnTo>
                    <a:pt x="157606" y="2641600"/>
                  </a:lnTo>
                  <a:lnTo>
                    <a:pt x="159359" y="2603500"/>
                  </a:lnTo>
                  <a:lnTo>
                    <a:pt x="160756" y="2565400"/>
                  </a:lnTo>
                  <a:lnTo>
                    <a:pt x="161759" y="2540000"/>
                  </a:lnTo>
                  <a:lnTo>
                    <a:pt x="162369" y="2501900"/>
                  </a:lnTo>
                  <a:lnTo>
                    <a:pt x="162572" y="2463800"/>
                  </a:lnTo>
                  <a:lnTo>
                    <a:pt x="162572" y="2247900"/>
                  </a:lnTo>
                  <a:lnTo>
                    <a:pt x="162775" y="2209800"/>
                  </a:lnTo>
                  <a:lnTo>
                    <a:pt x="164376" y="2146300"/>
                  </a:lnTo>
                  <a:lnTo>
                    <a:pt x="165760" y="2108200"/>
                  </a:lnTo>
                  <a:lnTo>
                    <a:pt x="167525" y="2070100"/>
                  </a:lnTo>
                  <a:lnTo>
                    <a:pt x="169633" y="2044700"/>
                  </a:lnTo>
                  <a:lnTo>
                    <a:pt x="172110" y="2006600"/>
                  </a:lnTo>
                  <a:lnTo>
                    <a:pt x="174929" y="1968500"/>
                  </a:lnTo>
                  <a:lnTo>
                    <a:pt x="178079" y="1943100"/>
                  </a:lnTo>
                  <a:lnTo>
                    <a:pt x="181546" y="1905000"/>
                  </a:lnTo>
                  <a:lnTo>
                    <a:pt x="189420" y="1854200"/>
                  </a:lnTo>
                  <a:lnTo>
                    <a:pt x="198462" y="1803400"/>
                  </a:lnTo>
                  <a:lnTo>
                    <a:pt x="208584" y="1752600"/>
                  </a:lnTo>
                  <a:lnTo>
                    <a:pt x="219722" y="1701800"/>
                  </a:lnTo>
                  <a:lnTo>
                    <a:pt x="225640" y="1676400"/>
                  </a:lnTo>
                  <a:lnTo>
                    <a:pt x="228688" y="1676400"/>
                  </a:lnTo>
                  <a:lnTo>
                    <a:pt x="231775" y="1663700"/>
                  </a:lnTo>
                  <a:lnTo>
                    <a:pt x="234924" y="1651000"/>
                  </a:lnTo>
                  <a:lnTo>
                    <a:pt x="238112" y="1638300"/>
                  </a:lnTo>
                  <a:lnTo>
                    <a:pt x="241363" y="1638300"/>
                  </a:lnTo>
                  <a:lnTo>
                    <a:pt x="244652" y="1625600"/>
                  </a:lnTo>
                  <a:lnTo>
                    <a:pt x="247980" y="1612900"/>
                  </a:lnTo>
                  <a:lnTo>
                    <a:pt x="251345" y="1612900"/>
                  </a:lnTo>
                  <a:lnTo>
                    <a:pt x="254762" y="1600200"/>
                  </a:lnTo>
                  <a:close/>
                </a:path>
                <a:path w="308609" h="3175000">
                  <a:moveTo>
                    <a:pt x="261696" y="1587500"/>
                  </a:moveTo>
                  <a:lnTo>
                    <a:pt x="249796" y="1587500"/>
                  </a:lnTo>
                  <a:lnTo>
                    <a:pt x="246227" y="1600200"/>
                  </a:lnTo>
                  <a:lnTo>
                    <a:pt x="258216" y="1600200"/>
                  </a:lnTo>
                  <a:lnTo>
                    <a:pt x="261696" y="1587500"/>
                  </a:lnTo>
                  <a:close/>
                </a:path>
                <a:path w="308609" h="3175000">
                  <a:moveTo>
                    <a:pt x="268859" y="1574800"/>
                  </a:moveTo>
                  <a:lnTo>
                    <a:pt x="257098" y="1574800"/>
                  </a:lnTo>
                  <a:lnTo>
                    <a:pt x="253428" y="1587500"/>
                  </a:lnTo>
                  <a:lnTo>
                    <a:pt x="265290" y="1587500"/>
                  </a:lnTo>
                  <a:lnTo>
                    <a:pt x="268859" y="1574800"/>
                  </a:lnTo>
                  <a:close/>
                </a:path>
                <a:path w="308609" h="3175000">
                  <a:moveTo>
                    <a:pt x="276047" y="1562100"/>
                  </a:moveTo>
                  <a:lnTo>
                    <a:pt x="264617" y="1562100"/>
                  </a:lnTo>
                  <a:lnTo>
                    <a:pt x="260832" y="1574800"/>
                  </a:lnTo>
                  <a:lnTo>
                    <a:pt x="272440" y="1574800"/>
                  </a:lnTo>
                  <a:lnTo>
                    <a:pt x="276047" y="1562100"/>
                  </a:lnTo>
                  <a:close/>
                </a:path>
                <a:path w="308609" h="3175000">
                  <a:moveTo>
                    <a:pt x="286943" y="1549400"/>
                  </a:moveTo>
                  <a:lnTo>
                    <a:pt x="276326" y="1549400"/>
                  </a:lnTo>
                  <a:lnTo>
                    <a:pt x="272364" y="1562100"/>
                  </a:lnTo>
                  <a:lnTo>
                    <a:pt x="283108" y="1562100"/>
                  </a:lnTo>
                  <a:lnTo>
                    <a:pt x="286943" y="1549400"/>
                  </a:lnTo>
                  <a:close/>
                </a:path>
                <a:path w="308609" h="3175000">
                  <a:moveTo>
                    <a:pt x="301015" y="1524000"/>
                  </a:moveTo>
                  <a:lnTo>
                    <a:pt x="284467" y="1524000"/>
                  </a:lnTo>
                  <a:lnTo>
                    <a:pt x="288645" y="1536700"/>
                  </a:lnTo>
                  <a:lnTo>
                    <a:pt x="284467" y="1549400"/>
                  </a:lnTo>
                  <a:lnTo>
                    <a:pt x="304533" y="1549400"/>
                  </a:lnTo>
                  <a:lnTo>
                    <a:pt x="308546" y="1536700"/>
                  </a:lnTo>
                  <a:lnTo>
                    <a:pt x="305003" y="1536700"/>
                  </a:lnTo>
                  <a:lnTo>
                    <a:pt x="301015" y="1524000"/>
                  </a:lnTo>
                  <a:close/>
                </a:path>
                <a:path w="308609" h="3175000">
                  <a:moveTo>
                    <a:pt x="304533" y="1524000"/>
                  </a:moveTo>
                  <a:lnTo>
                    <a:pt x="305003" y="1536700"/>
                  </a:lnTo>
                  <a:lnTo>
                    <a:pt x="308546" y="1536700"/>
                  </a:lnTo>
                  <a:lnTo>
                    <a:pt x="304533" y="1524000"/>
                  </a:lnTo>
                  <a:close/>
                </a:path>
                <a:path w="308609" h="3175000">
                  <a:moveTo>
                    <a:pt x="283108" y="1511300"/>
                  </a:moveTo>
                  <a:lnTo>
                    <a:pt x="272364" y="1511300"/>
                  </a:lnTo>
                  <a:lnTo>
                    <a:pt x="276326" y="1524000"/>
                  </a:lnTo>
                  <a:lnTo>
                    <a:pt x="286943" y="1524000"/>
                  </a:lnTo>
                  <a:lnTo>
                    <a:pt x="283108" y="1511300"/>
                  </a:lnTo>
                  <a:close/>
                </a:path>
                <a:path w="308609" h="3175000">
                  <a:moveTo>
                    <a:pt x="272326" y="1498600"/>
                  </a:moveTo>
                  <a:lnTo>
                    <a:pt x="260832" y="1498600"/>
                  </a:lnTo>
                  <a:lnTo>
                    <a:pt x="264617" y="1511300"/>
                  </a:lnTo>
                  <a:lnTo>
                    <a:pt x="276047" y="1511300"/>
                  </a:lnTo>
                  <a:lnTo>
                    <a:pt x="272326" y="1498600"/>
                  </a:lnTo>
                  <a:close/>
                </a:path>
                <a:path w="308609" h="3175000">
                  <a:moveTo>
                    <a:pt x="265214" y="1485900"/>
                  </a:moveTo>
                  <a:lnTo>
                    <a:pt x="253428" y="1485900"/>
                  </a:lnTo>
                  <a:lnTo>
                    <a:pt x="257098" y="1498600"/>
                  </a:lnTo>
                  <a:lnTo>
                    <a:pt x="268757" y="1498600"/>
                  </a:lnTo>
                  <a:lnTo>
                    <a:pt x="265214" y="1485900"/>
                  </a:lnTo>
                  <a:close/>
                </a:path>
                <a:path w="308609" h="3175000">
                  <a:moveTo>
                    <a:pt x="258279" y="1473200"/>
                  </a:moveTo>
                  <a:lnTo>
                    <a:pt x="246227" y="1473200"/>
                  </a:lnTo>
                  <a:lnTo>
                    <a:pt x="249796" y="1485900"/>
                  </a:lnTo>
                  <a:lnTo>
                    <a:pt x="261772" y="1485900"/>
                  </a:lnTo>
                  <a:lnTo>
                    <a:pt x="258279" y="1473200"/>
                  </a:lnTo>
                  <a:close/>
                </a:path>
                <a:path w="308609" h="3175000">
                  <a:moveTo>
                    <a:pt x="69380" y="63500"/>
                  </a:moveTo>
                  <a:lnTo>
                    <a:pt x="57340" y="63500"/>
                  </a:lnTo>
                  <a:lnTo>
                    <a:pt x="60794" y="76200"/>
                  </a:lnTo>
                  <a:lnTo>
                    <a:pt x="64223" y="76200"/>
                  </a:lnTo>
                  <a:lnTo>
                    <a:pt x="67602" y="88900"/>
                  </a:lnTo>
                  <a:lnTo>
                    <a:pt x="70929" y="101600"/>
                  </a:lnTo>
                  <a:lnTo>
                    <a:pt x="74231" y="101600"/>
                  </a:lnTo>
                  <a:lnTo>
                    <a:pt x="77470" y="114300"/>
                  </a:lnTo>
                  <a:lnTo>
                    <a:pt x="80670" y="127000"/>
                  </a:lnTo>
                  <a:lnTo>
                    <a:pt x="83820" y="127000"/>
                  </a:lnTo>
                  <a:lnTo>
                    <a:pt x="86906" y="139700"/>
                  </a:lnTo>
                  <a:lnTo>
                    <a:pt x="89941" y="152400"/>
                  </a:lnTo>
                  <a:lnTo>
                    <a:pt x="95859" y="177800"/>
                  </a:lnTo>
                  <a:lnTo>
                    <a:pt x="101561" y="190500"/>
                  </a:lnTo>
                  <a:lnTo>
                    <a:pt x="112204" y="241300"/>
                  </a:lnTo>
                  <a:lnTo>
                    <a:pt x="121805" y="292100"/>
                  </a:lnTo>
                  <a:lnTo>
                    <a:pt x="130276" y="355600"/>
                  </a:lnTo>
                  <a:lnTo>
                    <a:pt x="134061" y="381000"/>
                  </a:lnTo>
                  <a:lnTo>
                    <a:pt x="137541" y="419100"/>
                  </a:lnTo>
                  <a:lnTo>
                    <a:pt x="140677" y="444500"/>
                  </a:lnTo>
                  <a:lnTo>
                    <a:pt x="143497" y="482600"/>
                  </a:lnTo>
                  <a:lnTo>
                    <a:pt x="145973" y="508000"/>
                  </a:lnTo>
                  <a:lnTo>
                    <a:pt x="148094" y="546100"/>
                  </a:lnTo>
                  <a:lnTo>
                    <a:pt x="149847" y="584200"/>
                  </a:lnTo>
                  <a:lnTo>
                    <a:pt x="151231" y="609600"/>
                  </a:lnTo>
                  <a:lnTo>
                    <a:pt x="152234" y="647700"/>
                  </a:lnTo>
                  <a:lnTo>
                    <a:pt x="152844" y="685800"/>
                  </a:lnTo>
                  <a:lnTo>
                    <a:pt x="153047" y="723900"/>
                  </a:lnTo>
                  <a:lnTo>
                    <a:pt x="153047" y="825500"/>
                  </a:lnTo>
                  <a:lnTo>
                    <a:pt x="153250" y="863600"/>
                  </a:lnTo>
                  <a:lnTo>
                    <a:pt x="153860" y="901700"/>
                  </a:lnTo>
                  <a:lnTo>
                    <a:pt x="154863" y="927100"/>
                  </a:lnTo>
                  <a:lnTo>
                    <a:pt x="156248" y="965200"/>
                  </a:lnTo>
                  <a:lnTo>
                    <a:pt x="158013" y="1003300"/>
                  </a:lnTo>
                  <a:lnTo>
                    <a:pt x="160134" y="1041400"/>
                  </a:lnTo>
                  <a:lnTo>
                    <a:pt x="162623" y="1066800"/>
                  </a:lnTo>
                  <a:lnTo>
                    <a:pt x="165442" y="1104900"/>
                  </a:lnTo>
                  <a:lnTo>
                    <a:pt x="168605" y="1130300"/>
                  </a:lnTo>
                  <a:lnTo>
                    <a:pt x="172097" y="1168400"/>
                  </a:lnTo>
                  <a:lnTo>
                    <a:pt x="175895" y="1193800"/>
                  </a:lnTo>
                  <a:lnTo>
                    <a:pt x="179997" y="1219200"/>
                  </a:lnTo>
                  <a:lnTo>
                    <a:pt x="184403" y="1257300"/>
                  </a:lnTo>
                  <a:lnTo>
                    <a:pt x="189090" y="1282700"/>
                  </a:lnTo>
                  <a:lnTo>
                    <a:pt x="194068" y="1308100"/>
                  </a:lnTo>
                  <a:lnTo>
                    <a:pt x="199301" y="1333500"/>
                  </a:lnTo>
                  <a:lnTo>
                    <a:pt x="204787" y="1358900"/>
                  </a:lnTo>
                  <a:lnTo>
                    <a:pt x="210540" y="1371600"/>
                  </a:lnTo>
                  <a:lnTo>
                    <a:pt x="216509" y="1397000"/>
                  </a:lnTo>
                  <a:lnTo>
                    <a:pt x="219595" y="1409700"/>
                  </a:lnTo>
                  <a:lnTo>
                    <a:pt x="222732" y="1422400"/>
                  </a:lnTo>
                  <a:lnTo>
                    <a:pt x="225932" y="1422400"/>
                  </a:lnTo>
                  <a:lnTo>
                    <a:pt x="229184" y="1435100"/>
                  </a:lnTo>
                  <a:lnTo>
                    <a:pt x="232486" y="1447800"/>
                  </a:lnTo>
                  <a:lnTo>
                    <a:pt x="235839" y="1447800"/>
                  </a:lnTo>
                  <a:lnTo>
                    <a:pt x="239255" y="1460500"/>
                  </a:lnTo>
                  <a:lnTo>
                    <a:pt x="242709" y="1473200"/>
                  </a:lnTo>
                  <a:lnTo>
                    <a:pt x="254812" y="1473200"/>
                  </a:lnTo>
                  <a:lnTo>
                    <a:pt x="251396" y="1460500"/>
                  </a:lnTo>
                  <a:lnTo>
                    <a:pt x="248018" y="1460500"/>
                  </a:lnTo>
                  <a:lnTo>
                    <a:pt x="244678" y="1447800"/>
                  </a:lnTo>
                  <a:lnTo>
                    <a:pt x="241388" y="1435100"/>
                  </a:lnTo>
                  <a:lnTo>
                    <a:pt x="238150" y="1435100"/>
                  </a:lnTo>
                  <a:lnTo>
                    <a:pt x="234950" y="1422400"/>
                  </a:lnTo>
                  <a:lnTo>
                    <a:pt x="231800" y="1409700"/>
                  </a:lnTo>
                  <a:lnTo>
                    <a:pt x="228701" y="1409700"/>
                  </a:lnTo>
                  <a:lnTo>
                    <a:pt x="225678" y="1397000"/>
                  </a:lnTo>
                  <a:lnTo>
                    <a:pt x="219748" y="1371600"/>
                  </a:lnTo>
                  <a:lnTo>
                    <a:pt x="214058" y="1346200"/>
                  </a:lnTo>
                  <a:lnTo>
                    <a:pt x="208610" y="1320800"/>
                  </a:lnTo>
                  <a:lnTo>
                    <a:pt x="203415" y="1308100"/>
                  </a:lnTo>
                  <a:lnTo>
                    <a:pt x="198475" y="1282700"/>
                  </a:lnTo>
                  <a:lnTo>
                    <a:pt x="193814" y="1244600"/>
                  </a:lnTo>
                  <a:lnTo>
                    <a:pt x="189433" y="1219200"/>
                  </a:lnTo>
                  <a:lnTo>
                    <a:pt x="185343" y="1193800"/>
                  </a:lnTo>
                  <a:lnTo>
                    <a:pt x="181559" y="1168400"/>
                  </a:lnTo>
                  <a:lnTo>
                    <a:pt x="178079" y="1130300"/>
                  </a:lnTo>
                  <a:lnTo>
                    <a:pt x="174929" y="1104900"/>
                  </a:lnTo>
                  <a:lnTo>
                    <a:pt x="172123" y="1066800"/>
                  </a:lnTo>
                  <a:lnTo>
                    <a:pt x="169646" y="1028700"/>
                  </a:lnTo>
                  <a:lnTo>
                    <a:pt x="167525" y="1003300"/>
                  </a:lnTo>
                  <a:lnTo>
                    <a:pt x="165773" y="965200"/>
                  </a:lnTo>
                  <a:lnTo>
                    <a:pt x="164388" y="927100"/>
                  </a:lnTo>
                  <a:lnTo>
                    <a:pt x="163385" y="901700"/>
                  </a:lnTo>
                  <a:lnTo>
                    <a:pt x="162775" y="863600"/>
                  </a:lnTo>
                  <a:lnTo>
                    <a:pt x="162572" y="825500"/>
                  </a:lnTo>
                  <a:lnTo>
                    <a:pt x="162572" y="723900"/>
                  </a:lnTo>
                  <a:lnTo>
                    <a:pt x="162369" y="685800"/>
                  </a:lnTo>
                  <a:lnTo>
                    <a:pt x="161759" y="647700"/>
                  </a:lnTo>
                  <a:lnTo>
                    <a:pt x="160756" y="609600"/>
                  </a:lnTo>
                  <a:lnTo>
                    <a:pt x="159359" y="584200"/>
                  </a:lnTo>
                  <a:lnTo>
                    <a:pt x="157606" y="546100"/>
                  </a:lnTo>
                  <a:lnTo>
                    <a:pt x="155473" y="508000"/>
                  </a:lnTo>
                  <a:lnTo>
                    <a:pt x="152996" y="482600"/>
                  </a:lnTo>
                  <a:lnTo>
                    <a:pt x="150164" y="444500"/>
                  </a:lnTo>
                  <a:lnTo>
                    <a:pt x="147015" y="406400"/>
                  </a:lnTo>
                  <a:lnTo>
                    <a:pt x="143522" y="381000"/>
                  </a:lnTo>
                  <a:lnTo>
                    <a:pt x="139725" y="355600"/>
                  </a:lnTo>
                  <a:lnTo>
                    <a:pt x="135610" y="317500"/>
                  </a:lnTo>
                  <a:lnTo>
                    <a:pt x="126517" y="266700"/>
                  </a:lnTo>
                  <a:lnTo>
                    <a:pt x="116319" y="215900"/>
                  </a:lnTo>
                  <a:lnTo>
                    <a:pt x="105079" y="165100"/>
                  </a:lnTo>
                  <a:lnTo>
                    <a:pt x="99098" y="152400"/>
                  </a:lnTo>
                  <a:lnTo>
                    <a:pt x="96012" y="139700"/>
                  </a:lnTo>
                  <a:lnTo>
                    <a:pt x="92875" y="127000"/>
                  </a:lnTo>
                  <a:lnTo>
                    <a:pt x="89687" y="114300"/>
                  </a:lnTo>
                  <a:lnTo>
                    <a:pt x="86436" y="114300"/>
                  </a:lnTo>
                  <a:lnTo>
                    <a:pt x="83134" y="101600"/>
                  </a:lnTo>
                  <a:lnTo>
                    <a:pt x="79781" y="88900"/>
                  </a:lnTo>
                  <a:lnTo>
                    <a:pt x="76365" y="88900"/>
                  </a:lnTo>
                  <a:lnTo>
                    <a:pt x="72898" y="76200"/>
                  </a:lnTo>
                  <a:lnTo>
                    <a:pt x="69380" y="63500"/>
                  </a:lnTo>
                  <a:close/>
                </a:path>
                <a:path w="308609" h="3175000">
                  <a:moveTo>
                    <a:pt x="62191" y="50800"/>
                  </a:moveTo>
                  <a:lnTo>
                    <a:pt x="50406" y="50800"/>
                  </a:lnTo>
                  <a:lnTo>
                    <a:pt x="53924" y="63500"/>
                  </a:lnTo>
                  <a:lnTo>
                    <a:pt x="65811" y="63500"/>
                  </a:lnTo>
                  <a:lnTo>
                    <a:pt x="62191" y="50800"/>
                  </a:lnTo>
                  <a:close/>
                </a:path>
                <a:path w="308609" h="3175000">
                  <a:moveTo>
                    <a:pt x="54787" y="38100"/>
                  </a:moveTo>
                  <a:lnTo>
                    <a:pt x="43294" y="38100"/>
                  </a:lnTo>
                  <a:lnTo>
                    <a:pt x="46863" y="50800"/>
                  </a:lnTo>
                  <a:lnTo>
                    <a:pt x="58521" y="50800"/>
                  </a:lnTo>
                  <a:lnTo>
                    <a:pt x="54787" y="38100"/>
                  </a:lnTo>
                  <a:close/>
                </a:path>
                <a:path w="308609" h="3175000">
                  <a:moveTo>
                    <a:pt x="43256" y="25400"/>
                  </a:moveTo>
                  <a:lnTo>
                    <a:pt x="32321" y="25400"/>
                  </a:lnTo>
                  <a:lnTo>
                    <a:pt x="36106" y="38100"/>
                  </a:lnTo>
                  <a:lnTo>
                    <a:pt x="47155" y="38100"/>
                  </a:lnTo>
                  <a:lnTo>
                    <a:pt x="43256" y="25400"/>
                  </a:lnTo>
                  <a:close/>
                </a:path>
                <a:path w="308609" h="3175000">
                  <a:moveTo>
                    <a:pt x="31153" y="12700"/>
                  </a:moveTo>
                  <a:lnTo>
                    <a:pt x="17792" y="12700"/>
                  </a:lnTo>
                  <a:lnTo>
                    <a:pt x="21717" y="25400"/>
                  </a:lnTo>
                  <a:lnTo>
                    <a:pt x="35255" y="25400"/>
                  </a:lnTo>
                  <a:lnTo>
                    <a:pt x="31153" y="12700"/>
                  </a:lnTo>
                  <a:close/>
                </a:path>
                <a:path w="308609" h="3175000">
                  <a:moveTo>
                    <a:pt x="13944" y="0"/>
                  </a:moveTo>
                  <a:lnTo>
                    <a:pt x="546" y="0"/>
                  </a:lnTo>
                  <a:lnTo>
                    <a:pt x="0" y="12700"/>
                  </a:lnTo>
                  <a:lnTo>
                    <a:pt x="18364" y="12700"/>
                  </a:lnTo>
                  <a:lnTo>
                    <a:pt x="139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8388350" y="6508750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56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3484" y="2748077"/>
            <a:ext cx="3452469" cy="359938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84823" rIns="0" bIns="0" rtlCol="0" vert="horz">
            <a:spAutoFit/>
          </a:bodyPr>
          <a:lstStyle/>
          <a:p>
            <a:pPr marL="321945">
              <a:lnSpc>
                <a:spcPct val="100000"/>
              </a:lnSpc>
              <a:spcBef>
                <a:spcPts val="105"/>
              </a:spcBef>
            </a:pPr>
            <a:r>
              <a:rPr dirty="0"/>
              <a:t>Vector</a:t>
            </a:r>
            <a:r>
              <a:rPr dirty="0" spc="-100"/>
              <a:t> </a:t>
            </a:r>
            <a:r>
              <a:rPr dirty="0" spc="-10"/>
              <a:t>Quantization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245679" y="1877011"/>
            <a:ext cx="4911725" cy="829310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65"/>
              </a:spcBef>
              <a:buClr>
                <a:srgbClr val="3333CC"/>
              </a:buClr>
              <a:buSzPct val="60416"/>
              <a:buChar char="■"/>
              <a:tabLst>
                <a:tab pos="354965" algn="l"/>
              </a:tabLst>
            </a:pPr>
            <a:r>
              <a:rPr dirty="0" sz="2400">
                <a:latin typeface="Tahoma"/>
                <a:cs typeface="Tahoma"/>
              </a:rPr>
              <a:t>LBG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design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algorithm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for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VQ</a:t>
            </a:r>
            <a:endParaRPr sz="2400">
              <a:latin typeface="Tahoma"/>
              <a:cs typeface="Tahoma"/>
            </a:endParaRPr>
          </a:p>
          <a:p>
            <a:pPr lvl="1" marL="812165" indent="-342265">
              <a:lnSpc>
                <a:spcPct val="100000"/>
              </a:lnSpc>
              <a:spcBef>
                <a:spcPts val="480"/>
              </a:spcBef>
              <a:buClr>
                <a:srgbClr val="3333CC"/>
              </a:buClr>
              <a:buSzPct val="60000"/>
              <a:buChar char="■"/>
              <a:tabLst>
                <a:tab pos="812165" algn="l"/>
              </a:tabLst>
            </a:pPr>
            <a:r>
              <a:rPr dirty="0" sz="2000">
                <a:latin typeface="Tahoma"/>
                <a:cs typeface="Tahoma"/>
              </a:rPr>
              <a:t>NOT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within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scope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of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this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module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274481" y="6361468"/>
            <a:ext cx="42138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latin typeface="Tahoma"/>
                <a:cs typeface="Tahoma"/>
              </a:rPr>
              <a:t>Two-</a:t>
            </a:r>
            <a:r>
              <a:rPr dirty="0" sz="2400">
                <a:latin typeface="Tahoma"/>
                <a:cs typeface="Tahoma"/>
              </a:rPr>
              <a:t>dimensional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VQ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animation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388350" y="6508750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57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33909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641541"/>
            <a:ext cx="9144000" cy="216458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2536189" y="4850447"/>
            <a:ext cx="1657985" cy="6902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0044"/>
                </a:solidFill>
                <a:latin typeface="Tahoma"/>
                <a:cs typeface="Tahoma"/>
              </a:rPr>
              <a:t>VISIT</a:t>
            </a:r>
            <a:r>
              <a:rPr dirty="0" sz="2400" spc="-80" b="1">
                <a:solidFill>
                  <a:srgbClr val="000044"/>
                </a:solidFill>
                <a:latin typeface="Tahoma"/>
                <a:cs typeface="Tahoma"/>
              </a:rPr>
              <a:t> </a:t>
            </a:r>
            <a:r>
              <a:rPr dirty="0" sz="2400" spc="-25" b="1">
                <a:solidFill>
                  <a:srgbClr val="000044"/>
                </a:solidFill>
                <a:latin typeface="Tahoma"/>
                <a:cs typeface="Tahoma"/>
              </a:rPr>
              <a:t>US</a:t>
            </a:r>
            <a:endParaRPr sz="24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  <a:spcBef>
                <a:spcPts val="910"/>
              </a:spcBef>
            </a:pPr>
            <a:r>
              <a:rPr dirty="0" u="sng" sz="1200" spc="-1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  <a:hlinkClick r:id="rId4"/>
              </a:rPr>
              <a:t>WWW.XJTLU.EDU.CN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05467" y="4603759"/>
            <a:ext cx="898658" cy="898658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77817" y="5968276"/>
            <a:ext cx="1815007" cy="37664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68623" y="5953061"/>
            <a:ext cx="324332" cy="40802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199132" y="2828544"/>
            <a:ext cx="4732020" cy="1146175"/>
          </a:xfrm>
          <a:prstGeom prst="rect"/>
          <a:solidFill>
            <a:srgbClr val="000544"/>
          </a:solidFill>
        </p:spPr>
        <p:txBody>
          <a:bodyPr wrap="square" lIns="0" tIns="33020" rIns="0" bIns="0" rtlCol="0" vert="horz">
            <a:spAutoFit/>
          </a:bodyPr>
          <a:lstStyle/>
          <a:p>
            <a:pPr marL="477520">
              <a:lnSpc>
                <a:spcPct val="100000"/>
              </a:lnSpc>
              <a:spcBef>
                <a:spcPts val="260"/>
              </a:spcBef>
            </a:pPr>
            <a:r>
              <a:rPr dirty="0" sz="6000" spc="-700">
                <a:solidFill>
                  <a:srgbClr val="FFFFFF"/>
                </a:solidFill>
                <a:latin typeface="Arial"/>
                <a:cs typeface="Arial"/>
              </a:rPr>
              <a:t>THANK</a:t>
            </a:r>
            <a:r>
              <a:rPr dirty="0" sz="6000" spc="-3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6000" spc="-760">
                <a:solidFill>
                  <a:srgbClr val="FFFFFF"/>
                </a:solidFill>
                <a:latin typeface="Arial"/>
                <a:cs typeface="Arial"/>
              </a:rPr>
              <a:t>YOU</a:t>
            </a:r>
            <a:endParaRPr sz="6000">
              <a:latin typeface="Arial"/>
              <a:cs typeface="Arial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2558795" y="4643628"/>
            <a:ext cx="289560" cy="66040"/>
          </a:xfrm>
          <a:custGeom>
            <a:avLst/>
            <a:gdLst/>
            <a:ahLst/>
            <a:cxnLst/>
            <a:rect l="l" t="t" r="r" b="b"/>
            <a:pathLst>
              <a:path w="289560" h="66039">
                <a:moveTo>
                  <a:pt x="289560" y="0"/>
                </a:moveTo>
                <a:lnTo>
                  <a:pt x="0" y="0"/>
                </a:lnTo>
                <a:lnTo>
                  <a:pt x="0" y="65532"/>
                </a:lnTo>
                <a:lnTo>
                  <a:pt x="289560" y="65532"/>
                </a:lnTo>
                <a:lnTo>
                  <a:pt x="289560" y="0"/>
                </a:lnTo>
                <a:close/>
              </a:path>
            </a:pathLst>
          </a:custGeom>
          <a:solidFill>
            <a:srgbClr val="BA55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6728777" y="4844097"/>
            <a:ext cx="1842770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0044"/>
                </a:solidFill>
                <a:latin typeface="Tahoma"/>
                <a:cs typeface="Tahoma"/>
              </a:rPr>
              <a:t>FOLLOW</a:t>
            </a:r>
            <a:r>
              <a:rPr dirty="0" sz="2400" spc="-80" b="1">
                <a:solidFill>
                  <a:srgbClr val="000044"/>
                </a:solidFill>
                <a:latin typeface="Tahoma"/>
                <a:cs typeface="Tahoma"/>
              </a:rPr>
              <a:t> </a:t>
            </a:r>
            <a:r>
              <a:rPr dirty="0" sz="2400" spc="-25" b="1">
                <a:solidFill>
                  <a:srgbClr val="000044"/>
                </a:solidFill>
                <a:latin typeface="Tahoma"/>
                <a:cs typeface="Tahoma"/>
              </a:rPr>
              <a:t>US</a:t>
            </a:r>
            <a:endParaRPr sz="2400">
              <a:latin typeface="Tahoma"/>
              <a:cs typeface="Tahoma"/>
            </a:endParaRPr>
          </a:p>
          <a:p>
            <a:pPr marL="33020">
              <a:lnSpc>
                <a:spcPct val="100000"/>
              </a:lnSpc>
              <a:spcBef>
                <a:spcPts val="960"/>
              </a:spcBef>
            </a:pPr>
            <a:r>
              <a:rPr dirty="0" sz="1200" spc="-10" b="1">
                <a:solidFill>
                  <a:srgbClr val="BA55A0"/>
                </a:solidFill>
                <a:latin typeface="Tahoma"/>
                <a:cs typeface="Tahoma"/>
              </a:rPr>
              <a:t>@XJTLU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6751319" y="4643628"/>
            <a:ext cx="289560" cy="66040"/>
          </a:xfrm>
          <a:custGeom>
            <a:avLst/>
            <a:gdLst/>
            <a:ahLst/>
            <a:cxnLst/>
            <a:rect l="l" t="t" r="r" b="b"/>
            <a:pathLst>
              <a:path w="289559" h="66039">
                <a:moveTo>
                  <a:pt x="289559" y="0"/>
                </a:moveTo>
                <a:lnTo>
                  <a:pt x="0" y="0"/>
                </a:lnTo>
                <a:lnTo>
                  <a:pt x="0" y="65532"/>
                </a:lnTo>
                <a:lnTo>
                  <a:pt x="289559" y="65532"/>
                </a:lnTo>
                <a:lnTo>
                  <a:pt x="289559" y="0"/>
                </a:lnTo>
                <a:close/>
              </a:path>
            </a:pathLst>
          </a:custGeom>
          <a:solidFill>
            <a:srgbClr val="BA55A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" name="object 12" descr=""/>
          <p:cNvGrpSpPr/>
          <p:nvPr/>
        </p:nvGrpSpPr>
        <p:grpSpPr>
          <a:xfrm>
            <a:off x="5622035" y="4570476"/>
            <a:ext cx="1036319" cy="975360"/>
            <a:chOff x="5622035" y="4570476"/>
            <a:chExt cx="1036319" cy="975360"/>
          </a:xfrm>
        </p:grpSpPr>
        <p:pic>
          <p:nvPicPr>
            <p:cNvPr id="13" name="object 1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22035" y="4570476"/>
              <a:ext cx="1036319" cy="492288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29655" y="5077968"/>
              <a:ext cx="492251" cy="467868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73723" y="5053584"/>
              <a:ext cx="483107" cy="492251"/>
            </a:xfrm>
            <a:prstGeom prst="rect">
              <a:avLst/>
            </a:prstGeom>
          </p:spPr>
        </p:pic>
      </p:grpSp>
      <p:sp>
        <p:nvSpPr>
          <p:cNvPr id="16" name="object 16" descr=""/>
          <p:cNvSpPr txBox="1"/>
          <p:nvPr/>
        </p:nvSpPr>
        <p:spPr>
          <a:xfrm>
            <a:off x="8388350" y="6508750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58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2025-12-08T08:27:05Z</dcterms:created>
  <dcterms:modified xsi:type="dcterms:W3CDTF">2025-12-08T08:27:05Z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2025-12-08T00:00:00Z</vt:filetime>
  </property>
  <property fmtid="{D5CDD505-2E9C-101B-9397-08002B2CF9AE}" pid="3" name="LastSaved">
    <vt:filetime>2025-12-08T00:00:00Z</vt:filetime>
  </property>
  <property fmtid="{D5CDD505-2E9C-101B-9397-08002B2CF9AE}" pid="4" name="Producer">
    <vt:lpwstr>iOS Version 26.1 (Build 23B85) Quartz PDFContext</vt:lpwstr>
  </property>
</Properties>
</file>