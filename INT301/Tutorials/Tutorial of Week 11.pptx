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4" r:id="rId2"/>
    <p:sldId id="272" r:id="rId3"/>
    <p:sldId id="274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5" r:id="rId13"/>
    <p:sldId id="286" r:id="rId14"/>
    <p:sldId id="287" r:id="rId15"/>
    <p:sldId id="288" r:id="rId16"/>
    <p:sldId id="289" r:id="rId17"/>
    <p:sldId id="290" r:id="rId18"/>
    <p:sldId id="271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000" y="52"/>
      </p:cViewPr>
      <p:guideLst>
        <p:guide orient="horz" pos="2136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457200" eaLnBrk="1" hangingPunct="1">
              <a:spcBef>
                <a:spcPct val="0"/>
              </a:spcBef>
            </a:pPr>
            <a:r>
              <a:rPr lang="en-US" altLang="en-US"/>
              <a:t>Images should be RGB colour setting</a:t>
            </a:r>
            <a:endParaRPr lang="en-GB" altLang="en-US"/>
          </a:p>
          <a:p>
            <a:pPr defTabSz="457200"/>
            <a:r>
              <a:rPr lang="en-GB" altLang="en-US"/>
              <a:t>Header: Uppercase, Calibri size 28, XJTLU Navy</a:t>
            </a:r>
          </a:p>
          <a:p>
            <a:pPr defTabSz="457200"/>
            <a:r>
              <a:rPr lang="en-GB" altLang="en-US"/>
              <a:t>Body Text: Sentence case, Calibri size 14, Black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9pPr>
          </a:lstStyle>
          <a:p>
            <a:fld id="{A61D3AD3-CE38-4A05-A492-268EC978D3EA}" type="slidenum">
              <a:rPr lang="en-US" altLang="en-US" sz="1200" baseline="0" smtClean="0">
                <a:latin typeface="Times New Roman" panose="02020603050405020304" pitchFamily="18" charset="0"/>
              </a:rPr>
              <a:t>1</a:t>
            </a:fld>
            <a:endParaRPr lang="en-US" altLang="en-US" sz="12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Title: Uppercase, Calibri size 60, XJTLU Navy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9pPr>
          </a:lstStyle>
          <a:p>
            <a:fld id="{A7B9F59C-15B4-4420-8CFE-5A0D219291D4}" type="slidenum">
              <a:rPr lang="en-US" altLang="en-US" sz="1200" baseline="0" smtClean="0">
                <a:latin typeface="Times New Roman" panose="02020603050405020304" pitchFamily="18" charset="0"/>
              </a:rPr>
              <a:t>18</a:t>
            </a:fld>
            <a:endParaRPr lang="en-US" altLang="en-US" sz="12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25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2254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E4701DB-539A-4CA0-A2EF-40EA51309969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FDB24-6C7D-40BD-9B6A-8B131463C9BE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EBA23-9F71-428B-B323-7C721144E306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3F9D-BAAF-4BA1-8AB0-8D2EA1F512AB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05373-73B4-40F1-BE22-7BB6C8F6789B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8C9C-32BC-4144-956F-42BC37335849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D138D-89A2-4E78-8C5A-27FAA38205E1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6F8FC-D803-4FCC-ADDA-45FC5307086F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50AD7-1BC5-4404-8FAB-6536AA9E4952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1780E-95D0-4D63-B0BA-B815CDFFE05F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95F8A-DE73-4EE1-BAB2-3B8B64EA93F9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826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1826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1F042-5067-423B-B659-FE6F125BC5BC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2321E-2BE3-4761-9E96-BA49FFD6CB5F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AU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D5447F7-885B-4FAA-8762-8EDD329C8406}" type="slidenum">
              <a:rPr lang="en-AU" altLang="zh-CN"/>
              <a:t>‹#›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AU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AU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AU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AU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AU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AU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en-AU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AU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AU" altLang="zh-CN"/>
              <a:t>Click to edit Master text styles</a:t>
            </a:r>
          </a:p>
          <a:p>
            <a:pPr lvl="1"/>
            <a:r>
              <a:rPr lang="en-AU" altLang="zh-CN"/>
              <a:t>Second level</a:t>
            </a:r>
          </a:p>
          <a:p>
            <a:pPr lvl="2"/>
            <a:r>
              <a:rPr lang="en-AU" altLang="zh-CN"/>
              <a:t>Third level</a:t>
            </a:r>
          </a:p>
          <a:p>
            <a:pPr lvl="3"/>
            <a:r>
              <a:rPr lang="en-AU" altLang="zh-CN"/>
              <a:t>Fourth level</a:t>
            </a:r>
          </a:p>
          <a:p>
            <a:pPr lvl="4"/>
            <a:r>
              <a:rPr lang="en-AU" altLang="zh-CN"/>
              <a:t>Fifth level</a:t>
            </a:r>
          </a:p>
        </p:txBody>
      </p:sp>
      <p:sp>
        <p:nvSpPr>
          <p:cNvPr id="215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215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AU" altLang="zh-CN"/>
          </a:p>
        </p:txBody>
      </p:sp>
      <p:sp>
        <p:nvSpPr>
          <p:cNvPr id="215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AF2FF86-8E70-4023-AD4E-5FF959C51848}" type="slidenum">
              <a:rPr lang="en-AU" altLang="zh-CN"/>
              <a:t>‹#›</a:t>
            </a:fld>
            <a:endParaRPr lang="en-AU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 advClick="0" advTm="0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://www.xjtlu.edu.cn/e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/>
          <p:nvPr/>
        </p:nvSpPr>
        <p:spPr>
          <a:xfrm>
            <a:off x="457200" y="4903788"/>
            <a:ext cx="8435280" cy="600075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b="1" cap="all" dirty="0">
                <a:solidFill>
                  <a:srgbClr val="00004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800" b="1" cap="all" dirty="0">
                <a:solidFill>
                  <a:srgbClr val="000044"/>
                </a:solidFill>
                <a:latin typeface="Calibri" panose="020F0502020204030204"/>
                <a:cs typeface="Calibri" panose="020F0502020204030204"/>
              </a:rPr>
              <a:t>Tutorial of Week 11</a:t>
            </a:r>
          </a:p>
        </p:txBody>
      </p:sp>
      <p:sp>
        <p:nvSpPr>
          <p:cNvPr id="11267" name="TextBox 2"/>
          <p:cNvSpPr txBox="1">
            <a:spLocks noChangeArrowheads="1"/>
          </p:cNvSpPr>
          <p:nvPr/>
        </p:nvSpPr>
        <p:spPr bwMode="auto">
          <a:xfrm>
            <a:off x="457200" y="5421313"/>
            <a:ext cx="7646988" cy="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9pPr>
          </a:lstStyle>
          <a:p>
            <a:r>
              <a:rPr lang="en-US" altLang="zh-CN" sz="1800" b="1" dirty="0">
                <a:latin typeface="Arial" panose="020B0604020202020204" pitchFamily="34" charset="0"/>
              </a:rPr>
              <a:t>INT301  Bio-computation, Week 11, 2025</a:t>
            </a:r>
          </a:p>
        </p:txBody>
      </p:sp>
      <p:sp>
        <p:nvSpPr>
          <p:cNvPr id="6" name="Rectangle 5"/>
          <p:cNvSpPr/>
          <p:nvPr/>
        </p:nvSpPr>
        <p:spPr>
          <a:xfrm rot="10800000">
            <a:off x="-50800" y="6672263"/>
            <a:ext cx="9263063" cy="214312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3600"/>
          </a:p>
        </p:txBody>
      </p:sp>
      <p:pic>
        <p:nvPicPr>
          <p:cNvPr id="11269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97" b="11314"/>
          <a:stretch>
            <a:fillRect/>
          </a:stretch>
        </p:blipFill>
        <p:spPr>
          <a:xfrm>
            <a:off x="-50800" y="0"/>
            <a:ext cx="9263063" cy="4768850"/>
          </a:xfrm>
        </p:spPr>
      </p:pic>
      <p:pic>
        <p:nvPicPr>
          <p:cNvPr id="11270" name="Picture 7" descr="Shield-navy(rgb for online)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0" y="5929313"/>
            <a:ext cx="355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7FDB24-6C7D-40BD-9B6A-8B131463C9BE}" type="slidenum">
              <a:rPr lang="en-AU" altLang="zh-CN" smtClean="0"/>
              <a:t>1</a:t>
            </a:fld>
            <a:endParaRPr lang="en-AU" altLang="zh-CN"/>
          </a:p>
        </p:txBody>
      </p:sp>
    </p:spTree>
  </p:cSld>
  <p:clrMapOvr>
    <a:masterClrMapping/>
  </p:clrMapOvr>
  <p:transition spd="slow" advClick="0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2</a:t>
            </a:fld>
            <a:endParaRPr lang="en-AU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57250" y="2128520"/>
            <a:ext cx="7451725" cy="30111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Char char="l"/>
            </a:pPr>
            <a:r>
              <a:rPr lang="en-US" altLang="zh-CN" sz="2000" b="1" i="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 are given 6 data samples: </a:t>
            </a: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000" b="1" i="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000" b="1" i="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Char char="l"/>
            </a:pPr>
            <a:r>
              <a:rPr lang="en-US" altLang="zh-CN" sz="2000" b="1" i="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ouput units each associated with a prototype vector.</a:t>
            </a: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Char char="l"/>
            </a:pPr>
            <a:r>
              <a:rPr lang="en-US" altLang="zh-CN" sz="20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Learning rate: 0.5</a:t>
            </a: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Char char="l"/>
            </a:pPr>
            <a:r>
              <a:rPr lang="en-US" altLang="zh-CN" sz="20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You are required to update the prototype vectors using Simple Competitive Learning (SCL) according to such upadating rule:</a:t>
            </a: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Char char="l"/>
            </a:pPr>
            <a:endParaRPr lang="en-US" altLang="zh-CN" sz="2000" b="1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Char char="l"/>
            </a:pPr>
            <a:endParaRPr lang="en-US" altLang="zh-CN" sz="2000" b="1" i="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17675" y="2550160"/>
            <a:ext cx="53574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 1 1]       [1 1 0.5]       [0.2 0.2 0.2]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[0.5 0.5 0.5] [0.4 0.6 0.5]   [0 0 0]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131185" y="4811395"/>
          <a:ext cx="3596640" cy="146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200" imgH="762000" progId="Equation.3">
                  <p:embed/>
                </p:oleObj>
              </mc:Choice>
              <mc:Fallback>
                <p:oleObj name="Equation" r:id="rId2" imgW="1473200" imgH="762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185" y="4811395"/>
                        <a:ext cx="3596640" cy="14674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3</a:t>
            </a:fld>
            <a:endParaRPr lang="en-AU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93065" y="2128520"/>
            <a:ext cx="7915910" cy="15443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Char char="l"/>
            </a:pPr>
            <a:r>
              <a:rPr lang="en-US" altLang="zh-CN" sz="2000" b="1" i="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Question 1: The 3 prototype vectors are randomly initialized as:</a:t>
            </a: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Char char="l"/>
            </a:pPr>
            <a:endParaRPr lang="en-US" altLang="zh-CN" sz="2000" b="1" i="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None/>
            </a:pPr>
            <a:r>
              <a:rPr lang="en-US" altLang="zh-CN" sz="2000" b="1" i="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the winner units are determined by minimizing the Euclidean distance. Please upadate the vectors one </a:t>
            </a:r>
            <a:r>
              <a:rPr lang="en-US" altLang="zh-CN" sz="20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epoch </a:t>
            </a:r>
            <a:r>
              <a:rPr lang="en-US" altLang="zh-CN" sz="2000" b="1" i="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list the clustering result.</a:t>
            </a: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000" b="1" i="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7530" y="2533015"/>
            <a:ext cx="83292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[0.14  0.75  0.71] [ 0.99  0.51  0.37 ]  [ 0.73  0.81  0.87 ]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6845" y="4003675"/>
            <a:ext cx="8393430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1:   [ 0.00  1.00  1.00 ]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[0.14  0.75  0.71] [ 0.99  0.51  0.37 ]  [ 0.73  0.81  0.87 ]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0.1662              1.6171                 0.5859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1: [ 0.14  0.75  0.71 ]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[ 0.14  0.75  0.71 ]+0.5*([ 0.00  1.00  1.00 ]-[ 0.14  0.75  0.71 ])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[ 0.07  0.87  0.85 ]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[ 0.99  0.51  0.37 ] [ 0.73  0.81  0.87 ]</a:t>
            </a: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22375" y="5065395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10940" y="5080635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391910" y="5080635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243840" y="4789805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5290185" y="3672840"/>
          <a:ext cx="3596640" cy="146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200" imgH="762000" progId="Equation.3">
                  <p:embed/>
                </p:oleObj>
              </mc:Choice>
              <mc:Fallback>
                <p:oleObj name="Equation" r:id="rId2" imgW="1473200" imgH="762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0185" y="3672840"/>
                        <a:ext cx="3596640" cy="14674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4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2:   [ 1.00  1.00  0.5 ]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[0.07  0.87  0.85] [ 0.99  0.51  0.37 ]  [ 0.73  0.81  0.87 ]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1.0043              0.2571                 0.2459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3: [ 0.73  0.81  0.87 ]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[ 0.73  0.81  0.87 ]+0.5*([ 1.00  1.00  0.5 ]-[ 0.73  0.81  0.87 ])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[ 0.07  0.87  0.85 ][ 0.99  0.51  0.37 ] 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[ 0.87  0.90  0.69]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5335270" y="3039110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5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3:   [ 0.2 0.2 0.2 ]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[0.07  0.87  0.85] [ 0.99  0.51  0.37 ]  [0.87  0.90  0.69 ]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0.8883              0.7491               1.1790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2: [ 0.99  0.51  0.37 ]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[ 0.99  0.51  0.37 ]+0.5*([ 0.2 0.2 0.2 ]-[ 0.99  0.51  0.37 ])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[ 0.07  0.87  0.85 ]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[ 0.59  0.36  0.29 ]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[ 0.87  0.90  0.69]</a:t>
            </a: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2654935" y="3023870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6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4:   [ 0.5 0.5 0.5 ]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[0.07  0.87  0.85] [ 0.59  0.36  0.29 ]  [0.87  0.90  0.69 ]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0.4443              0.0718              0.3330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2: [ 0.59  0.36  0.29 ]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[ 0.59  0.36  0.29 ]+0.5*([ 0.5 0.5 0.5 ]-[ 0.59  0.36  0.29 ])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[ 0.07  0.87  0.85 ]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[ 0.55  0.43  0.39 ]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[ 0.87  0.90  0.69]</a:t>
            </a: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2654935" y="3023870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7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5:   [ 0.4 0.6 0.5 ]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[0.07  0.87  0.85] [ 0.55  0.43  0.39 ]  [0.87  0.90  0.69 ]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0.3043              0.0635              0.3470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2: [ 0.59  0.36  0.29 ]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[ 0.55  0.43  0.39 ]+0.5*([ 0.4 0.6 0.5 ]-[ 0.55  0.43  0.39 ])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[ 0.07  0.87  0.85 ]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[ 0.47  0.51  0.45 ]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[ 0.87  0.90  0.69]</a:t>
            </a: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2654935" y="3023870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8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6:   [ 0.0 0.0 0.0 ]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[0.07  0.87  0.85] [ 0.47  0.51  0.45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]  [0.87  0.90  0.69 ]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1.4843              0.6835              2.0430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2: [ 0.47  0.51  0.45 ]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[ 0.47  0.51  0.45 ]+0.5*([ 0.0 0.0 0.0 ]-[ 0.47  0.51  0.45 ])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[ 0.07  0.87  0.85 ]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[ 0.24  0.26  0.22 ]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[ 0.87  0.90  0.69]</a:t>
            </a: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2654935" y="3023870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005" y="549084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Finish of Epoch 1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9</a:t>
            </a:fld>
            <a:endParaRPr lang="en-AU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623695" y="2462530"/>
            <a:ext cx="589661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Clusters after epoch 1: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Weight vector # 1: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[ 0.07  0.87  0.85 ]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1:   [ 0.00  1.00  1.00 ]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Weight vector # 2: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[ 0.24  0.26  0.22 ]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3:   [ 0.20  0.20  0.20 ]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4:   [ 0.50  0.50  0.50 ]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5:   [ 0.40  0.60  0.50 ]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6:   [ 0.00  0.00  0.00 ]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Weight vector # 3: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[ 0.87  0.90  0.69 ]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2:   [ 1.00  1.00  0.50 ]</a:t>
            </a:r>
          </a:p>
        </p:txBody>
      </p:sp>
    </p:spTree>
  </p:cSld>
  <p:clrMapOvr>
    <a:masterClrMapping/>
  </p:clrMapOvr>
  <p:transition spd="slow"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10</a:t>
            </a:fld>
            <a:endParaRPr lang="en-AU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93065" y="2128520"/>
            <a:ext cx="7915910" cy="15443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charset="0"/>
              <a:buChar char="l"/>
            </a:pPr>
            <a:r>
              <a:rPr lang="en-US" altLang="zh-CN" sz="2000" b="1" i="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Question 2: Based on the 3 prototype vectors initialized in question 1 and the winner units are determined by </a:t>
            </a:r>
            <a:r>
              <a:rPr lang="en-US" altLang="zh-CN" sz="20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maximizing inner product</a:t>
            </a:r>
            <a:r>
              <a:rPr lang="en-US" altLang="zh-CN" sz="2000" b="1" i="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Please upadate the vectors one </a:t>
            </a:r>
            <a:r>
              <a:rPr lang="en-US" altLang="zh-CN" sz="20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epoch </a:t>
            </a:r>
            <a:r>
              <a:rPr lang="en-US" altLang="zh-CN" sz="2000" b="1" i="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list the clustering result again.</a:t>
            </a:r>
          </a:p>
          <a:p>
            <a:pPr marL="342900" indent="-342900" algn="just" eaLnBrk="0" fontAlgn="base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000" b="1" i="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6845" y="3866515"/>
            <a:ext cx="8393430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1:   [ 0.00  1.00  1.00 ]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[0.14  0.75  0.71] [ 0.99  0.51  0.37 ]  [ 0.73  0.81  0.87 ]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1.4600              0.8800                1.6800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3: [ 0.73  0.81  0.87 ]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[ 0.73  0.81  0.87 ]+0.5*([ 0.00  1.00  1.00 ]-[ 0.73  0.81  0.87 ])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[ 0.14  0.75  0.71 ][ 0.99  0.51  0.37 ] 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[ 0.37  0.91  0.94 ]</a:t>
            </a: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22375" y="4968875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10940" y="4968875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391910" y="4948555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5297805" y="4622165"/>
            <a:ext cx="241617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11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2:   [ 1.00  1.00  0.5 ]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[0.14  0.75  0.71] [ 0.99  0.51  0.37 ]  [ 0.37  0.91  0.94 ]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1.2450             1.6850                 1.7500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3: [ 0.37  0.91  0.94 ]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[ 0.37  0.91  0.94 ]+0.5*([ 1.00  1.00  0.5 ]-[ 0.37  0.91  0.94 ])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[ 0.14  0.75  0.71 ][ 0.99  0.51  0.37 ] 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[ 0.69  0.96  0.72]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5335270" y="3039110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12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3:   [ 0.2 0.2 0.2 ]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[0.14  0.75  0.71] [ 0.99  0.51  0.37 ]  [0.69  0.96  0.72 ]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0.3200             0.3740               0.4740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3: [0.69  0.96  0.72 ]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[ 0.69  0.96  0.72]+0.5*([ 0.2 0.2 0.2 ]-[ 0.69  0.96  0.72 ])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[ 0.14  0.75  0.71 ][ 0.99  0.51  0.37 ] 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[ 0.45  0.58  0.46]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5335905" y="3039110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13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4:   [ 0.5 0.5 0.5 ]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[0.14  0.75  0.71] [ 0.99  0.51  0.37 ]  [0.45  0.58  0.46 ]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0.8000             0.9350               0.7450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2: [ 0.99  0.51  0.37 ]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[ 0.99  0.51  0.37]+0.5*([ 0.5 0.5 0.5 ]-[ 0.99  0.51  0.37])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[ 0.14  0.75  0.71 ]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[ 0.71  0.51  0.44 ]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[ 0.45  0.58  0.46]</a:t>
            </a: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2731770" y="3039110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14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5:   [ 0.4 0.6 0.5 ]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[0.14  0.75  0.71] [ 0.71  0.51  0.44 ]  [0.45  0.58  0.46 ]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0.8610             0.8100               0.7580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1: [ 0.14  0.75  0.71 ]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[ 0.14  0.75  0.71 ]+0.5*([ 0.4 0.6 0.5 ]-[ 0.14  0.75  0.71 ])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[ 0.27  0.68  0.61 ]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[ 0.71  0.51  0.44 ] [ 0.45  0.58  0.46]</a:t>
            </a: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298450" y="3023870"/>
            <a:ext cx="2267585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15</a:t>
            </a:fld>
            <a:endParaRPr lang="en-AU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01295" y="2280920"/>
            <a:ext cx="83934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Training on Input Vectors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Input vector # 6:   [ 0.0 0.0 0.0 ]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Computing the distance beween Input vector to each prototype vector: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[0.27  0.68  0.61] [ 0.71  0.51  0.44 ]  [0.45  0.58  0.46 ]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i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  0.0000             0.0000               0.0000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Winning weight vector # 1: [ 0.27  0.61  0.61 ]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Updated winning weight vector: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[ 0.27  0.68  0.61 ]+0.5*([ 0.0 0.0 0.0 ]-[ 0.27  0.68  0.61 ])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[ 0.14  0.34  0.31 ]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[ 0.71  0.51  0.44 ] [ 0.45  0.58  0.46]</a:t>
            </a:r>
          </a:p>
          <a:p>
            <a:pPr>
              <a:buNone/>
            </a:pP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299845" y="329946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>
            <a:off x="378841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6469380" y="3314700"/>
            <a:ext cx="0" cy="153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9" name="矩形 8"/>
          <p:cNvSpPr/>
          <p:nvPr/>
        </p:nvSpPr>
        <p:spPr>
          <a:xfrm>
            <a:off x="298450" y="3023870"/>
            <a:ext cx="7305040" cy="2755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005" y="549084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Finish of Epoch 1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9" grpId="0" bldLvl="0" animBg="1"/>
      <p:bldP spid="9" grpId="1" animBg="1"/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Example of </a:t>
            </a:r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  <a:sym typeface="+mn-ea"/>
              </a:rPr>
              <a:t>Simple Competitive Learning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16</a:t>
            </a:fld>
            <a:endParaRPr lang="en-AU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623695" y="2462530"/>
            <a:ext cx="589661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600" u="sng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Clusters after epoch 1: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Weight vector # 1: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[ 0.14  0.34  0.31 ]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5:   [ 0.40  0.60  0.50 ]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6:   [ 0.00  0.00  0.00 ]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Weight vector # 2: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[ 0.71  0.51  0.44]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4:   [ 0.50  0.50  0.50 ]  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Weight vector # 3: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[ 0.45  0.58  0.46 ]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1:   [ 0.00  1.00  1.00 ]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2:   [ 1.00  1.00  0.50 ]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sym typeface="+mn-ea"/>
              </a:rPr>
              <a:t>    Input vector # 3:   [ 0.20  0.20  0.20 ]</a:t>
            </a:r>
          </a:p>
        </p:txBody>
      </p:sp>
    </p:spTree>
  </p:cSld>
  <p:clrMapOvr>
    <a:masterClrMapping/>
  </p:clrMapOvr>
  <p:transition spd="slow"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355600"/>
            <a:ext cx="8143875" cy="132905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Summary</a:t>
            </a:r>
            <a:endParaRPr lang="nl-NL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35880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4F15B-7F52-41D6-984D-5354076F2D87}" type="slidenum">
              <a:rPr lang="en-AU" altLang="zh-CN" smtClean="0"/>
              <a:t>17</a:t>
            </a:fld>
            <a:endParaRPr lang="en-AU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399415" y="2521585"/>
            <a:ext cx="8246745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charset="0"/>
              <a:buChar char="p"/>
            </a:pPr>
            <a:r>
              <a:rPr lang="en-US" altLang="zh-CN" sz="2400" b="1" i="0"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SCL is sensitive to the choice of winning unit criterion</a:t>
            </a:r>
          </a:p>
          <a:p>
            <a:pPr marL="342900" indent="-342900">
              <a:buFont typeface="Wingdings" panose="05000000000000000000" charset="0"/>
              <a:buChar char="p"/>
            </a:pPr>
            <a:r>
              <a:rPr lang="en-US" altLang="zh-CN" sz="2400" b="1" i="0"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Different similarity measures lead to different final prototypes</a:t>
            </a:r>
          </a:p>
          <a:p>
            <a:pPr marL="0" indent="0"/>
            <a:endParaRPr lang="en-US" altLang="zh-CN" sz="2400" b="1" i="0">
              <a:latin typeface="Times New Roman" panose="02020603050405020304" pitchFamily="18" charset="0"/>
              <a:ea typeface="-apple-system"/>
              <a:cs typeface="Times New Roman" panose="02020603050405020304" pitchFamily="18" charset="0"/>
            </a:endParaRPr>
          </a:p>
          <a:p>
            <a:pPr marL="0" indent="0"/>
            <a:endParaRPr lang="en-US" altLang="zh-CN" sz="2400" b="1" i="0">
              <a:latin typeface="Times New Roman" panose="02020603050405020304" pitchFamily="18" charset="0"/>
              <a:ea typeface="-apple-system"/>
              <a:cs typeface="Times New Roman" panose="02020603050405020304" pitchFamily="18" charset="0"/>
            </a:endParaRPr>
          </a:p>
          <a:p>
            <a:pPr marL="0" indent="0"/>
            <a:r>
              <a:rPr lang="en-US" altLang="zh-CN" sz="2400" b="1" i="0"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Will altering the presentation order of the training samples produce different update trajectories and hence different converged vectors?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20"/>
          <a:stretch>
            <a:fillRect/>
          </a:stretch>
        </p:blipFill>
        <p:spPr bwMode="auto">
          <a:xfrm>
            <a:off x="-79375" y="-1328738"/>
            <a:ext cx="9324975" cy="471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 rot="10800000">
            <a:off x="-50800" y="6672263"/>
            <a:ext cx="9263063" cy="214312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Subtitle 2"/>
          <p:cNvSpPr txBox="1"/>
          <p:nvPr/>
        </p:nvSpPr>
        <p:spPr>
          <a:xfrm>
            <a:off x="2457450" y="4837113"/>
            <a:ext cx="4213225" cy="9493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Font typeface="Arial" panose="020B0604020202020204"/>
              <a:buNone/>
              <a:defRPr/>
            </a:pPr>
            <a:r>
              <a:rPr lang="en-US" sz="2400" b="1" cap="all" dirty="0">
                <a:solidFill>
                  <a:srgbClr val="000044"/>
                </a:solidFill>
                <a:cs typeface="DIN-Regular"/>
              </a:rPr>
              <a:t>Visit us</a:t>
            </a:r>
          </a:p>
        </p:txBody>
      </p:sp>
      <p:pic>
        <p:nvPicPr>
          <p:cNvPr id="34821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4570413"/>
            <a:ext cx="985837" cy="98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5905500"/>
            <a:ext cx="23431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Rectangle 33"/>
          <p:cNvSpPr/>
          <p:nvPr/>
        </p:nvSpPr>
        <p:spPr>
          <a:xfrm>
            <a:off x="2198688" y="2828925"/>
            <a:ext cx="4732337" cy="1146175"/>
          </a:xfrm>
          <a:prstGeom prst="rect">
            <a:avLst/>
          </a:prstGeom>
          <a:solidFill>
            <a:srgbClr val="00054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Title 1"/>
          <p:cNvSpPr txBox="1"/>
          <p:nvPr/>
        </p:nvSpPr>
        <p:spPr>
          <a:xfrm>
            <a:off x="685800" y="2632075"/>
            <a:ext cx="7772400" cy="1470025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6000" b="1" cap="all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THANK YOU</a:t>
            </a:r>
            <a:endParaRPr lang="en-US" sz="6000" b="1" cap="all" spc="300" dirty="0">
              <a:solidFill>
                <a:schemeClr val="bg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59050" y="4643438"/>
            <a:ext cx="288925" cy="65087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" name="Subtitle 2"/>
          <p:cNvSpPr txBox="1"/>
          <p:nvPr/>
        </p:nvSpPr>
        <p:spPr>
          <a:xfrm>
            <a:off x="6650038" y="4830763"/>
            <a:ext cx="4213225" cy="94773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Font typeface="Arial" panose="020B0604020202020204"/>
              <a:buNone/>
              <a:defRPr/>
            </a:pPr>
            <a:r>
              <a:rPr lang="en-US" sz="2400" b="1" cap="all" dirty="0">
                <a:solidFill>
                  <a:srgbClr val="000044"/>
                </a:solidFill>
                <a:cs typeface="DIN-Regular"/>
              </a:rPr>
              <a:t>FOLLOW 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51638" y="4643438"/>
            <a:ext cx="288925" cy="65087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4828" name="Group 25"/>
          <p:cNvGrpSpPr/>
          <p:nvPr/>
        </p:nvGrpSpPr>
        <p:grpSpPr bwMode="auto">
          <a:xfrm>
            <a:off x="5621338" y="4570413"/>
            <a:ext cx="1036637" cy="974725"/>
            <a:chOff x="7496912" y="3906329"/>
            <a:chExt cx="1093174" cy="1027237"/>
          </a:xfrm>
        </p:grpSpPr>
        <p:pic>
          <p:nvPicPr>
            <p:cNvPr id="34831" name="Picture 2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558" b="75832"/>
            <a:stretch>
              <a:fillRect/>
            </a:stretch>
          </p:blipFill>
          <p:spPr bwMode="auto">
            <a:xfrm>
              <a:off x="7496912" y="3906329"/>
              <a:ext cx="1093174" cy="531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32" name="Picture 2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21" t="-21" r="27371" b="76543"/>
            <a:stretch>
              <a:fillRect/>
            </a:stretch>
          </p:blipFill>
          <p:spPr bwMode="auto">
            <a:xfrm>
              <a:off x="7505704" y="4441198"/>
              <a:ext cx="518747" cy="492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33" name="Picture 2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37" t="23779" r="51266" b="51483"/>
            <a:stretch>
              <a:fillRect/>
            </a:stretch>
          </p:blipFill>
          <p:spPr bwMode="auto">
            <a:xfrm>
              <a:off x="8078919" y="4414820"/>
              <a:ext cx="509954" cy="518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Subtitle 2"/>
          <p:cNvSpPr txBox="1"/>
          <p:nvPr/>
        </p:nvSpPr>
        <p:spPr>
          <a:xfrm>
            <a:off x="2462213" y="5165725"/>
            <a:ext cx="4213225" cy="9477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Font typeface="Arial" panose="020B0604020202020204"/>
              <a:buNone/>
              <a:defRPr/>
            </a:pPr>
            <a:r>
              <a:rPr lang="en-US" sz="1200" b="1" cap="all" dirty="0">
                <a:solidFill>
                  <a:srgbClr val="FFFF00"/>
                </a:solidFill>
                <a:cs typeface="DIN-Regular"/>
                <a:hlinkClick r:id="rId7"/>
              </a:rPr>
              <a:t>www.xjtlu.edu.cn</a:t>
            </a:r>
            <a:endParaRPr lang="en-US" sz="1100" b="1" cap="all" dirty="0">
              <a:solidFill>
                <a:srgbClr val="FFFF00"/>
              </a:solidFill>
              <a:cs typeface="DIN-Regular"/>
            </a:endParaRPr>
          </a:p>
        </p:txBody>
      </p:sp>
      <p:sp>
        <p:nvSpPr>
          <p:cNvPr id="19" name="Subtitle 2"/>
          <p:cNvSpPr txBox="1"/>
          <p:nvPr/>
        </p:nvSpPr>
        <p:spPr>
          <a:xfrm>
            <a:off x="6670675" y="5165725"/>
            <a:ext cx="4213225" cy="9477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Font typeface="Arial" panose="020B0604020202020204"/>
              <a:buNone/>
              <a:defRPr/>
            </a:pPr>
            <a:r>
              <a:rPr lang="en-US" sz="1200" b="1" cap="all" spc="50" dirty="0">
                <a:solidFill>
                  <a:srgbClr val="BA55A0"/>
                </a:solidFill>
                <a:cs typeface="DIN-Regular"/>
              </a:rPr>
              <a:t>@</a:t>
            </a:r>
            <a:r>
              <a:rPr lang="en-US" sz="1200" b="1" cap="all" spc="50" dirty="0" err="1">
                <a:solidFill>
                  <a:srgbClr val="BA55A0"/>
                </a:solidFill>
                <a:cs typeface="DIN-Regular"/>
              </a:rPr>
              <a:t>xjtlu</a:t>
            </a:r>
            <a:endParaRPr lang="en-US" sz="1200" b="1" cap="all" spc="50" dirty="0">
              <a:solidFill>
                <a:srgbClr val="BA55A0"/>
              </a:solidFill>
              <a:cs typeface="DIN-Regular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7FDB24-6C7D-40BD-9B6A-8B131463C9BE}" type="slidenum">
              <a:rPr lang="en-AU" altLang="zh-CN" smtClean="0"/>
              <a:t>18</a:t>
            </a:fld>
            <a:endParaRPr lang="en-AU" altLang="zh-CN"/>
          </a:p>
        </p:txBody>
      </p:sp>
    </p:spTree>
  </p:cSld>
  <p:clrMapOvr>
    <a:masterClrMapping/>
  </p:clrMapOvr>
  <p:transition spd="slow" advClick="0"/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1644</Words>
  <Application>Microsoft Office PowerPoint</Application>
  <PresentationFormat>全屏显示(4:3)</PresentationFormat>
  <Paragraphs>219</Paragraphs>
  <Slides>18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DIN-Regular</vt:lpstr>
      <vt:lpstr>宋体</vt:lpstr>
      <vt:lpstr>Arial</vt:lpstr>
      <vt:lpstr>Calibri</vt:lpstr>
      <vt:lpstr>Cambria Math</vt:lpstr>
      <vt:lpstr>Courier New</vt:lpstr>
      <vt:lpstr>Tahoma</vt:lpstr>
      <vt:lpstr>Times New Roman</vt:lpstr>
      <vt:lpstr>Wingdings</vt:lpstr>
      <vt:lpstr>Blends</vt:lpstr>
      <vt:lpstr>Equation</vt:lpstr>
      <vt:lpstr>PowerPoint 演示文稿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Example of Simple Competitive Learning</vt:lpstr>
      <vt:lpstr>Summary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Huang Junhao</cp:lastModifiedBy>
  <cp:revision>166</cp:revision>
  <dcterms:created xsi:type="dcterms:W3CDTF">2019-06-19T02:08:00Z</dcterms:created>
  <dcterms:modified xsi:type="dcterms:W3CDTF">2025-11-27T17:15:21Z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2052-12.1.0.22215</vt:lpwstr>
  </property>
  <property fmtid="{D5CDD505-2E9C-101B-9397-08002B2CF9AE}" pid="3" name="ICV">
    <vt:lpwstr>768DEDBB3A784E788431B9C56370A409_11</vt:lpwstr>
  </property>
</Properties>
</file>