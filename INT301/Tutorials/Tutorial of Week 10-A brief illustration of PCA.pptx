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606" r:id="rId3"/>
    <p:sldId id="575" r:id="rId5"/>
    <p:sldId id="655" r:id="rId6"/>
    <p:sldId id="591" r:id="rId7"/>
    <p:sldId id="656" r:id="rId8"/>
    <p:sldId id="657" r:id="rId9"/>
    <p:sldId id="658" r:id="rId10"/>
    <p:sldId id="594" r:id="rId11"/>
    <p:sldId id="659" r:id="rId12"/>
    <p:sldId id="632" r:id="rId13"/>
    <p:sldId id="662" r:id="rId14"/>
    <p:sldId id="663" r:id="rId15"/>
    <p:sldId id="607" r:id="rId16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3" userDrawn="1">
          <p15:clr>
            <a:srgbClr val="A4A3A4"/>
          </p15:clr>
        </p15:guide>
        <p15:guide id="2" pos="29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00000"/>
    <a:srgbClr val="000099"/>
    <a:srgbClr val="CC6600"/>
    <a:srgbClr val="006699"/>
    <a:srgbClr val="660066"/>
    <a:srgbClr val="333300"/>
    <a:srgbClr val="000066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06" autoAdjust="0"/>
    <p:restoredTop sz="78665" autoAdjust="0"/>
  </p:normalViewPr>
  <p:slideViewPr>
    <p:cSldViewPr showGuides="1">
      <p:cViewPr varScale="1">
        <p:scale>
          <a:sx n="65" d="100"/>
          <a:sy n="65" d="100"/>
        </p:scale>
        <p:origin x="2093" y="38"/>
      </p:cViewPr>
      <p:guideLst>
        <p:guide orient="horz" pos="2113"/>
        <p:guide pos="29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812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812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BB4085CF-16B3-43E6-AFB7-EC89583DDD18}" type="slidenum">
              <a:rPr lang="en-AU"/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55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AU" noProof="0"/>
              <a:t>Click to edit Master text styles</a:t>
            </a:r>
            <a:endParaRPr lang="en-AU" noProof="0"/>
          </a:p>
          <a:p>
            <a:pPr lvl="1"/>
            <a:r>
              <a:rPr lang="en-AU" noProof="0"/>
              <a:t>Second level</a:t>
            </a:r>
            <a:endParaRPr lang="en-AU" noProof="0"/>
          </a:p>
          <a:p>
            <a:pPr lvl="2"/>
            <a:r>
              <a:rPr lang="en-AU" noProof="0"/>
              <a:t>Third level</a:t>
            </a:r>
            <a:endParaRPr lang="en-AU" noProof="0"/>
          </a:p>
          <a:p>
            <a:pPr lvl="3"/>
            <a:r>
              <a:rPr lang="en-AU" noProof="0"/>
              <a:t>Fourth level</a:t>
            </a:r>
            <a:endParaRPr lang="en-AU" noProof="0"/>
          </a:p>
          <a:p>
            <a:pPr lvl="4"/>
            <a:r>
              <a:rPr lang="en-AU" noProof="0"/>
              <a:t>Fifth level</a:t>
            </a:r>
            <a:endParaRPr lang="en-AU" noProof="0"/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0704505F-7480-432F-8720-2C9E6991B2EC}" type="slidenum">
              <a:rPr lang="en-AU"/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457200" eaLnBrk="1" hangingPunct="1">
              <a:spcBef>
                <a:spcPct val="0"/>
              </a:spcBef>
            </a:pPr>
            <a:r>
              <a:rPr lang="en-US" altLang="en-US"/>
              <a:t>Images should be RGB colour setting</a:t>
            </a:r>
            <a:endParaRPr lang="en-GB" altLang="en-US"/>
          </a:p>
          <a:p>
            <a:pPr defTabSz="457200"/>
            <a:r>
              <a:rPr lang="en-GB" altLang="en-US"/>
              <a:t>Header: Uppercase, Calibri size 28, XJTLU Navy</a:t>
            </a:r>
            <a:endParaRPr lang="en-GB" altLang="en-US"/>
          </a:p>
          <a:p>
            <a:pPr defTabSz="457200"/>
            <a:r>
              <a:rPr lang="en-GB" altLang="en-US"/>
              <a:t>Body Text: Sentence case, Calibri size 14, Black</a:t>
            </a:r>
            <a:endParaRPr lang="en-GB" altLang="en-US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9pPr>
          </a:lstStyle>
          <a:p>
            <a:fld id="{A61D3AD3-CE38-4A05-A492-268EC978D3EA}" type="slidenum">
              <a:rPr lang="en-US" altLang="en-US" sz="1200" baseline="0" smtClean="0">
                <a:latin typeface="Times New Roman" panose="02020603050405020304" pitchFamily="18" charset="0"/>
              </a:rPr>
            </a:fld>
            <a:endParaRPr lang="en-US" altLang="en-US" sz="1200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Title: Uppercase, Calibri size 60, XJTLU Navy</a:t>
            </a:r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9pPr>
          </a:lstStyle>
          <a:p>
            <a:fld id="{A7B9F59C-15B4-4420-8CFE-5A0D219291D4}" type="slidenum">
              <a:rPr lang="en-US" altLang="en-US" sz="1200" baseline="0" smtClean="0">
                <a:latin typeface="Times New Roman" panose="02020603050405020304" pitchFamily="18" charset="0"/>
              </a:rPr>
            </a:fld>
            <a:endParaRPr lang="en-US" altLang="en-US" sz="1200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2254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AU"/>
          </a:p>
        </p:txBody>
      </p:sp>
      <p:sp>
        <p:nvSpPr>
          <p:cNvPr id="2254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AU"/>
              <a:t>Click to edit Master subtitle style</a:t>
            </a:r>
            <a:endParaRPr lang="en-AU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9522536-C048-418A-A563-FEDFE12DD02F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AEB01-6FC0-44CB-A774-7057589EF7D8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3C9E7-646B-4ADC-A945-93AC140C6F0B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A932AC-67D1-453E-A0CE-5139F5329B75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1D8C48-F389-4EB5-8C0A-BD4B47FBF605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E7B3ED-A637-4E66-878C-2F3642D8A30F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7FAF5A-1469-4959-AE58-04BFBF93FC21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49BED-AF90-46A5-8C6D-4E9700DC8E04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41B7E-F56B-4338-9C4D-C93E2B3A543F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DCAE4-5F80-45FC-B2C3-E2BB4C4A5DF1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E39F5-7205-4018-9709-1D9D557B907A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E38BA-8DA4-4152-AE39-FB6472DA92DB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7DFBF-A471-4914-A0F4-22702B261E2E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82688" y="20177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182688" y="41513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A9668B-FA47-47B0-B252-F14A1051AA15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E6786-6083-42A7-84AB-BD118C2A4D15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2688" y="4151313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12CC3-6109-4956-99C8-0E5012AC38D5}" type="slidenum">
              <a:rPr lang="en-AU"/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AU" altLang="en-US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AU" altLang="en-US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AU" altLang="en-US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AU" altLang="en-US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AU" altLang="en-US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AU" altLang="en-US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AU" altLang="en-US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AU" altLang="en-US"/>
              <a:t>Click to edit Master title style</a:t>
            </a:r>
            <a:endParaRPr lang="en-AU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AU" altLang="en-US"/>
              <a:t>Click to edit Master text styles</a:t>
            </a:r>
            <a:endParaRPr lang="en-AU" altLang="en-US"/>
          </a:p>
          <a:p>
            <a:pPr lvl="1"/>
            <a:r>
              <a:rPr lang="en-AU" altLang="en-US"/>
              <a:t>Second level</a:t>
            </a:r>
            <a:endParaRPr lang="en-AU" altLang="en-US"/>
          </a:p>
          <a:p>
            <a:pPr lvl="2"/>
            <a:r>
              <a:rPr lang="en-AU" altLang="en-US"/>
              <a:t>Third level</a:t>
            </a:r>
            <a:endParaRPr lang="en-AU" altLang="en-US"/>
          </a:p>
          <a:p>
            <a:pPr lvl="3"/>
            <a:r>
              <a:rPr lang="en-AU" altLang="en-US"/>
              <a:t>Fourth level</a:t>
            </a:r>
            <a:endParaRPr lang="en-AU" altLang="en-US"/>
          </a:p>
          <a:p>
            <a:pPr lvl="4"/>
            <a:r>
              <a:rPr lang="en-AU" altLang="en-US"/>
              <a:t>Fifth level</a:t>
            </a:r>
            <a:endParaRPr lang="en-AU" altLang="en-US"/>
          </a:p>
        </p:txBody>
      </p:sp>
      <p:sp>
        <p:nvSpPr>
          <p:cNvPr id="2151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151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151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4005AD92-AE3F-4E23-8C99-997BB6EFBA86}" type="slidenum">
              <a:rPr lang="en-AU"/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hyperlink" Target="http://www.xjtlu.edu.cn/en/" TargetMode="External"/><Relationship Id="rId4" Type="http://schemas.openxmlformats.org/officeDocument/2006/relationships/image" Target="../media/image17.jpeg"/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/>
          <p:nvPr/>
        </p:nvSpPr>
        <p:spPr>
          <a:xfrm>
            <a:off x="-36512" y="4903788"/>
            <a:ext cx="9443392" cy="600075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2800" b="1" cap="all" dirty="0">
                <a:solidFill>
                  <a:srgbClr val="000044"/>
                </a:solidFill>
                <a:latin typeface="Calibri" panose="020F0502020204030204"/>
                <a:cs typeface="Calibri" panose="020F0502020204030204"/>
              </a:rPr>
              <a:t>A brief illustration of PCA</a:t>
            </a:r>
            <a:endParaRPr lang="en-US" sz="2800" b="1" cap="all" dirty="0">
              <a:solidFill>
                <a:srgbClr val="000044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267" name="TextBox 2"/>
          <p:cNvSpPr txBox="1">
            <a:spLocks noChangeArrowheads="1"/>
          </p:cNvSpPr>
          <p:nvPr/>
        </p:nvSpPr>
        <p:spPr bwMode="auto">
          <a:xfrm>
            <a:off x="457200" y="5421313"/>
            <a:ext cx="7646988" cy="92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Coronet"/>
                <a:ea typeface="宋体" panose="02010600030101010101" pitchFamily="2" charset="-122"/>
              </a:defRPr>
            </a:lvl9pPr>
          </a:lstStyle>
          <a:p>
            <a:r>
              <a:rPr lang="en-US" altLang="zh-CN" sz="1800" b="1" dirty="0">
                <a:latin typeface="Arial" panose="020B0604020202020204" pitchFamily="34" charset="0"/>
              </a:rPr>
              <a:t>INT301  Bio-computation, Week 10, 2025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 rot="10800000">
            <a:off x="-50800" y="6672263"/>
            <a:ext cx="9263063" cy="214312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1269" name="Content Placeholder 1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97" b="11314"/>
          <a:stretch>
            <a:fillRect/>
          </a:stretch>
        </p:blipFill>
        <p:spPr>
          <a:xfrm>
            <a:off x="-50800" y="0"/>
            <a:ext cx="9263063" cy="4768850"/>
          </a:xfrm>
        </p:spPr>
      </p:pic>
      <p:pic>
        <p:nvPicPr>
          <p:cNvPr id="11270" name="Picture 7" descr="Shield-navy(rgb for online)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800" y="5929313"/>
            <a:ext cx="355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AEB01-6FC0-44CB-A774-7057589EF7D8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5700" y="328613"/>
            <a:ext cx="7793038" cy="1457027"/>
          </a:xfrm>
        </p:spPr>
        <p:txBody>
          <a:bodyPr anchor="ctr"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Data Simulation</a:t>
            </a:r>
            <a:endParaRPr lang="en-US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7FAF5A-1469-4959-AE58-04BFBF93FC21}" type="slidenum">
              <a:rPr lang="en-AU" smtClean="0"/>
            </a:fld>
            <a:endParaRPr lang="en-AU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060575"/>
            <a:ext cx="6752590" cy="4554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5700" y="328613"/>
            <a:ext cx="7793038" cy="1457027"/>
          </a:xfrm>
        </p:spPr>
        <p:txBody>
          <a:bodyPr anchor="ctr"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Data Simulation</a:t>
            </a:r>
            <a:endParaRPr lang="en-US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7FAF5A-1469-4959-AE58-04BFBF93FC21}" type="slidenum">
              <a:rPr lang="en-AU" smtClean="0"/>
            </a:fld>
            <a:endParaRPr lang="en-AU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060575"/>
            <a:ext cx="6752590" cy="455422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43940" y="2710815"/>
            <a:ext cx="2447925" cy="429895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1550" y="6149340"/>
            <a:ext cx="3472815" cy="44577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855" y="1844675"/>
            <a:ext cx="4405630" cy="36245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290" y="5661025"/>
            <a:ext cx="3405505" cy="843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5700" y="328613"/>
            <a:ext cx="7793038" cy="1457027"/>
          </a:xfrm>
        </p:spPr>
        <p:txBody>
          <a:bodyPr anchor="ctr"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SVD</a:t>
            </a:r>
            <a:endParaRPr lang="en-US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AEB01-6FC0-44CB-A774-7057589EF7D8}" type="slidenum">
              <a:rPr lang="en-AU" smtClean="0"/>
            </a:fld>
            <a:endParaRPr lang="en-AU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2060575"/>
            <a:ext cx="5529580" cy="24244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195830" y="2420620"/>
            <a:ext cx="1028700" cy="262255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5700" y="328613"/>
            <a:ext cx="7793038" cy="1457027"/>
          </a:xfrm>
        </p:spPr>
        <p:txBody>
          <a:bodyPr anchor="ctr"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SVD</a:t>
            </a:r>
            <a:endParaRPr lang="en-US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AEB01-6FC0-44CB-A774-7057589EF7D8}" type="slidenum">
              <a:rPr lang="en-AU" smtClean="0"/>
            </a:fld>
            <a:endParaRPr lang="en-AU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2060575"/>
            <a:ext cx="5529580" cy="24244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195830" y="2420620"/>
            <a:ext cx="1028700" cy="262255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4580890"/>
            <a:ext cx="2824480" cy="20910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055" y="5205095"/>
            <a:ext cx="3405505" cy="8432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83895" y="4797425"/>
            <a:ext cx="746760" cy="43434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83710" y="5589270"/>
            <a:ext cx="746760" cy="43434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5700" y="328613"/>
            <a:ext cx="7793038" cy="1457027"/>
          </a:xfrm>
        </p:spPr>
        <p:txBody>
          <a:bodyPr anchor="ctr"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SVD</a:t>
            </a:r>
            <a:endParaRPr lang="en-US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AEB01-6FC0-44CB-A774-7057589EF7D8}" type="slidenum">
              <a:rPr lang="en-AU" smtClean="0"/>
            </a:fld>
            <a:endParaRPr lang="en-AU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2060575"/>
            <a:ext cx="5529580" cy="24244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195830" y="2420620"/>
            <a:ext cx="1028700" cy="262255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4580890"/>
            <a:ext cx="2824480" cy="20910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20" y="4725035"/>
            <a:ext cx="6339205" cy="164338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55650" y="6324600"/>
            <a:ext cx="1011555" cy="405765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15920" y="5661025"/>
            <a:ext cx="1691640" cy="196215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915920" y="6021070"/>
            <a:ext cx="1691640" cy="196215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5700" y="328613"/>
            <a:ext cx="7793038" cy="1457027"/>
          </a:xfrm>
        </p:spPr>
        <p:txBody>
          <a:bodyPr anchor="ctr"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Diagonal decomposition of the correlation matrix</a:t>
            </a:r>
            <a:endParaRPr lang="en-US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AEB01-6FC0-44CB-A774-7057589EF7D8}" type="slidenum">
              <a:rPr lang="en-AU" smtClean="0"/>
            </a:fld>
            <a:endParaRPr lang="en-AU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2637155"/>
            <a:ext cx="4834255" cy="26054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2420620"/>
            <a:ext cx="3977005" cy="3434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5700" y="328613"/>
            <a:ext cx="7793038" cy="1457027"/>
          </a:xfrm>
        </p:spPr>
        <p:txBody>
          <a:bodyPr anchor="ctr"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Diagonal decomposition of the correlation matrix</a:t>
            </a:r>
            <a:endParaRPr lang="en-US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AEB01-6FC0-44CB-A774-7057589EF7D8}" type="slidenum">
              <a:rPr lang="en-AU" smtClean="0"/>
            </a:fld>
            <a:endParaRPr lang="en-AU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2637155"/>
            <a:ext cx="4834255" cy="26054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2420620"/>
            <a:ext cx="3977005" cy="343408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940425" y="3357245"/>
            <a:ext cx="972185" cy="38735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" y="4580890"/>
            <a:ext cx="2824480" cy="209105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83895" y="4797425"/>
            <a:ext cx="746760" cy="43434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5700" y="328613"/>
            <a:ext cx="7793038" cy="1457027"/>
          </a:xfrm>
        </p:spPr>
        <p:txBody>
          <a:bodyPr anchor="ctr"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Diagonal decomposition of the correlation matrix</a:t>
            </a:r>
            <a:endParaRPr lang="en-US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AEB01-6FC0-44CB-A774-7057589EF7D8}" type="slidenum">
              <a:rPr lang="en-AU" smtClean="0"/>
            </a:fld>
            <a:endParaRPr lang="en-AU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2637155"/>
            <a:ext cx="4834255" cy="26054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2420620"/>
            <a:ext cx="3977005" cy="343408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220335" y="5316220"/>
            <a:ext cx="972185" cy="38735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1460" y="4855210"/>
            <a:ext cx="1407160" cy="290195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920" y="4464685"/>
            <a:ext cx="2824480" cy="209105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195830" y="5443220"/>
            <a:ext cx="972185" cy="38735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5700" y="328613"/>
            <a:ext cx="7793038" cy="1457027"/>
          </a:xfrm>
        </p:spPr>
        <p:txBody>
          <a:bodyPr anchor="ctr"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Projection and reconstruction</a:t>
            </a:r>
            <a:endParaRPr lang="en-US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AEB01-6FC0-44CB-A774-7057589EF7D8}" type="slidenum">
              <a:rPr lang="en-AU" smtClean="0"/>
            </a:fld>
            <a:endParaRPr lang="en-AU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780665"/>
            <a:ext cx="4996180" cy="28911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5700" y="328613"/>
            <a:ext cx="7793038" cy="1457027"/>
          </a:xfrm>
        </p:spPr>
        <p:txBody>
          <a:bodyPr anchor="ctr"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Projection and reconstruction</a:t>
            </a:r>
            <a:endParaRPr lang="en-US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AEB01-6FC0-44CB-A774-7057589EF7D8}" type="slidenum">
              <a:rPr lang="en-AU" smtClean="0"/>
            </a:fld>
            <a:endParaRPr lang="en-AU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780665"/>
            <a:ext cx="4996180" cy="289115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67360" y="3500755"/>
            <a:ext cx="3479800" cy="56896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325" y="2708910"/>
            <a:ext cx="2767330" cy="5575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25" y="4004945"/>
            <a:ext cx="2824480" cy="209105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325235" y="4983480"/>
            <a:ext cx="972185" cy="38735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22695" y="2780665"/>
            <a:ext cx="2056130" cy="56896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5700" y="328613"/>
            <a:ext cx="7793038" cy="1457027"/>
          </a:xfrm>
        </p:spPr>
        <p:txBody>
          <a:bodyPr anchor="ctr"/>
          <a:lstStyle/>
          <a:p>
            <a:pPr eaLnBrk="1" hangingPunct="1"/>
            <a:r>
              <a:rPr lang="en-US" altLang="zh-CN" sz="4000" b="1" dirty="0">
                <a:solidFill>
                  <a:srgbClr val="800000"/>
                </a:solidFill>
                <a:ea typeface="宋体" panose="02010600030101010101" pitchFamily="2" charset="-122"/>
              </a:rPr>
              <a:t>Projection and reconstruction</a:t>
            </a:r>
            <a:endParaRPr lang="en-US" altLang="zh-CN" sz="4000" b="1" dirty="0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AEB01-6FC0-44CB-A774-7057589EF7D8}" type="slidenum">
              <a:rPr lang="en-AU" smtClean="0"/>
            </a:fld>
            <a:endParaRPr lang="en-AU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780665"/>
            <a:ext cx="4996180" cy="289115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39750" y="4437380"/>
            <a:ext cx="3479800" cy="23622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35" y="1917065"/>
            <a:ext cx="3132455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20"/>
          <a:stretch>
            <a:fillRect/>
          </a:stretch>
        </p:blipFill>
        <p:spPr bwMode="auto">
          <a:xfrm>
            <a:off x="-79375" y="-1328738"/>
            <a:ext cx="9324975" cy="471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 rot="10800000">
            <a:off x="-50800" y="6672263"/>
            <a:ext cx="9263063" cy="214312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Subtitle 2"/>
          <p:cNvSpPr txBox="1"/>
          <p:nvPr/>
        </p:nvSpPr>
        <p:spPr>
          <a:xfrm>
            <a:off x="2457450" y="4837113"/>
            <a:ext cx="4213225" cy="94932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Font typeface="Arial" panose="020B0604020202020204"/>
              <a:buNone/>
              <a:defRPr/>
            </a:pPr>
            <a:r>
              <a:rPr lang="en-US" sz="2400" b="1" cap="all" dirty="0">
                <a:solidFill>
                  <a:srgbClr val="000044"/>
                </a:solidFill>
                <a:cs typeface="DIN-Regular"/>
              </a:rPr>
              <a:t>Visit us</a:t>
            </a:r>
            <a:endParaRPr lang="en-US" sz="2400" b="1" cap="all" dirty="0">
              <a:solidFill>
                <a:srgbClr val="000044"/>
              </a:solidFill>
              <a:cs typeface="DIN-Regular"/>
            </a:endParaRPr>
          </a:p>
        </p:txBody>
      </p:sp>
      <p:pic>
        <p:nvPicPr>
          <p:cNvPr id="34821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4570413"/>
            <a:ext cx="985837" cy="98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5905500"/>
            <a:ext cx="23431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Rectangle 33"/>
          <p:cNvSpPr/>
          <p:nvPr/>
        </p:nvSpPr>
        <p:spPr>
          <a:xfrm>
            <a:off x="2198688" y="2828925"/>
            <a:ext cx="4732337" cy="1146175"/>
          </a:xfrm>
          <a:prstGeom prst="rect">
            <a:avLst/>
          </a:prstGeom>
          <a:solidFill>
            <a:srgbClr val="00054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Title 1"/>
          <p:cNvSpPr txBox="1"/>
          <p:nvPr/>
        </p:nvSpPr>
        <p:spPr>
          <a:xfrm>
            <a:off x="685800" y="2632075"/>
            <a:ext cx="7772400" cy="1470025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6000" b="1" cap="all" dirty="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THANK YOU</a:t>
            </a:r>
            <a:endParaRPr lang="en-US" sz="6000" b="1" cap="all" spc="300" dirty="0">
              <a:solidFill>
                <a:schemeClr val="bg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559050" y="4643438"/>
            <a:ext cx="288925" cy="65087"/>
          </a:xfrm>
          <a:prstGeom prst="rect">
            <a:avLst/>
          </a:prstGeom>
          <a:solidFill>
            <a:srgbClr val="BA55A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" name="Subtitle 2"/>
          <p:cNvSpPr txBox="1"/>
          <p:nvPr/>
        </p:nvSpPr>
        <p:spPr>
          <a:xfrm>
            <a:off x="6650038" y="4830763"/>
            <a:ext cx="4213225" cy="94773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Font typeface="Arial" panose="020B0604020202020204"/>
              <a:buNone/>
              <a:defRPr/>
            </a:pPr>
            <a:r>
              <a:rPr lang="en-US" sz="2400" b="1" cap="all" dirty="0">
                <a:solidFill>
                  <a:srgbClr val="000044"/>
                </a:solidFill>
                <a:cs typeface="DIN-Regular"/>
              </a:rPr>
              <a:t>FOLLOW us</a:t>
            </a:r>
            <a:endParaRPr lang="en-US" sz="2400" b="1" cap="all" dirty="0">
              <a:solidFill>
                <a:srgbClr val="000044"/>
              </a:solidFill>
              <a:cs typeface="DIN-Regular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751638" y="4643438"/>
            <a:ext cx="288925" cy="65087"/>
          </a:xfrm>
          <a:prstGeom prst="rect">
            <a:avLst/>
          </a:prstGeom>
          <a:solidFill>
            <a:srgbClr val="BA55A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34828" name="Group 25"/>
          <p:cNvGrpSpPr/>
          <p:nvPr/>
        </p:nvGrpSpPr>
        <p:grpSpPr bwMode="auto">
          <a:xfrm>
            <a:off x="5621338" y="4570413"/>
            <a:ext cx="1036637" cy="974725"/>
            <a:chOff x="7496912" y="3906329"/>
            <a:chExt cx="1093174" cy="1027237"/>
          </a:xfrm>
        </p:grpSpPr>
        <p:pic>
          <p:nvPicPr>
            <p:cNvPr id="34831" name="Picture 2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558" b="75832"/>
            <a:stretch>
              <a:fillRect/>
            </a:stretch>
          </p:blipFill>
          <p:spPr bwMode="auto">
            <a:xfrm>
              <a:off x="7496912" y="3906329"/>
              <a:ext cx="1093174" cy="531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832" name="Picture 2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21" t="-21" r="27371" b="76543"/>
            <a:stretch>
              <a:fillRect/>
            </a:stretch>
          </p:blipFill>
          <p:spPr bwMode="auto">
            <a:xfrm>
              <a:off x="7505704" y="4441198"/>
              <a:ext cx="518747" cy="492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833" name="Picture 2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37" t="23779" r="51266" b="51483"/>
            <a:stretch>
              <a:fillRect/>
            </a:stretch>
          </p:blipFill>
          <p:spPr bwMode="auto">
            <a:xfrm>
              <a:off x="8078919" y="4414820"/>
              <a:ext cx="509954" cy="518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Subtitle 2"/>
          <p:cNvSpPr txBox="1"/>
          <p:nvPr/>
        </p:nvSpPr>
        <p:spPr>
          <a:xfrm>
            <a:off x="2462213" y="5165725"/>
            <a:ext cx="4213225" cy="94773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Font typeface="Arial" panose="020B0604020202020204"/>
              <a:buNone/>
              <a:defRPr/>
            </a:pPr>
            <a:r>
              <a:rPr lang="en-US" sz="1200" b="1" cap="all" dirty="0">
                <a:solidFill>
                  <a:srgbClr val="FFFF00"/>
                </a:solidFill>
                <a:cs typeface="DIN-Regular"/>
                <a:hlinkClick r:id="rId5"/>
              </a:rPr>
              <a:t>www.xjtlu.edu.cn</a:t>
            </a:r>
            <a:endParaRPr lang="en-US" sz="1100" b="1" cap="all" dirty="0">
              <a:solidFill>
                <a:srgbClr val="FFFF00"/>
              </a:solidFill>
              <a:cs typeface="DIN-Regular"/>
            </a:endParaRPr>
          </a:p>
        </p:txBody>
      </p:sp>
      <p:sp>
        <p:nvSpPr>
          <p:cNvPr id="19" name="Subtitle 2"/>
          <p:cNvSpPr txBox="1"/>
          <p:nvPr/>
        </p:nvSpPr>
        <p:spPr>
          <a:xfrm>
            <a:off x="6670675" y="5165725"/>
            <a:ext cx="4213225" cy="94773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Font typeface="Arial" panose="020B0604020202020204"/>
              <a:buNone/>
              <a:defRPr/>
            </a:pPr>
            <a:r>
              <a:rPr lang="en-US" sz="1200" b="1" cap="all" spc="50" dirty="0">
                <a:solidFill>
                  <a:srgbClr val="BA55A0"/>
                </a:solidFill>
                <a:cs typeface="DIN-Regular"/>
              </a:rPr>
              <a:t>@</a:t>
            </a:r>
            <a:r>
              <a:rPr lang="en-US" sz="1200" b="1" cap="all" spc="50" dirty="0" err="1">
                <a:solidFill>
                  <a:srgbClr val="BA55A0"/>
                </a:solidFill>
                <a:cs typeface="DIN-Regular"/>
              </a:rPr>
              <a:t>xjtlu</a:t>
            </a:r>
            <a:endParaRPr lang="en-US" sz="1200" b="1" cap="all" spc="50" dirty="0">
              <a:solidFill>
                <a:srgbClr val="BA55A0"/>
              </a:solidFill>
              <a:cs typeface="DIN-Regular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AEB01-6FC0-44CB-A774-7057589EF7D8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U0ZmIwYTQ3NzlmZGUxZmU3Zjk0M2IyZTNmM2IxNjAifQ=="/>
  <p:tag name="resource_record_key" val="{&quot;10&quot;:[19981913]}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396</Words>
  <Application>WPS 演示</Application>
  <PresentationFormat>全屏显示(4:3)</PresentationFormat>
  <Paragraphs>62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Tahoma</vt:lpstr>
      <vt:lpstr>Times New Roman</vt:lpstr>
      <vt:lpstr>Calibri</vt:lpstr>
      <vt:lpstr>Coronet</vt:lpstr>
      <vt:lpstr>Segoe Print</vt:lpstr>
      <vt:lpstr>Arial</vt:lpstr>
      <vt:lpstr>DIN-Regular</vt:lpstr>
      <vt:lpstr>微软雅黑</vt:lpstr>
      <vt:lpstr>Arial Unicode MS</vt:lpstr>
      <vt:lpstr>Blends</vt:lpstr>
      <vt:lpstr>PowerPoint 演示文稿</vt:lpstr>
      <vt:lpstr>Data Simulation</vt:lpstr>
      <vt:lpstr>Data Simulation</vt:lpstr>
      <vt:lpstr>SVD</vt:lpstr>
      <vt:lpstr>SVD</vt:lpstr>
      <vt:lpstr>SVD</vt:lpstr>
      <vt:lpstr>Diagonal decomposition of the correlation matrix</vt:lpstr>
      <vt:lpstr>Diagonal decomposition of the correlation matrix</vt:lpstr>
      <vt:lpstr>Diagonal decomposition of the correlation matrix</vt:lpstr>
      <vt:lpstr>Projection and reconstruction</vt:lpstr>
      <vt:lpstr>Projection and reconstruction</vt:lpstr>
      <vt:lpstr>Projection and reconstruction</vt:lpstr>
      <vt:lpstr>PowerPoint 演示文稿</vt:lpstr>
    </vt:vector>
  </TitlesOfParts>
  <Company>MSU Department of Computer Science and Engineering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 Recognition Concepts</dc:title>
  <dc:creator>George Stockman</dc:creator>
  <cp:lastModifiedBy>PrnCoNAN</cp:lastModifiedBy>
  <cp:revision>265</cp:revision>
  <dcterms:created xsi:type="dcterms:W3CDTF">2001-09-10T17:41:00Z</dcterms:created>
  <dcterms:modified xsi:type="dcterms:W3CDTF">2025-11-16T05:02:03Z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2D1F9A74B4AF4059B73339366F4DCB8E_12</vt:lpwstr>
  </property>
  <property fmtid="{D5CDD505-2E9C-101B-9397-08002B2CF9AE}" pid="3" name="KSOProductBuildVer">
    <vt:lpwstr>2052-12.1.0.22215</vt:lpwstr>
  </property>
</Properties>
</file>