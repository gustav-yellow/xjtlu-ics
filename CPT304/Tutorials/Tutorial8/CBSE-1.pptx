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5"/>
    <p:sldId id="259" r:id="rId6"/>
    <p:sldId id="265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BC23-265C-E0DF-2819-59D03C06A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B99E4-07DD-0ADD-7A7B-C3A62D53F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8E6D-CC5F-D1F6-007C-3E4C2EC7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B4EF-5688-7BA4-03C9-A2E8827E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E4C6-A632-7FC8-5D2A-BF1C2A50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7222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127B-B39D-7D02-F2C9-0E01404E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9AF0D-D7FE-122F-7A9C-CEF8311F5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B3B6-AC84-0C77-5111-FC3F339A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F6A67-D512-C6D2-DB8B-F3EA433E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2DF5-5397-EBE5-26A5-A50DFF5E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115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537C-3786-6787-AE90-3BAE8E10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E360B-F17F-A119-1F49-449D6D98A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8828E-873D-19A9-2DA1-12D5E213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F257-CF56-26A1-0506-556DF19C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2BA34-9991-09F0-D4BC-F55BF26B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554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E2F1-4349-AFC2-8A40-768CDBD0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83B37-0D0E-BB72-7580-0ECCE8291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409CD-8B56-A216-7BCD-DA31462BE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7BE2C-C266-A62C-2E8B-43974A07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B2356-E9C6-B542-D815-C9E40067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19243-B58B-768A-CC77-880BBA01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67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8E67-5533-52E2-B179-4927B6E16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AF3B8-48F0-B589-BB40-44F1EA086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9B739-7D3F-0657-2C0B-560079D86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303A2-18EE-6029-788A-FB322AACE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352F4-DB76-6100-CA6A-9FB050952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D9885-C918-9563-B1CC-41A0AB40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BB652-44AD-A559-15E4-4E92A04F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AE1F33-197A-5E1E-7FF5-DD7C308B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842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87D9-2DA6-AA8A-D6DE-CDA5CF5F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62947-083A-7123-52C2-976FE658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E5F20-2B97-DC3D-CCAE-28491842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FCFD7-C2B1-4FC9-DAEF-2AE8165C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590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322F5-D62E-A839-72D3-D05605E6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A0FC6-CE30-4E71-4491-30B83496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89308-720D-2E62-B0CC-A5F1F86A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35926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10AE0-6752-2E4D-CE62-E62719EDF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2BC2-6892-A243-6BD1-80EFCAE1C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C155F-F832-C653-41D7-D10C7CFE9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C703E-F055-F30D-5ECF-5CD49D79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163B1-C085-A944-BFC9-BFAB931B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0F0A0-5033-FD9B-7611-3D00819B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006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36DD-0AA4-8BA0-3BBE-E563D315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01074-F5BD-206A-C808-3BCEB74E0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843-9ECC-0290-B5F0-BDAA0EB82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67241-BFB3-403D-338B-81F984EE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6BC81-A8F0-C767-9AD0-78BC76E7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560E9-0A36-B4DF-0212-6784CF06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2736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7B4D7-9793-FCC1-3B62-4DB26A29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8DC46-90B9-2B65-A1CA-00376B400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60D7D-AED7-FCA9-E432-3324E532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EA40D-7D6E-B053-9114-3F7D4057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07A21-D470-A938-8713-FA840654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8950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F70B9-7261-A5B8-1473-4FA070DD8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6F99A-C796-2D34-ED22-9FC3F9E17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468C4-0703-7026-3AB5-B713BCBA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E29AE-A8C3-5A59-E2C0-10DBA2F0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D5838-8101-E140-0878-6608735F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262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7D8C48-7B46-DAFC-662B-296D3DE8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E7884-EE4B-A518-6EA9-50B209DCF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A3DA9-4AA3-42E8-24E2-0D5B5EDA9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DDB00-E45C-1B4B-905A-803F2AF05598}" type="datetimeFigureOut">
              <a:rPr lang="en-CN" smtClean="0"/>
              <a:t>2025/3/25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F0C4A-16F8-EB74-AAFC-C8F632B15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F6FEF-34B1-6A07-CD3A-9BFABA476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F286C-6D0E-714F-AA87-DDB2CD4042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052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F9FC-5580-659A-21AC-C2E2A53D9E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Component-based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6B1E1-B4AA-7FE5-5BC4-E016820E44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Soon Phei Tin</a:t>
            </a:r>
          </a:p>
        </p:txBody>
      </p:sp>
    </p:spTree>
    <p:extLst>
      <p:ext uri="{BB962C8B-B14F-4D97-AF65-F5344CB8AC3E}">
        <p14:creationId xmlns:p14="http://schemas.microsoft.com/office/powerpoint/2010/main" val="316651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86A4-A836-8B8D-06C7-8E009A66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F520-51BB-3B0A-2190-AC1BD7632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1: Introduction to CBSE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2: Components in Spring Boot: Foundations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3: Component Interfaces, Composition, and Lifecycle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4: Advanced Component Features in Spring Boot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5: Component-Based Architecture with Spring Boot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6: Challenges, Best Practices, and Wrap-Up</a:t>
            </a:r>
          </a:p>
        </p:txBody>
      </p:sp>
    </p:spTree>
    <p:extLst>
      <p:ext uri="{BB962C8B-B14F-4D97-AF65-F5344CB8AC3E}">
        <p14:creationId xmlns:p14="http://schemas.microsoft.com/office/powerpoint/2010/main" val="251187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165E8-C9C9-9719-ED3B-89C54EB2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1: Introduction to CBSE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B6E4-2F85-DD3A-79A9-BF85E729B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CBSE is the software engineering practices that developing software mainly based on software components.</a:t>
            </a:r>
          </a:p>
          <a:p>
            <a:endParaRPr lang="en-CN" dirty="0"/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We will focus on three core principles: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Interfaces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Composition</a:t>
            </a:r>
          </a:p>
          <a:p>
            <a:endParaRPr lang="en-US" b="1" dirty="0">
              <a:solidFill>
                <a:srgbClr val="000000"/>
              </a:solidFill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Beyond the core principles, understanding CBSE requires a deeper look at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 models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middleware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as well as how they interrelate.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77010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6DD5-4D03-B8C0-CAEE-C2226869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Benefits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0CA0-DAFB-9B4F-D114-39F4D9A3C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Benefits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Reusability reduces development time and costs.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Modularity enhances maintainability and scalability.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Easier testing and debugging of isolated components.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Challenges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Dependency management and version conflicts.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Overhead from inter-component communication.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Designing components that are both reusable and specific enough for practical use.</a:t>
            </a:r>
          </a:p>
        </p:txBody>
      </p:sp>
    </p:spTree>
    <p:extLst>
      <p:ext uri="{BB962C8B-B14F-4D97-AF65-F5344CB8AC3E}">
        <p14:creationId xmlns:p14="http://schemas.microsoft.com/office/powerpoint/2010/main" val="331332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AEDA-5E3D-1161-1877-981F09406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C3E3-66DD-09E4-29B9-1792262CC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CBSE, a component is a modular, reusable, and independently deployable unit of software that encapsulates specific functionality and data.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It provides services to other parts of the system through well-defined interfaces, hiding its internal implementation details.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This modularity promotes reusability and maintainability.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8559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B1D57-BD35-95A2-25FA-0795294B5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C97B5-3E82-3F89-1819-A6B74045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Here are the summarized characteristics of components: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Self-contained: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Each component encapsulates its own logic and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Reusable: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Designed to be used across different systems or contexts.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Replaceable: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Can be swapped with another component that provides the same interface.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Interface-driven: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Interact with other components solely through defined interfaces, promoting loose coupling and high cohesion.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6783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176B-76F3-539D-12A3-00AC641E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Components in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83E8B-FBA8-31EE-EAF2-E41C93EBB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In Spring Boot, components are typically classes annotated with @Component, @Service, @Repository, or @Controller. 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These annotations tell the Spring Inversion of Control (IoC) container to manage the class, handling its instantiation, dependency injection, and lifecycle</a:t>
            </a:r>
          </a:p>
          <a:p>
            <a:endParaRPr lang="en-C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7B953-641C-7EA9-A7A4-272D1CED70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916"/>
          <a:stretch/>
        </p:blipFill>
        <p:spPr>
          <a:xfrm>
            <a:off x="8045785" y="4255914"/>
            <a:ext cx="3924500" cy="1671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9B1E01-7CCF-A85C-54FF-B9031AE1722C}"/>
              </a:ext>
            </a:extLst>
          </p:cNvPr>
          <p:cNvSpPr txBox="1"/>
          <p:nvPr/>
        </p:nvSpPr>
        <p:spPr>
          <a:xfrm>
            <a:off x="838200" y="4003576"/>
            <a:ext cx="73698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dirty="0" err="1">
                <a:solidFill>
                  <a:srgbClr val="000000"/>
                </a:solidFill>
                <a:effectLst/>
              </a:rPr>
              <a:t>UserService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is a self-contained component that provides a specific service (fetching user data).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Other parts of the application can use it without knowing how it retrieves the data, aligning with CBSE’s emphasis on encapsulation and modularity.</a:t>
            </a:r>
          </a:p>
          <a:p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327635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44E6-9C79-34C3-CDF9-3B20A7949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C06ED-8D33-913A-6153-7F24945F6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Interfaces in CBSE define the contract that components must follow.</a:t>
            </a:r>
          </a:p>
          <a:p>
            <a:pPr marL="0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They specify what services a component provides (and sometimes requires) without exposing its internal workings. 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This abstraction enables loose coupling, as components can be swapped out as long as they adhere to the same interface.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3302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F603-D4B6-BB03-C6BE-5CE7EB41A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Interfaces in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AE6DC-6AE8-518B-4F8E-149310C3E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Spring, interfaces are commonly used to define service contracts, with concrete implementations injected at runtime.</a:t>
            </a:r>
          </a:p>
          <a:p>
            <a:endParaRPr lang="en-CN" dirty="0"/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UserRepository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interface acts as a contract, allowing different implementations (e.g., JPA, JDBC, or in-memory) to be used interchangeably. 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423A1-0A34-DE7D-10B5-9D4C6C2CD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438" y="4033835"/>
            <a:ext cx="6516502" cy="2824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420C27-BFFD-40D9-3572-5E83527DE8D2}"/>
              </a:ext>
            </a:extLst>
          </p:cNvPr>
          <p:cNvSpPr txBox="1"/>
          <p:nvPr/>
        </p:nvSpPr>
        <p:spPr>
          <a:xfrm>
            <a:off x="838200" y="4837652"/>
            <a:ext cx="42845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This reflects CBSE’s focus on well-defined interfaces for component interaction.</a:t>
            </a:r>
          </a:p>
          <a:p>
            <a:endParaRPr lang="en-CN" sz="2800" dirty="0"/>
          </a:p>
        </p:txBody>
      </p:sp>
    </p:spTree>
    <p:extLst>
      <p:ext uri="{BB962C8B-B14F-4D97-AF65-F5344CB8AC3E}">
        <p14:creationId xmlns:p14="http://schemas.microsoft.com/office/powerpoint/2010/main" val="288011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5092-D7F0-F631-D9D9-905878EC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0ADC1-6814-F7E8-314B-82BF3142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Composition in CBSE involves assembling components into a complete system by connecting them through their interfaces.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This process leverages dependency relationships to create a functional whole, ensuring that components work together seamlessly.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19726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97C9-AD4B-A4D3-745F-07317986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4319-F35E-BBDF-09E1-86E4EE3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Composition in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6E83-61DD-16C9-F8F4-A86712F9C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30788" cy="4351338"/>
          </a:xfrm>
        </p:spPr>
        <p:txBody>
          <a:bodyPr>
            <a:normAutofit lnSpcReduction="1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 uses dependency injection (DI) to compose components.</a:t>
            </a:r>
          </a:p>
          <a:p>
            <a:endParaRPr lang="en-CN" dirty="0"/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is composed with a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UserRepository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via constructor injection. 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Spring’s IoC container manages this composition, connecting the components at runtime based on their interfaces. </a:t>
            </a:r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CA262-3DF5-338B-C744-ABB81C74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053" y="2018476"/>
            <a:ext cx="5425947" cy="303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5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4AED-E9FE-2ADF-25DE-90727A62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Component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659C3-00FD-0B07-84E8-40D8B58F7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 component model is a framework or set of standards that governs how components are defined, implemented, and composed. </a:t>
            </a:r>
          </a:p>
          <a:p>
            <a:pPr algn="l">
              <a:buNone/>
            </a:pPr>
            <a:endParaRPr lang="en-US" dirty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It provides: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Conventions: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Rules for creating components (e.g., how to specify interfaces).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Interaction Mechanisms: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How components communicate (e.g., method calls, events).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Lifecycle Management: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How components are instantiated, used, and destroyed.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50941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18C4-5A3B-C003-7F73-0364EE02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Component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7702-C021-9ADA-B274-854B514FA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Examples of component models include </a:t>
            </a:r>
          </a:p>
          <a:p>
            <a:pPr lvl="1"/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Enterprise JavaBeans (EJB)</a:t>
            </a:r>
          </a:p>
          <a:p>
            <a:pPr lvl="1"/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Microsoft’s COM</a:t>
            </a:r>
            <a:endParaRPr lang="en-US" sz="2800" dirty="0">
              <a:solidFill>
                <a:srgbClr val="000000"/>
              </a:solidFill>
            </a:endParaRPr>
          </a:p>
          <a:p>
            <a:pPr lvl="1"/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Spring </a:t>
            </a:r>
          </a:p>
          <a:p>
            <a:endParaRPr lang="en-US" sz="3200" dirty="0">
              <a:solidFill>
                <a:srgbClr val="000000"/>
              </a:solidFill>
            </a:endParaRPr>
          </a:p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A component model ensures consistency and interoperability across a system.</a:t>
            </a:r>
          </a:p>
          <a:p>
            <a:endParaRPr lang="en-CN" sz="3200" dirty="0"/>
          </a:p>
        </p:txBody>
      </p:sp>
    </p:spTree>
    <p:extLst>
      <p:ext uri="{BB962C8B-B14F-4D97-AF65-F5344CB8AC3E}">
        <p14:creationId xmlns:p14="http://schemas.microsoft.com/office/powerpoint/2010/main" val="1836127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329E-DFBB-CACB-3854-8A8165E0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Spring Component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20BEB-6307-52FC-45B8-1C9700223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Relies on Plain Old Java Objects (POJOs) enhanced with annotations: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@Component (and its derivatives) identifies components.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@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Autowired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specifies dependencies.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Boot’s auto-configuration further simplifies this by automatically setting up components based on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classpath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dependencies.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31429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683E-4115-89DE-3426-E4B99AB5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Component and Component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98FAD-6B27-60D7-417A-A549ED6B9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component model defines the “rules of the game” for components.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Components are instances that conform to these rules, ensuring they can be managed and composed effectively within the system.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12644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CAE5-7FB6-3F2C-F710-0B60886B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Middleware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34B0-A565-B978-E704-CE478D055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Middleware is software that sits between the operating system and applications, providing services that simplify component interaction and system integration. </a:t>
            </a:r>
          </a:p>
          <a:p>
            <a:pPr algn="l">
              <a:buNone/>
            </a:pPr>
            <a:endParaRPr lang="en-US" dirty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It handles: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Communication: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Enabling components to talk to each other, even across networks (e.g., via RPC or messaging).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Data Management: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Abstracting database access or caching.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Infrastructure Services: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Offering security, transaction management, or load balancing.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52642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4B5F-30A5-AFE5-C63D-F6A8C92B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168E0-B39A-8B78-9837-26FC795A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297"/>
          </a:xfrm>
        </p:spPr>
        <p:txBody>
          <a:bodyPr>
            <a:normAutofit fontScale="92500" lnSpcReduction="10000"/>
          </a:bodyPr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CBSE, middleware acts as the “glue” that supports component composition and execution, especially in distributed systems.</a:t>
            </a:r>
          </a:p>
          <a:p>
            <a:pPr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Spring Example: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Spring Data: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Acts as middleware by providing a consistent data access layer between components and databases.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Spring Cloud: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Offers middleware features like service discovery (Eureka), load balancing (Ribbon), and circuit breaking (Hystrix) for distributed Spring Boot applications.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For instance, a Spring Boot app might use Spring Cloud to connect 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component on one server with 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UserRepository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component on another, abstracting the network complexity.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51830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DA17-EDD3-37DE-AEA8-DE1419DA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Components, Component Models, and Middleware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2541-3984-6E91-83EC-CBBFA365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Components and Component Models: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The component model defines how components are structured and interact. Components are the concrete realizations of this model.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Components and Middleware: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Middleware provides the runtime environment and services that components rely on to function. A component like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might use middleware (e.g., Spring Data) to access a database without handling the low-level details itself.</a:t>
            </a:r>
          </a:p>
        </p:txBody>
      </p:sp>
    </p:spTree>
    <p:extLst>
      <p:ext uri="{BB962C8B-B14F-4D97-AF65-F5344CB8AC3E}">
        <p14:creationId xmlns:p14="http://schemas.microsoft.com/office/powerpoint/2010/main" val="2398327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78752-6BB7-1584-2C1A-E57F1BEFF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2347-06FA-A065-A6B4-2A7208D6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Components, Component Models, and Middleware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17A6-A82C-AA77-C6CB-05DEF4A3B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 Models and Middleware: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The component model often assumes a specific middleware environment. Spring’s model, for instance, integrates tightly with its middleware (e.g., Spring Cloud), ensuring components can leverage distributed system features seamlessly.</a:t>
            </a:r>
          </a:p>
          <a:p>
            <a:pPr marL="0" indent="0"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Together, they form a layered system: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deliver customized functionality.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 Models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standardize their creation and composition.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Middleware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enables their execution and interaction, especially in complex or distributed scenarios.</a:t>
            </a:r>
          </a:p>
        </p:txBody>
      </p:sp>
    </p:spTree>
    <p:extLst>
      <p:ext uri="{BB962C8B-B14F-4D97-AF65-F5344CB8AC3E}">
        <p14:creationId xmlns:p14="http://schemas.microsoft.com/office/powerpoint/2010/main" val="3125119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3865-1484-8813-E626-D62CA47C6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2: Components in Spring Boot: Foundations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95186-51B3-3C4F-2CE9-AABDA2248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Objectives</a:t>
            </a:r>
          </a:p>
          <a:p>
            <a:pPr algn="l">
              <a:buNone/>
            </a:pP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Learn how Spring Boot implements CBSE principles.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Understand component definition and basic dependency injection.</a:t>
            </a:r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54208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AFF1-DE12-A1F5-C68C-A66593A7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 Overview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EC6D-6AE1-775A-41B2-4718DAE8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 is an extension of the Spring Framework that streamlines the development of production-ready applications by reducing configuration complexity and providing sensible defaults. </a:t>
            </a:r>
          </a:p>
          <a:p>
            <a:pPr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Key features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Auto-configuration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Spring Boot automatically configures components based on the dependencies present in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classpath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Embedded Servers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Built-in support for web servers like Tomcat or Jetty allows applications to run without external server setup.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Opinionated Defaults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Provides pre-configured settings for common tasks, which developers can override as needed.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42109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AC28A-1708-D86F-921D-0B96DF7A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Spring Boot for CBSE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D7AB-0E6F-F2B0-8A20-D95616C15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Boot’s architecture is inherently component-based, making it an ideal framework for implementing CBSE principles: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Components are managed by the Spring IoC container, ensuring modularity and reusability.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Dependency injection facilitates loose coupling between components.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Auto-configuration and starter dependencies simplify the integration and composition of components into cohesive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014505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296E-1E96-43ED-48AE-FEEC7CAA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Components in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331BE-6B17-769F-8642-89F4AB48B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/>
          </a:bodyPr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in Spring is any class that is managed by the Spring IoC container. These classes are typically annotated to indicate their role and enable automatic detection by Spring.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Core Annotations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@Component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Spring-managed bean.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@Service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Encapsulates business logic.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@Repository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Data access component.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@Controller / @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RestController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Components for HTTP requests handling.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 Registration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 uses a process called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 scanning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automatically detect and register components. By default, Spring scans the package containing the main application class and all its sub-packages.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47399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81BBB-E555-4DC6-0F68-457AE2C2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Components in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8953-769D-BABA-5824-4655F715D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N" dirty="0"/>
              <a:t>Example</a:t>
            </a:r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endParaRPr lang="en-CN" dirty="0"/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 @Service annotation marks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GreetingService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as a component.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 detects it during component scanning and registers it as a bean in the IoC container.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058CA-5B63-1859-3ED4-413B9883A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42" y="1825625"/>
            <a:ext cx="66421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03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445B-A72B-954A-C7B0-30102EFA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Inversion of Control (IoC) Container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7A077-8E20-1F53-1A2D-0B31F4CD1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Spring’s component management system, embodying the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IoC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principle. </a:t>
            </a:r>
          </a:p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IoC, the framework takes control of creating and managing objects, rather than the application code doing so manually.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Role of the IoC Container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Instantiates components (referred to as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beans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Configures them by injecting dependencies and setting properties.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Manages their lifecycle from creation to destruction.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Stores beans in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application 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which serves as the runtime environment.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84336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4044-436D-A67E-0D5C-C0B061DB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Dependency Injection (DI)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CEA4-24A4-F8E9-359A-3FAFFFD18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1086"/>
          </a:xfrm>
        </p:spPr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Dependency Injection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is a design pattern where a component’s dependencies are provided by the framework rather than being instantiated within the component itself.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This enhances modularity, testability, and maintainability.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Types of Dependency Injection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Constructor Injection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Recommended for mandatory dependencies.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Setter Injection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Suitable for optional dependencies or runtime changes.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Field Injection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Direct injection into fields (less preferred due to testability concerns)</a:t>
            </a:r>
          </a:p>
        </p:txBody>
      </p:sp>
    </p:spTree>
    <p:extLst>
      <p:ext uri="{BB962C8B-B14F-4D97-AF65-F5344CB8AC3E}">
        <p14:creationId xmlns:p14="http://schemas.microsoft.com/office/powerpoint/2010/main" val="2929943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2411-E3E3-8569-8736-CEFAE93E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Constructor Injection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6C80A6-78BE-2738-352A-4AC550563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330" y="2032495"/>
            <a:ext cx="8547100" cy="3378200"/>
          </a:xfrm>
        </p:spPr>
      </p:pic>
    </p:spTree>
    <p:extLst>
      <p:ext uri="{BB962C8B-B14F-4D97-AF65-F5344CB8AC3E}">
        <p14:creationId xmlns:p14="http://schemas.microsoft.com/office/powerpoint/2010/main" val="3700855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B091E-A5EF-8BE0-D754-22304A4F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Setter Injection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0E3F38-95E5-3261-F9C6-459CA94BB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950" y="2318544"/>
            <a:ext cx="7658100" cy="3365500"/>
          </a:xfrm>
        </p:spPr>
      </p:pic>
    </p:spTree>
    <p:extLst>
      <p:ext uri="{BB962C8B-B14F-4D97-AF65-F5344CB8AC3E}">
        <p14:creationId xmlns:p14="http://schemas.microsoft.com/office/powerpoint/2010/main" val="797624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35AC-9D96-6EC2-21F3-A50E14B9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Field Injection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BC7F81-4F71-F0D8-8173-4DC6E0095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7600" y="2826544"/>
            <a:ext cx="7416800" cy="2349500"/>
          </a:xfrm>
        </p:spPr>
      </p:pic>
    </p:spTree>
    <p:extLst>
      <p:ext uri="{BB962C8B-B14F-4D97-AF65-F5344CB8AC3E}">
        <p14:creationId xmlns:p14="http://schemas.microsoft.com/office/powerpoint/2010/main" val="3979787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F43B-1321-C1EA-33FE-018B7A53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Advantages of 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C1A66-1FF7-E37C-3FCC-0EFB402BB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Advantages of DI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lvl="1"/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Decoupling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Components are independent of how their dependencies are created.</a:t>
            </a:r>
          </a:p>
          <a:p>
            <a:pPr lvl="1"/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Testability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Dependencies can be mocked or stubbed in tests.</a:t>
            </a:r>
          </a:p>
          <a:p>
            <a:pPr lvl="1"/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Flexibility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Dependencies can be swapped or reconfigured without altering component code.</a:t>
            </a:r>
          </a:p>
          <a:p>
            <a:endParaRPr lang="en-CN" sz="3200" dirty="0"/>
          </a:p>
        </p:txBody>
      </p:sp>
    </p:spTree>
    <p:extLst>
      <p:ext uri="{BB962C8B-B14F-4D97-AF65-F5344CB8AC3E}">
        <p14:creationId xmlns:p14="http://schemas.microsoft.com/office/powerpoint/2010/main" val="2681705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941D-EFCF-CFB4-1252-87D60637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Component Discovery and Customization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5967E-7A8D-9B8C-FBAD-39B6EFD1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Boot’s components are discovered during component scanning, but it also offers customization options for fine-grained control.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 Scanning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By default, Spring scans the package of the main application class and its sub-packages.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Customize this behavior with @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ComponentScan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DF728-C1F1-13A3-9C9D-28355D1B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47" y="4478151"/>
            <a:ext cx="9862349" cy="222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09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094C2-72BC-94DC-D292-44703059D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DDCF2-ACEF-15EF-CA9B-C17168C8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Component Discovery and Customization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39B6-B875-C043-3D84-F83BA39A3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Define beans explicitly in a configuration class using @Bean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This approach is useful for third-party classes or when more control is needed</a:t>
            </a:r>
          </a:p>
          <a:p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3AD9D8-E04E-2DB3-B18B-E6F47C5F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49" y="3128963"/>
            <a:ext cx="7807079" cy="336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63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929E-06F5-6A1F-4321-94E8E803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Building a Simple REST API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583C7A-82A1-DE86-B989-A823EF3DF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6548" y="1825625"/>
            <a:ext cx="7198904" cy="4351338"/>
          </a:xfrm>
        </p:spPr>
      </p:pic>
    </p:spTree>
    <p:extLst>
      <p:ext uri="{BB962C8B-B14F-4D97-AF65-F5344CB8AC3E}">
        <p14:creationId xmlns:p14="http://schemas.microsoft.com/office/powerpoint/2010/main" val="1731452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F4592-E870-407D-F103-059D4005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88BA-F653-EC8C-DD38-CC09208C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Building a Simple REST API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222A0-1766-59B8-F4B4-6991CCEF2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2041413"/>
            <a:ext cx="61722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34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DA0B7-FF61-4C16-1055-AC8BFF926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81C8-3F88-BDA1-63D9-C286F13B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Building a Simple REST API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D4F41-D90A-C5E0-CD68-E6082EDA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28805"/>
            <a:ext cx="7772400" cy="552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70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92009-4800-792D-C039-244FA7D3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EB21-D15B-CAE2-5230-C6EAF4A7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Building a Simple REST API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4F6AA-8E9E-CD49-CE5F-0C5CC96D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16" y="2462679"/>
            <a:ext cx="9524267" cy="296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87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67EF-3153-B97E-0FDC-5729B254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Part 3: Component Interfaces, Composition, and Lifecycle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46260-45C4-AB63-5093-987839A49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Understand the use of interfaces for component abstraction.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Explore component composition techniques and lifecycle management.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3712754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BF06-9ED5-2E34-4C03-39197DB3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Interfaces in CBSE and Spring Boot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42CA-2F70-70DF-F569-984BCE65D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Interfaces are a cornerstone of CBSE because they establish a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contract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that components must follow. </a:t>
            </a:r>
          </a:p>
          <a:p>
            <a:pPr algn="l">
              <a:buNone/>
            </a:pPr>
            <a:endParaRPr lang="en-US" dirty="0">
              <a:solidFill>
                <a:srgbClr val="000000"/>
              </a:solidFill>
            </a:endParaRPr>
          </a:p>
          <a:p>
            <a:pPr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This contract specifies what services a component offers (its capabilities) and what it requires (its dependencies). 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520338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CAE25-9DE1-A5FA-0544-38F1C4F91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A331-41C9-D17E-9E03-D87C6F4D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Interfaces in CBSE and Spring Boot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029A0-9EE8-00D8-331B-DEB586D32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By defining interactions through interfaces rather than concrete implementations, interfaces enable:</a:t>
            </a:r>
          </a:p>
          <a:p>
            <a:pPr lvl="1"/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Polymorphism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Different implementations of the same interface can be swapped seamlessly.</a:t>
            </a:r>
          </a:p>
          <a:p>
            <a:pPr lvl="1"/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Loose Coupling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Components depend on abstractions, reducing tight dependencies on specific implementations.</a:t>
            </a:r>
          </a:p>
          <a:p>
            <a:pPr lvl="1"/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Testability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Interfaces simplify mocking dependencies during unit testing.</a:t>
            </a:r>
          </a:p>
          <a:p>
            <a:endParaRPr lang="en-CN" sz="3200" dirty="0"/>
          </a:p>
        </p:txBody>
      </p:sp>
    </p:spTree>
    <p:extLst>
      <p:ext uri="{BB962C8B-B14F-4D97-AF65-F5344CB8AC3E}">
        <p14:creationId xmlns:p14="http://schemas.microsoft.com/office/powerpoint/2010/main" val="22967472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1B0A1-4B73-B14A-FF21-C43A384E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 Example: Defining a Service Interface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CDE9-148A-2734-068E-598FEB8E5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094" y="2170403"/>
            <a:ext cx="5131398" cy="4006560"/>
          </a:xfrm>
        </p:spPr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PaymentProcessor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interface defines a contract for processing payments.</a:t>
            </a:r>
          </a:p>
          <a:p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CreditCardProcessor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PayPalProcessor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provide concrete implementations that can be used interchangeably.</a:t>
            </a:r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C0342-43A9-7C77-8D40-748B812F6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241" y="2170403"/>
            <a:ext cx="6347759" cy="366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018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C3D0-0078-B0FE-F2A7-C5911BD8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Benefits of Using Interfaces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61A52-0486-B543-D6D5-BA068004C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Flexibility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Switch between payment processors (e.g., credit card to PayPal) by injecting a different implementation.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Extensibility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Add new payment methods (e.g.,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CryptoProcessor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 without altering existing code.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Testability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Mock the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PaymentProcessor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interface in tests to isolate dependent components.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99912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DAA4-8CE2-E5F1-0E46-E9FAC600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Composition Techniques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9A460-8110-DE72-E730-1BD3FB287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CBSE,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composition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refers to assembling components into a functional system by connecting them through their interfaces. 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 achieves this primarily through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dependency injection (DI)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 mechanism where the framework provides a component’s dependencies automatically.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supports several DI techniques, each suited to different scenarios.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365375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6B41-4C2E-188D-F4F0-E8D99459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Best Practice for Dependency Injection</a:t>
            </a:r>
            <a:endParaRPr lang="en-CN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6C7A-076A-2D53-0DDA-6D68BFC5C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</a:rPr>
              <a:t>Prefer Constructor Injection:</a:t>
            </a:r>
            <a:r>
              <a:rPr lang="en-US" dirty="0">
                <a:solidFill>
                  <a:srgbClr val="000000"/>
                </a:solidFill>
              </a:rPr>
              <a:t> Use it for mandatory dependencies to ensure immutability and explicitness.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</a:rPr>
              <a:t>Use Setter Injection Sparingly:</a:t>
            </a:r>
            <a:r>
              <a:rPr lang="en-US" dirty="0">
                <a:solidFill>
                  <a:srgbClr val="000000"/>
                </a:solidFill>
              </a:rPr>
              <a:t> Reserve it for optional or reconfigurable dependencies.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Best Practice for Dependency Injection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Opt</a:t>
            </a:r>
            <a:r>
              <a:rPr lang="en-US" dirty="0">
                <a:solidFill>
                  <a:srgbClr val="000000"/>
                </a:solidFill>
              </a:rPr>
              <a:t> for constructor or setter injection to improve testability and maintainability.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05917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3831-FD6C-A635-D320-96FB79C8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Component Lifecycle Management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1449C-353F-F3E3-2312-E1B70C6A8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Boot’s Inversion of Control (IoC) container manages the entire lifecycle of components (beans), from instantiation to destruction.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Understanding this lifecycle allows developers to perform initialization tasks (e.g., loading resources) and cleanup tasks (e.g., closing connections) at the appropriate stages.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855999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40BA-711E-8273-72F8-1FDED6B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Key Phases of the Component Lifecycle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A058-D5B1-3E03-2C5E-48F515EAD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1086"/>
          </a:xfrm>
        </p:spPr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Creation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IoC container creates the bean instance.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Dependencies are injected based on the chosen DI method (constructor, setter, or field).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Initialization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After dependency injection, Spring invokes initialization logic.</a:t>
            </a:r>
          </a:p>
          <a:p>
            <a:pPr marL="742950" lvl="1" indent="-285750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@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PostConstruct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Annotate a method to run it after the bean is fully constructed.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Usage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bean is fully initialized and available for use by other components or services.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Destruction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Before the application context closes, Spring invokes destruction logic.</a:t>
            </a:r>
          </a:p>
          <a:p>
            <a:pPr marL="742950" lvl="1" indent="-285750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@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PreDestroy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Annotate a method to run it before the bean is destroyed.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903237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A806-273F-6C02-95E8-69B1D432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03C7-2BE0-CF3C-A86C-C0E9906E1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CD410-8A4E-2E3E-4764-8B1B1125C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37061"/>
            <a:ext cx="7772400" cy="553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153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A9A4-B53E-5DC6-944B-43D379A4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Why Lifecycle Management Matters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DEDA4-1995-8062-1157-4ADE2A673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Resource Initialization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Set up connections, load configurations, or pre-populate data (e.g., cache).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Resource Cleanup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Release resources like database connections, file handles, or memory to prevent leaks.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Controlled Behavior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Ensure components start and stop gracefully, maintaining application stability.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96698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FB44-BD02-A004-F42A-005BFE79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Best Practices for Component Design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5669E-FE4F-B103-D109-9E6A9B9D2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Define Interfaces for Abstraction</a:t>
            </a:r>
          </a:p>
          <a:p>
            <a:pPr>
              <a:lnSpc>
                <a:spcPct val="150000"/>
              </a:lnSpc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Favor Constructor Injection</a:t>
            </a:r>
          </a:p>
          <a:p>
            <a:pPr>
              <a:lnSpc>
                <a:spcPct val="150000"/>
              </a:lnSpc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Single Responsibility Principle</a:t>
            </a:r>
          </a:p>
          <a:p>
            <a:pPr>
              <a:lnSpc>
                <a:spcPct val="150000"/>
              </a:lnSpc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Leverage Lifecycle Hooks (@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PostConstruct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 and @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PreDestroy</a:t>
            </a:r>
            <a:r>
              <a:rPr lang="en-US" dirty="0">
                <a:solidFill>
                  <a:srgbClr val="000000"/>
                </a:solidFill>
              </a:rPr>
              <a:t>)</a:t>
            </a:r>
            <a:endParaRPr lang="en-US" i="0" u="none" strike="noStrike" dirty="0">
              <a:solidFill>
                <a:srgbClr val="000000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Avoid Circular Dependencies</a:t>
            </a:r>
          </a:p>
          <a:p>
            <a:pPr>
              <a:lnSpc>
                <a:spcPct val="150000"/>
              </a:lnSpc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Document Interfaces (e.g.,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JavaDoc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23896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D403-1832-8CBD-A0F5-902217D1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Composing Components with Interfaces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183D2-11AF-4B18-8FDA-75B05F284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Scenario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OrderService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depends on 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PaymentProcessor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(interface with multiple implementations) and 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NotificationService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The system processes payments and sends notifications when an order is placed.</a:t>
            </a:r>
          </a:p>
          <a:p>
            <a:pPr algn="l"/>
            <a:endParaRPr lang="en-US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1. Payment processor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CD611-FD0A-34F4-12FA-F00A1750E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388" y="4840390"/>
            <a:ext cx="66040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993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E357-98ED-CBEC-3905-786AC639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Composing Components with Interface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88F9-3364-5580-F69E-823B1D855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Implement concrete payment processors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3F036-3DCA-6CFE-8331-FEB870849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2555732"/>
            <a:ext cx="7772400" cy="362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179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463D-F51F-57FD-1824-9F995985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450A-82A2-9882-5B58-F10B7C14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Composing Components with Interface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C33E-642F-190A-6A8E-B5A413E0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780"/>
            <a:ext cx="10515600" cy="4351338"/>
          </a:xfrm>
        </p:spPr>
        <p:txBody>
          <a:bodyPr/>
          <a:lstStyle/>
          <a:p>
            <a:r>
              <a:rPr lang="en-CN" dirty="0"/>
              <a:t>Define NotificationService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C3A1F1-C24B-30BD-BDE7-29449983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596" y="3005103"/>
            <a:ext cx="7772400" cy="156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635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F3A9-1D21-A0AB-B64B-A447356E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6B1C-93D7-038E-542A-F3E854B6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Composing Components with Interface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1193A-B810-0171-F61F-07EE9F7E6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4717"/>
            <a:ext cx="10515600" cy="4351338"/>
          </a:xfrm>
        </p:spPr>
        <p:txBody>
          <a:bodyPr/>
          <a:lstStyle/>
          <a:p>
            <a:r>
              <a:rPr lang="en-CN" dirty="0"/>
              <a:t>Compose the OrderService with dependencies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81292-BC07-E7DF-5C76-F56569B84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74" y="2408994"/>
            <a:ext cx="7772400" cy="416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918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0881-31F7-5591-D787-8E19AC402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BC74-06A6-FEF1-15F0-FDAC0B91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Composing Components with Interface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92A36-7D68-298D-2A18-2FE0C77F6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4717"/>
            <a:ext cx="10515600" cy="4351338"/>
          </a:xfrm>
        </p:spPr>
        <p:txBody>
          <a:bodyPr/>
          <a:lstStyle/>
          <a:p>
            <a:r>
              <a:rPr lang="en-CN" dirty="0"/>
              <a:t>Resolve multiple implementations</a:t>
            </a:r>
          </a:p>
          <a:p>
            <a:r>
              <a:rPr lang="en-CN" dirty="0"/>
              <a:t>Option 1: @Primary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8D8369-F101-FCB9-FE13-FEB2E2D0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846" y="3093306"/>
            <a:ext cx="7772400" cy="207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941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BADD-2DCA-0FEA-D441-3309AFDE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114F-C0AE-E9FC-6142-E0715567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Practical Example: Composing Components with Interface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F3008-2E4A-F886-45A5-B01F2212A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4717"/>
            <a:ext cx="10515600" cy="4351338"/>
          </a:xfrm>
        </p:spPr>
        <p:txBody>
          <a:bodyPr/>
          <a:lstStyle/>
          <a:p>
            <a:r>
              <a:rPr lang="en-CN" dirty="0"/>
              <a:t>Resolve multiple implementations</a:t>
            </a:r>
          </a:p>
          <a:p>
            <a:r>
              <a:rPr lang="en-CN" dirty="0"/>
              <a:t>Option 2: @Qualifier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EBA98-232C-2A20-1413-FBA287E46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981760"/>
            <a:ext cx="7772400" cy="370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44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17195</TotalTime>
  <Words>2397</Words>
  <Application>Microsoft Macintosh PowerPoint</Application>
  <PresentationFormat>Widescreen</PresentationFormat>
  <Paragraphs>265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Calibri Light</vt:lpstr>
      <vt:lpstr>Office Theme</vt:lpstr>
      <vt:lpstr>Component-based Software Engineering</vt:lpstr>
      <vt:lpstr>Topic</vt:lpstr>
      <vt:lpstr>Part 1: Introduction to CBSE</vt:lpstr>
      <vt:lpstr>Benefits and Challenges</vt:lpstr>
      <vt:lpstr>Components</vt:lpstr>
      <vt:lpstr>Components</vt:lpstr>
      <vt:lpstr>Components in Spring Boot</vt:lpstr>
      <vt:lpstr>Interfaces</vt:lpstr>
      <vt:lpstr>Interfaces in Spring Boot</vt:lpstr>
      <vt:lpstr>Composition</vt:lpstr>
      <vt:lpstr>Composition in Spring Boot</vt:lpstr>
      <vt:lpstr>Component Models</vt:lpstr>
      <vt:lpstr>Component Models</vt:lpstr>
      <vt:lpstr>Spring Component Model</vt:lpstr>
      <vt:lpstr>Component and Component Models</vt:lpstr>
      <vt:lpstr>Middleware</vt:lpstr>
      <vt:lpstr>Middleware</vt:lpstr>
      <vt:lpstr>Components, Component Models, and Middleware</vt:lpstr>
      <vt:lpstr>Components, Component Models, and Middleware</vt:lpstr>
      <vt:lpstr>Part 2: Components in Spring Boot: Foundations</vt:lpstr>
      <vt:lpstr>Spring Boot Overview</vt:lpstr>
      <vt:lpstr>Spring Boot for CBSE</vt:lpstr>
      <vt:lpstr>Components in Spring Boot</vt:lpstr>
      <vt:lpstr>Components in Spring Boot</vt:lpstr>
      <vt:lpstr>Inversion of Control (IoC) Container</vt:lpstr>
      <vt:lpstr>Dependency Injection (DI)</vt:lpstr>
      <vt:lpstr>Constructor Injection</vt:lpstr>
      <vt:lpstr>Setter Injection</vt:lpstr>
      <vt:lpstr>Field Injection</vt:lpstr>
      <vt:lpstr>Advantages of DI</vt:lpstr>
      <vt:lpstr>Component Discovery and Customization</vt:lpstr>
      <vt:lpstr>Component Discovery and Customization</vt:lpstr>
      <vt:lpstr>Practical Example: Building a Simple REST API</vt:lpstr>
      <vt:lpstr>Practical Example: Building a Simple REST API</vt:lpstr>
      <vt:lpstr>Practical Example: Building a Simple REST API</vt:lpstr>
      <vt:lpstr>Practical Example: Building a Simple REST API</vt:lpstr>
      <vt:lpstr>Part 3: Component Interfaces, Composition, and Lifecycle</vt:lpstr>
      <vt:lpstr>Interfaces in CBSE and Spring Boot</vt:lpstr>
      <vt:lpstr>Interfaces in CBSE and Spring Boot</vt:lpstr>
      <vt:lpstr>Spring Boot Example: Defining a Service Interface</vt:lpstr>
      <vt:lpstr>Benefits of Using Interfaces</vt:lpstr>
      <vt:lpstr>Composition Techniques</vt:lpstr>
      <vt:lpstr>Best Practice for Dependency Injection</vt:lpstr>
      <vt:lpstr>Component Lifecycle Management</vt:lpstr>
      <vt:lpstr>Key Phases of the Component Lifecycle</vt:lpstr>
      <vt:lpstr>PowerPoint Presentation</vt:lpstr>
      <vt:lpstr>Why Lifecycle Management Matters</vt:lpstr>
      <vt:lpstr>Best Practices for Component Design</vt:lpstr>
      <vt:lpstr>Practical Example: Composing Components with Interfaces</vt:lpstr>
      <vt:lpstr>Practical Example: Composing Components with Interface</vt:lpstr>
      <vt:lpstr>Practical Example: Composing Components with Interface</vt:lpstr>
      <vt:lpstr>Practical Example: Composing Components with Interface</vt:lpstr>
      <vt:lpstr>Practical Example: Composing Components with Interface</vt:lpstr>
      <vt:lpstr>Practical Example: Composing Components with 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Soon.Tin</dc:creator>
  <cp:lastModifiedBy>soonphei tin</cp:lastModifiedBy>
  <cp:revision>31</cp:revision>
  <dcterms:created xsi:type="dcterms:W3CDTF">2025-03-25T10:38:44Z</dcterms:created>
  <dcterms:modified xsi:type="dcterms:W3CDTF">2025-04-06T09:14:07Z</dcterms:modified>
</cp:coreProperties>
</file>