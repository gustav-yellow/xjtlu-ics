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10" r:id="rId3"/>
    <p:sldId id="311" r:id="rId4"/>
    <p:sldId id="312" r:id="rId5"/>
    <p:sldId id="313" r:id="rId6"/>
    <p:sldId id="314" r:id="rId7"/>
    <p:sldId id="315" r:id="rId8"/>
    <p:sldId id="316" r:id="rId9"/>
    <p:sldId id="317" r:id="rId10"/>
    <p:sldId id="318" r:id="rId11"/>
    <p:sldId id="319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719"/>
  </p:normalViewPr>
  <p:slideViewPr>
    <p:cSldViewPr snapToGrid="0">
      <p:cViewPr varScale="1">
        <p:scale>
          <a:sx n="120" d="100"/>
          <a:sy n="120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76275-F5F6-D2AD-96D1-FAEBBB4DD5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C2FB9-C2EE-563A-C52B-E6934B86D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719F2-DA20-EDA9-0FBA-18E096FAB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AC50-2610-9D4D-919E-D0EE608C1FE1}" type="datetimeFigureOut">
              <a:rPr lang="en-CN" smtClean="0"/>
              <a:t>2025/4/5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CED17-E6FF-2C21-6773-33609C28B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A6AE6-15BE-4253-F771-EFC4144A4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54B17-4498-3C46-8B7A-CF302FB5B60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22047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70E39-F987-A57A-5A02-E4E97E381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8C5A8-C663-6ADF-95F5-8A50EBD14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A5483-CECE-5A34-CF62-97829BFDF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AC50-2610-9D4D-919E-D0EE608C1FE1}" type="datetimeFigureOut">
              <a:rPr lang="en-CN" smtClean="0"/>
              <a:t>2025/4/5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89CC7-D1EE-DE9F-0C94-05CEDF752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CEA7B-2373-9E09-8391-B7C6A9E75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54B17-4498-3C46-8B7A-CF302FB5B60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3700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D0F2E-F1FC-BBEC-FDB8-4755F8C63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84AFC-084C-C6A2-B67F-959CE2B67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8AB12-C85E-0FA6-A9BE-D931F323C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AC50-2610-9D4D-919E-D0EE608C1FE1}" type="datetimeFigureOut">
              <a:rPr lang="en-CN" smtClean="0"/>
              <a:t>2025/4/5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4DE7A-233B-6C8B-BD3F-EC11B2112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3A22D-AD53-C4DA-4BD8-BA7B4E972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54B17-4498-3C46-8B7A-CF302FB5B60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8755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31E10-A9C3-11CE-F201-6C736ED03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D695E-24B5-1179-7DA5-396E6EB7DE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ED431-1A78-69BE-E32E-56D25EDC07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78F262-B94A-30EF-6235-98579FF32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AC50-2610-9D4D-919E-D0EE608C1FE1}" type="datetimeFigureOut">
              <a:rPr lang="en-CN" smtClean="0"/>
              <a:t>2025/4/5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74C8F-D8CD-95DB-4889-9AA8A1BF1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106B75-2C4E-5D8A-06A8-9CE19D886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54B17-4498-3C46-8B7A-CF302FB5B60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85674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9B701-A68A-C9CF-D642-224F6203B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F7626-232B-3539-BC69-8448599C2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BFC067-3CE5-7359-ECF6-91A701C971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27A003-A531-7689-F1AB-4ED7513B2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F1F01C-D7AC-5EF2-B6D0-19C71A9948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EDF848-E79A-0DC1-A140-45FAF9268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AC50-2610-9D4D-919E-D0EE608C1FE1}" type="datetimeFigureOut">
              <a:rPr lang="en-CN" smtClean="0"/>
              <a:t>2025/4/5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6657AD-9A99-BE2A-7528-9119B84EC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BA8D80-09CC-1AAF-63AF-3A64925B2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54B17-4498-3C46-8B7A-CF302FB5B60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93258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DC741-4D0A-78CA-71BC-E6A5E4463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779C31-3001-35CA-F627-C4E652BDE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AC50-2610-9D4D-919E-D0EE608C1FE1}" type="datetimeFigureOut">
              <a:rPr lang="en-CN" smtClean="0"/>
              <a:t>2025/4/5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62C6A-94C9-DD6D-69CD-C26428DC8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F4599E-058B-8F46-C3E7-B4028CF2C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54B17-4498-3C46-8B7A-CF302FB5B60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9482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E51E75-7DB8-917D-44B5-444CD60ED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AC50-2610-9D4D-919E-D0EE608C1FE1}" type="datetimeFigureOut">
              <a:rPr lang="en-CN" smtClean="0"/>
              <a:t>2025/4/5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285FD2-7116-6644-095C-3891E549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DAAFC-5A54-3604-0658-709C75D92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54B17-4498-3C46-8B7A-CF302FB5B60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64804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EA527-DCC4-E300-D300-CCAF5C4E2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61198-30BF-8CB1-F74F-6904EE980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909AD9-EAC4-10B1-EAAE-FA58408D7F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21BB1-87F8-C3DB-0C36-918500C9A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AC50-2610-9D4D-919E-D0EE608C1FE1}" type="datetimeFigureOut">
              <a:rPr lang="en-CN" smtClean="0"/>
              <a:t>2025/4/5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BFBE75-B11E-DCA1-FDC2-E33BC7F58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C50E2-8C5F-7421-010B-7253F2A14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54B17-4498-3C46-8B7A-CF302FB5B60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74802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362FB-CABC-C42B-95D9-D2EE4B2DA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CDF009-2A9E-5D1E-4B22-DCD26271BA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7BDFFA-F343-A2AE-96DB-59BBDEE85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B6613D-AD79-36AA-4E58-A888B26EF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AC50-2610-9D4D-919E-D0EE608C1FE1}" type="datetimeFigureOut">
              <a:rPr lang="en-CN" smtClean="0"/>
              <a:t>2025/4/5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41C3C3-288B-3E0E-2E9F-3513CCAFC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665A-C222-5F41-0E59-CC5D2F0A2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54B17-4498-3C46-8B7A-CF302FB5B60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46300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3B7F4-FADB-0A4E-0AC3-D7834CDF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A9C2E-7642-B5D3-0AB9-5F379A127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2C0B6-67BF-54AA-4080-4455DEA8E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AC50-2610-9D4D-919E-D0EE608C1FE1}" type="datetimeFigureOut">
              <a:rPr lang="en-CN" smtClean="0"/>
              <a:t>2025/4/5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93BD3-AA11-FCF6-BA4D-3CB3FA611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0E557-D357-4E95-8B34-2363C387A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54B17-4498-3C46-8B7A-CF302FB5B60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58910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400DAA-3A96-5750-C8A5-99F63D853E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087A34-E477-B8A8-5930-A2CC53E765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AA6F6-2DAC-6C51-E4BD-DD1E508A4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AC50-2610-9D4D-919E-D0EE608C1FE1}" type="datetimeFigureOut">
              <a:rPr lang="en-CN" smtClean="0"/>
              <a:t>2025/4/5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916E9-E2A6-7ECC-E1BF-C2A516370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6CEA5-1928-FC82-4BEB-6D5272A22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54B17-4498-3C46-8B7A-CF302FB5B60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91433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5879D-BCBD-BD74-BD4D-1E61B3849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0CD59-8DB8-DEB4-73DA-3699BDC0E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63C4F-7C5C-7EE7-DD48-DD528126A2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5BAC50-2610-9D4D-919E-D0EE608C1FE1}" type="datetimeFigureOut">
              <a:rPr lang="en-CN" smtClean="0"/>
              <a:t>2025/4/5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0BD53-C2B6-9345-36EF-A3EEB24725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C6BE5-5701-196A-626F-CC7F4C2DAA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54B17-4498-3C46-8B7A-CF302FB5B60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9353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start.spring.io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FB432-DDB5-0698-B98C-31A3A443F3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N" dirty="0"/>
              <a:t>Component-based Software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4B00A4-8C29-2C93-2E12-4EC06BE472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N" dirty="0"/>
              <a:t>Hands-on Exercise</a:t>
            </a:r>
          </a:p>
        </p:txBody>
      </p:sp>
    </p:spTree>
    <p:extLst>
      <p:ext uri="{BB962C8B-B14F-4D97-AF65-F5344CB8AC3E}">
        <p14:creationId xmlns:p14="http://schemas.microsoft.com/office/powerpoint/2010/main" val="702712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1CC53-DA71-7B21-A0FD-A0B94387B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Hands-on Exercise 1: Building a Component-Based E-Commerce API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41A96-6730-C1CD-7979-9C3FE7C12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Objective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Develop a basic e-commerce API with components for managing products and orders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Reinforcing CBSE principles such as modularity, reusability, and composition using Spring Boot.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686859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8D02C-E6F3-91D3-7F5F-7D39564BD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570A0-0F3B-898F-EF15-A9ACDD90A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None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</a:rPr>
              <a:t>We will build a simple e-commerce API that allows users to:</a:t>
            </a:r>
          </a:p>
          <a:p>
            <a:pPr lvl="1"/>
            <a:r>
              <a:rPr lang="en-US" sz="2800" b="0" i="0" u="none" strike="noStrike" dirty="0">
                <a:solidFill>
                  <a:srgbClr val="000000"/>
                </a:solidFill>
                <a:effectLst/>
              </a:rPr>
              <a:t>Retrieve a list of products (GET /products).</a:t>
            </a:r>
          </a:p>
          <a:p>
            <a:pPr lvl="1"/>
            <a:r>
              <a:rPr lang="en-US" sz="2800" b="0" i="0" u="none" strike="noStrike" dirty="0">
                <a:solidFill>
                  <a:srgbClr val="000000"/>
                </a:solidFill>
                <a:effectLst/>
              </a:rPr>
              <a:t>Add a new product (POST /products).</a:t>
            </a:r>
          </a:p>
          <a:p>
            <a:pPr marL="457200" lvl="1" indent="0">
              <a:buNone/>
            </a:pPr>
            <a:endParaRPr lang="en-US" sz="28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</a:rPr>
              <a:t>The application will consist of three main components:</a:t>
            </a:r>
          </a:p>
          <a:p>
            <a:pPr lvl="1">
              <a:buFont typeface="+mj-lt"/>
              <a:buAutoNum type="arabicPeriod"/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</a:rPr>
              <a:t>Product Model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</a:rPr>
              <a:t>: Represents the data structure for products.</a:t>
            </a:r>
          </a:p>
          <a:p>
            <a:pPr lvl="1">
              <a:buFont typeface="+mj-lt"/>
              <a:buAutoNum type="arabicPeriod"/>
            </a:pPr>
            <a:r>
              <a:rPr lang="en-US" sz="2800" b="1" i="0" u="none" strike="noStrike" dirty="0" err="1">
                <a:solidFill>
                  <a:srgbClr val="000000"/>
                </a:solidFill>
                <a:effectLst/>
              </a:rPr>
              <a:t>ProductRepository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</a:rPr>
              <a:t>: Handles data storage (in-memory for simplicity).</a:t>
            </a:r>
          </a:p>
          <a:p>
            <a:pPr lvl="1">
              <a:buFont typeface="+mj-lt"/>
              <a:buAutoNum type="arabicPeriod"/>
            </a:pPr>
            <a:r>
              <a:rPr lang="en-US" sz="2800" b="1" i="0" u="none" strike="noStrike" dirty="0" err="1">
                <a:solidFill>
                  <a:srgbClr val="000000"/>
                </a:solidFill>
                <a:effectLst/>
              </a:rPr>
              <a:t>ProductService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</a:rPr>
              <a:t>: Encapsulates business logic.</a:t>
            </a:r>
          </a:p>
          <a:p>
            <a:pPr lvl="1">
              <a:buFont typeface="+mj-lt"/>
              <a:buAutoNum type="arabicPeriod"/>
            </a:pPr>
            <a:r>
              <a:rPr lang="en-US" sz="2800" b="1" i="0" u="none" strike="noStrike" dirty="0" err="1">
                <a:solidFill>
                  <a:srgbClr val="000000"/>
                </a:solidFill>
                <a:effectLst/>
              </a:rPr>
              <a:t>ProductController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</a:rPr>
              <a:t>: Exposes REST endpoints.</a:t>
            </a:r>
          </a:p>
          <a:p>
            <a:endParaRPr lang="en-CN" sz="3200" dirty="0"/>
          </a:p>
        </p:txBody>
      </p:sp>
    </p:spTree>
    <p:extLst>
      <p:ext uri="{BB962C8B-B14F-4D97-AF65-F5344CB8AC3E}">
        <p14:creationId xmlns:p14="http://schemas.microsoft.com/office/powerpoint/2010/main" val="262359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9B1DB-2BFF-AB3A-793D-E5CD5306B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Software Tools Needed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3AD93-5428-5D0E-91FB-526A66803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IDE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IntelliJ IDEA, VS Code, or Eclipse with Spring Tools Suite.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Dependencies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Spring Web, Spring Data JPA, H2 Database (via Spring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Initializr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).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Testing Tool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Postman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039086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12544-E0E6-6C28-3BF0-0C42A87E0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Step 1: Set Up a Spring Boot Project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632EF-9FF2-3FF4-B2CB-ECCCCDF7D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Go to 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hlinkClick r:id="rId2"/>
              </a:rPr>
              <a:t>Spring Initializr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Configure the project: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Project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Maven.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Language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Java.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Spring Boot Version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Latest stable (e.g., 3.4.</a:t>
            </a:r>
            <a:r>
              <a:rPr lang="en-US" dirty="0">
                <a:solidFill>
                  <a:srgbClr val="000000"/>
                </a:solidFill>
              </a:rPr>
              <a:t>4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).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Group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com.example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Artifact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 ecommerce-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api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Dependencies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Add Spring Web, Spring Data JPA, and H2 Database.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Generate and download the project, then open it in your IDE.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Verify the project runs by executing the main class (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EcommerceApiApplication.java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) and checking for the Spring Boot banner in the console.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80559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2B19A-1F41-94E5-2F00-208733C02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Step 2: Define a Product Model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8B91C-D1C6-2C78-3872-F16A07312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Goal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Create a data model to represent products in the e-commerce system.</a:t>
            </a:r>
          </a:p>
          <a:p>
            <a:pPr marL="0" indent="0">
              <a:buNone/>
            </a:pPr>
            <a:endParaRPr lang="en-CN" dirty="0"/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Create a new package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com.example.ecommerceapi.model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Add a Product class with fields for id, name, price, and stock.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Include getters, setters, and a constructor.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369709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2DE27-042C-643C-A4EE-33FC48E8E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Step 3: Create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ProductRepository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4A17B-D2F4-26C1-99C9-63B4B25A5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Goal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Build a repository component to manage product data (in-memory for simplicity).</a:t>
            </a:r>
          </a:p>
          <a:p>
            <a:pPr marL="0" indent="0">
              <a:buNone/>
            </a:pPr>
            <a:endParaRPr lang="en-CN" dirty="0"/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Create a new package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com.example.ecommerceapi.repository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Define a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ProductRepository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class annotated with @Repository.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Implement basic CRUD operations: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findAll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() and save() using an in-memory List.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868297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6BF01-06EB-072E-B183-D303570BC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Step 4: Create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ProductService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B2DA8-4265-5351-40B4-1FFFF6D70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Goal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Implement a service component to handle business logic for product management.</a:t>
            </a:r>
          </a:p>
          <a:p>
            <a:pPr marL="0" indent="0">
              <a:buNone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Create a new package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com.example.ecommerceapi.service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Define a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ProductService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class annotated with @Service.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Inject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ProductRepository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via constructor injection and implement methods to retrieve and add products.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69780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B01DA-116F-9550-B431-D6F1F465F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Step 5: Create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ProductController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E83C9-8474-37A0-23FD-F4E59795A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Goal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Build a REST controller to expose product management endpoints.</a:t>
            </a:r>
          </a:p>
          <a:p>
            <a:pPr algn="l">
              <a:buNone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Create a new package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com.example.ecommerceapi.controller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marL="285750" indent="-285750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Define a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ProductController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class annotated with @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RestController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marL="285750" indent="-285750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Inject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ProductService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and implement GET and POST endpoints.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241747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ABD3E-3DA3-7548-8DE1-9E4AE3896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Step 6: Test the API Using Postman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3AC0-131D-30B4-FA60-04C1C6F9A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Goal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Verify the API works as expected.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Start the Spring Boot application (run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EcommerceApiApplication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Open Postman: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GET Request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marL="1200150" lvl="2" indent="-285750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URL: http://localhost:8080/products</a:t>
            </a:r>
          </a:p>
          <a:p>
            <a:pPr marL="1200150" lvl="2" indent="-285750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Method: GET</a:t>
            </a:r>
          </a:p>
          <a:p>
            <a:pPr marL="1200150" lvl="2" indent="-285750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Expected Response: Empty list [] (initially).</a:t>
            </a:r>
          </a:p>
          <a:p>
            <a:pPr lvl="1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POST Request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marL="1200150" lvl="2" indent="-285750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URL: http://localhost:8080/products</a:t>
            </a:r>
          </a:p>
          <a:p>
            <a:pPr marL="1200150" lvl="2" indent="-285750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Method: POST</a:t>
            </a:r>
          </a:p>
          <a:p>
            <a:pPr marL="1200150" lvl="2" indent="-285750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Body (raw JSON):</a:t>
            </a:r>
          </a:p>
          <a:p>
            <a:pPr marL="1200150" lvl="2" indent="-285750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Expected Response: Product with an assigned id (e.g., {"id": 1, "name": "Laptop", "price": 999.99, "stock": 10}).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Repeat the GET request to confirm the product was added.</a:t>
            </a:r>
          </a:p>
          <a:p>
            <a:pPr marL="1200150" lvl="2" indent="-285750"/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endParaRPr lang="en-C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28FA40-D389-EDB7-FFC3-B09122516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737" y="2880509"/>
            <a:ext cx="2959100" cy="210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346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576FB-A268-6384-9F9B-BDBE0E36F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Hands-on Exercise 1: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DEDB4-A238-FE1C-4EDB-9641FF780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Components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ProductRepository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ProductService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and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ProductController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are modular, reusable units.</a:t>
            </a: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Interfaces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Implicitly applied through Spring’s dependency injection (e.g.,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ProductService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could use an interface in future iterations).</a:t>
            </a: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Composition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Dependency injection assembles the components into a cohesive API.</a:t>
            </a: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CBSE Principles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 Encapsulation (repository hides data storage), modularity (separate concerns), and reusability (components can be reused in other contexts).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128566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1528</TotalTime>
  <Words>667</Words>
  <Application>Microsoft Macintosh PowerPoint</Application>
  <PresentationFormat>Widescreen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Component-based Software Engineering</vt:lpstr>
      <vt:lpstr>Hands-on Exercise 1: Building a Component-Based E-Commerce API</vt:lpstr>
      <vt:lpstr>Overview</vt:lpstr>
      <vt:lpstr>Software Tools Needed</vt:lpstr>
      <vt:lpstr>Step 1: Set Up a Spring Boot Project</vt:lpstr>
      <vt:lpstr>Step 2: Define a Product Model</vt:lpstr>
      <vt:lpstr>Step 3: Create ProductRepository</vt:lpstr>
      <vt:lpstr>Step 4: Create ProductService</vt:lpstr>
      <vt:lpstr>Step 5: Create ProductController</vt:lpstr>
      <vt:lpstr>Step 6: Test the API Using Postman</vt:lpstr>
      <vt:lpstr>Hands-on Exercise 1: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soonphei tin</dc:creator>
  <cp:lastModifiedBy>soonphei tin</cp:lastModifiedBy>
  <cp:revision>2</cp:revision>
  <dcterms:created xsi:type="dcterms:W3CDTF">2025-04-04T09:33:46Z</dcterms:created>
  <dcterms:modified xsi:type="dcterms:W3CDTF">2025-04-06T09:12:56Z</dcterms:modified>
</cp:coreProperties>
</file>